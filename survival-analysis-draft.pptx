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handoutMasterIdLst>
    <p:handoutMasterId r:id="rId118"/>
  </p:handoutMasterIdLst>
  <p:sldIdLst>
    <p:sldId id="696" r:id="rId2"/>
    <p:sldId id="464" r:id="rId3"/>
    <p:sldId id="714" r:id="rId4"/>
    <p:sldId id="1404" r:id="rId5"/>
    <p:sldId id="1432" r:id="rId6"/>
    <p:sldId id="1433" r:id="rId7"/>
    <p:sldId id="1434" r:id="rId8"/>
    <p:sldId id="1435" r:id="rId9"/>
    <p:sldId id="1456" r:id="rId10"/>
    <p:sldId id="1436" r:id="rId11"/>
    <p:sldId id="1437" r:id="rId12"/>
    <p:sldId id="1438" r:id="rId13"/>
    <p:sldId id="1439" r:id="rId14"/>
    <p:sldId id="1440" r:id="rId15"/>
    <p:sldId id="1484" r:id="rId16"/>
    <p:sldId id="1483" r:id="rId17"/>
    <p:sldId id="1485" r:id="rId18"/>
    <p:sldId id="1486" r:id="rId19"/>
    <p:sldId id="1492" r:id="rId20"/>
    <p:sldId id="519" r:id="rId21"/>
    <p:sldId id="1481" r:id="rId22"/>
    <p:sldId id="1482" r:id="rId23"/>
    <p:sldId id="1480" r:id="rId24"/>
    <p:sldId id="1487" r:id="rId25"/>
    <p:sldId id="1494" r:id="rId26"/>
    <p:sldId id="1442" r:id="rId27"/>
    <p:sldId id="1508" r:id="rId28"/>
    <p:sldId id="1488" r:id="rId29"/>
    <p:sldId id="1496" r:id="rId30"/>
    <p:sldId id="1497" r:id="rId31"/>
    <p:sldId id="1460" r:id="rId32"/>
    <p:sldId id="1443" r:id="rId33"/>
    <p:sldId id="1461" r:id="rId34"/>
    <p:sldId id="1463" r:id="rId35"/>
    <p:sldId id="1464" r:id="rId36"/>
    <p:sldId id="1493" r:id="rId37"/>
    <p:sldId id="1428" r:id="rId38"/>
    <p:sldId id="1465" r:id="rId39"/>
    <p:sldId id="1491" r:id="rId40"/>
    <p:sldId id="1478" r:id="rId41"/>
    <p:sldId id="1468" r:id="rId42"/>
    <p:sldId id="1469" r:id="rId43"/>
    <p:sldId id="1504" r:id="rId44"/>
    <p:sldId id="1470" r:id="rId45"/>
    <p:sldId id="1498" r:id="rId46"/>
    <p:sldId id="1499" r:id="rId47"/>
    <p:sldId id="1501" r:id="rId48"/>
    <p:sldId id="1502" r:id="rId49"/>
    <p:sldId id="1503" r:id="rId50"/>
    <p:sldId id="1507" r:id="rId51"/>
    <p:sldId id="1506" r:id="rId52"/>
    <p:sldId id="1505" r:id="rId53"/>
    <p:sldId id="1472" r:id="rId54"/>
    <p:sldId id="1517" r:id="rId55"/>
    <p:sldId id="1516" r:id="rId56"/>
    <p:sldId id="1515" r:id="rId57"/>
    <p:sldId id="1521" r:id="rId58"/>
    <p:sldId id="1522" r:id="rId59"/>
    <p:sldId id="1523" r:id="rId60"/>
    <p:sldId id="1509" r:id="rId61"/>
    <p:sldId id="1510" r:id="rId62"/>
    <p:sldId id="1511" r:id="rId63"/>
    <p:sldId id="1512" r:id="rId64"/>
    <p:sldId id="1467" r:id="rId65"/>
    <p:sldId id="1518" r:id="rId66"/>
    <p:sldId id="1553" r:id="rId67"/>
    <p:sldId id="1527" r:id="rId68"/>
    <p:sldId id="1525" r:id="rId69"/>
    <p:sldId id="1561" r:id="rId70"/>
    <p:sldId id="1449" r:id="rId71"/>
    <p:sldId id="1530" r:id="rId72"/>
    <p:sldId id="1533" r:id="rId73"/>
    <p:sldId id="1532" r:id="rId74"/>
    <p:sldId id="1531" r:id="rId75"/>
    <p:sldId id="1534" r:id="rId76"/>
    <p:sldId id="1537" r:id="rId77"/>
    <p:sldId id="1538" r:id="rId78"/>
    <p:sldId id="1539" r:id="rId79"/>
    <p:sldId id="1557" r:id="rId80"/>
    <p:sldId id="1556" r:id="rId81"/>
    <p:sldId id="1540" r:id="rId82"/>
    <p:sldId id="1541" r:id="rId83"/>
    <p:sldId id="1542" r:id="rId84"/>
    <p:sldId id="1543" r:id="rId85"/>
    <p:sldId id="1545" r:id="rId86"/>
    <p:sldId id="1544" r:id="rId87"/>
    <p:sldId id="1555" r:id="rId88"/>
    <p:sldId id="1558" r:id="rId89"/>
    <p:sldId id="1548" r:id="rId90"/>
    <p:sldId id="1549" r:id="rId91"/>
    <p:sldId id="1551" r:id="rId92"/>
    <p:sldId id="1552" r:id="rId93"/>
    <p:sldId id="1560" r:id="rId94"/>
    <p:sldId id="1455" r:id="rId95"/>
    <p:sldId id="1562" r:id="rId96"/>
    <p:sldId id="1563" r:id="rId97"/>
    <p:sldId id="1570" r:id="rId98"/>
    <p:sldId id="1571" r:id="rId99"/>
    <p:sldId id="1567" r:id="rId100"/>
    <p:sldId id="1568" r:id="rId101"/>
    <p:sldId id="1569" r:id="rId102"/>
    <p:sldId id="1572" r:id="rId103"/>
    <p:sldId id="1566" r:id="rId104"/>
    <p:sldId id="1573" r:id="rId105"/>
    <p:sldId id="1574" r:id="rId106"/>
    <p:sldId id="1575" r:id="rId107"/>
    <p:sldId id="1581" r:id="rId108"/>
    <p:sldId id="1564" r:id="rId109"/>
    <p:sldId id="1576" r:id="rId110"/>
    <p:sldId id="1577" r:id="rId111"/>
    <p:sldId id="1578" r:id="rId112"/>
    <p:sldId id="1579" r:id="rId113"/>
    <p:sldId id="1580" r:id="rId114"/>
    <p:sldId id="1397" r:id="rId115"/>
    <p:sldId id="1410" r:id="rId116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Session 1 intro" id="{1C78BB04-9DD1-421D-AA96-4BEC2462826F}">
          <p14:sldIdLst>
            <p14:sldId id="696"/>
            <p14:sldId id="464"/>
            <p14:sldId id="714"/>
          </p14:sldIdLst>
        </p14:section>
        <p14:section name="Survival data" id="{AB2DB496-4FB2-4E64-BDFB-79D648F2EFB3}">
          <p14:sldIdLst>
            <p14:sldId id="1404"/>
            <p14:sldId id="1432"/>
            <p14:sldId id="1433"/>
            <p14:sldId id="1434"/>
            <p14:sldId id="1435"/>
            <p14:sldId id="1456"/>
            <p14:sldId id="1436"/>
            <p14:sldId id="1437"/>
            <p14:sldId id="1438"/>
            <p14:sldId id="1439"/>
            <p14:sldId id="1440"/>
            <p14:sldId id="1484"/>
            <p14:sldId id="1483"/>
            <p14:sldId id="1485"/>
            <p14:sldId id="1486"/>
            <p14:sldId id="1492"/>
          </p14:sldIdLst>
        </p14:section>
        <p14:section name="Survival curves" id="{4901E46B-6DC2-41FE-B748-AE2F67846EA8}">
          <p14:sldIdLst>
            <p14:sldId id="519"/>
            <p14:sldId id="1481"/>
            <p14:sldId id="1482"/>
            <p14:sldId id="1480"/>
            <p14:sldId id="1487"/>
            <p14:sldId id="1494"/>
            <p14:sldId id="1442"/>
            <p14:sldId id="1508"/>
            <p14:sldId id="1488"/>
            <p14:sldId id="1496"/>
            <p14:sldId id="1497"/>
            <p14:sldId id="1460"/>
            <p14:sldId id="1443"/>
            <p14:sldId id="1461"/>
            <p14:sldId id="1463"/>
            <p14:sldId id="1464"/>
            <p14:sldId id="1493"/>
          </p14:sldIdLst>
        </p14:section>
        <p14:section name="Comparing curves" id="{BF05FFF6-9755-4EDF-BEFE-AD79AFA00FEE}">
          <p14:sldIdLst>
            <p14:sldId id="1428"/>
            <p14:sldId id="1465"/>
            <p14:sldId id="1491"/>
            <p14:sldId id="1478"/>
            <p14:sldId id="1468"/>
            <p14:sldId id="1469"/>
            <p14:sldId id="1504"/>
            <p14:sldId id="1470"/>
            <p14:sldId id="1498"/>
            <p14:sldId id="1499"/>
            <p14:sldId id="1501"/>
            <p14:sldId id="1502"/>
            <p14:sldId id="1503"/>
            <p14:sldId id="1507"/>
            <p14:sldId id="1506"/>
            <p14:sldId id="1505"/>
            <p14:sldId id="1472"/>
            <p14:sldId id="1517"/>
            <p14:sldId id="1516"/>
            <p14:sldId id="1515"/>
            <p14:sldId id="1521"/>
            <p14:sldId id="1522"/>
            <p14:sldId id="1523"/>
            <p14:sldId id="1509"/>
            <p14:sldId id="1510"/>
            <p14:sldId id="1511"/>
            <p14:sldId id="1512"/>
            <p14:sldId id="1467"/>
            <p14:sldId id="1518"/>
            <p14:sldId id="1553"/>
          </p14:sldIdLst>
        </p14:section>
        <p14:section name="Session 2 intro" id="{558B42B2-76F7-414A-9174-0146EB90A867}">
          <p14:sldIdLst>
            <p14:sldId id="1527"/>
            <p14:sldId id="1525"/>
            <p14:sldId id="1561"/>
          </p14:sldIdLst>
        </p14:section>
        <p14:section name="Continuous predictors" id="{64341288-D7B7-40CC-8AAE-7919E6B60261}">
          <p14:sldIdLst>
            <p14:sldId id="1449"/>
            <p14:sldId id="1530"/>
            <p14:sldId id="1533"/>
            <p14:sldId id="1532"/>
            <p14:sldId id="1531"/>
            <p14:sldId id="1534"/>
            <p14:sldId id="1537"/>
            <p14:sldId id="1538"/>
            <p14:sldId id="1539"/>
            <p14:sldId id="1557"/>
            <p14:sldId id="1556"/>
            <p14:sldId id="1540"/>
            <p14:sldId id="1541"/>
            <p14:sldId id="1542"/>
            <p14:sldId id="1543"/>
            <p14:sldId id="1545"/>
            <p14:sldId id="1544"/>
            <p14:sldId id="1555"/>
            <p14:sldId id="1558"/>
            <p14:sldId id="1548"/>
            <p14:sldId id="1549"/>
            <p14:sldId id="1551"/>
            <p14:sldId id="1552"/>
          </p14:sldIdLst>
        </p14:section>
        <p14:section name="Cox interpretation" id="{C49E8F57-9F9F-4623-80FD-6ECB755BABA8}">
          <p14:sldIdLst>
            <p14:sldId id="1560"/>
            <p14:sldId id="1455"/>
            <p14:sldId id="1562"/>
            <p14:sldId id="1563"/>
            <p14:sldId id="1570"/>
            <p14:sldId id="1571"/>
            <p14:sldId id="1567"/>
            <p14:sldId id="1568"/>
            <p14:sldId id="1569"/>
            <p14:sldId id="1572"/>
            <p14:sldId id="1566"/>
            <p14:sldId id="1573"/>
            <p14:sldId id="1574"/>
            <p14:sldId id="1575"/>
            <p14:sldId id="1581"/>
            <p14:sldId id="1564"/>
            <p14:sldId id="1576"/>
            <p14:sldId id="1577"/>
            <p14:sldId id="1578"/>
            <p14:sldId id="1579"/>
            <p14:sldId id="1580"/>
            <p14:sldId id="1397"/>
          </p14:sldIdLst>
        </p14:section>
        <p14:section name="Outro" id="{1ECFEA05-F589-4E57-99F2-568CBA5C45A4}">
          <p14:sldIdLst>
            <p14:sldId id="14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2E4FF"/>
    <a:srgbClr val="FFFFFF"/>
    <a:srgbClr val="FF6699"/>
    <a:srgbClr val="F8766D"/>
    <a:srgbClr val="AF95A3"/>
    <a:srgbClr val="68ACE5"/>
    <a:srgbClr val="FFC000"/>
    <a:srgbClr val="91B9A4"/>
    <a:srgbClr val="AA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17" autoAdjust="0"/>
    <p:restoredTop sz="69291" autoAdjust="0"/>
  </p:normalViewPr>
  <p:slideViewPr>
    <p:cSldViewPr snapToObjects="1">
      <p:cViewPr varScale="1">
        <p:scale>
          <a:sx n="111" d="100"/>
          <a:sy n="111" d="100"/>
        </p:scale>
        <p:origin x="365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7" d="100"/>
          <a:sy n="77" d="100"/>
        </p:scale>
        <p:origin x="322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ki Hodgson" userId="179904206160527c" providerId="LiveId" clId="{A65D6C05-0B12-4742-BA36-3268228148B1}"/>
    <pc:docChg chg="custSel modSld">
      <pc:chgData name="Vicki Hodgson" userId="179904206160527c" providerId="LiveId" clId="{A65D6C05-0B12-4742-BA36-3268228148B1}" dt="2026-04-17T08:47:15.226" v="44" actId="20577"/>
      <pc:docMkLst>
        <pc:docMk/>
      </pc:docMkLst>
      <pc:sldChg chg="modSp mod">
        <pc:chgData name="Vicki Hodgson" userId="179904206160527c" providerId="LiveId" clId="{A65D6C05-0B12-4742-BA36-3268228148B1}" dt="2026-04-17T08:47:15.226" v="44" actId="20577"/>
        <pc:sldMkLst>
          <pc:docMk/>
          <pc:sldMk cId="4024045093" sldId="714"/>
        </pc:sldMkLst>
        <pc:spChg chg="mod">
          <ac:chgData name="Vicki Hodgson" userId="179904206160527c" providerId="LiveId" clId="{A65D6C05-0B12-4742-BA36-3268228148B1}" dt="2026-04-17T08:47:15.226" v="44" actId="20577"/>
          <ac:spMkLst>
            <pc:docMk/>
            <pc:sldMk cId="4024045093" sldId="714"/>
            <ac:spMk id="10" creationId="{927FC6D6-F764-CF4B-3370-8E8C071ABAF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3AA5FB3-4351-4085-AA63-BE6A6B3857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7028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33475" y="4716463"/>
            <a:ext cx="45148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091D1AB-24F6-48F0-A15B-00F40EB78C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697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B26FF2-21A4-4D45-8B69-E1FBC758DB49}" type="slidenum">
              <a:rPr lang="en-GB" smtClean="0">
                <a:cs typeface="Arial" charset="0"/>
              </a:rPr>
              <a:pPr/>
              <a:t>1</a:t>
            </a:fld>
            <a:endParaRPr lang="en-GB">
              <a:cs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928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 the usual set-up for a survival analysis, or time-to-event analysis: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Some event of interest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We track individuals for the duration of the study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And record if/when they experience that event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81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Despite the common name “survival” implying that the event of interest is death</a:t>
            </a:r>
          </a:p>
          <a:p>
            <a:r>
              <a:rPr lang="en-GB" dirty="0"/>
              <a:t>It doesn’t have to be!</a:t>
            </a:r>
          </a:p>
          <a:p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i="0" dirty="0"/>
              <a:t>Time until the next bus arrives at different bus stops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i="0" dirty="0"/>
              <a:t>Time until we catch the next fish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i="0" dirty="0"/>
              <a:t>Until mechanical parts fail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i="0" dirty="0"/>
              <a:t>Until students graduate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360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thing that is special is </a:t>
            </a:r>
            <a:r>
              <a:rPr lang="en-GB" b="1" dirty="0"/>
              <a:t>what we are predicting</a:t>
            </a:r>
            <a:r>
              <a:rPr lang="en-GB" b="0" dirty="0"/>
              <a:t>, i.e., the outcome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In a regular linear model, we’d predict something that’s continuous (and often normally distributed)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e.g., height, weight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But here we are measuring “time until”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And that has some quirks/features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Also, the design of these experiments means that we often experience something called censoring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Which is when we aren’t able to measure the exact time an event occurred for some individuals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000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These are the two common issues we need to deal with (and will be the main focus of the course)</a:t>
            </a:r>
          </a:p>
          <a:p>
            <a:endParaRPr lang="en-GB" dirty="0"/>
          </a:p>
          <a:p>
            <a:r>
              <a:rPr lang="en-GB" dirty="0"/>
              <a:t>Uncensored: we know exactly when the event occurred for the individual</a:t>
            </a:r>
          </a:p>
          <a:p>
            <a:endParaRPr lang="en-GB" dirty="0"/>
          </a:p>
          <a:p>
            <a:r>
              <a:rPr lang="en-GB" dirty="0"/>
              <a:t>Right-censored: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started following them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But we never found out for sure if they experienced the event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Possibly because they dropped out/couldn’t be followed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Possibly because the study ended beforehand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Interval-censoring: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don’t know the exact instance the event occurred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But we do know it happened after some set time and before some other set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02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B7FA-A748-CA9C-EF1B-A8552ED7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CEBAC-E7E8-1DC1-96A4-E697B45F0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01F93-7996-2D24-447E-AB23794EA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These are other things that can occur in survival data, and may or may not need to be accounted for – but won’t be a major focus of this course</a:t>
            </a:r>
          </a:p>
          <a:p>
            <a:endParaRPr lang="en-GB" dirty="0"/>
          </a:p>
          <a:p>
            <a:r>
              <a:rPr lang="en-GB" dirty="0"/>
              <a:t>DO NOT WORRY ABOUT UNDERSTANDING ALL OF THESE (right now at least)</a:t>
            </a:r>
          </a:p>
          <a:p>
            <a:r>
              <a:rPr lang="en-GB" dirty="0"/>
              <a:t>They aren’t always going to occur, it will depend a bit on your study design</a:t>
            </a:r>
          </a:p>
          <a:p>
            <a:endParaRPr lang="en-GB" dirty="0"/>
          </a:p>
          <a:p>
            <a:r>
              <a:rPr lang="en-GB" dirty="0"/>
              <a:t>Staggered entry: when not everyone enters the study at the same time</a:t>
            </a:r>
          </a:p>
          <a:p>
            <a:r>
              <a:rPr lang="en-GB" dirty="0"/>
              <a:t>Left-censored: when the event of interest occurs before the study started (extremely rare!)</a:t>
            </a:r>
          </a:p>
          <a:p>
            <a:endParaRPr lang="en-GB" dirty="0"/>
          </a:p>
          <a:p>
            <a:r>
              <a:rPr lang="en-GB" dirty="0"/>
              <a:t>Truncation is deliberate/due to study design:</a:t>
            </a:r>
          </a:p>
          <a:p>
            <a:r>
              <a:rPr lang="en-GB" dirty="0"/>
              <a:t>Left-truncated: when the individual was at risk before the study started, and we don’t know whether they did or didn’t experience the event</a:t>
            </a:r>
          </a:p>
          <a:p>
            <a:r>
              <a:rPr lang="en-GB" dirty="0"/>
              <a:t>Right-truncated: only happens when membership in the study is determined retrospectively; the individual experienced the event after the date of the study that would’ve made them eligible for inclusion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6903D-FD56-473F-7225-20BE9871D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216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Typical survival dataset will look like this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96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a standard survival analysis, we only measure each individual once</a:t>
            </a:r>
          </a:p>
          <a:p>
            <a:r>
              <a:rPr lang="en-GB" dirty="0"/>
              <a:t>So each row should correspond to a unique individual</a:t>
            </a:r>
          </a:p>
          <a:p>
            <a:endParaRPr lang="en-GB" dirty="0"/>
          </a:p>
          <a:p>
            <a:r>
              <a:rPr lang="en-GB" dirty="0"/>
              <a:t>(more on that idea later)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275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stop following an individual when they experience the event</a:t>
            </a:r>
          </a:p>
          <a:p>
            <a:r>
              <a:rPr lang="en-GB" dirty="0"/>
              <a:t>Or when the study ends</a:t>
            </a:r>
          </a:p>
          <a:p>
            <a:endParaRPr lang="en-GB" dirty="0"/>
          </a:p>
          <a:p>
            <a:r>
              <a:rPr lang="en-GB" dirty="0"/>
              <a:t>So this column will have an upper limit of study length, and a lower limit of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22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stop following an individual when they experience the event</a:t>
            </a:r>
          </a:p>
          <a:p>
            <a:endParaRPr lang="en-GB" dirty="0"/>
          </a:p>
          <a:p>
            <a:r>
              <a:rPr lang="en-GB" dirty="0"/>
              <a:t>So if there’s a 1, we know they experienced it at/by that time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092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0 means censoring</a:t>
            </a:r>
          </a:p>
          <a:p>
            <a:r>
              <a:rPr lang="en-GB" dirty="0"/>
              <a:t>So either by/at that time they had vanished/dropped out</a:t>
            </a:r>
          </a:p>
          <a:p>
            <a:r>
              <a:rPr lang="en-GB" dirty="0"/>
              <a:t>Or we followed them for the full length of the study, and then time = full length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855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Event: graft/transplant failure</a:t>
            </a:r>
          </a:p>
          <a:p>
            <a:endParaRPr lang="en-GB" dirty="0"/>
          </a:p>
          <a:p>
            <a:r>
              <a:rPr lang="en-GB" dirty="0"/>
              <a:t>Censoring: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Patient drops out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Graft never fails by the end of the study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Death from unrelated causes (competing 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Graft fails between clinical visits (IC)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Broad conceptual ideas: structured follow-up + competing risks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317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Event: animal leaves area</a:t>
            </a:r>
          </a:p>
          <a:p>
            <a:endParaRPr lang="en-GB" dirty="0"/>
          </a:p>
          <a:p>
            <a:r>
              <a:rPr lang="en-GB" dirty="0"/>
              <a:t>Censoring: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Animal dies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Study ends before bird leaves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Tagging device fails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Tagging device only reports location once per day/week (IC)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Broad conceptual ideas: loss + intermittent observation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465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5CC3-8C9C-7FBC-D8D9-33813C53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532B7-EDA0-ACA6-670D-20D618553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07685-554F-5650-7D62-37A4EC555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Event: cancellation</a:t>
            </a:r>
          </a:p>
          <a:p>
            <a:endParaRPr lang="en-GB" dirty="0"/>
          </a:p>
          <a:p>
            <a:r>
              <a:rPr lang="en-GB" dirty="0"/>
              <a:t>Censoring: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Customer never cancels before end of study period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Customer becomes inactive, e.g., data loss, subscription status unknown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Cancellation occurs between billing cycles, e.g., monthly (IC)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Broad conceptual ideas: periodic observation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94EDE-39CD-AE1B-5325-2A0D867DE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123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6125-D800-E733-3F7D-D4F8F9F4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D4FCA-0044-7200-A381-5C79E0D28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B25DC-317E-A661-AF91-97AE2A3E2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Event: eruption</a:t>
            </a:r>
          </a:p>
          <a:p>
            <a:endParaRPr lang="en-GB" dirty="0"/>
          </a:p>
          <a:p>
            <a:r>
              <a:rPr lang="en-GB" dirty="0"/>
              <a:t>Censoring: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No eruption before study ends (RC)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Unknown prior dormancy period (left truncation)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Broad conceptual ideas: historical data + left truncation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To better understand the left truncation issue, imagine:</a:t>
            </a:r>
          </a:p>
          <a:p>
            <a:pPr marL="171450" indent="-171450">
              <a:buFontTx/>
              <a:buChar char="-"/>
            </a:pPr>
            <a:r>
              <a:rPr lang="en-GB" dirty="0"/>
              <a:t>Volcano erupting sporadically for centuries</a:t>
            </a:r>
          </a:p>
          <a:p>
            <a:pPr marL="171450" indent="-171450">
              <a:buFontTx/>
              <a:buChar char="-"/>
            </a:pPr>
            <a:r>
              <a:rPr lang="en-GB" dirty="0"/>
              <a:t>Monitoring started in earnest in 2000</a:t>
            </a:r>
          </a:p>
          <a:p>
            <a:pPr marL="171450" indent="-171450">
              <a:buFontTx/>
              <a:buChar char="-"/>
            </a:pPr>
            <a:r>
              <a:rPr lang="en-GB" dirty="0"/>
              <a:t>The last eruption prior to that monitoring was 1992</a:t>
            </a:r>
          </a:p>
          <a:p>
            <a:pPr marL="171450" indent="-171450">
              <a:buFontTx/>
              <a:buChar char="-"/>
            </a:pPr>
            <a:r>
              <a:rPr lang="en-GB" dirty="0"/>
              <a:t>Volcano must not have erupted between 1992 and 2000, otherwise we would’ve seen it</a:t>
            </a:r>
          </a:p>
          <a:p>
            <a:pPr marL="171450" indent="-171450">
              <a:buFontTx/>
              <a:buChar char="-"/>
            </a:pPr>
            <a:r>
              <a:rPr lang="en-GB" dirty="0"/>
              <a:t>We’re biased to only include eruption intervals that extend into the 2000+ dataset</a:t>
            </a:r>
          </a:p>
          <a:p>
            <a:pPr marL="171450" indent="-171450">
              <a:buFontTx/>
              <a:buChar char="-"/>
            </a:pPr>
            <a:r>
              <a:rPr lang="en-GB" dirty="0"/>
              <a:t>i.e., we can only study volcano waiting times that are still ongoing when we actually start monitoring; we miss any short waiting times/cycles that occurred before we started watching</a:t>
            </a:r>
          </a:p>
          <a:p>
            <a:pPr marL="171450" indent="-171450">
              <a:buFontTx/>
              <a:buChar char="-"/>
            </a:pPr>
            <a:r>
              <a:rPr lang="en-GB" dirty="0"/>
              <a:t>Leads to an overestimate of average time between eruptions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305D2-5638-971B-42BE-6060652D4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18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011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do we do with this sort of data, then?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334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Well, the goal is generally to estimate what’s happening in the real world (population)</a:t>
            </a:r>
          </a:p>
          <a:p>
            <a:endParaRPr lang="en-GB" dirty="0"/>
          </a:p>
          <a:p>
            <a:r>
              <a:rPr lang="en-GB" dirty="0"/>
              <a:t>In the real world, there is some underlying truth about the rate that individuals experience the event</a:t>
            </a:r>
          </a:p>
          <a:p>
            <a:endParaRPr lang="en-GB" dirty="0"/>
          </a:p>
          <a:p>
            <a:r>
              <a:rPr lang="en-GB" dirty="0"/>
              <a:t>We can picture that as a curve, tracking: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X-axis =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Y-axis = probability of survival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19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as with all statistical tests, we can’t measure the whole population</a:t>
            </a:r>
          </a:p>
          <a:p>
            <a:r>
              <a:rPr lang="en-GB" dirty="0"/>
              <a:t>The best we can do is estimate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309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So, what we do is we build an estimate of the survival curve from our data</a:t>
            </a:r>
          </a:p>
          <a:p>
            <a:endParaRPr lang="en-GB" dirty="0"/>
          </a:p>
          <a:p>
            <a:r>
              <a:rPr lang="en-GB" dirty="0"/>
              <a:t>And hopefully – if our dataset is representative and we haven’t gotten super unlucky – then it will do a reasonably good job of approximating the real population survival curve</a:t>
            </a:r>
          </a:p>
          <a:p>
            <a:endParaRPr lang="en-GB" dirty="0"/>
          </a:p>
          <a:p>
            <a:r>
              <a:rPr lang="en-GB" dirty="0"/>
              <a:t>(But notice the grey error, jaggedy staircase-shape, and orange censoring events; there is uncertainty and imperfection in a sample!)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550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2571-88C9-B4EC-B640-C967541E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7A3D5-29A8-1B15-53B0-D799B68A8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3F0D3-612D-9BA8-53B3-7980A0C78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Let’s follow a specific example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If you don’t like the dragons (too whimsical) and want a more biologically grounded example, you can think about this as bird eggs instead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D0E02-28EC-BFD4-06FD-B66BF961B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386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row of the dataset is a unique egg</a:t>
            </a:r>
          </a:p>
          <a:p>
            <a:r>
              <a:rPr lang="en-GB" dirty="0"/>
              <a:t>We’ve got the time followed and whether an event occurred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469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we have estimated a curve from that dataset</a:t>
            </a:r>
          </a:p>
          <a:p>
            <a:endParaRPr lang="en-GB" dirty="0"/>
          </a:p>
          <a:p>
            <a:r>
              <a:rPr lang="en-GB" dirty="0"/>
              <a:t>Follows a classic “step-staircase” shape</a:t>
            </a:r>
          </a:p>
          <a:p>
            <a:r>
              <a:rPr lang="en-GB" dirty="0"/>
              <a:t>The censoring events are noted with the orange + symbols</a:t>
            </a:r>
          </a:p>
          <a:p>
            <a:r>
              <a:rPr lang="en-GB" dirty="0"/>
              <a:t>All the data have been included in a single curve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316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71F3-0457-1596-E4AA-89046DEE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64532-57FC-237E-3874-8CA3F27E3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00DD4-EB30-A5E6-9C9C-0C9ECE500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do we use the curve for?</a:t>
            </a:r>
          </a:p>
          <a:p>
            <a:endParaRPr lang="en-GB" dirty="0"/>
          </a:p>
          <a:p>
            <a:r>
              <a:rPr lang="en-GB" dirty="0"/>
              <a:t>Well it’s much easier to use than the table we had before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A794D-1A1E-9C39-7F6D-996105EB7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9728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231E-3A37-7908-494F-FC3F2467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87456-9081-DFCF-F5E0-9A28B6E1B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17457-8223-2D5A-A787-F9BAA5B95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from this curve we can extract summary statistics</a:t>
            </a:r>
          </a:p>
          <a:p>
            <a:endParaRPr lang="en-GB" dirty="0"/>
          </a:p>
          <a:p>
            <a:r>
              <a:rPr lang="en-GB" dirty="0"/>
              <a:t>Most common would be the median value</a:t>
            </a:r>
          </a:p>
          <a:p>
            <a:r>
              <a:rPr lang="en-GB" dirty="0"/>
              <a:t>= time at which you expect 50% of individuals to have experienced the event</a:t>
            </a:r>
          </a:p>
          <a:p>
            <a:r>
              <a:rPr lang="en-GB" dirty="0"/>
              <a:t>(In this case – 26 days)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594D1-DB0D-F006-8DD2-58ACC47D5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510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7C9C-4D6E-A53D-D51D-FB62884B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4AC94-795B-2BE9-1122-8CAB2BD48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CE72-8CDF-A78E-9212-2E98E2434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you’re reporting a survival curve (very common in papers)</a:t>
            </a:r>
          </a:p>
          <a:p>
            <a:r>
              <a:rPr lang="en-GB" dirty="0"/>
              <a:t>Then you can also add other information</a:t>
            </a:r>
          </a:p>
          <a:p>
            <a:endParaRPr lang="en-GB" dirty="0"/>
          </a:p>
          <a:p>
            <a:r>
              <a:rPr lang="en-GB" dirty="0"/>
              <a:t>The “number at risk” table – shows you, at specific points in the study, how many individuals were still at risk</a:t>
            </a:r>
          </a:p>
          <a:p>
            <a:r>
              <a:rPr lang="en-GB" dirty="0"/>
              <a:t>Meaning = they were still being followed (weren’t censored) and hadn’t yet experienced the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E0C57-4FF5-4872-DC0B-6FDCA9FFB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322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3DE5-A83E-B65E-4854-B963E90B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85F32-3A13-EC9B-EE7A-4406E3013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F82DE-5696-D5B6-49BD-3952EB3D1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Similar information is given in the cumulative events table</a:t>
            </a:r>
          </a:p>
          <a:p>
            <a:r>
              <a:rPr lang="en-GB" dirty="0"/>
              <a:t>This shows how many individuals </a:t>
            </a:r>
            <a:r>
              <a:rPr lang="en-GB" i="1" dirty="0"/>
              <a:t>have </a:t>
            </a:r>
            <a:r>
              <a:rPr lang="en-GB" i="0" dirty="0"/>
              <a:t>experienced the event (doesn’t keep track of dropouts/censored observations, though)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B9E79-D70C-FAC8-DCF3-0DC85A264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8015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when we produce a survival curve, what’s actually being plotted?</a:t>
            </a:r>
          </a:p>
          <a:p>
            <a:r>
              <a:rPr lang="en-GB" dirty="0"/>
              <a:t>Because the data were just a bunch of times and 1s/0s</a:t>
            </a:r>
          </a:p>
          <a:p>
            <a:endParaRPr lang="en-GB" dirty="0"/>
          </a:p>
          <a:p>
            <a:r>
              <a:rPr lang="en-GB" dirty="0"/>
              <a:t>You don’t need to do this manually (but it is possible!)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7734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92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construct (in R/Python) a special “survival object” from the original dataset</a:t>
            </a:r>
          </a:p>
          <a:p>
            <a:endParaRPr lang="en-GB" dirty="0"/>
          </a:p>
          <a:p>
            <a:r>
              <a:rPr lang="en-GB" dirty="0"/>
              <a:t>This is done using something called the Kaplan-Meier estimator – essentially, a formula that lets you convert between the two states</a:t>
            </a:r>
          </a:p>
          <a:p>
            <a:endParaRPr lang="en-GB" dirty="0"/>
          </a:p>
          <a:p>
            <a:r>
              <a:rPr lang="en-GB" dirty="0"/>
              <a:t>Our original dataset has a unique individual (in this case, egg) per row</a:t>
            </a:r>
          </a:p>
          <a:p>
            <a:r>
              <a:rPr lang="en-GB" dirty="0"/>
              <a:t>The new object has a unique time point per row, instead</a:t>
            </a:r>
          </a:p>
          <a:p>
            <a:endParaRPr lang="en-GB" dirty="0"/>
          </a:p>
          <a:p>
            <a:r>
              <a:rPr lang="en-GB" dirty="0"/>
              <a:t>This is a specialist layout for a dataset that </a:t>
            </a:r>
            <a:r>
              <a:rPr lang="en-GB" b="1" dirty="0"/>
              <a:t>we don’t use in other type of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957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two key columns: elapsed time and survival probability</a:t>
            </a:r>
          </a:p>
          <a:p>
            <a:r>
              <a:rPr lang="en-GB" dirty="0"/>
              <a:t>Accounting for censoring, </a:t>
            </a:r>
            <a:r>
              <a:rPr lang="en-GB" b="1" dirty="0"/>
              <a:t>what’s the survival probability at each new time point?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7823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2DF7-850B-B2F1-F892-4587900B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80046-9C8B-BF92-0CAD-8005447B5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C09A-A2CE-DE08-8ACC-D2FE2F62B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that’s what we plot when we produce a survival curve!</a:t>
            </a:r>
          </a:p>
          <a:p>
            <a:endParaRPr lang="en-GB" dirty="0"/>
          </a:p>
          <a:p>
            <a:r>
              <a:rPr lang="en-GB" dirty="0"/>
              <a:t>So: the Kaplan-Meier estimator allows us to convert individual-level data, with censoring</a:t>
            </a:r>
          </a:p>
          <a:p>
            <a:r>
              <a:rPr lang="en-GB" dirty="0"/>
              <a:t>Into probability against time</a:t>
            </a:r>
          </a:p>
          <a:p>
            <a:endParaRPr lang="en-GB" dirty="0"/>
          </a:p>
          <a:p>
            <a:r>
              <a:rPr lang="en-GB" dirty="0"/>
              <a:t>That’s why you’ll also sometimes hear these called “KM curves”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67E5-BA09-A75E-87D7-B3F6BF01E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183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always, we are performing a type of </a:t>
            </a:r>
            <a:r>
              <a:rPr lang="en-GB" b="1" dirty="0"/>
              <a:t>inference</a:t>
            </a:r>
          </a:p>
          <a:p>
            <a:endParaRPr lang="en-GB" dirty="0"/>
          </a:p>
          <a:p>
            <a:r>
              <a:rPr lang="en-GB" dirty="0"/>
              <a:t>We find it helpful to think about the problem in terms of </a:t>
            </a:r>
            <a:r>
              <a:rPr lang="en-GB" b="1" dirty="0"/>
              <a:t>time against probability of survival</a:t>
            </a:r>
          </a:p>
          <a:p>
            <a:endParaRPr lang="en-GB" dirty="0"/>
          </a:p>
          <a:p>
            <a:r>
              <a:rPr lang="en-GB" dirty="0"/>
              <a:t>And we often find it helpful to present the resulting curves in </a:t>
            </a:r>
            <a:r>
              <a:rPr lang="en-GB" b="1" dirty="0"/>
              <a:t>papers/presentations</a:t>
            </a:r>
          </a:p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6672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far we’ve only talked about estimation and description</a:t>
            </a:r>
          </a:p>
          <a:p>
            <a:r>
              <a:rPr lang="en-GB" dirty="0"/>
              <a:t>Which is fine – that’s still a very useful thing to do!</a:t>
            </a:r>
          </a:p>
          <a:p>
            <a:endParaRPr lang="en-GB" dirty="0"/>
          </a:p>
          <a:p>
            <a:r>
              <a:rPr lang="en-GB" dirty="0"/>
              <a:t>But we often like to go further and extract some p-values, test some specific hypotheses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764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example, say I have two groups of dragons (subspecies, scale colour, whatever) to compare to each other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446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Log-rank test used to compare two or more survival curves</a:t>
            </a:r>
            <a:br>
              <a:rPr lang="en-US" dirty="0"/>
            </a:br>
            <a:r>
              <a:rPr lang="en-US" dirty="0"/>
              <a:t>(single categorical predictor)</a:t>
            </a:r>
          </a:p>
          <a:p>
            <a:endParaRPr lang="en-US" dirty="0"/>
          </a:p>
          <a:p>
            <a:r>
              <a:rPr lang="en-GB" dirty="0"/>
              <a:t>Is a null hypothesis significance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 = groups have identical curves in the population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Produces a p-value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Has assumptions</a:t>
            </a:r>
          </a:p>
          <a:p>
            <a:endParaRPr lang="en-GB" dirty="0"/>
          </a:p>
          <a:p>
            <a:r>
              <a:rPr lang="en-GB" dirty="0"/>
              <a:t>Can think of it as like a t-test, but for survival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8866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 all significance tests, there must be a null hypothesis</a:t>
            </a:r>
          </a:p>
          <a:p>
            <a:r>
              <a:rPr lang="en-GB" dirty="0"/>
              <a:t>Usually some version of “the world is boring”</a:t>
            </a:r>
          </a:p>
          <a:p>
            <a:endParaRPr lang="en-GB" dirty="0"/>
          </a:p>
          <a:p>
            <a:r>
              <a:rPr lang="en-GB" dirty="0"/>
              <a:t>And I want to know whether they are better thought of 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One single population with a shared survival curve (i.e., colour makes no difference) – left hand side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Two distinct populations with different survival curves – right hand side</a:t>
            </a:r>
          </a:p>
          <a:p>
            <a:endParaRPr lang="en-GB" dirty="0"/>
          </a:p>
          <a:p>
            <a:r>
              <a:rPr lang="en-GB" dirty="0"/>
              <a:t>We want to know: which of these is better supported by our data?</a:t>
            </a:r>
          </a:p>
          <a:p>
            <a:endParaRPr lang="en-GB" dirty="0"/>
          </a:p>
          <a:p>
            <a:r>
              <a:rPr lang="en-GB" dirty="0"/>
              <a:t>(Note: a false null hypothesis could have a steeper curve for blue than red, too; just anything where the curves aren’t the same)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7939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Here’s an example of what the actual datasets might look like, coming from those two different “versions of reality”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123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is a general assumption you’ve probably seen before</a:t>
            </a:r>
          </a:p>
          <a:p>
            <a:r>
              <a:rPr lang="en-GB" dirty="0"/>
              <a:t>The other two are specific to survival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4029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 assumption you’ve likely encountered before</a:t>
            </a:r>
          </a:p>
          <a:p>
            <a:r>
              <a:rPr lang="en-GB" dirty="0"/>
              <a:t>Every statistical model makes some assumption about independence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242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row is a single patient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Not related to each other in any way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Not measuring the same patient more than once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9270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7C4B-CF49-78B0-C697-0DB63C75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221F5-3204-3202-65D8-0666C3DD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2276E-249F-901E-2AEC-941E48F30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– if patients are grouped within hospitals, e.g., a multi-site clinical study</a:t>
            </a:r>
          </a:p>
          <a:p>
            <a:r>
              <a:rPr lang="en-GB" dirty="0"/>
              <a:t>That would make them related/clustered together, and not independent</a:t>
            </a:r>
          </a:p>
          <a:p>
            <a:endParaRPr lang="en-GB" dirty="0"/>
          </a:p>
          <a:p>
            <a:r>
              <a:rPr lang="en-GB" dirty="0"/>
              <a:t>Patients from a single hospital have more similar outcomes, and perhaps more similar probability of experience the event, than they will to patients in other hospitals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AA947-F16C-9B50-8674-8815FF2DC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5579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AC87-5FA0-71C0-E64D-2FA90698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67BFA-EF6E-2A58-F452-C104EF2C8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BF5B9-29EE-27BA-B493-CE9B9B58B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Event of interest: tooth erupting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Multiple teeth per child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Teeth belonging to the same child are not independent of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know that children tend to go through phases of losing/growing multiple teeth at once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589AF-1702-9D19-181B-FAACE802A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2120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75A8-8EDF-0FB3-70EF-71A0965C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F03AF-60AD-EEED-E864-02B445C9C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6DE26-28CE-F359-EBE1-D689946C9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Event: graduation/earning a degree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If we track the same individual over multiple degrees (some people are overachievers!) then again, not independent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33C09-27D1-AEDB-8E5A-B6897D61A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4025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AD36-DE36-4789-3EB3-868725A5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EEB0D-AE7F-0477-87D1-A5652D6E0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84FCE-044C-5C46-F5A5-42A270EB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you switched to people’s </a:t>
            </a:r>
            <a:r>
              <a:rPr lang="en-GB" i="1" dirty="0"/>
              <a:t>first </a:t>
            </a:r>
            <a:r>
              <a:rPr lang="en-GB" i="0" dirty="0"/>
              <a:t>degrees, it would fix this problem</a:t>
            </a:r>
          </a:p>
          <a:p>
            <a:r>
              <a:rPr lang="en-GB" i="0" dirty="0"/>
              <a:t>Now only one observation per person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AC6F9-32DC-8B30-557F-4BFEB9DDB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2969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first of the two survival-specific assumptions</a:t>
            </a:r>
          </a:p>
          <a:p>
            <a:endParaRPr lang="en-GB" dirty="0"/>
          </a:p>
          <a:p>
            <a:r>
              <a:rPr lang="en-GB" dirty="0"/>
              <a:t>The short definition:</a:t>
            </a:r>
          </a:p>
          <a:p>
            <a:r>
              <a:rPr lang="en-GB" dirty="0"/>
              <a:t>Censoring &amp; survival are not “linked”</a:t>
            </a:r>
          </a:p>
          <a:p>
            <a:r>
              <a:rPr lang="en-GB" dirty="0"/>
              <a:t>E.g., higher probability of censoring does not mean a higher or lower probability of experiencing the event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8032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6A6E-C993-66E9-C496-EC1A9DE1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F083C-6846-B43F-1775-053694719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19B9E-8094-7739-C2F9-44F9A02EA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 of interest: lightbulb failure</a:t>
            </a:r>
          </a:p>
          <a:p>
            <a:r>
              <a:rPr lang="en-GB" dirty="0"/>
              <a:t>Building maintenance install 500 bulbs in a new building, and a researcher monitors each of them</a:t>
            </a:r>
          </a:p>
          <a:p>
            <a:endParaRPr lang="en-GB" dirty="0"/>
          </a:p>
          <a:p>
            <a:r>
              <a:rPr lang="en-GB" dirty="0"/>
              <a:t>The informative censoring comes in here: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Regular/routine checks by building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Bulbs are removed if they look close to failure (flickering, dimming), and are therefore lost to researcher follow-up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So the censoring is directly related to the survival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same process that governs the event (failure) occurring, also governs censoring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Why is this a problem?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Your survival analysis will end up overestimating how long bulbs survive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Because all the ones with shorter survival times, get removed/censored before they can contribute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E4D9A-A343-9FA0-1E96-781D27E45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9898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EF34-B8CA-BF57-20EA-ABFEC26B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8AC4B-7A54-289D-AD49-E3D7EDCB1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E7B75-AA42-7E63-3A97-C801AFBAE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slightly more complex, but probably for many participants more relevant, example</a:t>
            </a:r>
          </a:p>
          <a:p>
            <a:endParaRPr lang="en-GB" dirty="0"/>
          </a:p>
          <a:p>
            <a:r>
              <a:rPr lang="en-GB" dirty="0"/>
              <a:t>Imagine: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Event of interest is: getting a transplant kidney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Orange crosses represent censoring – e.g., patient drops out of the study/is lost to follow-up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Sample is made up of individuals with varying degrees of illness, perhaps different stages of kidney disease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Followed from the time they join the waiting 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Here’s the informative censoring: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Patients who become too ill for transplantation are removed from the waiting list, i.e., censored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They are </a:t>
            </a:r>
            <a:r>
              <a:rPr lang="en-GB" b="1" dirty="0"/>
              <a:t>not</a:t>
            </a:r>
            <a:r>
              <a:rPr lang="en-GB" b="0" dirty="0"/>
              <a:t> a random subset of that waiting list, so censoring is not happening at random – it’s happening based on how ill they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Once removed, their chance of experiencing the event (transplant) is lowered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Meaning the likelihood of getting a kidney, is related to the likelihood of being censored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="0" dirty="0"/>
              <a:t>What would non-informative censoring look like?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Patient moves country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Patient is transferred to another transplant centre that doesn’t share data with the study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Study ends while patient is still on the transplant waiting 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Note: a patient dying is not so much censoring as a “competing event”, but that would also be a potential problem!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u="sng" dirty="0"/>
              <a:t>In general: it’s very common in medical settings that patients with poorer health are more likely to be lost to follow-up!!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E1131-4038-BD3A-8DD5-204779DE1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7490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160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Proportional or consistent effects, over time, for the predictor(s)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So: if chromatic dragon eggs have twice the likelihood of hatching at time 1 compared to metallic dragons, they also have twice the likelihood at time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Or: if a surgical patient has a third of the chance of being discharged than a non-surgical patient on day 2, they should also have a third of a chance on day 20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0498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99D2-4ADE-48FE-E71B-156DCDFF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E139A-FEE9-8789-2437-A66F39AC1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D3E6C-FC12-90C1-7E3E-1AF1D421A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Hazards can be non-proportional in multiple 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one of the easiest ways to check (with a categorical predictor at least) is the survival curves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C8C5-C984-28E2-6D0E-003B74F08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227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F39B-206C-2EDB-B253-7C39735E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C7A30-2CBA-2494-0D89-E302BFB63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73615-AF01-01AE-B931-97B45BC41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Hazards can be non-proportional in multiple 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one of the easiest ways to check (with a categorical predictor at least) is the survival curves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F1D32-083C-E649-1F7A-D2C163A84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707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B37E-95CB-915A-B65D-F660B1F2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3285F-094A-8828-9A70-A364DB6AB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14FEE-2D37-7564-EF88-DE59E75AC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Crossed – one group starts with a higher hazard/rate of event, and then at some point it flips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FDB34-BBEE-7B4D-4DC2-D60516A6C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4417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27601-39A5-9CAB-0383-32A7E726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ED34C-E59F-985D-16BF-5E1ED8BBE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7AC73-72A6-9C5C-D68F-AFDB03CBE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Important to note: looking at the curves alone isn’t necessarily foolproof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the sample size is smaller, the staircase will look much less smooth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 generally we have to be a bit more relaxed in those situations (like with checking diagnostic plots in regular linear models)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576A2-1A9A-7CF2-BE57-B9CB30B0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8188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B20D-393B-59FD-6AB7-0EF675CB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49BB8-3D6D-65AD-E74F-036DF64C4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32985-DE8D-8D9B-2A13-832E3BD2D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Important to note: looking at the curves alone isn’t necessarily foolproof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the sample size is smaller, the staircase will look much less smooth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 generally we have to be a bit more relaxed in those situations (like with checking diagnostic plots in regular linear models)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Remember: our assumption about proportional hazards is actually about the </a:t>
            </a:r>
            <a:r>
              <a:rPr lang="en-GB" b="1" dirty="0"/>
              <a:t>underlying survival curves in the population </a:t>
            </a:r>
            <a:r>
              <a:rPr lang="en-GB" b="0" dirty="0"/>
              <a:t>that generated the data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9963-7FC6-C48E-1B7B-80B783905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9285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9FE0-74C7-12CA-7A9A-F1B9051D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A907B-707A-E70B-9568-EAEDD263E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78AFD-B691-032D-BD50-55C84FF84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Important to note: looking at the curves alone isn’t necessarily foolproof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the sample size is smaller, the staircase will look much less smooth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 generally we have to be a bit more relaxed in those situations (like with checking diagnostic plots in regular linear models)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Remember: our assumption about proportional hazards is actually about the </a:t>
            </a:r>
            <a:r>
              <a:rPr lang="en-GB" b="1" dirty="0"/>
              <a:t>underlying survival curves in the population </a:t>
            </a:r>
            <a:r>
              <a:rPr lang="en-GB" b="0" dirty="0"/>
              <a:t>that generated the data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A6A8F-0711-301D-08AF-41192EBEE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3800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Okay, so let’s check our ability to think through the assumptions on the example I introduced earlier</a:t>
            </a:r>
          </a:p>
          <a:p>
            <a:endParaRPr lang="en-GB" dirty="0"/>
          </a:p>
          <a:p>
            <a:r>
              <a:rPr lang="en-GB" dirty="0"/>
              <a:t>Talk with a neighbour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What would have to “go wrong” for each assumption to not be met?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Note: there may be multiple answers for each assumption!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4488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have multiple nesting sites, some may be more or less favourable</a:t>
            </a:r>
          </a:p>
          <a:p>
            <a:r>
              <a:rPr lang="en-GB" dirty="0"/>
              <a:t>If we measure over multiple years, we get batch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4136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Chromatic eggs being censored (e.g., hidden or damaged) more often is not automatically informative</a:t>
            </a:r>
          </a:p>
          <a:p>
            <a:endParaRPr lang="en-GB" dirty="0"/>
          </a:p>
          <a:p>
            <a:r>
              <a:rPr lang="en-GB" dirty="0"/>
              <a:t>If chromatic eggs: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Hatch quicker on average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Are also more likely to be abandoned by parents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Then we will see differences between the two groups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But this doesn’t mean that the hatching time and censoring probability are related to each other </a:t>
            </a:r>
            <a:r>
              <a:rPr lang="en-GB" i="1" dirty="0"/>
              <a:t>within </a:t>
            </a:r>
            <a:r>
              <a:rPr lang="en-GB" i="0" dirty="0"/>
              <a:t>the groups</a:t>
            </a:r>
            <a:endParaRPr lang="en-GB" dirty="0"/>
          </a:p>
          <a:p>
            <a:endParaRPr lang="en-GB" dirty="0"/>
          </a:p>
          <a:p>
            <a:r>
              <a:rPr lang="en-GB" dirty="0"/>
              <a:t>Can be </a:t>
            </a:r>
            <a:r>
              <a:rPr lang="en-GB" b="1" dirty="0"/>
              <a:t>non-informative </a:t>
            </a:r>
            <a:r>
              <a:rPr lang="en-GB" b="1" i="1" dirty="0"/>
              <a:t>within</a:t>
            </a:r>
            <a:r>
              <a:rPr lang="en-GB" b="1" dirty="0"/>
              <a:t> each colour group</a:t>
            </a:r>
            <a:r>
              <a:rPr lang="en-GB" b="0" dirty="0"/>
              <a:t> and that’s still fine</a:t>
            </a:r>
          </a:p>
          <a:p>
            <a:endParaRPr lang="en-GB" b="0" dirty="0"/>
          </a:p>
          <a:p>
            <a:r>
              <a:rPr lang="en-GB" b="0" dirty="0"/>
              <a:t>In other words: censoring does not need to be independent of predictors, just of the event-causing mechanism/process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3589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Remember, proportional hazards relates to whether the predictor variable(s) have a constant effect on survival</a:t>
            </a:r>
          </a:p>
          <a:p>
            <a:r>
              <a:rPr lang="en-GB" dirty="0"/>
              <a:t>So we need to focus on the scale colour in this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0027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Do you think we can trust this log-rank test, then?</a:t>
            </a:r>
          </a:p>
          <a:p>
            <a:endParaRPr lang="en-GB" dirty="0"/>
          </a:p>
          <a:p>
            <a:r>
              <a:rPr lang="en-GB" dirty="0"/>
              <a:t>This is the log rank test that we saw earlier</a:t>
            </a:r>
          </a:p>
          <a:p>
            <a:r>
              <a:rPr lang="en-GB" dirty="0"/>
              <a:t>But now we have more a sense of whether it’s appropriate, and how we might want to interpret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88162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log-rank test can also be seen as an analogue for a one-way ANOVA</a:t>
            </a:r>
          </a:p>
          <a:p>
            <a:r>
              <a:rPr lang="en-GB" dirty="0"/>
              <a:t>You could have as many different strata/groups as you wanted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192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Probably the simplest/easiest type of analysis to perform on survival data</a:t>
            </a:r>
          </a:p>
          <a:p>
            <a:endParaRPr lang="en-GB" dirty="0"/>
          </a:p>
          <a:p>
            <a:r>
              <a:rPr lang="en-GB" dirty="0"/>
              <a:t>It </a:t>
            </a:r>
            <a:r>
              <a:rPr lang="en-GB" b="1" dirty="0"/>
              <a:t>only works when we have one categorical predictor </a:t>
            </a:r>
            <a:r>
              <a:rPr lang="en-GB" dirty="0"/>
              <a:t>(although we can compare as many groups as we like)</a:t>
            </a:r>
          </a:p>
          <a:p>
            <a:endParaRPr lang="en-GB" dirty="0"/>
          </a:p>
          <a:p>
            <a:r>
              <a:rPr lang="en-GB" dirty="0"/>
              <a:t>Like all statistical tests, it makes assumptions, and you have to check these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6973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F238C-B695-84EB-319F-79A6F77B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082D298-798A-0DD5-8A1F-038215A102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B26FF2-21A4-4D45-8B69-E1FBC758DB49}" type="slidenum">
              <a:rPr lang="en-GB" smtClean="0">
                <a:cs typeface="Arial" charset="0"/>
              </a:rPr>
              <a:pPr/>
              <a:t>67</a:t>
            </a:fld>
            <a:endParaRPr lang="en-GB">
              <a:cs typeface="Arial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03DEC80-4869-B000-F976-DCD9C8DEA1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1FC89F2-7E42-D78A-9160-C082F5E0A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43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the first session, we looked 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Describing a dataset overall, a single survival curve (no predictor)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log-rank test, with a single categorical predictor (multiple groups)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What if we want to know about the impact of a continuous predictor, though?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In that situation, we perform a type of analysis called </a:t>
            </a:r>
            <a:r>
              <a:rPr lang="en-GB" b="1" dirty="0"/>
              <a:t>Cox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1592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Getting your head around how Cox regression works is maybe a bit trickier than a log-rank test</a:t>
            </a:r>
          </a:p>
          <a:p>
            <a:endParaRPr lang="en-GB" dirty="0"/>
          </a:p>
          <a:p>
            <a:r>
              <a:rPr lang="en-GB" dirty="0"/>
              <a:t>Let’s start by thinking about what the survival/risk looks like without any predictors at all</a:t>
            </a:r>
          </a:p>
          <a:p>
            <a:endParaRPr lang="en-GB" dirty="0"/>
          </a:p>
          <a:p>
            <a:r>
              <a:rPr lang="en-GB" dirty="0"/>
              <a:t>Say we take an individual at random from the dataset or population</a:t>
            </a:r>
          </a:p>
          <a:p>
            <a:r>
              <a:rPr lang="en-GB" dirty="0"/>
              <a:t>And we ask: what’s the risk/hazard of them experiencing the event right now, at some given point in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79038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B208-A890-E281-CCE9-1DF52BC2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050EB-859A-2976-D6B9-CF708D45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3AED5-9FDF-E196-675F-C575035FF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start by thinking about what the survival/risk looks like without any predictors at all</a:t>
            </a:r>
          </a:p>
          <a:p>
            <a:endParaRPr lang="en-GB" dirty="0"/>
          </a:p>
          <a:p>
            <a:r>
              <a:rPr lang="en-GB" dirty="0"/>
              <a:t>Say we take an individual at random from the dataset or population</a:t>
            </a:r>
          </a:p>
          <a:p>
            <a:endParaRPr lang="en-GB" dirty="0"/>
          </a:p>
          <a:p>
            <a:r>
              <a:rPr lang="en-GB" dirty="0"/>
              <a:t>And we ask: what’s the risk/hazard of them experiencing the event right now, at some given point in 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BB09A-1EA2-789B-BA73-00ACC101F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27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8C0C-A579-AC78-2821-B2E84277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B34BD-00EF-9C15-9D14-AB70C8697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4678C-76D5-1862-23A3-3545042C9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start by thinking about what the survival/risk looks like without any predictors at all</a:t>
            </a:r>
          </a:p>
          <a:p>
            <a:endParaRPr lang="en-GB" dirty="0"/>
          </a:p>
          <a:p>
            <a:r>
              <a:rPr lang="en-GB" dirty="0"/>
              <a:t>Say we take an individual at random from the dataset or population</a:t>
            </a:r>
          </a:p>
          <a:p>
            <a:endParaRPr lang="en-GB" dirty="0"/>
          </a:p>
          <a:p>
            <a:r>
              <a:rPr lang="en-GB" dirty="0"/>
              <a:t>And we ask: what’s the risk/hazard of them experiencing the event right now, at some given point in 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4E67A-22EC-C1DF-3D21-DDC522C3E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864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(Returning to the egg-hatching example)</a:t>
            </a:r>
          </a:p>
          <a:p>
            <a:endParaRPr lang="en-GB" dirty="0"/>
          </a:p>
          <a:p>
            <a:r>
              <a:rPr lang="en-GB" dirty="0"/>
              <a:t>If we just think about the entire set of eggs, and ignore any differences between them</a:t>
            </a:r>
          </a:p>
          <a:p>
            <a:r>
              <a:rPr lang="en-GB" dirty="0"/>
              <a:t>We can figure out the baseline “risk” (also known as “hazard”) by just looking at all the eggs averaged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851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baseline hazard can vary over time in different ways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Constant</a:t>
            </a:r>
            <a:r>
              <a:rPr lang="en-GB" dirty="0"/>
              <a:t> – things with exponential lifetimes, e.g., a lightbulb that is equally likely to fail at any given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2637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476A-6E7B-1A4C-157A-54C8612A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B362F-D12C-6B95-BC19-FDE96DD82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809CD-BE5F-700D-D434-D16BD01B6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baseline hazard can vary over time in different ways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Decreasing</a:t>
            </a:r>
            <a:r>
              <a:rPr lang="en-GB" dirty="0"/>
              <a:t> – things less likely to wear with time, e.g., businesses become more stable the longer they are established for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25A0-D80D-9378-4444-7B4C25CA7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414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F097-8557-33B3-9A95-44BF8E5D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3CDCC-EBBD-DC30-B3D3-293735BD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B3090-57E6-2E3B-4606-F40C2D2E0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baseline hazard can vary over time in different ways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Increasing</a:t>
            </a:r>
            <a:r>
              <a:rPr lang="en-GB" dirty="0"/>
              <a:t> – things are more likely to wear with time, e.g., mechanical parts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46C0D-5FAF-2E31-CA83-DE707DDCC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49701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1F7-59F4-5272-7957-5BBF8AB9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57D5F-1AD9-CABC-90B7-E11A9BB83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2EE89-96E2-B154-B934-A70C83A5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baseline hazard can vary over time in different ways</a:t>
            </a:r>
          </a:p>
          <a:p>
            <a:endParaRPr lang="en-GB" dirty="0"/>
          </a:p>
          <a:p>
            <a:r>
              <a:rPr lang="en-GB" b="1" dirty="0"/>
              <a:t>Bathtub</a:t>
            </a:r>
            <a:r>
              <a:rPr lang="en-GB" dirty="0"/>
              <a:t> – high failure rates when young and old, e.g., humans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4176B-97C0-F4CA-D8AE-00C5AB7E9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2485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B6CE-C145-DCDD-E805-E7CAB6C0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A08FF-0968-062E-FFB6-FA109EAA0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CD911-A594-9DDE-545A-F77DA4E5F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assume that dragon egg hatching has a baseline hazard function like this</a:t>
            </a:r>
          </a:p>
          <a:p>
            <a:r>
              <a:rPr lang="en-GB" dirty="0"/>
              <a:t>Starts low, peaks around 20 days from the start of the study observation, drops again</a:t>
            </a:r>
          </a:p>
          <a:p>
            <a:endParaRPr lang="en-GB" dirty="0"/>
          </a:p>
          <a:p>
            <a:r>
              <a:rPr lang="en-GB" dirty="0"/>
              <a:t>Note that it doesn’t really matter – it gets estimated from the dataset, but we’re usually not that bothered about what the shape actually is</a:t>
            </a:r>
          </a:p>
          <a:p>
            <a:r>
              <a:rPr lang="en-GB" dirty="0"/>
              <a:t>And this is a silly example anyway</a:t>
            </a:r>
          </a:p>
          <a:p>
            <a:endParaRPr lang="en-GB" dirty="0"/>
          </a:p>
          <a:p>
            <a:r>
              <a:rPr lang="en-GB" dirty="0"/>
              <a:t>But essentially it describes, on average, the shape of how the risk/hazard varies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14C3-BD84-257D-06B0-812EAC99E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9004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630D-5C0C-8633-F5E7-F9207321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98768-48E9-1CF1-8774-804A40EDB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EC859-5E68-5A09-3BCD-289DA1580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We’re now going to add a continuous predictor: the weight/size</a:t>
            </a:r>
          </a:p>
          <a:p>
            <a:endParaRPr lang="en-GB" dirty="0"/>
          </a:p>
          <a:p>
            <a:r>
              <a:rPr lang="en-GB" dirty="0"/>
              <a:t>And this allows us to ask questions about the impact that this predictor has, on that baseline hazard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A266C-6121-DFD0-7ECA-00B156012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6412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CA88-8F97-6649-6259-CA8FBA2A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BB7E1-33D9-ABC2-B23B-82BC80B68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D9A2A-E017-4DB2-7BFD-192161E82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assume that dragon egg hatching has an increasing baseline hazard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5F12A-89CD-B161-7E78-49C01017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5269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2192-5C02-B649-96A7-804DB659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44B23-7EC0-A0B1-A0D9-83A7D90A1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BF070-47CD-2AAD-7E8F-D12F7C2A8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Now, we can look at how the weight of the egg </a:t>
            </a:r>
            <a:r>
              <a:rPr lang="en-GB" b="1" dirty="0"/>
              <a:t>affects that baseline</a:t>
            </a:r>
          </a:p>
          <a:p>
            <a:endParaRPr lang="en-GB" b="1" dirty="0"/>
          </a:p>
          <a:p>
            <a:r>
              <a:rPr lang="en-GB" b="0" dirty="0"/>
              <a:t>And that’s what we’re really interested in!</a:t>
            </a:r>
          </a:p>
          <a:p>
            <a:endParaRPr lang="en-GB" b="0" dirty="0"/>
          </a:p>
          <a:p>
            <a:r>
              <a:rPr lang="en-GB" b="0" dirty="0"/>
              <a:t>(Note; it could also have </a:t>
            </a:r>
            <a:r>
              <a:rPr lang="en-GB" b="1" dirty="0"/>
              <a:t>decreased</a:t>
            </a:r>
            <a:r>
              <a:rPr lang="en-GB" b="0" dirty="0"/>
              <a:t> the hazard, that would still be fine)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13768-D9BF-9559-E6CA-371A9B4B2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685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6BE7-39EF-1404-DEF0-34A2C351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E88A0-1ED0-09DE-A2BF-2913FBC26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5C15D-B910-06BF-99C1-4FFD966B6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analogous to how, in a simple linear regression: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beta0 gives us some “starting point” or baseline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DFAAD-D4F0-03D7-1917-93BEDE739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7024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91C1-9080-9B29-2BFA-DBC5D9DA1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DE15B-12AA-D99F-9B53-5127279A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E0561-333C-422C-9937-3A31ED1C5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analogous to how, in a simple linear regression: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beta0 gives us some “starting point” or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then modify/move from that baseline, based on the values of our predictor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7A337-EB8A-30DE-7E34-E90D797F7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58505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4E2C-9FAE-FC4A-9EFF-2E3A3E61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73DB9-0E49-98F4-0C4A-14D4BE089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56693-31D8-4114-FAFE-F8786C7F3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analogous to how, in a simple linear regression: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beta0 gives us some “starting point” or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then modify/move from that baseline, based on the values of our predictor variable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Which are each being multiplied by a beta coefficient of their 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5BF27-5018-67C5-DFDB-04A12BD20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64607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44AA-FBBD-B749-4BF7-86A7F546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20B3C-D07A-D733-A421-0C8086AF9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129D9-E1BE-6056-BFBF-929C6FDC8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analogous to how, in a simple linear regression: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beta0 gives us some “starting point” or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then modify/move from that baseline, based on the values of our predictor variable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Which are each being multiplied by a beta coefficient of their 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To give us some final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5CC41-B7E0-AEB5-6FEE-7EA9F6409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58295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if a log-rank test is an extension/analogue of the t-test/one-way ANOVA</a:t>
            </a:r>
          </a:p>
          <a:p>
            <a:endParaRPr lang="en-GB" dirty="0"/>
          </a:p>
          <a:p>
            <a:r>
              <a:rPr lang="en-GB" dirty="0"/>
              <a:t>You can think of Cox regression as an extension/analogue of the more general linear model</a:t>
            </a:r>
          </a:p>
          <a:p>
            <a:endParaRPr lang="en-GB" dirty="0"/>
          </a:p>
          <a:p>
            <a:r>
              <a:rPr lang="en-GB" dirty="0"/>
              <a:t>So far we’ve talked about it like simple linear regression, with one continuous predictor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35558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B730-07D7-B103-DA46-29474F7E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20060-D285-9F56-11A4-E5E8C8FD5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2E320-4C9C-3F31-E609-75D18840B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actually, just like with regular linear models, the number and type of predictors doesn’t matter</a:t>
            </a:r>
          </a:p>
          <a:p>
            <a:endParaRPr lang="en-GB" dirty="0"/>
          </a:p>
          <a:p>
            <a:r>
              <a:rPr lang="en-GB" dirty="0"/>
              <a:t>And of course: there are assumptions!!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5D99-B366-E5ED-83FC-EC91685A8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87516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the online course materials, they will walk you through: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Checking linearity for continuous predictors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How to assess proportional hazards for continuous predictors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But we don’t talk very much about time-independent predictors, so I’ll take a couple of slides to focus on that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61584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more of an experimental design principle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38396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Standard Cox regression </a:t>
            </a:r>
            <a:r>
              <a:rPr lang="en-GB" b="1" dirty="0"/>
              <a:t>cannot handle time-dependent predictors</a:t>
            </a:r>
            <a:endParaRPr lang="en-GB" b="0" dirty="0"/>
          </a:p>
          <a:p>
            <a:r>
              <a:rPr lang="en-GB" b="0" dirty="0"/>
              <a:t>You need to use an extension to the model</a:t>
            </a:r>
          </a:p>
          <a:p>
            <a:endParaRPr lang="en-GB" b="0" dirty="0"/>
          </a:p>
          <a:p>
            <a:r>
              <a:rPr lang="en-GB" b="0" dirty="0"/>
              <a:t>[Possible bonus chapter in course materials?]</a:t>
            </a:r>
            <a:endParaRPr lang="en-GB" dirty="0"/>
          </a:p>
          <a:p>
            <a:endParaRPr lang="en-GB" dirty="0"/>
          </a:p>
          <a:p>
            <a:r>
              <a:rPr lang="en-GB" dirty="0"/>
              <a:t>Earlier we had the example of customers cancelling their streaming subscription</a:t>
            </a:r>
          </a:p>
          <a:p>
            <a:r>
              <a:rPr lang="en-GB" dirty="0"/>
              <a:t>And also the example of birds migrating out of the study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31086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CFC8-1E9E-9A24-1D26-7E9C6F28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7ACD7-E13D-FAF2-0C49-E749046A5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56ACD-91B4-7E8D-6FE4-7E7EC6810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75B33-5DF1-806F-F98D-8BE716E00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5216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 hazard = probability of experiencing the event at a given point in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38303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say we want to know what the hazard ratio is for our scale colour predictor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8061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1CC7-0115-0C52-6CCA-73770104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042B3-DBEF-0D8E-0DEF-F55A0DC53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E4EC4-BD18-C348-4D35-86B39A38C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first thing that happens is that baseline hazard gets estimated</a:t>
            </a:r>
          </a:p>
          <a:p>
            <a:endParaRPr lang="en-GB" dirty="0"/>
          </a:p>
          <a:p>
            <a:r>
              <a:rPr lang="en-GB" dirty="0"/>
              <a:t>This here is a very smoothed/perfect version (the actual estimate would look messier, we’re just visualising/imagining)</a:t>
            </a:r>
          </a:p>
          <a:p>
            <a:endParaRPr lang="en-GB" dirty="0"/>
          </a:p>
          <a:p>
            <a:r>
              <a:rPr lang="en-GB" dirty="0"/>
              <a:t>So this baseline hazard rises and then falls</a:t>
            </a:r>
          </a:p>
          <a:p>
            <a:r>
              <a:rPr lang="en-GB" dirty="0"/>
              <a:t>Remember the exact shape isn’t all that important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500E-F037-BB5E-3F57-CB4C057AF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56316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47BA-44DE-9CBC-154C-DC5B1CE5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237D4-9AA6-519B-C029-2F6EB2F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E163C-4D77-279C-F006-6DBC47F2F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way that it works is that actually, the chromatic group got chosen as our baseline here</a:t>
            </a:r>
          </a:p>
          <a:p>
            <a:endParaRPr lang="en-GB" dirty="0"/>
          </a:p>
          <a:p>
            <a:r>
              <a:rPr lang="en-GB" dirty="0"/>
              <a:t>So this chromatic hazard curve is also the baseline hazard curve</a:t>
            </a:r>
          </a:p>
          <a:p>
            <a:endParaRPr lang="en-GB" dirty="0"/>
          </a:p>
          <a:p>
            <a:r>
              <a:rPr lang="en-GB" dirty="0"/>
              <a:t>That’s always how it works with a categorical predictor (like with a one-way ANOVA) – one of the groups gets chosen as the intercept or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898A-0C37-5CAF-341A-744955BBD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212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then we can ask – how does changing the value of that predictor</a:t>
            </a:r>
          </a:p>
          <a:p>
            <a:r>
              <a:rPr lang="en-GB" dirty="0"/>
              <a:t>(i.e., moving between the groups)</a:t>
            </a:r>
          </a:p>
          <a:p>
            <a:r>
              <a:rPr lang="en-GB" dirty="0"/>
              <a:t>Affect the hazard?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25854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Well we can actually measure it</a:t>
            </a:r>
          </a:p>
          <a:p>
            <a:r>
              <a:rPr lang="en-GB" dirty="0"/>
              <a:t>Let’s pick a specific time point, say t=20</a:t>
            </a:r>
          </a:p>
          <a:p>
            <a:endParaRPr lang="en-GB" dirty="0"/>
          </a:p>
          <a:p>
            <a:r>
              <a:rPr lang="en-GB" dirty="0"/>
              <a:t>The instantaneous hazard (risk of hatching) for the two dragons are shown</a:t>
            </a:r>
          </a:p>
          <a:p>
            <a:endParaRPr lang="en-GB" dirty="0"/>
          </a:p>
          <a:p>
            <a:r>
              <a:rPr lang="en-GB" dirty="0"/>
              <a:t>And the metallic dragons are at basically exactly 50% of the hazard of the chromatic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48596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check a second time point, we see that it still holds true at 50%</a:t>
            </a:r>
          </a:p>
          <a:p>
            <a:endParaRPr lang="en-GB" dirty="0"/>
          </a:p>
          <a:p>
            <a:r>
              <a:rPr lang="en-GB" dirty="0"/>
              <a:t>Incidentally – this is a perfect visualisation of what we mean by proportional hazards!</a:t>
            </a:r>
          </a:p>
          <a:p>
            <a:r>
              <a:rPr lang="en-GB" b="1" dirty="0"/>
              <a:t>The hazard ratio remains constant </a:t>
            </a:r>
            <a:r>
              <a:rPr lang="en-GB" b="0" dirty="0"/>
              <a:t>across all time points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12853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B0BC-1692-D8C3-176B-D67ED09A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CEDBB-8C56-7823-D50B-17617E724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360CD-3EC0-023F-1D17-A26D8BC82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check a second time point, we see that it still holds true at 50%</a:t>
            </a:r>
          </a:p>
          <a:p>
            <a:endParaRPr lang="en-GB" dirty="0"/>
          </a:p>
          <a:p>
            <a:r>
              <a:rPr lang="en-GB" dirty="0"/>
              <a:t>So the hazard ratio is around 0.5</a:t>
            </a:r>
          </a:p>
          <a:p>
            <a:r>
              <a:rPr lang="en-GB" dirty="0"/>
              <a:t>The hazard when we move from our reference group to our other group, decreases by a half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C0F05-0F9B-469A-D4A0-6191D48E4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83640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our dragon example, when we chose chromatic as the reference group, we had an HR of 0.5</a:t>
            </a:r>
          </a:p>
          <a:p>
            <a:r>
              <a:rPr lang="en-GB" dirty="0"/>
              <a:t>But if we’d chosen metallic as the reference group, it would’ve been 2 instead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76925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3267-45CE-597A-86B8-FE0A0FD8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885D0-4830-2B86-BE9C-BD53E9031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D3186-A44E-C211-3036-9837669CF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had a third category, the same principle applies</a:t>
            </a:r>
          </a:p>
          <a:p>
            <a:r>
              <a:rPr lang="en-GB" dirty="0"/>
              <a:t>We ask how it compares against our baseline/reference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60C92-3DF9-F618-7B10-771AA23B6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03708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D95B-505F-BD6C-570A-7449B472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19376-A76E-6399-62E1-EC9D5EEB6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235FE-020E-DC34-0CD5-9184F8BE2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this case, around a third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1FBAA-9680-AE0B-D38A-4730DDD2C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75915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6E2D-5ED2-D8C6-5297-AD682127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6ADCB-821E-0592-1436-CC6F424AB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E6D9D-067E-B126-988F-B886F23C7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5DF1B-B77C-D8EB-823A-4D4BD0F9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26429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Let’s return to the weight example for a continuous predictor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20253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do not need a reference group when the predictor is continuous</a:t>
            </a:r>
          </a:p>
          <a:p>
            <a:r>
              <a:rPr lang="en-GB" dirty="0"/>
              <a:t>(Just like in regular linear modelling)</a:t>
            </a:r>
          </a:p>
          <a:p>
            <a:endParaRPr lang="en-GB" dirty="0"/>
          </a:p>
          <a:p>
            <a:r>
              <a:rPr lang="en-GB" dirty="0"/>
              <a:t>Instead, a value of 0 gets chosen as the “reference” or baseline</a:t>
            </a:r>
          </a:p>
          <a:p>
            <a:endParaRPr lang="en-GB" dirty="0"/>
          </a:p>
          <a:p>
            <a:r>
              <a:rPr lang="en-GB" dirty="0"/>
              <a:t>But, since a 0kg egg means nothing to us, let’s start by looking at a 1kg egg instead</a:t>
            </a:r>
          </a:p>
          <a:p>
            <a:r>
              <a:rPr lang="en-GB" dirty="0"/>
              <a:t>(It’s not going to affect our calculation or interpretation!)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241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47790-AFA0-E122-73A2-74D2BA50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90328-CAC0-0076-206D-453C7DD47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829CF-16C5-20E9-4C74-24D928123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 dirty="0"/>
              <a:t>What happens when we increase the value of our x-predictor variable by </a:t>
            </a:r>
            <a:r>
              <a:rPr lang="en-GB" b="1" i="0" dirty="0"/>
              <a:t>one unit?</a:t>
            </a: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F49C2-C969-D6D5-07CA-79C932662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74718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3E8F-B0CA-D56C-7F7A-C7416EDE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017E4-0F9B-1EFA-06F8-F7D1CA6C5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C443F-0681-FC01-73ED-F88FBE041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 dirty="0"/>
              <a:t>We see that the hazard changes</a:t>
            </a:r>
          </a:p>
          <a:p>
            <a:r>
              <a:rPr lang="en-GB" i="0" dirty="0"/>
              <a:t>And in fact the hazard ratio here is 0.45/0.31 – approximately 1.5</a:t>
            </a:r>
          </a:p>
          <a:p>
            <a:endParaRPr lang="en-GB" i="0" dirty="0"/>
          </a:p>
          <a:p>
            <a:r>
              <a:rPr lang="en-GB" i="0" dirty="0"/>
              <a:t>So: as the egg gets heavier, the hazard is increased</a:t>
            </a:r>
          </a:p>
          <a:p>
            <a:r>
              <a:rPr lang="en-GB" i="0" dirty="0"/>
              <a:t>(Since our HR &gt; 1)</a:t>
            </a:r>
          </a:p>
          <a:p>
            <a:endParaRPr lang="en-GB" i="0" dirty="0"/>
          </a:p>
          <a:p>
            <a:r>
              <a:rPr lang="en-GB" i="0" dirty="0"/>
              <a:t>Note: if we constructed two survival curves, one for 1kg and one for 2kg, what would they look like relative to each other?</a:t>
            </a:r>
          </a:p>
          <a:p>
            <a:r>
              <a:rPr lang="en-GB" i="0" dirty="0">
                <a:sym typeface="Wingdings" panose="05000000000000000000" pitchFamily="2" charset="2"/>
              </a:rPr>
              <a:t> 2kg would drop away faster</a:t>
            </a: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194A5-6D1D-AD22-3F56-3BAA603C9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02030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6632-1207-5D72-9851-470CF538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75D4E-DF7C-CB29-862F-654BB0590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3564F-6E6F-4F78-D47B-CE14F9379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 dirty="0"/>
              <a:t>But with a continuous predictor, there are an infinite number of values that we could test</a:t>
            </a:r>
          </a:p>
          <a:p>
            <a:endParaRPr lang="en-GB" i="0" dirty="0"/>
          </a:p>
          <a:p>
            <a:r>
              <a:rPr lang="en-GB" i="0" dirty="0"/>
              <a:t>What if instead of 1 vs 2, we chose 4 vs 5?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75832-7A02-976D-6469-9AEF04B4C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8110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2FAB-9379-2D8A-24F4-365CB991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BA2E9-23DE-938D-077D-B95D52B6C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3446A-274A-8CBB-3CEB-4A352A8CD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 dirty="0"/>
              <a:t>It doesn’t change the HR</a:t>
            </a:r>
          </a:p>
          <a:p>
            <a:endParaRPr lang="en-GB" i="0" dirty="0"/>
          </a:p>
          <a:p>
            <a:r>
              <a:rPr lang="en-GB" i="0" dirty="0"/>
              <a:t>For a continuous predictor, the HR is all about what happens with a </a:t>
            </a:r>
            <a:r>
              <a:rPr lang="en-GB" b="1" i="0" dirty="0"/>
              <a:t>single unit change</a:t>
            </a:r>
            <a:endParaRPr lang="en-GB" b="0" i="0" dirty="0"/>
          </a:p>
          <a:p>
            <a:endParaRPr lang="en-GB" b="0" i="0" dirty="0"/>
          </a:p>
          <a:p>
            <a:r>
              <a:rPr lang="en-GB" b="0" i="0" dirty="0"/>
              <a:t>So 0.45/0.31 = 1.5</a:t>
            </a:r>
          </a:p>
          <a:p>
            <a:r>
              <a:rPr lang="en-GB" b="0" i="0" dirty="0"/>
              <a:t>And 1.31/0.92 = 1. 5</a:t>
            </a: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F24BF-8396-A3DF-5E41-61D1FC219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86707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BFB0-91F3-841B-4285-003FB274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71A3C-E6A0-6471-1376-0643652A8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F78F6-3BFC-E194-ACDE-87172F5EA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C49D-B1A6-FF39-C174-FE358F6AF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91D1AB-24F6-48F0-A15B-00F40EB78CCB}" type="slidenum">
              <a:rPr lang="en-GB" smtClean="0"/>
              <a:pPr>
                <a:defRPr/>
              </a:pPr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62729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1FDA-7AAC-9308-072A-DFCB9CAC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D4C8C92-629E-2862-0F26-76A51DE34B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B26FF2-21A4-4D45-8B69-E1FBC758DB49}" type="slidenum">
              <a:rPr lang="en-GB" smtClean="0">
                <a:cs typeface="Arial" charset="0"/>
              </a:rPr>
              <a:pPr/>
              <a:t>115</a:t>
            </a:fld>
            <a:endParaRPr lang="en-GB">
              <a:cs typeface="Arial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D8EEA7D-BBB0-B053-E8BE-DB0E7B50D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277B0DA-09FF-F512-CC08-0524CBFA4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16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auto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9F6CCC-1102-65CA-5EDD-A85EE027AD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2624" y="2060645"/>
            <a:ext cx="7775575" cy="665163"/>
          </a:xfr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0" y="5365750"/>
            <a:ext cx="9140825" cy="665163"/>
          </a:xfrm>
          <a:prstGeom prst="rect">
            <a:avLst/>
          </a:prstGeom>
          <a:solidFill>
            <a:srgbClr val="003E72"/>
          </a:solidFill>
          <a:ln w="127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>
              <a:cs typeface="+mn-cs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0" y="6030913"/>
            <a:ext cx="9140825" cy="173037"/>
          </a:xfrm>
          <a:prstGeom prst="rect">
            <a:avLst/>
          </a:prstGeom>
          <a:solidFill>
            <a:srgbClr val="6AADE4"/>
          </a:solidFill>
          <a:ln w="127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>
              <a:cs typeface="+mn-cs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862888" y="6448425"/>
            <a:ext cx="900112" cy="1793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08F0ED0-70FD-4BCE-966F-358F104CE5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379F852-FE1F-9380-F759-F06FE95A888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567" y="2780928"/>
            <a:ext cx="717932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0"/>
              </a:spcBef>
              <a:spcAft>
                <a:spcPct val="75000"/>
              </a:spcAft>
              <a:buFontTx/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en-US" kern="0" dirty="0"/>
          </a:p>
          <a:p>
            <a:pPr eaLnBrk="1" hangingPunct="1"/>
            <a:endParaRPr lang="en-US" kern="0" dirty="0"/>
          </a:p>
          <a:p>
            <a:pPr eaLnBrk="1" hangingPunct="1"/>
            <a:endParaRPr lang="en-US" kern="0" dirty="0"/>
          </a:p>
          <a:p>
            <a:pPr eaLnBrk="1" hangingPunct="1"/>
            <a:endParaRPr lang="en-US" kern="0" dirty="0"/>
          </a:p>
          <a:p>
            <a:pPr eaLnBrk="1" hangingPunct="1"/>
            <a:r>
              <a:rPr lang="en-US" kern="0" dirty="0"/>
              <a:t>Cambridge Centre for Research Informatics Training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395BFF-6EFC-AE50-A4DD-39FA3F9A8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648" y="1772918"/>
            <a:ext cx="8112703" cy="4002407"/>
          </a:xfrm>
        </p:spPr>
        <p:txBody>
          <a:bodyPr/>
          <a:lstStyle/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FC0C4-D681-4CE5-B41E-BCE48B8037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5431F5C-3D34-05D6-6852-6802E02D7D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13" y="3706813"/>
            <a:ext cx="7772400" cy="2062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95E417-BE0F-9D22-6C8E-C898B95AE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2313" y="2000250"/>
            <a:ext cx="7772400" cy="1628775"/>
          </a:xfrm>
        </p:spPr>
        <p:txBody>
          <a:bodyPr anchor="b"/>
          <a:lstStyle>
            <a:lvl1pPr marL="0" indent="0">
              <a:buNone/>
              <a:defRPr sz="2800" b="1"/>
            </a:lvl1pPr>
          </a:lstStyle>
          <a:p>
            <a:pPr lvl="0"/>
            <a:endParaRPr lang="en-GB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7E7F-5007-4559-A9EA-6621C16865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175" y="1708150"/>
            <a:ext cx="4110038" cy="4067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08150"/>
            <a:ext cx="4111625" cy="4067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4A50D-3EE8-4C4C-AEDA-A3757F6A4A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DCC55-62A8-437E-9110-6ECF98C371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FE7C6-874C-4E62-8759-08C2AB2543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4175" y="398463"/>
            <a:ext cx="8375650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5648" y="1772918"/>
            <a:ext cx="8112703" cy="400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62888" y="6451600"/>
            <a:ext cx="900112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fld id="{538E2CDC-1426-42D5-A328-40ED0E0B2E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9pPr>
    </p:titleStyle>
    <p:bodyStyle>
      <a:lvl1pPr marL="269875" indent="-269875" algn="l" rtl="0" eaLnBrk="0" fontAlgn="base" hangingPunct="0">
        <a:spcBef>
          <a:spcPct val="0"/>
        </a:spcBef>
        <a:spcAft>
          <a:spcPts val="60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66700" algn="l" rtl="0" eaLnBrk="0" fontAlgn="base" hangingPunct="0">
        <a:spcBef>
          <a:spcPct val="0"/>
        </a:spcBef>
        <a:spcAft>
          <a:spcPts val="600"/>
        </a:spcAft>
        <a:buChar char="•"/>
        <a:defRPr sz="2200">
          <a:solidFill>
            <a:schemeClr val="tx1"/>
          </a:solidFill>
          <a:latin typeface="+mn-lt"/>
        </a:defRPr>
      </a:lvl2pPr>
      <a:lvl3pPr marL="809625" indent="-269875" algn="l" rtl="0" eaLnBrk="0" fontAlgn="base" hangingPunct="0">
        <a:spcBef>
          <a:spcPct val="0"/>
        </a:spcBef>
        <a:spcAft>
          <a:spcPts val="600"/>
        </a:spcAft>
        <a:buChar char="•"/>
        <a:defRPr sz="2200">
          <a:solidFill>
            <a:schemeClr val="tx1"/>
          </a:solidFill>
          <a:latin typeface="+mn-lt"/>
        </a:defRPr>
      </a:lvl3pPr>
      <a:lvl4pPr marL="1079500" indent="-268288" algn="l" rtl="0" eaLnBrk="0" fontAlgn="base" hangingPunct="0">
        <a:spcBef>
          <a:spcPct val="0"/>
        </a:spcBef>
        <a:spcAft>
          <a:spcPts val="600"/>
        </a:spcAft>
        <a:buChar char="•"/>
        <a:defRPr sz="2200">
          <a:solidFill>
            <a:schemeClr val="tx1"/>
          </a:solidFill>
          <a:latin typeface="+mn-lt"/>
        </a:defRPr>
      </a:lvl4pPr>
      <a:lvl5pPr marL="1350963" indent="-269875" algn="l" rtl="0" eaLnBrk="0" fontAlgn="base" hangingPunct="0">
        <a:spcBef>
          <a:spcPct val="0"/>
        </a:spcBef>
        <a:spcAft>
          <a:spcPts val="600"/>
        </a:spcAft>
        <a:buChar char="•"/>
        <a:defRPr sz="2200">
          <a:solidFill>
            <a:schemeClr val="tx1"/>
          </a:solidFill>
          <a:latin typeface="+mn-lt"/>
        </a:defRPr>
      </a:lvl5pPr>
      <a:lvl6pPr marL="18081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6pPr>
      <a:lvl7pPr marL="22653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7pPr>
      <a:lvl8pPr marL="27225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8pPr>
      <a:lvl9pPr marL="31797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Relationship Id="rId9" Type="http://schemas.openxmlformats.org/officeDocument/2006/relationships/image" Target="../media/image53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8.sv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10" Type="http://schemas.openxmlformats.org/officeDocument/2006/relationships/image" Target="../media/image38.svg"/><Relationship Id="rId4" Type="http://schemas.openxmlformats.org/officeDocument/2006/relationships/image" Target="../media/image54.svg"/><Relationship Id="rId9" Type="http://schemas.openxmlformats.org/officeDocument/2006/relationships/image" Target="../media/image53.sv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4" Type="http://schemas.openxmlformats.org/officeDocument/2006/relationships/image" Target="../media/image55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6.sv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25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svg"/><Relationship Id="rId5" Type="http://schemas.openxmlformats.org/officeDocument/2006/relationships/image" Target="../media/image76.svg"/><Relationship Id="rId4" Type="http://schemas.openxmlformats.org/officeDocument/2006/relationships/image" Target="../media/image71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1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svg"/><Relationship Id="rId5" Type="http://schemas.openxmlformats.org/officeDocument/2006/relationships/image" Target="../media/image82.svg"/><Relationship Id="rId4" Type="http://schemas.openxmlformats.org/officeDocument/2006/relationships/image" Target="../media/image71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2.svg"/><Relationship Id="rId4" Type="http://schemas.openxmlformats.org/officeDocument/2006/relationships/image" Target="../media/image70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svg"/><Relationship Id="rId4" Type="http://schemas.openxmlformats.org/officeDocument/2006/relationships/image" Target="../media/image78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svg"/><Relationship Id="rId4" Type="http://schemas.openxmlformats.org/officeDocument/2006/relationships/image" Target="../media/image88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svg"/><Relationship Id="rId4" Type="http://schemas.openxmlformats.org/officeDocument/2006/relationships/image" Target="../media/image81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svg"/><Relationship Id="rId5" Type="http://schemas.openxmlformats.org/officeDocument/2006/relationships/image" Target="../media/image82.svg"/><Relationship Id="rId4" Type="http://schemas.openxmlformats.org/officeDocument/2006/relationships/image" Target="../media/image91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svg"/><Relationship Id="rId4" Type="http://schemas.openxmlformats.org/officeDocument/2006/relationships/image" Target="../media/image81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2.png"/><Relationship Id="rId7" Type="http://schemas.openxmlformats.org/officeDocument/2006/relationships/image" Target="../media/image95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11" Type="http://schemas.openxmlformats.org/officeDocument/2006/relationships/image" Target="../media/image98.svg"/><Relationship Id="rId5" Type="http://schemas.openxmlformats.org/officeDocument/2006/relationships/image" Target="../media/image94.svg"/><Relationship Id="rId10" Type="http://schemas.openxmlformats.org/officeDocument/2006/relationships/image" Target="../media/image97.svg"/><Relationship Id="rId4" Type="http://schemas.openxmlformats.org/officeDocument/2006/relationships/image" Target="../media/image93.svg"/><Relationship Id="rId9" Type="http://schemas.openxmlformats.org/officeDocument/2006/relationships/image" Target="../media/image82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svg"/><Relationship Id="rId4" Type="http://schemas.openxmlformats.org/officeDocument/2006/relationships/image" Target="../media/image100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svg"/><Relationship Id="rId4" Type="http://schemas.openxmlformats.org/officeDocument/2006/relationships/image" Target="../media/image103.sv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sv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036465C-945F-44BE-994D-AFC5D4629323}" type="slidenum">
              <a:rPr lang="en-GB" noProof="0" smtClean="0">
                <a:cs typeface="Arial" charset="0"/>
              </a:rPr>
              <a:pPr/>
              <a:t>1</a:t>
            </a:fld>
            <a:endParaRPr lang="en-GB" noProof="0" dirty="0">
              <a:cs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2D2681-16A5-D742-B500-FECAB1CC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9" y="2060645"/>
            <a:ext cx="7560840" cy="576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3500" kern="0" noProof="0" dirty="0"/>
              <a:t>Survival (time-to-event) analysis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EBAEC8-8C01-B24B-91FF-09127DEA6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2780928"/>
            <a:ext cx="717932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0"/>
              </a:spcBef>
              <a:spcAft>
                <a:spcPct val="75000"/>
              </a:spcAft>
              <a:buFontTx/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GB" kern="0" noProof="0" dirty="0"/>
              <a:t> </a:t>
            </a:r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r>
              <a:rPr lang="en-GB" kern="0" noProof="0" dirty="0"/>
              <a:t>Cambridge Centre for Research Informatics Training</a:t>
            </a:r>
          </a:p>
        </p:txBody>
      </p:sp>
    </p:spTree>
    <p:extLst>
      <p:ext uri="{BB962C8B-B14F-4D97-AF65-F5344CB8AC3E}">
        <p14:creationId xmlns:p14="http://schemas.microsoft.com/office/powerpoint/2010/main" val="90078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6D39-B972-B0E9-DF40-B68A39BAD8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200" noProof="0" dirty="0"/>
              <a:t>Recognise when survival analysis should be used, based on dataset/experimental design</a:t>
            </a:r>
          </a:p>
          <a:p>
            <a:endParaRPr lang="en-GB" sz="2200" noProof="0" dirty="0"/>
          </a:p>
          <a:p>
            <a:r>
              <a:rPr lang="en-GB" sz="2200" noProof="0" dirty="0"/>
              <a:t>Implement survival analysis (</a:t>
            </a:r>
            <a:r>
              <a:rPr lang="en-GB" dirty="0"/>
              <a:t>log-rank test and Cox regression</a:t>
            </a:r>
            <a:r>
              <a:rPr lang="en-GB" sz="2200" noProof="0" dirty="0"/>
              <a:t>)</a:t>
            </a:r>
          </a:p>
          <a:p>
            <a:endParaRPr lang="en-GB" sz="2200" noProof="0" dirty="0"/>
          </a:p>
          <a:p>
            <a:r>
              <a:rPr lang="en-GB" sz="2200" noProof="0" dirty="0"/>
              <a:t>Interpret the results</a:t>
            </a:r>
          </a:p>
          <a:p>
            <a:endParaRPr lang="en-GB" sz="2200" noProof="0" dirty="0"/>
          </a:p>
          <a:p>
            <a:r>
              <a:rPr lang="en-GB" sz="2200" noProof="0" dirty="0"/>
              <a:t>Visualise survival data and survival curves effectively</a:t>
            </a:r>
          </a:p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7C8362-8004-4935-97D7-FA6115F9C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aims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BDCFF-E613-4693-8452-F06657398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noProof="0" smtClean="0"/>
              <a:pPr>
                <a:defRPr/>
              </a:pPr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2772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422F-D0E5-AD98-076C-667223FC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7FC6D6-F764-CF4B-3370-8E8C071ABA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GB" sz="2200" b="1" noProof="0" dirty="0">
                <a:latin typeface="+mj-lt"/>
              </a:rPr>
              <a:t>In session 1:</a:t>
            </a:r>
          </a:p>
          <a:p>
            <a:pPr>
              <a:buClr>
                <a:schemeClr val="tx1"/>
              </a:buClr>
            </a:pPr>
            <a:endParaRPr lang="en-GB" sz="2200" noProof="0" dirty="0">
              <a:latin typeface="+mj-lt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What’s special about survival/time-to-event data?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Survival curves (Kaplan-Meier estimation)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Comparing two curves (log rank test)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F1600A-5AA9-1E83-97FE-DD96D008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Session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1CE49-4194-F377-337A-7D306213A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noProof="0" smtClean="0"/>
              <a:pPr>
                <a:defRPr/>
              </a:pPr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240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63EF-D6C6-0098-F8AA-DD8957BD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12F39-9323-B39C-553C-4E51B4AA6F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Why do we need unique analysis methods?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05864-7027-3FD3-5660-EB303BA5BD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b"/>
          <a:lstStyle/>
          <a:p>
            <a:pPr marL="0" indent="0">
              <a:buNone/>
            </a:pPr>
            <a:r>
              <a:rPr lang="en-GB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1. Survival (time-to-event)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DCF5F5-E1D0-81DC-2FC7-F7D9FE7D4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noProof="0" smtClean="0"/>
              <a:pPr>
                <a:defRPr/>
              </a:pPr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976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CDE68D-E69F-C39C-D2C4-BD4C1554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Survival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D1330-7776-69A3-BB7F-F448F7E8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2E8C84-3283-6AEA-421E-22343FF41737}"/>
              </a:ext>
            </a:extLst>
          </p:cNvPr>
          <p:cNvGrpSpPr/>
          <p:nvPr/>
        </p:nvGrpSpPr>
        <p:grpSpPr>
          <a:xfrm>
            <a:off x="1786417" y="2132856"/>
            <a:ext cx="5207260" cy="2354312"/>
            <a:chOff x="2447764" y="2967831"/>
            <a:chExt cx="5207260" cy="2354312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C6D21EA5-DF46-CE9F-7123-697141E1F1ED}"/>
                </a:ext>
              </a:extLst>
            </p:cNvPr>
            <p:cNvSpPr/>
            <p:nvPr/>
          </p:nvSpPr>
          <p:spPr>
            <a:xfrm>
              <a:off x="2447764" y="3213100"/>
              <a:ext cx="3132348" cy="423862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Graphic 7" descr="Race Flag with solid fill">
              <a:extLst>
                <a:ext uri="{FF2B5EF4-FFF2-40B4-BE49-F238E27FC236}">
                  <a16:creationId xmlns:a16="http://schemas.microsoft.com/office/drawing/2014/main" id="{E4F92C7D-3C2A-5C3E-5F98-23220CFFF4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73824" y="2967831"/>
              <a:ext cx="914400" cy="914400"/>
            </a:xfrm>
            <a:prstGeom prst="rect">
              <a:avLst/>
            </a:prstGeom>
          </p:spPr>
        </p:pic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5450430C-FCB0-BEEB-9A90-DE14B5935B26}"/>
                </a:ext>
              </a:extLst>
            </p:cNvPr>
            <p:cNvSpPr/>
            <p:nvPr/>
          </p:nvSpPr>
          <p:spPr>
            <a:xfrm>
              <a:off x="2447764" y="3933056"/>
              <a:ext cx="2124236" cy="423862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B7D52C68-7672-7CC8-75A8-F6A368992776}"/>
                </a:ext>
              </a:extLst>
            </p:cNvPr>
            <p:cNvSpPr/>
            <p:nvPr/>
          </p:nvSpPr>
          <p:spPr>
            <a:xfrm>
              <a:off x="2447764" y="4653012"/>
              <a:ext cx="4212468" cy="423862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Graphic 10" descr="Race Flag with solid fill">
              <a:extLst>
                <a:ext uri="{FF2B5EF4-FFF2-40B4-BE49-F238E27FC236}">
                  <a16:creationId xmlns:a16="http://schemas.microsoft.com/office/drawing/2014/main" id="{1DA1139E-2C1C-1277-0B65-39D6591F3D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5712" y="3687787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Race Flag with solid fill">
              <a:extLst>
                <a:ext uri="{FF2B5EF4-FFF2-40B4-BE49-F238E27FC236}">
                  <a16:creationId xmlns:a16="http://schemas.microsoft.com/office/drawing/2014/main" id="{F3934037-D178-5681-1E17-9CA0E529CF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0624" y="4407743"/>
              <a:ext cx="914400" cy="91440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AE4815-9ACA-DF40-2E9D-50EF58CBD451}"/>
                </a:ext>
              </a:extLst>
            </p:cNvPr>
            <p:cNvCxnSpPr>
              <a:cxnSpLocks/>
            </p:cNvCxnSpPr>
            <p:nvPr/>
          </p:nvCxnSpPr>
          <p:spPr>
            <a:xfrm>
              <a:off x="2447764" y="3034807"/>
              <a:ext cx="0" cy="2287336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A716DC7-F69D-A60A-8E3D-3E8AACCD8938}"/>
              </a:ext>
            </a:extLst>
          </p:cNvPr>
          <p:cNvSpPr txBox="1"/>
          <p:nvPr/>
        </p:nvSpPr>
        <p:spPr>
          <a:xfrm>
            <a:off x="1423978" y="1703683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Start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03DDCCB3-FE60-4806-C81D-3A917D852949}"/>
              </a:ext>
            </a:extLst>
          </p:cNvPr>
          <p:cNvSpPr/>
          <p:nvPr/>
        </p:nvSpPr>
        <p:spPr>
          <a:xfrm rot="5400000">
            <a:off x="4216479" y="2244545"/>
            <a:ext cx="288034" cy="526636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30D6AD-1710-DD7C-2966-E4CFFEFBA256}"/>
              </a:ext>
            </a:extLst>
          </p:cNvPr>
          <p:cNvGrpSpPr/>
          <p:nvPr/>
        </p:nvGrpSpPr>
        <p:grpSpPr>
          <a:xfrm>
            <a:off x="3766813" y="5012680"/>
            <a:ext cx="1187365" cy="545931"/>
            <a:chOff x="4004365" y="4967625"/>
            <a:chExt cx="1187365" cy="5459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A8BE0B-490A-F0A8-F9E0-BC3BF72B42B9}"/>
                </a:ext>
              </a:extLst>
            </p:cNvPr>
            <p:cNvSpPr txBox="1"/>
            <p:nvPr/>
          </p:nvSpPr>
          <p:spPr>
            <a:xfrm>
              <a:off x="4004365" y="5068232"/>
              <a:ext cx="7458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Time</a:t>
              </a:r>
            </a:p>
          </p:txBody>
        </p:sp>
        <p:pic>
          <p:nvPicPr>
            <p:cNvPr id="18" name="Graphic 17" descr="Stopwatch 75% with solid fill">
              <a:extLst>
                <a:ext uri="{FF2B5EF4-FFF2-40B4-BE49-F238E27FC236}">
                  <a16:creationId xmlns:a16="http://schemas.microsoft.com/office/drawing/2014/main" id="{2D5D5BF9-B75D-793C-AECA-94E05D290D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5799" y="4967625"/>
              <a:ext cx="545931" cy="5459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858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7804-0CCE-6928-CA28-B3D1FBD0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“Time to event”</a:t>
            </a:r>
            <a:br>
              <a:rPr lang="en-GB" dirty="0"/>
            </a:b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9AD31A-0C52-8DBE-55EE-50E8843C5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4" name="Graphic 3" descr="Diploma roll outline">
            <a:extLst>
              <a:ext uri="{FF2B5EF4-FFF2-40B4-BE49-F238E27FC236}">
                <a16:creationId xmlns:a16="http://schemas.microsoft.com/office/drawing/2014/main" id="{D727CE9D-FFF1-0FDA-51F7-A8757E57F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10165" y="4530824"/>
            <a:ext cx="914400" cy="914400"/>
          </a:xfrm>
          <a:prstGeom prst="rect">
            <a:avLst/>
          </a:prstGeom>
        </p:spPr>
      </p:pic>
      <p:pic>
        <p:nvPicPr>
          <p:cNvPr id="5" name="Graphic 4" descr="Skull outline">
            <a:extLst>
              <a:ext uri="{FF2B5EF4-FFF2-40B4-BE49-F238E27FC236}">
                <a16:creationId xmlns:a16="http://schemas.microsoft.com/office/drawing/2014/main" id="{7887EA20-6723-C154-AFF8-4B8B59F0D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12477" y="2132856"/>
            <a:ext cx="914400" cy="914400"/>
          </a:xfrm>
          <a:prstGeom prst="rect">
            <a:avLst/>
          </a:prstGeom>
        </p:spPr>
      </p:pic>
      <p:pic>
        <p:nvPicPr>
          <p:cNvPr id="6" name="Graphic 5" descr="Bus outline">
            <a:extLst>
              <a:ext uri="{FF2B5EF4-FFF2-40B4-BE49-F238E27FC236}">
                <a16:creationId xmlns:a16="http://schemas.microsoft.com/office/drawing/2014/main" id="{2B5B87FD-261D-5661-F8B9-D321C0226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095670" y="4530824"/>
            <a:ext cx="914400" cy="9144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3D3CF99E-26D9-3394-BA9B-8921808B58DA}"/>
              </a:ext>
            </a:extLst>
          </p:cNvPr>
          <p:cNvSpPr/>
          <p:nvPr/>
        </p:nvSpPr>
        <p:spPr>
          <a:xfrm>
            <a:off x="1786417" y="2378125"/>
            <a:ext cx="3132348" cy="423862"/>
          </a:xfrm>
          <a:prstGeom prst="rightArrow">
            <a:avLst/>
          </a:prstGeom>
          <a:solidFill>
            <a:srgbClr val="00B1C1"/>
          </a:solidFill>
          <a:ln>
            <a:solidFill>
              <a:srgbClr val="00B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Gears outline">
            <a:extLst>
              <a:ext uri="{FF2B5EF4-FFF2-40B4-BE49-F238E27FC236}">
                <a16:creationId xmlns:a16="http://schemas.microsoft.com/office/drawing/2014/main" id="{B1B45C0D-4EB2-19F1-6E3D-C0D0D77E1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72000" y="4530824"/>
            <a:ext cx="914400" cy="914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93184-5FA5-96A9-125C-3F2758FBCE46}"/>
              </a:ext>
            </a:extLst>
          </p:cNvPr>
          <p:cNvCxnSpPr>
            <a:cxnSpLocks/>
          </p:cNvCxnSpPr>
          <p:nvPr/>
        </p:nvCxnSpPr>
        <p:spPr>
          <a:xfrm>
            <a:off x="1786417" y="2199832"/>
            <a:ext cx="0" cy="79712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63D85A-F992-7153-1388-43BBBEA6B171}"/>
              </a:ext>
            </a:extLst>
          </p:cNvPr>
          <p:cNvSpPr txBox="1"/>
          <p:nvPr/>
        </p:nvSpPr>
        <p:spPr>
          <a:xfrm>
            <a:off x="1423978" y="1703683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Start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B60AAD0-1D5F-5FFA-A2A3-3CDC5EEF6FB3}"/>
              </a:ext>
            </a:extLst>
          </p:cNvPr>
          <p:cNvSpPr/>
          <p:nvPr/>
        </p:nvSpPr>
        <p:spPr>
          <a:xfrm rot="5400000">
            <a:off x="4216479" y="723811"/>
            <a:ext cx="288034" cy="526636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FD6853-B27C-8CAA-3A19-1CE02AF982D5}"/>
              </a:ext>
            </a:extLst>
          </p:cNvPr>
          <p:cNvGrpSpPr/>
          <p:nvPr/>
        </p:nvGrpSpPr>
        <p:grpSpPr>
          <a:xfrm>
            <a:off x="3766813" y="3491946"/>
            <a:ext cx="1187365" cy="545931"/>
            <a:chOff x="4004365" y="4967625"/>
            <a:chExt cx="1187365" cy="5459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C42839-0C4A-37B8-83B7-7D9BCB55B48A}"/>
                </a:ext>
              </a:extLst>
            </p:cNvPr>
            <p:cNvSpPr txBox="1"/>
            <p:nvPr/>
          </p:nvSpPr>
          <p:spPr>
            <a:xfrm>
              <a:off x="4004365" y="5068232"/>
              <a:ext cx="7458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Time</a:t>
              </a:r>
            </a:p>
          </p:txBody>
        </p:sp>
        <p:pic>
          <p:nvPicPr>
            <p:cNvPr id="14" name="Graphic 13" descr="Stopwatch 75% with solid fill">
              <a:extLst>
                <a:ext uri="{FF2B5EF4-FFF2-40B4-BE49-F238E27FC236}">
                  <a16:creationId xmlns:a16="http://schemas.microsoft.com/office/drawing/2014/main" id="{68C03EAB-630D-CF96-C5BA-BC2C3D36B2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45799" y="4967625"/>
              <a:ext cx="545931" cy="545931"/>
            </a:xfrm>
            <a:prstGeom prst="rect">
              <a:avLst/>
            </a:prstGeom>
          </p:spPr>
        </p:pic>
      </p:grpSp>
      <p:pic>
        <p:nvPicPr>
          <p:cNvPr id="15" name="Graphic 14" descr="Fishing outline">
            <a:extLst>
              <a:ext uri="{FF2B5EF4-FFF2-40B4-BE49-F238E27FC236}">
                <a16:creationId xmlns:a16="http://schemas.microsoft.com/office/drawing/2014/main" id="{083236EE-F235-ACE5-0089-EA8E0B669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333835" y="45308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4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4E9B4-EF53-4517-4FB3-A6A3369D9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can’t we use “regular” linear models?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Quirks of survival data: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Often (very) </a:t>
            </a:r>
            <a:r>
              <a:rPr lang="en-US" dirty="0">
                <a:solidFill>
                  <a:schemeClr val="accent6"/>
                </a:solidFill>
              </a:rPr>
              <a:t>skewed</a:t>
            </a:r>
          </a:p>
          <a:p>
            <a:r>
              <a:rPr lang="en-US" dirty="0"/>
              <a:t>Values are </a:t>
            </a:r>
            <a:r>
              <a:rPr lang="en-US" dirty="0">
                <a:solidFill>
                  <a:schemeClr val="accent6"/>
                </a:solidFill>
              </a:rPr>
              <a:t>≥0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Censoring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(exact time not observed)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5BAF11-6BAF-FDC6-B5A2-F1E438E5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survival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246F3-6095-FE98-A031-3E6C9DF4E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BA7FB6-FD87-4D72-E015-F44179577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342" y="2564904"/>
            <a:ext cx="457200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FD13-6DED-9E0E-27F3-3918B5F2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Censoring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3E3ADD-630C-A649-FE7A-7D258101F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C7B7D-C2BF-F8DF-8376-44C1647F2DA4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Start of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76769-1F19-79BD-8211-5CE4ACB7D8C8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of study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11493ED-510D-05AB-6555-D3C15A2C706A}"/>
              </a:ext>
            </a:extLst>
          </p:cNvPr>
          <p:cNvGrpSpPr/>
          <p:nvPr/>
        </p:nvGrpSpPr>
        <p:grpSpPr>
          <a:xfrm>
            <a:off x="1522072" y="2305156"/>
            <a:ext cx="3456970" cy="691796"/>
            <a:chOff x="1522072" y="2448595"/>
            <a:chExt cx="3456970" cy="691796"/>
          </a:xfrm>
        </p:grpSpPr>
        <p:pic>
          <p:nvPicPr>
            <p:cNvPr id="7" name="Graphic 6" descr="Race Flag with solid fill">
              <a:extLst>
                <a:ext uri="{FF2B5EF4-FFF2-40B4-BE49-F238E27FC236}">
                  <a16:creationId xmlns:a16="http://schemas.microsoft.com/office/drawing/2014/main" id="{4D05B554-E279-617F-23C3-FAD39FB646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C38CE9-9E29-A5C0-D0BF-A1581BFF3EA3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Uncensored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FC2C8C-703E-0602-E7FD-4237563ADAC7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ln w="57150">
              <a:solidFill>
                <a:srgbClr val="00B1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76974A-0A17-2548-BF92-DF15794F6E23}"/>
              </a:ext>
            </a:extLst>
          </p:cNvPr>
          <p:cNvGrpSpPr/>
          <p:nvPr/>
        </p:nvGrpSpPr>
        <p:grpSpPr>
          <a:xfrm>
            <a:off x="1503852" y="3284984"/>
            <a:ext cx="6553348" cy="994519"/>
            <a:chOff x="1508042" y="2718889"/>
            <a:chExt cx="6553348" cy="9945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136332-5BE9-39F7-603F-A422D7EC7CF0}"/>
                </a:ext>
              </a:extLst>
            </p:cNvPr>
            <p:cNvGrpSpPr/>
            <p:nvPr/>
          </p:nvGrpSpPr>
          <p:grpSpPr>
            <a:xfrm>
              <a:off x="1508042" y="2718889"/>
              <a:ext cx="6553348" cy="732390"/>
              <a:chOff x="1509899" y="3498476"/>
              <a:chExt cx="6553348" cy="73239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337FA1C-FF87-19B9-3625-6EB5EDE7DA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0199" y="4022090"/>
                <a:ext cx="943280" cy="0"/>
              </a:xfrm>
              <a:prstGeom prst="straightConnector1">
                <a:avLst/>
              </a:prstGeom>
              <a:ln w="57150">
                <a:solidFill>
                  <a:srgbClr val="00B1C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89C8C7F-E56B-5E50-1F10-0099F3FD58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09899" y="4022090"/>
                <a:ext cx="5210300" cy="0"/>
              </a:xfrm>
              <a:prstGeom prst="line">
                <a:avLst/>
              </a:prstGeom>
              <a:ln w="57150">
                <a:solidFill>
                  <a:srgbClr val="00B1C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Graphic 16" descr="Question Mark with solid fill">
                <a:extLst>
                  <a:ext uri="{FF2B5EF4-FFF2-40B4-BE49-F238E27FC236}">
                    <a16:creationId xmlns:a16="http://schemas.microsoft.com/office/drawing/2014/main" id="{99233526-D63D-5075-CD1A-699AC0824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38447" y="3806066"/>
                <a:ext cx="424800" cy="42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AC0228-9866-3C30-C66B-04969CFEA9AF}"/>
                  </a:ext>
                </a:extLst>
              </p:cNvPr>
              <p:cNvSpPr txBox="1"/>
              <p:nvPr/>
            </p:nvSpPr>
            <p:spPr>
              <a:xfrm>
                <a:off x="4647479" y="3498476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Right-censored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9AD139-01A8-3DE5-7C4A-0E812BD72B77}"/>
                </a:ext>
              </a:extLst>
            </p:cNvPr>
            <p:cNvGrpSpPr/>
            <p:nvPr/>
          </p:nvGrpSpPr>
          <p:grpSpPr>
            <a:xfrm>
              <a:off x="1508042" y="3288608"/>
              <a:ext cx="3647719" cy="424800"/>
              <a:chOff x="1508042" y="3814010"/>
              <a:chExt cx="3647719" cy="424800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C12650-B299-3ED0-9054-A3B8A3157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08042" y="4022786"/>
                <a:ext cx="3423998" cy="3624"/>
              </a:xfrm>
              <a:prstGeom prst="line">
                <a:avLst/>
              </a:prstGeom>
              <a:ln w="57150">
                <a:solidFill>
                  <a:srgbClr val="00B1C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" name="Graphic 38" descr="Close with solid fill">
                <a:extLst>
                  <a:ext uri="{FF2B5EF4-FFF2-40B4-BE49-F238E27FC236}">
                    <a16:creationId xmlns:a16="http://schemas.microsoft.com/office/drawing/2014/main" id="{1666C825-05E2-8440-AA18-7A02F4761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30961" y="3814010"/>
                <a:ext cx="424800" cy="424800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96E887C-C1D1-C41F-9357-B1583D105B07}"/>
              </a:ext>
            </a:extLst>
          </p:cNvPr>
          <p:cNvGrpSpPr/>
          <p:nvPr/>
        </p:nvGrpSpPr>
        <p:grpSpPr>
          <a:xfrm>
            <a:off x="1497581" y="4662401"/>
            <a:ext cx="3839016" cy="854831"/>
            <a:chOff x="1497581" y="4754610"/>
            <a:chExt cx="3839016" cy="85483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26F762D-97D9-B372-AA09-1999E6C8E1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581" y="4974752"/>
              <a:ext cx="1809107" cy="0"/>
            </a:xfrm>
            <a:prstGeom prst="line">
              <a:avLst/>
            </a:prstGeom>
            <a:ln w="57150">
              <a:solidFill>
                <a:srgbClr val="00B1C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F988A6-5FB5-3476-62EF-49B9584868A5}"/>
                </a:ext>
              </a:extLst>
            </p:cNvPr>
            <p:cNvSpPr txBox="1"/>
            <p:nvPr/>
          </p:nvSpPr>
          <p:spPr>
            <a:xfrm>
              <a:off x="2885598" y="5209331"/>
              <a:ext cx="2450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Interval-censored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D42C855-E4F3-708E-0292-CCF2B2BA8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6688" y="4974752"/>
              <a:ext cx="1553344" cy="0"/>
            </a:xfrm>
            <a:prstGeom prst="line">
              <a:avLst/>
            </a:prstGeom>
            <a:ln w="57150">
              <a:solidFill>
                <a:srgbClr val="00B1C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B329175-0D62-3EAB-9BF0-643D6FF07516}"/>
                </a:ext>
              </a:extLst>
            </p:cNvPr>
            <p:cNvGrpSpPr/>
            <p:nvPr/>
          </p:nvGrpSpPr>
          <p:grpSpPr>
            <a:xfrm>
              <a:off x="3889949" y="4754610"/>
              <a:ext cx="423862" cy="434634"/>
              <a:chOff x="3889949" y="4754610"/>
              <a:chExt cx="423862" cy="43463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D97C58A-57D1-802C-630A-CE51249B9018}"/>
                  </a:ext>
                </a:extLst>
              </p:cNvPr>
              <p:cNvSpPr/>
              <p:nvPr/>
            </p:nvSpPr>
            <p:spPr>
              <a:xfrm>
                <a:off x="3889949" y="4754610"/>
                <a:ext cx="423862" cy="4346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4" name="Graphic 23" descr="Race Flag with solid fill">
                <a:extLst>
                  <a:ext uri="{FF2B5EF4-FFF2-40B4-BE49-F238E27FC236}">
                    <a16:creationId xmlns:a16="http://schemas.microsoft.com/office/drawing/2014/main" id="{A9B9B525-937A-85CC-9F42-3D2B674F5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89949" y="4754610"/>
                <a:ext cx="423862" cy="423862"/>
              </a:xfrm>
              <a:prstGeom prst="rect">
                <a:avLst/>
              </a:prstGeom>
            </p:spPr>
          </p:pic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1FEF1E-5B38-A33C-F3D5-1BAA4AF02E1C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4830736"/>
              <a:ext cx="0" cy="28803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A82037-9E07-9004-1B0B-EE211E2153BF}"/>
                </a:ext>
              </a:extLst>
            </p:cNvPr>
            <p:cNvCxnSpPr>
              <a:cxnSpLocks/>
            </p:cNvCxnSpPr>
            <p:nvPr/>
          </p:nvCxnSpPr>
          <p:spPr>
            <a:xfrm>
              <a:off x="3306688" y="4822525"/>
              <a:ext cx="0" cy="28803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9CA08F-AC5B-A1BF-C9AD-3AA1E3D4197D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34920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85B2D6-8538-19EA-8527-C68AF57EA937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34920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67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B2F3-28E0-1806-791F-E05CBF8C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2F4E-DB28-8D90-F1F4-D58C895E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censoring (&amp; truncation)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8E8E5-71F7-1BB3-BAD8-8952689F8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44995-E932-2F99-4790-03B46A897658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Start of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E3B2E-A15B-A329-7E8D-618B9E531E3C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of study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6C97EE3-48B1-7263-70A6-9DA22EC86369}"/>
              </a:ext>
            </a:extLst>
          </p:cNvPr>
          <p:cNvGrpSpPr/>
          <p:nvPr/>
        </p:nvGrpSpPr>
        <p:grpSpPr>
          <a:xfrm>
            <a:off x="428770" y="3293170"/>
            <a:ext cx="2855427" cy="423862"/>
            <a:chOff x="476056" y="3286305"/>
            <a:chExt cx="2855427" cy="42386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3BBA16B-5C08-34AB-3EEE-DFA897EBC349}"/>
                </a:ext>
              </a:extLst>
            </p:cNvPr>
            <p:cNvSpPr txBox="1"/>
            <p:nvPr/>
          </p:nvSpPr>
          <p:spPr>
            <a:xfrm>
              <a:off x="1629622" y="3299532"/>
              <a:ext cx="1701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Left-censored</a:t>
              </a:r>
            </a:p>
          </p:txBody>
        </p:sp>
        <p:pic>
          <p:nvPicPr>
            <p:cNvPr id="54" name="Graphic 53" descr="Race Flag with solid fill">
              <a:extLst>
                <a:ext uri="{FF2B5EF4-FFF2-40B4-BE49-F238E27FC236}">
                  <a16:creationId xmlns:a16="http://schemas.microsoft.com/office/drawing/2014/main" id="{8AF55A4A-0612-6348-B7B8-098E9FD818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056" y="3286305"/>
              <a:ext cx="423862" cy="423862"/>
            </a:xfrm>
            <a:prstGeom prst="rect">
              <a:avLst/>
            </a:prstGeom>
          </p:spPr>
        </p:pic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F87116F-1743-AFD7-ADC9-09BE14F13E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498" y="3490168"/>
              <a:ext cx="521363" cy="0"/>
            </a:xfrm>
            <a:prstGeom prst="line">
              <a:avLst/>
            </a:prstGeom>
            <a:ln w="57150">
              <a:solidFill>
                <a:srgbClr val="00B1C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55535E-E49E-F88A-E098-48EC50F93F7B}"/>
              </a:ext>
            </a:extLst>
          </p:cNvPr>
          <p:cNvGrpSpPr/>
          <p:nvPr/>
        </p:nvGrpSpPr>
        <p:grpSpPr>
          <a:xfrm>
            <a:off x="973622" y="4229274"/>
            <a:ext cx="4966530" cy="423862"/>
            <a:chOff x="980335" y="4589314"/>
            <a:chExt cx="4966530" cy="42386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8C79D98-3BBE-2EF3-E699-AB79213DFD7A}"/>
                </a:ext>
              </a:extLst>
            </p:cNvPr>
            <p:cNvGrpSpPr/>
            <p:nvPr/>
          </p:nvGrpSpPr>
          <p:grpSpPr>
            <a:xfrm>
              <a:off x="980335" y="4601190"/>
              <a:ext cx="4966530" cy="369332"/>
              <a:chOff x="1012498" y="3290113"/>
              <a:chExt cx="4966530" cy="36933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3A8981-43EA-096F-D7E7-9A356B12DF1B}"/>
                  </a:ext>
                </a:extLst>
              </p:cNvPr>
              <p:cNvSpPr txBox="1"/>
              <p:nvPr/>
            </p:nvSpPr>
            <p:spPr>
              <a:xfrm>
                <a:off x="4379715" y="3290113"/>
                <a:ext cx="15993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Left-truncated</a:t>
                </a: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20959F1-3114-390C-09FA-2393CCDB07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12498" y="3490168"/>
                <a:ext cx="521363" cy="0"/>
              </a:xfrm>
              <a:prstGeom prst="line">
                <a:avLst/>
              </a:prstGeom>
              <a:ln w="57150">
                <a:solidFill>
                  <a:srgbClr val="00B1C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0" name="Graphic 59" descr="Race Flag with solid fill">
              <a:extLst>
                <a:ext uri="{FF2B5EF4-FFF2-40B4-BE49-F238E27FC236}">
                  <a16:creationId xmlns:a16="http://schemas.microsoft.com/office/drawing/2014/main" id="{DBD56E2D-B580-D828-3986-28084577F6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80948" y="4589314"/>
              <a:ext cx="423862" cy="423862"/>
            </a:xfrm>
            <a:prstGeom prst="rect">
              <a:avLst/>
            </a:prstGeom>
          </p:spPr>
        </p:pic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DE889D2-93DF-4349-A7E1-7A1113C76EF5}"/>
                </a:ext>
              </a:extLst>
            </p:cNvPr>
            <p:cNvCxnSpPr>
              <a:cxnSpLocks/>
            </p:cNvCxnSpPr>
            <p:nvPr/>
          </p:nvCxnSpPr>
          <p:spPr>
            <a:xfrm>
              <a:off x="1513019" y="4801245"/>
              <a:ext cx="2321009" cy="0"/>
            </a:xfrm>
            <a:prstGeom prst="straightConnector1">
              <a:avLst/>
            </a:prstGeom>
            <a:ln w="57150">
              <a:solidFill>
                <a:srgbClr val="00B1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1D62C16-3C3C-CBB7-3715-6059E103A7CE}"/>
              </a:ext>
            </a:extLst>
          </p:cNvPr>
          <p:cNvGrpSpPr/>
          <p:nvPr/>
        </p:nvGrpSpPr>
        <p:grpSpPr>
          <a:xfrm>
            <a:off x="4362101" y="5263448"/>
            <a:ext cx="3696030" cy="423862"/>
            <a:chOff x="4362101" y="3832690"/>
            <a:chExt cx="3696030" cy="423862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E39C3C8-D1B7-454E-47F8-6315E2A086AC}"/>
                </a:ext>
              </a:extLst>
            </p:cNvPr>
            <p:cNvGrpSpPr/>
            <p:nvPr/>
          </p:nvGrpSpPr>
          <p:grpSpPr>
            <a:xfrm>
              <a:off x="4362101" y="3832690"/>
              <a:ext cx="3696030" cy="423862"/>
              <a:chOff x="-1357810" y="3277187"/>
              <a:chExt cx="3696030" cy="423862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069BA30-BA18-571F-2034-39608810A45B}"/>
                  </a:ext>
                </a:extLst>
              </p:cNvPr>
              <p:cNvSpPr txBox="1"/>
              <p:nvPr/>
            </p:nvSpPr>
            <p:spPr>
              <a:xfrm>
                <a:off x="-1357810" y="3304452"/>
                <a:ext cx="1773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Right-truncated</a:t>
                </a:r>
              </a:p>
            </p:txBody>
          </p:sp>
          <p:pic>
            <p:nvPicPr>
              <p:cNvPr id="67" name="Graphic 66" descr="Race Flag with solid fill">
                <a:extLst>
                  <a:ext uri="{FF2B5EF4-FFF2-40B4-BE49-F238E27FC236}">
                    <a16:creationId xmlns:a16="http://schemas.microsoft.com/office/drawing/2014/main" id="{8ACEA82A-3EE5-091A-3EA4-E9E2827ED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914358" y="3277187"/>
                <a:ext cx="423862" cy="423862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3E547D69-9377-6ACF-46CC-4039E3313E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7068" y="3480492"/>
                <a:ext cx="521363" cy="0"/>
              </a:xfrm>
              <a:prstGeom prst="line">
                <a:avLst/>
              </a:prstGeom>
              <a:ln w="57150">
                <a:solidFill>
                  <a:srgbClr val="00B1C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5A50838-8B3B-E8F2-A866-5AD05D344A28}"/>
                </a:ext>
              </a:extLst>
            </p:cNvPr>
            <p:cNvCxnSpPr>
              <a:cxnSpLocks/>
            </p:cNvCxnSpPr>
            <p:nvPr/>
          </p:nvCxnSpPr>
          <p:spPr>
            <a:xfrm>
              <a:off x="6729664" y="4035995"/>
              <a:ext cx="843586" cy="0"/>
            </a:xfrm>
            <a:prstGeom prst="straightConnector1">
              <a:avLst/>
            </a:prstGeom>
            <a:ln w="57150">
              <a:solidFill>
                <a:srgbClr val="00B1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3D3AE9-E16E-8F26-029B-B3FAA50B086C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38520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64CD44-379E-51DE-4BEE-06F215CCBC5C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38520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1EB2E91-04C8-D537-6A25-61908A308AA0}"/>
              </a:ext>
            </a:extLst>
          </p:cNvPr>
          <p:cNvGrpSpPr/>
          <p:nvPr/>
        </p:nvGrpSpPr>
        <p:grpSpPr>
          <a:xfrm>
            <a:off x="2357929" y="2205750"/>
            <a:ext cx="3839050" cy="423862"/>
            <a:chOff x="3085794" y="2716529"/>
            <a:chExt cx="3839050" cy="423862"/>
          </a:xfrm>
        </p:grpSpPr>
        <p:pic>
          <p:nvPicPr>
            <p:cNvPr id="81" name="Graphic 80" descr="Race Flag with solid fill">
              <a:extLst>
                <a:ext uri="{FF2B5EF4-FFF2-40B4-BE49-F238E27FC236}">
                  <a16:creationId xmlns:a16="http://schemas.microsoft.com/office/drawing/2014/main" id="{99DB02CB-C2EB-AFC6-A593-0036D461A2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48EF1D-FFF7-2A78-625F-59503EC6ADFB}"/>
                </a:ext>
              </a:extLst>
            </p:cNvPr>
            <p:cNvSpPr txBox="1"/>
            <p:nvPr/>
          </p:nvSpPr>
          <p:spPr>
            <a:xfrm>
              <a:off x="4932039" y="2735303"/>
              <a:ext cx="19928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Staggered entry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34F98C1-07A4-35E4-35AD-8AFB676C862F}"/>
                </a:ext>
              </a:extLst>
            </p:cNvPr>
            <p:cNvCxnSpPr>
              <a:cxnSpLocks/>
            </p:cNvCxnSpPr>
            <p:nvPr/>
          </p:nvCxnSpPr>
          <p:spPr>
            <a:xfrm>
              <a:off x="3085794" y="2924818"/>
              <a:ext cx="1414198" cy="0"/>
            </a:xfrm>
            <a:prstGeom prst="straightConnector1">
              <a:avLst/>
            </a:prstGeom>
            <a:ln w="57150">
              <a:solidFill>
                <a:srgbClr val="00B1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8616925-BD4B-8F99-8244-FFF35614E3F8}"/>
              </a:ext>
            </a:extLst>
          </p:cNvPr>
          <p:cNvCxnSpPr>
            <a:cxnSpLocks/>
          </p:cNvCxnSpPr>
          <p:nvPr/>
        </p:nvCxnSpPr>
        <p:spPr>
          <a:xfrm>
            <a:off x="2344850" y="2277183"/>
            <a:ext cx="0" cy="288032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43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C5D6-078A-8262-5ADE-88F4BF17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survival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B068EA-4FF8-633D-129B-FFB5D15F7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68C8B0-244A-2D2B-597F-CA827ADCA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3207"/>
              </p:ext>
            </p:extLst>
          </p:nvPr>
        </p:nvGraphicFramePr>
        <p:xfrm>
          <a:off x="1524000" y="1556792"/>
          <a:ext cx="60960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Participant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23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64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82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51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09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180C-C6B5-4956-FA66-6A2C9AB7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D9BD-C27F-35AE-F7F3-875E5FD6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survival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C1F24-419B-1D79-1319-97142B85A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D2A763-6477-FDED-DA27-6D43B5D53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810069"/>
              </p:ext>
            </p:extLst>
          </p:nvPr>
        </p:nvGraphicFramePr>
        <p:xfrm>
          <a:off x="1524000" y="1556792"/>
          <a:ext cx="60960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Participant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23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64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82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51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50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BA36-3ACF-AEF8-7862-1FACD2E3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7C27-005A-2305-9D47-D111BD11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survival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041B88-FF77-A442-071E-F6C21827E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2364AA-B30B-DC97-AB14-FEF953A58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028495"/>
              </p:ext>
            </p:extLst>
          </p:nvPr>
        </p:nvGraphicFramePr>
        <p:xfrm>
          <a:off x="1524000" y="1556792"/>
          <a:ext cx="60960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Participant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23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64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82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51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8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6974-B8EE-8DDB-FC5F-B67669C6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2DA7-E95C-B83D-D60F-EE72608E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survival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C2EC9-6DF0-FBB7-D200-150CDC10E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3F687-1545-81A4-6260-B1F633720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188389"/>
              </p:ext>
            </p:extLst>
          </p:nvPr>
        </p:nvGraphicFramePr>
        <p:xfrm>
          <a:off x="1524000" y="1556792"/>
          <a:ext cx="60960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Participant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23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64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82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1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17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CF00-A2C6-6F10-F51C-79E4B60D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9F2C-69C4-7395-A10B-3AE6A9BF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survival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D13DF3-9A2D-E0EA-7697-951A7E949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CC95C2-0CDA-1DD8-AF46-88DC4330B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36152"/>
              </p:ext>
            </p:extLst>
          </p:nvPr>
        </p:nvGraphicFramePr>
        <p:xfrm>
          <a:off x="1524000" y="1556792"/>
          <a:ext cx="60960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Participant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23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64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82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51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0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AC63-EC58-21AC-1A7B-3D137EBE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C7D00-7303-B5D9-F8D5-13F2C5E442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“How long do patients maintain functional kidney grafts following transplant?”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What’s the </a:t>
            </a:r>
            <a:r>
              <a:rPr lang="en-GB" sz="2400" b="1" dirty="0">
                <a:solidFill>
                  <a:schemeClr val="accent4"/>
                </a:solidFill>
              </a:rPr>
              <a:t>event</a:t>
            </a:r>
            <a:r>
              <a:rPr lang="en-GB" sz="2400" dirty="0"/>
              <a:t>?</a:t>
            </a:r>
          </a:p>
          <a:p>
            <a:r>
              <a:rPr lang="en-GB" sz="2400" dirty="0"/>
              <a:t>Examples of </a:t>
            </a:r>
            <a:r>
              <a:rPr lang="en-GB" sz="2400" b="1" dirty="0">
                <a:solidFill>
                  <a:schemeClr val="accent2"/>
                </a:solidFill>
              </a:rPr>
              <a:t>censoring</a:t>
            </a:r>
            <a:r>
              <a:rPr lang="en-GB" sz="2400" dirty="0"/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448CF-7903-D9E7-2A51-7348137C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BAEB34-1B97-DC8F-46BC-1B22D1642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pic>
        <p:nvPicPr>
          <p:cNvPr id="4" name="Graphic 3" descr="Thought bubble with solid fill">
            <a:extLst>
              <a:ext uri="{FF2B5EF4-FFF2-40B4-BE49-F238E27FC236}">
                <a16:creationId xmlns:a16="http://schemas.microsoft.com/office/drawing/2014/main" id="{AA00339C-0358-4CEE-C729-CD49DFF21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207" y="104613"/>
            <a:ext cx="914400" cy="914400"/>
          </a:xfrm>
          <a:prstGeom prst="rect">
            <a:avLst/>
          </a:prstGeom>
        </p:spPr>
      </p:pic>
      <p:pic>
        <p:nvPicPr>
          <p:cNvPr id="6" name="Graphic 5" descr="Kidneys with solid fill">
            <a:extLst>
              <a:ext uri="{FF2B5EF4-FFF2-40B4-BE49-F238E27FC236}">
                <a16:creationId xmlns:a16="http://schemas.microsoft.com/office/drawing/2014/main" id="{4717B500-B61B-A1C9-EA42-54FED13FA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31999" y="2780928"/>
            <a:ext cx="1440000" cy="14400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5BD57F96-35ED-261E-7435-16CB301F6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1999" y="278092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8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E724B-7E1A-FCEE-4374-76C19CD4A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“How long do tagged migratory birds remain within a defined geographic area after breeding?”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What’s the </a:t>
            </a:r>
            <a:r>
              <a:rPr lang="en-GB" sz="2400" b="1" dirty="0">
                <a:solidFill>
                  <a:schemeClr val="accent4"/>
                </a:solidFill>
              </a:rPr>
              <a:t>event</a:t>
            </a:r>
            <a:r>
              <a:rPr lang="en-GB" sz="2400" dirty="0"/>
              <a:t>?</a:t>
            </a:r>
          </a:p>
          <a:p>
            <a:r>
              <a:rPr lang="en-GB" sz="2400" dirty="0"/>
              <a:t>Examples of </a:t>
            </a:r>
            <a:r>
              <a:rPr lang="en-GB" sz="2400" b="1" dirty="0">
                <a:solidFill>
                  <a:schemeClr val="accent2"/>
                </a:solidFill>
              </a:rPr>
              <a:t>censoring</a:t>
            </a:r>
            <a:r>
              <a:rPr lang="en-GB" sz="2400" dirty="0"/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D21EF-033B-8344-C7EF-98BB149A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97604-FA17-FD21-B29E-3A750A167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4" name="Graphic 3" descr="Thought bubble with solid fill">
            <a:extLst>
              <a:ext uri="{FF2B5EF4-FFF2-40B4-BE49-F238E27FC236}">
                <a16:creationId xmlns:a16="http://schemas.microsoft.com/office/drawing/2014/main" id="{442B2954-6B26-1402-29F8-493E730E4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207" y="104613"/>
            <a:ext cx="914400" cy="914400"/>
          </a:xfrm>
          <a:prstGeom prst="rect">
            <a:avLst/>
          </a:prstGeom>
        </p:spPr>
      </p:pic>
      <p:pic>
        <p:nvPicPr>
          <p:cNvPr id="7" name="Graphic 6" descr="Sparrow with solid fill">
            <a:extLst>
              <a:ext uri="{FF2B5EF4-FFF2-40B4-BE49-F238E27FC236}">
                <a16:creationId xmlns:a16="http://schemas.microsoft.com/office/drawing/2014/main" id="{D5CE016A-0074-7349-E8A7-5C46749FB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999" y="2780928"/>
            <a:ext cx="1440000" cy="1440000"/>
          </a:xfrm>
          <a:prstGeom prst="rect">
            <a:avLst/>
          </a:prstGeom>
        </p:spPr>
      </p:pic>
      <p:pic>
        <p:nvPicPr>
          <p:cNvPr id="8" name="Graphic 7" descr="Map with pin with solid fill">
            <a:extLst>
              <a:ext uri="{FF2B5EF4-FFF2-40B4-BE49-F238E27FC236}">
                <a16:creationId xmlns:a16="http://schemas.microsoft.com/office/drawing/2014/main" id="{4BFF42DF-E2D5-94DA-5E74-C6F994FEA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1999" y="278092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ABBC-1B04-08B2-3524-81D4A7B5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749BC-9424-0BFB-6D09-29EE4A19BA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“How long do customers stay subscribed before cancelling a streaming service?”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What’s the </a:t>
            </a:r>
            <a:r>
              <a:rPr lang="en-GB" sz="2400" b="1" dirty="0">
                <a:solidFill>
                  <a:schemeClr val="accent4"/>
                </a:solidFill>
              </a:rPr>
              <a:t>event</a:t>
            </a:r>
            <a:r>
              <a:rPr lang="en-GB" sz="2400" dirty="0"/>
              <a:t>?</a:t>
            </a:r>
          </a:p>
          <a:p>
            <a:r>
              <a:rPr lang="en-GB" sz="2400" dirty="0"/>
              <a:t>Examples of </a:t>
            </a:r>
            <a:r>
              <a:rPr lang="en-GB" sz="2400" b="1" dirty="0">
                <a:solidFill>
                  <a:schemeClr val="accent2"/>
                </a:solidFill>
              </a:rPr>
              <a:t>censoring</a:t>
            </a:r>
            <a:r>
              <a:rPr lang="en-GB" sz="2400" dirty="0"/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8EE8C-4F08-C0EA-469E-02F09724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47FC8-264A-84DC-B764-1C7619422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pic>
        <p:nvPicPr>
          <p:cNvPr id="4" name="Graphic 3" descr="Thought bubble with solid fill">
            <a:extLst>
              <a:ext uri="{FF2B5EF4-FFF2-40B4-BE49-F238E27FC236}">
                <a16:creationId xmlns:a16="http://schemas.microsoft.com/office/drawing/2014/main" id="{0D796F17-EEDB-412D-84D8-AE3FCCBC3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207" y="104613"/>
            <a:ext cx="914400" cy="914400"/>
          </a:xfrm>
          <a:prstGeom prst="rect">
            <a:avLst/>
          </a:prstGeom>
        </p:spPr>
      </p:pic>
      <p:pic>
        <p:nvPicPr>
          <p:cNvPr id="6" name="Graphic 5" descr="Television with solid fill">
            <a:extLst>
              <a:ext uri="{FF2B5EF4-FFF2-40B4-BE49-F238E27FC236}">
                <a16:creationId xmlns:a16="http://schemas.microsoft.com/office/drawing/2014/main" id="{7FCF110D-89B2-B764-D80E-7F6EFB4AE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31999" y="2780928"/>
            <a:ext cx="1440000" cy="1440000"/>
          </a:xfrm>
          <a:prstGeom prst="rect">
            <a:avLst/>
          </a:prstGeom>
        </p:spPr>
      </p:pic>
      <p:pic>
        <p:nvPicPr>
          <p:cNvPr id="7" name="Graphic 6" descr="Debt with solid fill">
            <a:extLst>
              <a:ext uri="{FF2B5EF4-FFF2-40B4-BE49-F238E27FC236}">
                <a16:creationId xmlns:a16="http://schemas.microsoft.com/office/drawing/2014/main" id="{E0EF3CA8-AD81-0F6B-A7A8-1BB45E97A4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1999" y="278092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02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38A5-35AF-39A9-A435-258DCE22A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F4310-F785-D2D5-DF20-C640F495C1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“When will a volcano next have a major eruption?”</a:t>
            </a:r>
            <a:br>
              <a:rPr lang="en-GB" sz="2400" dirty="0"/>
            </a:b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What’s the </a:t>
            </a:r>
            <a:r>
              <a:rPr lang="en-GB" sz="2400" b="1" dirty="0">
                <a:solidFill>
                  <a:schemeClr val="accent4"/>
                </a:solidFill>
              </a:rPr>
              <a:t>event</a:t>
            </a:r>
            <a:r>
              <a:rPr lang="en-GB" sz="2400" dirty="0"/>
              <a:t>?</a:t>
            </a:r>
          </a:p>
          <a:p>
            <a:r>
              <a:rPr lang="en-GB" sz="2400" dirty="0"/>
              <a:t>Examples of </a:t>
            </a:r>
            <a:r>
              <a:rPr lang="en-GB" sz="2400" b="1" dirty="0">
                <a:solidFill>
                  <a:schemeClr val="accent2"/>
                </a:solidFill>
              </a:rPr>
              <a:t>censoring</a:t>
            </a:r>
            <a:r>
              <a:rPr lang="en-GB" sz="2400" dirty="0"/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FEC7D-B291-8BF4-6368-2DFAB036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66F9EF-67D4-B81A-38D6-561520531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pic>
        <p:nvPicPr>
          <p:cNvPr id="4" name="Graphic 3" descr="Thought bubble with solid fill">
            <a:extLst>
              <a:ext uri="{FF2B5EF4-FFF2-40B4-BE49-F238E27FC236}">
                <a16:creationId xmlns:a16="http://schemas.microsoft.com/office/drawing/2014/main" id="{62E06FE0-C80B-5EB9-4046-EDB1A4845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207" y="104613"/>
            <a:ext cx="914400" cy="914400"/>
          </a:xfrm>
          <a:prstGeom prst="rect">
            <a:avLst/>
          </a:prstGeom>
        </p:spPr>
      </p:pic>
      <p:pic>
        <p:nvPicPr>
          <p:cNvPr id="6" name="Graphic 5" descr="Volcano with solid fill">
            <a:extLst>
              <a:ext uri="{FF2B5EF4-FFF2-40B4-BE49-F238E27FC236}">
                <a16:creationId xmlns:a16="http://schemas.microsoft.com/office/drawing/2014/main" id="{FAA0CCF1-F8D6-F575-A637-55DC5C7CD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46814" y="278092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72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26E40F-2631-A3AF-5C2A-2029E4EF01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Time-to-event data is </a:t>
            </a:r>
            <a:r>
              <a:rPr lang="en-GB" b="1" dirty="0">
                <a:solidFill>
                  <a:schemeClr val="accent6"/>
                </a:solidFill>
              </a:rPr>
              <a:t>not suitable for linear modelling</a:t>
            </a:r>
          </a:p>
          <a:p>
            <a:r>
              <a:rPr lang="en-GB" dirty="0"/>
              <a:t>It is skewed and always ≥0</a:t>
            </a:r>
          </a:p>
          <a:p>
            <a:r>
              <a:rPr lang="en-GB" dirty="0"/>
              <a:t>It is also regularly </a:t>
            </a:r>
            <a:r>
              <a:rPr lang="en-GB" b="1" dirty="0">
                <a:solidFill>
                  <a:schemeClr val="accent2"/>
                </a:solidFill>
              </a:rPr>
              <a:t>censored</a:t>
            </a:r>
            <a:r>
              <a:rPr lang="en-GB" dirty="0"/>
              <a:t> (missing data)</a:t>
            </a:r>
          </a:p>
          <a:p>
            <a:endParaRPr lang="en-GB" dirty="0"/>
          </a:p>
          <a:p>
            <a:r>
              <a:rPr lang="en-GB" dirty="0">
                <a:solidFill>
                  <a:schemeClr val="accent2"/>
                </a:solidFill>
              </a:rPr>
              <a:t>Right censoring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An individual </a:t>
            </a:r>
            <a:r>
              <a:rPr lang="en-GB" i="1" dirty="0"/>
              <a:t>may </a:t>
            </a:r>
            <a:r>
              <a:rPr lang="en-GB" dirty="0"/>
              <a:t>experience the event after study end</a:t>
            </a:r>
          </a:p>
          <a:p>
            <a:pPr lvl="1"/>
            <a:r>
              <a:rPr lang="en-GB" dirty="0"/>
              <a:t>The individual experienced a competing event</a:t>
            </a:r>
          </a:p>
          <a:p>
            <a:r>
              <a:rPr lang="en-GB" dirty="0">
                <a:solidFill>
                  <a:schemeClr val="accent2"/>
                </a:solidFill>
              </a:rPr>
              <a:t>Interval censoring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The exact time of the event is unknown (falls in an interval)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029A2C-AF83-47B9-84FE-64BE0110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Survival data is unique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5B1EF-C042-B580-5D75-33C300621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01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036AB5-B08C-CBBA-B6FD-555B3A51E9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Using the Kaplan-Meier estimator to deal with censoring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 anchor="b"/>
          <a:lstStyle/>
          <a:p>
            <a:pPr marL="0" indent="0">
              <a:buNone/>
            </a:pPr>
            <a:r>
              <a:rPr lang="en-GB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The survival curve</a:t>
            </a:r>
            <a:endParaRPr lang="en-GB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noProof="0" smtClean="0"/>
              <a:pPr>
                <a:defRPr/>
              </a:pPr>
              <a:t>20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1637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D1AB-FCC9-9549-E3D1-8CC9A5CC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5E9378-2A8D-3E9E-7E20-5BCD8802E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2113" y="1772918"/>
            <a:ext cx="4056351" cy="4002407"/>
          </a:xfrm>
        </p:spPr>
        <p:txBody>
          <a:bodyPr/>
          <a:lstStyle/>
          <a:p>
            <a:r>
              <a:rPr lang="en-GB" dirty="0"/>
              <a:t>Population survival curve</a:t>
            </a:r>
          </a:p>
          <a:p>
            <a:r>
              <a:rPr lang="en-GB" dirty="0"/>
              <a:t>“Ground truth”</a:t>
            </a:r>
          </a:p>
          <a:p>
            <a:endParaRPr lang="en-GB" dirty="0"/>
          </a:p>
          <a:p>
            <a:r>
              <a:rPr lang="en-GB" dirty="0"/>
              <a:t>Controls which individuals will experience event (and when)</a:t>
            </a:r>
          </a:p>
          <a:p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92AAF7E-3F22-F29E-2679-4DF8DEE2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survival curve?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B61EA-9241-651F-A6B5-2128F8596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5A725D-52B8-DFA9-A869-7E7A4173D4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228591" y="1484784"/>
            <a:ext cx="43434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80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7149-4D36-5DB1-DEC1-7FAB2453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B82AC5-5E04-F1E6-BEEF-4C9BB7C1F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2113" y="1772918"/>
            <a:ext cx="4056351" cy="4002407"/>
          </a:xfrm>
        </p:spPr>
        <p:txBody>
          <a:bodyPr/>
          <a:lstStyle/>
          <a:p>
            <a:r>
              <a:rPr lang="en-GB" dirty="0"/>
              <a:t>Population survival curve</a:t>
            </a:r>
          </a:p>
          <a:p>
            <a:r>
              <a:rPr lang="en-GB" dirty="0"/>
              <a:t>“Ground truth”</a:t>
            </a:r>
          </a:p>
          <a:p>
            <a:endParaRPr lang="en-GB" dirty="0"/>
          </a:p>
          <a:p>
            <a:r>
              <a:rPr lang="en-GB" dirty="0"/>
              <a:t>Controls which individuals will experience event (and when)</a:t>
            </a:r>
          </a:p>
          <a:p>
            <a:endParaRPr lang="en-GB" dirty="0"/>
          </a:p>
          <a:p>
            <a:r>
              <a:rPr lang="en-GB" dirty="0"/>
              <a:t>We want to know what this curve looks like</a:t>
            </a:r>
          </a:p>
          <a:p>
            <a:r>
              <a:rPr lang="en-GB" dirty="0"/>
              <a:t>But we </a:t>
            </a:r>
            <a:r>
              <a:rPr lang="en-GB" dirty="0">
                <a:solidFill>
                  <a:schemeClr val="accent6"/>
                </a:solidFill>
              </a:rPr>
              <a:t>cannot measure the whole population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780127D-AB4C-6578-815B-139AA02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survival curve?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E8EAF-4DEB-8562-F43B-BF0DABEDE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385DBA-D25A-246C-C253-FC74B7D41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228591" y="1484784"/>
            <a:ext cx="4343409" cy="4572009"/>
          </a:xfrm>
          <a:prstGeom prst="rect">
            <a:avLst/>
          </a:prstGeom>
        </p:spPr>
      </p:pic>
      <p:pic>
        <p:nvPicPr>
          <p:cNvPr id="5" name="Graphic 4" descr="Question Mark with solid fill">
            <a:extLst>
              <a:ext uri="{FF2B5EF4-FFF2-40B4-BE49-F238E27FC236}">
                <a16:creationId xmlns:a16="http://schemas.microsoft.com/office/drawing/2014/main" id="{CAD29710-FE0C-5BB8-0C7C-08CDC9368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704" y="3074136"/>
            <a:ext cx="1393304" cy="13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59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6106-50B1-8A18-C4E2-9373BBB4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709123-EBD5-9FAD-4450-C9253427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goal: estimating the survival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AAB77-D04D-6770-3982-72F7DEE2C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94434D-23C0-B9F6-E978-626BDAB96F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591" y="1484784"/>
            <a:ext cx="86868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86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191C-A0C0-9316-3965-904D5FE7A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A3B77-727B-0CF7-2F2A-56D733F060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“How long do dragon eggs take to hatch?”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chemeClr val="accent4"/>
                </a:solidFill>
              </a:rPr>
              <a:t>Event: </a:t>
            </a:r>
            <a:r>
              <a:rPr lang="en-GB" sz="2400" dirty="0"/>
              <a:t>Egg hatches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2"/>
                </a:solidFill>
              </a:rPr>
              <a:t>Censoring: </a:t>
            </a:r>
            <a:r>
              <a:rPr lang="en-GB" sz="2400" dirty="0"/>
              <a:t>Egg is unhatched, damaged/removed, 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54DAF-A5E6-5ED6-15FE-F9F1DDCE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89534-3FFB-DF0D-0F50-BC3AA86E1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pic>
        <p:nvPicPr>
          <p:cNvPr id="6" name="Graphic 5" descr="Dragon with solid fill">
            <a:extLst>
              <a:ext uri="{FF2B5EF4-FFF2-40B4-BE49-F238E27FC236}">
                <a16:creationId xmlns:a16="http://schemas.microsoft.com/office/drawing/2014/main" id="{FBA17C9C-4C7E-81CB-122E-BA9CB3F18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31999" y="2492896"/>
            <a:ext cx="1440000" cy="1440000"/>
          </a:xfrm>
          <a:prstGeom prst="rect">
            <a:avLst/>
          </a:prstGeom>
        </p:spPr>
      </p:pic>
      <p:pic>
        <p:nvPicPr>
          <p:cNvPr id="7" name="Graphic 6" descr="Dinosaur Egg with solid fill">
            <a:extLst>
              <a:ext uri="{FF2B5EF4-FFF2-40B4-BE49-F238E27FC236}">
                <a16:creationId xmlns:a16="http://schemas.microsoft.com/office/drawing/2014/main" id="{BB95E26F-E63B-C79F-372A-7929D3B7F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71999" y="2492896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61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B968C2-3534-15F5-9F8B-D2590174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AE838-C583-289A-4FA5-2A7850F01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B42672-F6D2-8376-2C5E-1E0807E43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51946"/>
              </p:ext>
            </p:extLst>
          </p:nvPr>
        </p:nvGraphicFramePr>
        <p:xfrm>
          <a:off x="1990452" y="2060848"/>
          <a:ext cx="5163096" cy="2951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483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2680840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1290773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491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Egg</a:t>
                      </a:r>
                    </a:p>
                  </a:txBody>
                  <a:tcPr marL="126084" marR="126084" marT="63043" marB="6304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 marL="126084" marR="126084" marT="63043" marB="6304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126084" marR="126084" marT="63043" marB="6304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491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26084" marR="126084" marT="63043" marB="6304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491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491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491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5128" marR="15128" marT="12103" marB="12103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4918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 marL="126084" marR="126084" marT="63043" marB="6304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 marL="126084" marR="126084" marT="63043" marB="6304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 marL="126084" marR="126084" marT="63043" marB="6304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756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6F7B889-B215-F44C-8350-5E4C627D0B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55" y="1488116"/>
            <a:ext cx="4572009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D5B2D4D-932A-5241-5D91-4925846F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F1BA-C3CC-264E-1996-AA98DA4B4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E98F99-F4D2-352B-D9AC-B09ED7B758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54" y="1488116"/>
            <a:ext cx="5029210" cy="4572009"/>
          </a:xfrm>
          <a:prstGeom prst="rect">
            <a:avLst/>
          </a:prstGeom>
        </p:spPr>
      </p:pic>
      <p:pic>
        <p:nvPicPr>
          <p:cNvPr id="2" name="Graphic 1" descr="Dragon with solid fill">
            <a:extLst>
              <a:ext uri="{FF2B5EF4-FFF2-40B4-BE49-F238E27FC236}">
                <a16:creationId xmlns:a16="http://schemas.microsoft.com/office/drawing/2014/main" id="{59F346D2-8A94-2115-E416-9B5ED86C8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5412" y="2160878"/>
            <a:ext cx="1440000" cy="1440000"/>
          </a:xfrm>
          <a:prstGeom prst="rect">
            <a:avLst/>
          </a:prstGeom>
        </p:spPr>
      </p:pic>
      <p:pic>
        <p:nvPicPr>
          <p:cNvPr id="3" name="Graphic 2" descr="Dinosaur Egg with solid fill">
            <a:extLst>
              <a:ext uri="{FF2B5EF4-FFF2-40B4-BE49-F238E27FC236}">
                <a16:creationId xmlns:a16="http://schemas.microsoft.com/office/drawing/2014/main" id="{E64B64CD-20E2-63FC-78D2-B10519105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71600" y="3673046"/>
            <a:ext cx="1440000" cy="144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17CA59-ACE9-EAB8-92E3-2F59C2B465B4}"/>
              </a:ext>
            </a:extLst>
          </p:cNvPr>
          <p:cNvCxnSpPr>
            <a:cxnSpLocks/>
          </p:cNvCxnSpPr>
          <p:nvPr/>
        </p:nvCxnSpPr>
        <p:spPr>
          <a:xfrm>
            <a:off x="2411600" y="3694296"/>
            <a:ext cx="27364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633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A1C0-F3B7-D01A-7DC8-AEDFD701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2F8BD59-D2BD-C78A-AFE1-35CE1F1242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55" y="1488116"/>
            <a:ext cx="4572009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38898C0-B218-793F-6D2D-2B1F2E56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Kaplan-Meier survival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FD4C-81EF-5FB1-1299-EE6257C2F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50F9235-25BE-3B12-D48E-A5CB2B19B74A}"/>
              </a:ext>
            </a:extLst>
          </p:cNvPr>
          <p:cNvSpPr txBox="1">
            <a:spLocks/>
          </p:cNvSpPr>
          <p:nvPr/>
        </p:nvSpPr>
        <p:spPr>
          <a:xfrm>
            <a:off x="515649" y="1772918"/>
            <a:ext cx="3480287" cy="400240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/>
              <a:t>Uses:</a:t>
            </a:r>
          </a:p>
          <a:p>
            <a:r>
              <a:rPr lang="en-US" kern="0" dirty="0"/>
              <a:t>View the data more intuitively</a:t>
            </a:r>
          </a:p>
          <a:p>
            <a:endParaRPr lang="en-US" kern="0" dirty="0"/>
          </a:p>
          <a:p>
            <a:endParaRPr lang="en-GB" kern="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0C126A-1354-BFD0-18EE-A76B82D7C9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54" y="1488116"/>
            <a:ext cx="5029210" cy="45720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E92F6A-D0FB-7076-77D3-A0A5A2A0CDD2}"/>
              </a:ext>
            </a:extLst>
          </p:cNvPr>
          <p:cNvSpPr txBox="1"/>
          <p:nvPr/>
        </p:nvSpPr>
        <p:spPr>
          <a:xfrm>
            <a:off x="6534394" y="2285465"/>
            <a:ext cx="20939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dirty="0">
                <a:solidFill>
                  <a:schemeClr val="accent2"/>
                </a:solidFill>
              </a:rPr>
              <a:t>+</a:t>
            </a:r>
            <a:r>
              <a:rPr lang="en-US" kern="0" dirty="0">
                <a:solidFill>
                  <a:schemeClr val="accent2"/>
                </a:solidFill>
              </a:rPr>
              <a:t> censoring event</a:t>
            </a:r>
          </a:p>
        </p:txBody>
      </p:sp>
    </p:spTree>
    <p:extLst>
      <p:ext uri="{BB962C8B-B14F-4D97-AF65-F5344CB8AC3E}">
        <p14:creationId xmlns:p14="http://schemas.microsoft.com/office/powerpoint/2010/main" val="2995064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433E-1746-8840-4908-804CE648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539871E-24B5-5A38-FB2B-68F0996CB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5055" y="1488116"/>
            <a:ext cx="4572009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016A8A-EA9F-5D12-44E6-AECEE136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Kaplan-Meier survival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04A3-ABA5-940A-9882-5592FA755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AA4615F-542D-22AC-3808-D45EADAC5A53}"/>
              </a:ext>
            </a:extLst>
          </p:cNvPr>
          <p:cNvSpPr txBox="1">
            <a:spLocks/>
          </p:cNvSpPr>
          <p:nvPr/>
        </p:nvSpPr>
        <p:spPr>
          <a:xfrm>
            <a:off x="515649" y="1772918"/>
            <a:ext cx="3480287" cy="400240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/>
              <a:t>Uses:</a:t>
            </a:r>
          </a:p>
          <a:p>
            <a:r>
              <a:rPr lang="en-US" kern="0" dirty="0"/>
              <a:t>View the data more intuitively</a:t>
            </a:r>
          </a:p>
          <a:p>
            <a:r>
              <a:rPr lang="en-US" kern="0" dirty="0"/>
              <a:t>Estimate key parameters, e.g., median survival time</a:t>
            </a:r>
          </a:p>
          <a:p>
            <a:endParaRPr lang="en-GB" kern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B1DEF2-5775-790A-34B4-A76269858E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7854" y="1488116"/>
            <a:ext cx="5029210" cy="4572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FAD59A-3EEC-0A4B-067C-5E39B99DEEE2}"/>
              </a:ext>
            </a:extLst>
          </p:cNvPr>
          <p:cNvSpPr txBox="1"/>
          <p:nvPr/>
        </p:nvSpPr>
        <p:spPr>
          <a:xfrm>
            <a:off x="6534394" y="2285465"/>
            <a:ext cx="20939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dirty="0">
                <a:solidFill>
                  <a:schemeClr val="accent2"/>
                </a:solidFill>
              </a:rPr>
              <a:t>+</a:t>
            </a:r>
            <a:r>
              <a:rPr lang="en-US" kern="0" dirty="0">
                <a:solidFill>
                  <a:schemeClr val="accent2"/>
                </a:solidFill>
              </a:rPr>
              <a:t> censoring event</a:t>
            </a:r>
          </a:p>
        </p:txBody>
      </p:sp>
    </p:spTree>
    <p:extLst>
      <p:ext uri="{BB962C8B-B14F-4D97-AF65-F5344CB8AC3E}">
        <p14:creationId xmlns:p14="http://schemas.microsoft.com/office/powerpoint/2010/main" val="3276228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C3955-679E-73B1-070C-14A55C5D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545552-C563-6424-C8BE-F0C8C495D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54" y="1488116"/>
            <a:ext cx="5029210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D68AB37-53DB-40F4-50F0-D29ECE37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Kaplan-Meier survival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89C69-CBA0-711D-AC24-D3786B0A8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9B3C2E4-5C89-F717-9617-5F9BB02FF5CB}"/>
              </a:ext>
            </a:extLst>
          </p:cNvPr>
          <p:cNvSpPr txBox="1">
            <a:spLocks/>
          </p:cNvSpPr>
          <p:nvPr/>
        </p:nvSpPr>
        <p:spPr>
          <a:xfrm>
            <a:off x="515649" y="1772918"/>
            <a:ext cx="3480287" cy="400240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/>
              <a:t>Uses:</a:t>
            </a:r>
          </a:p>
          <a:p>
            <a:r>
              <a:rPr lang="en-US" kern="0" dirty="0"/>
              <a:t>View the data more intuitively</a:t>
            </a:r>
          </a:p>
          <a:p>
            <a:r>
              <a:rPr lang="en-US" kern="0" dirty="0"/>
              <a:t>Estimate key parameters, e.g., median survival time</a:t>
            </a:r>
          </a:p>
          <a:p>
            <a:endParaRPr lang="en-US" kern="0" dirty="0"/>
          </a:p>
          <a:p>
            <a:endParaRPr lang="en-US" kern="0" dirty="0"/>
          </a:p>
          <a:p>
            <a:r>
              <a:rPr lang="en-US" kern="0" dirty="0"/>
              <a:t>We can provide other data too</a:t>
            </a:r>
          </a:p>
          <a:p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2085466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0E85-9D0C-F79B-8A79-8A6D78F2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ABD8EC-9303-4CAF-9CD8-EA0E7E757E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7854" y="1488116"/>
            <a:ext cx="5029210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D409A9-E4DC-0D32-1B5C-5D2D0D84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Kaplan-Meier survival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F4871-A3D0-72C9-04E4-C66D6F52A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71383239-2613-569C-443C-6DD03433BF6F}"/>
              </a:ext>
            </a:extLst>
          </p:cNvPr>
          <p:cNvSpPr txBox="1">
            <a:spLocks/>
          </p:cNvSpPr>
          <p:nvPr/>
        </p:nvSpPr>
        <p:spPr>
          <a:xfrm>
            <a:off x="515649" y="1772918"/>
            <a:ext cx="3480287" cy="400240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/>
              <a:t>Uses:</a:t>
            </a:r>
          </a:p>
          <a:p>
            <a:r>
              <a:rPr lang="en-US" kern="0" dirty="0"/>
              <a:t>View the data more intuitively</a:t>
            </a:r>
          </a:p>
          <a:p>
            <a:r>
              <a:rPr lang="en-US" kern="0" dirty="0"/>
              <a:t>Estimate key parameters, e.g., median survival time</a:t>
            </a:r>
          </a:p>
          <a:p>
            <a:endParaRPr lang="en-US" kern="0" dirty="0"/>
          </a:p>
          <a:p>
            <a:endParaRPr lang="en-US" kern="0" dirty="0"/>
          </a:p>
          <a:p>
            <a:r>
              <a:rPr lang="en-US" kern="0" dirty="0"/>
              <a:t>We can provide other data too</a:t>
            </a:r>
          </a:p>
          <a:p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725334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ACEB3-CD4C-7938-B3DA-780FFD7ED2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Constructed using the </a:t>
            </a:r>
            <a:r>
              <a:rPr lang="en-GB" b="1" dirty="0"/>
              <a:t>Kaplan-Meier estimator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Original data		 </a:t>
            </a:r>
            <a:r>
              <a:rPr lang="en-GB" dirty="0">
                <a:sym typeface="Wingdings" panose="05000000000000000000" pitchFamily="2" charset="2"/>
              </a:rPr>
              <a:t> 		survival object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0E3FE-5A2C-C528-D0C9-139D8F8F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the curve constructed?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09227-4851-07EA-5499-911B6C99F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B2D784-0F39-3D09-587E-2E131B49DE0C}"/>
              </a:ext>
            </a:extLst>
          </p:cNvPr>
          <p:cNvSpPr/>
          <p:nvPr/>
        </p:nvSpPr>
        <p:spPr>
          <a:xfrm>
            <a:off x="2267744" y="2414798"/>
            <a:ext cx="2664296" cy="792088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accent3"/>
                </a:solidFill>
              </a:rPr>
              <a:t>transformed into</a:t>
            </a:r>
          </a:p>
        </p:txBody>
      </p:sp>
    </p:spTree>
    <p:extLst>
      <p:ext uri="{BB962C8B-B14F-4D97-AF65-F5344CB8AC3E}">
        <p14:creationId xmlns:p14="http://schemas.microsoft.com/office/powerpoint/2010/main" val="460809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A134-3A9E-B39B-23BE-A4FD6705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0C47-B0C0-D29A-3916-4020CA12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1E542D-BF00-7412-84D4-F9401ADC4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5891A1-06E0-18F3-9320-61E7B9F92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519916"/>
              </p:ext>
            </p:extLst>
          </p:nvPr>
        </p:nvGraphicFramePr>
        <p:xfrm>
          <a:off x="387994" y="1412776"/>
          <a:ext cx="3744414" cy="2080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5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Egg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4F92BD-D49D-813E-42C8-9A31DEED64C5}"/>
              </a:ext>
            </a:extLst>
          </p:cNvPr>
          <p:cNvSpPr txBox="1"/>
          <p:nvPr/>
        </p:nvSpPr>
        <p:spPr>
          <a:xfrm>
            <a:off x="4644007" y="1531395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Original dataset</a:t>
            </a:r>
          </a:p>
        </p:txBody>
      </p:sp>
    </p:spTree>
    <p:extLst>
      <p:ext uri="{BB962C8B-B14F-4D97-AF65-F5344CB8AC3E}">
        <p14:creationId xmlns:p14="http://schemas.microsoft.com/office/powerpoint/2010/main" val="2568393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47D5-62ED-8BEA-AF18-1BDBBBF2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7A45-6EC5-A0F8-DA82-98E43440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760EA2-035C-6500-5374-676B693E5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C1F51-0CB8-5B84-C12E-10434AF3FA01}"/>
              </a:ext>
            </a:extLst>
          </p:cNvPr>
          <p:cNvGraphicFramePr>
            <a:graphicFrameLocks noGrp="1"/>
          </p:cNvGraphicFramePr>
          <p:nvPr/>
        </p:nvGraphicFramePr>
        <p:xfrm>
          <a:off x="387994" y="1412776"/>
          <a:ext cx="3744414" cy="2080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5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Egg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DA3317-E62D-8BC3-C32D-553E6E71E4B3}"/>
              </a:ext>
            </a:extLst>
          </p:cNvPr>
          <p:cNvGraphicFramePr>
            <a:graphicFrameLocks noGrp="1"/>
          </p:cNvGraphicFramePr>
          <p:nvPr/>
        </p:nvGraphicFramePr>
        <p:xfrm>
          <a:off x="1958393" y="3564632"/>
          <a:ext cx="676549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098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3830407972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1603587238"/>
                    </a:ext>
                  </a:extLst>
                </a:gridCol>
              </a:tblGrid>
              <a:tr h="53935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Elapsed time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at risk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of events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of censored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Survival 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0.967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0.932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0.898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95843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21171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76716E-A592-553B-17D8-1DB3C032CD22}"/>
              </a:ext>
            </a:extLst>
          </p:cNvPr>
          <p:cNvSpPr txBox="1"/>
          <p:nvPr/>
        </p:nvSpPr>
        <p:spPr>
          <a:xfrm>
            <a:off x="4644007" y="1531395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Original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8587E-2C06-F136-9B13-040DA21B160D}"/>
              </a:ext>
            </a:extLst>
          </p:cNvPr>
          <p:cNvSpPr txBox="1"/>
          <p:nvPr/>
        </p:nvSpPr>
        <p:spPr>
          <a:xfrm>
            <a:off x="4571999" y="312294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Survival object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412CDC1-89DD-9C97-BDEC-FAF52BFC7B25}"/>
              </a:ext>
            </a:extLst>
          </p:cNvPr>
          <p:cNvSpPr/>
          <p:nvPr/>
        </p:nvSpPr>
        <p:spPr>
          <a:xfrm rot="5400000">
            <a:off x="5081888" y="2383891"/>
            <a:ext cx="996446" cy="296241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07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4EEC-69AC-A897-5867-D4C6BCA5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B8CE-6CCD-AD4E-CDD4-75B18126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533E3-4CF7-B9EA-1EC0-39FA59DC2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3B7EC-23D0-14F7-D9D2-EC613954EBFE}"/>
              </a:ext>
            </a:extLst>
          </p:cNvPr>
          <p:cNvGraphicFramePr>
            <a:graphicFrameLocks noGrp="1"/>
          </p:cNvGraphicFramePr>
          <p:nvPr/>
        </p:nvGraphicFramePr>
        <p:xfrm>
          <a:off x="387994" y="1412776"/>
          <a:ext cx="3744414" cy="2080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5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</a:tblGrid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Egg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Time followed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2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0971" marR="10971" marT="8777" marB="8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0971" marR="10971" marT="8777" marB="877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236835"/>
                  </a:ext>
                </a:extLst>
              </a:tr>
              <a:tr h="34438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5740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D6E111-46FB-2941-CECE-5F8EDB29A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767754"/>
              </p:ext>
            </p:extLst>
          </p:nvPr>
        </p:nvGraphicFramePr>
        <p:xfrm>
          <a:off x="1958393" y="3564632"/>
          <a:ext cx="676549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098">
                  <a:extLst>
                    <a:ext uri="{9D8B030D-6E8A-4147-A177-3AD203B41FA5}">
                      <a16:colId xmlns:a16="http://schemas.microsoft.com/office/drawing/2014/main" val="2389350183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1763596876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3913547588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3830407972"/>
                    </a:ext>
                  </a:extLst>
                </a:gridCol>
                <a:gridCol w="1353098">
                  <a:extLst>
                    <a:ext uri="{9D8B030D-6E8A-4147-A177-3AD203B41FA5}">
                      <a16:colId xmlns:a16="http://schemas.microsoft.com/office/drawing/2014/main" val="1603587238"/>
                    </a:ext>
                  </a:extLst>
                </a:gridCol>
              </a:tblGrid>
              <a:tr h="53935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Elapsed time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at risk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of events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Number of censored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Survival 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06499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0469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0.967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251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0.932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13302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0.898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58438"/>
                  </a:ext>
                </a:extLst>
              </a:tr>
              <a:tr h="30820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1171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5FD8EA-B9F6-4E9C-5539-E6F2089A0895}"/>
              </a:ext>
            </a:extLst>
          </p:cNvPr>
          <p:cNvSpPr txBox="1"/>
          <p:nvPr/>
        </p:nvSpPr>
        <p:spPr>
          <a:xfrm>
            <a:off x="4644007" y="1531395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Original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66028-65CE-C66E-C67E-32B7D8AA3A43}"/>
              </a:ext>
            </a:extLst>
          </p:cNvPr>
          <p:cNvSpPr txBox="1"/>
          <p:nvPr/>
        </p:nvSpPr>
        <p:spPr>
          <a:xfrm>
            <a:off x="4571999" y="312294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Survival object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F927D74-D82C-9F1E-AC3F-785CFD2A3042}"/>
              </a:ext>
            </a:extLst>
          </p:cNvPr>
          <p:cNvSpPr/>
          <p:nvPr/>
        </p:nvSpPr>
        <p:spPr>
          <a:xfrm rot="5400000">
            <a:off x="5081888" y="2383891"/>
            <a:ext cx="996446" cy="296241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478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BDF2-454E-240B-1860-1A956A15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2A9E6-23BF-9B0B-B9C1-D34F355B24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44" y="1556792"/>
            <a:ext cx="7397511" cy="457200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C6AB7C3-419F-414B-3EF1-2D927CD1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374FA-062E-B846-94EE-3576201B2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A3D4923-4EB9-B5F3-4554-8A946B594361}"/>
              </a:ext>
            </a:extLst>
          </p:cNvPr>
          <p:cNvSpPr/>
          <p:nvPr/>
        </p:nvSpPr>
        <p:spPr>
          <a:xfrm>
            <a:off x="3960127" y="5805264"/>
            <a:ext cx="576064" cy="28803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F8C523-DC56-DD71-429A-768EFF13BD19}"/>
              </a:ext>
            </a:extLst>
          </p:cNvPr>
          <p:cNvSpPr/>
          <p:nvPr/>
        </p:nvSpPr>
        <p:spPr>
          <a:xfrm>
            <a:off x="251520" y="4221088"/>
            <a:ext cx="576064" cy="28803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972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D2F76-E8D8-3D41-A169-3AF6D2A661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In the population, a true survival curve exists</a:t>
            </a:r>
          </a:p>
          <a:p>
            <a:r>
              <a:rPr lang="en-GB" dirty="0"/>
              <a:t>We want to </a:t>
            </a:r>
            <a:r>
              <a:rPr lang="en-GB" b="1" dirty="0"/>
              <a:t>estimate</a:t>
            </a:r>
            <a:r>
              <a:rPr lang="en-GB" dirty="0"/>
              <a:t> that survival curve using our data</a:t>
            </a:r>
          </a:p>
          <a:p>
            <a:endParaRPr lang="en-GB" dirty="0"/>
          </a:p>
          <a:p>
            <a:r>
              <a:rPr lang="en-GB" dirty="0"/>
              <a:t>The curve shows </a:t>
            </a:r>
            <a:r>
              <a:rPr lang="en-GB" b="1" dirty="0">
                <a:solidFill>
                  <a:schemeClr val="accent1"/>
                </a:solidFill>
              </a:rPr>
              <a:t>time against probability </a:t>
            </a:r>
            <a:br>
              <a:rPr lang="en-GB" dirty="0"/>
            </a:br>
            <a:r>
              <a:rPr lang="en-GB" dirty="0"/>
              <a:t>(of not experiencing the event)</a:t>
            </a:r>
          </a:p>
          <a:p>
            <a:r>
              <a:rPr lang="en-GB" dirty="0"/>
              <a:t>We can use the Kaplan-Meier estimator to calculate those probabilities</a:t>
            </a:r>
          </a:p>
          <a:p>
            <a:endParaRPr lang="en-GB" dirty="0"/>
          </a:p>
          <a:p>
            <a:r>
              <a:rPr lang="en-GB" dirty="0"/>
              <a:t>When presenting survival curves, we can provide additional info via </a:t>
            </a:r>
            <a:r>
              <a:rPr lang="en-GB" b="1" dirty="0"/>
              <a:t>risk and/or cumulative events tables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DAB9B-0835-8A88-9188-8D127F72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Survival curves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0DE11A-8A2B-D093-7AEE-EB67FBD60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795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37D105-E86C-8C0F-1075-CCDE5C53F0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The log-rank test for a single categorical predictor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CC983-E981-4A2A-4AD7-7EDB9A8538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 dirty="0"/>
              <a:t>3. Comparing </a:t>
            </a:r>
            <a:r>
              <a:rPr lang="en-GB" dirty="0"/>
              <a:t>curves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7D5B8-738E-0D71-E3FF-7689C1E80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37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73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25C15A-6669-B5D2-741A-BC8E342C2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244" y="1556637"/>
            <a:ext cx="7397510" cy="457200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3058581-847F-5CDC-270F-8C6D8A84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dragon populations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F43E8-4E65-719B-CA92-E5F1E63A4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976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23D6-B845-3934-48E7-F17B1D10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F1A58E-70E2-04BD-7904-8346113EC1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244" y="1556637"/>
            <a:ext cx="7397510" cy="457200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15A4A12-DAFF-F117-88CE-01E92069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dragon populations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4CEC7-DC7C-8D31-6671-5A1815D27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2C7BD90-CA9E-5ED0-F925-C712E810E5D9}"/>
              </a:ext>
            </a:extLst>
          </p:cNvPr>
          <p:cNvSpPr txBox="1">
            <a:spLocks/>
          </p:cNvSpPr>
          <p:nvPr/>
        </p:nvSpPr>
        <p:spPr>
          <a:xfrm>
            <a:off x="5508104" y="1772918"/>
            <a:ext cx="3120247" cy="400240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b="1" kern="0" dirty="0"/>
              <a:t>Log-rank test:</a:t>
            </a:r>
          </a:p>
          <a:p>
            <a:pPr marL="0" indent="0" algn="ctr">
              <a:buFontTx/>
              <a:buNone/>
            </a:pPr>
            <a:r>
              <a:rPr lang="en-US" kern="0" dirty="0"/>
              <a:t>Used to compare two or more survival curves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F7AEA2-B5AD-AFB5-332E-559371C46175}"/>
              </a:ext>
            </a:extLst>
          </p:cNvPr>
          <p:cNvCxnSpPr>
            <a:cxnSpLocks/>
          </p:cNvCxnSpPr>
          <p:nvPr/>
        </p:nvCxnSpPr>
        <p:spPr>
          <a:xfrm flipH="1">
            <a:off x="2339752" y="2492896"/>
            <a:ext cx="3168352" cy="21602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844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7BFA6-53CB-B791-71D0-FFB11E53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D7248C-5554-16EA-5909-8A49C64C9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: groups have an identical survival curve (in the population)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F9CB28-4AE1-15C5-52E1-13A20044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775F8-E93D-9A16-83A9-A9BB28C4C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A00F20-1439-2733-0712-8CB79BC9C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29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04133-C640-4D33-AE61-4C2177AC24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</a:t>
            </a:r>
            <a:r>
              <a:rPr lang="en-GB" baseline="-25000" dirty="0"/>
              <a:t>0</a:t>
            </a:r>
            <a:r>
              <a:rPr lang="en-GB" dirty="0"/>
              <a:t>: groups have an identical survival curve (in the population)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47ECD1-308B-9807-3CC6-260F6520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A44F2-AE63-630B-2092-4E7E23C63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350EA8-1403-D6E2-6306-CE80AF8F5F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00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5E2131-C654-181D-2B8C-9A0DA02F8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Like all significance tests, there are </a:t>
            </a:r>
            <a:r>
              <a:rPr lang="en-GB" b="1" dirty="0"/>
              <a:t>assumptions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4C66D8-4C68-7C80-140C-F40B9CC9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55D-B653-C9ED-A824-6E0444CF9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940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C9DE-29D9-C276-01E9-38626177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1E68F-0948-FDCC-AC30-B958F82D2C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Like all significance tests, there are </a:t>
            </a:r>
            <a:r>
              <a:rPr lang="en-GB" b="1" dirty="0"/>
              <a:t>assumptions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DDA55-562A-DC2F-DBE3-81DB1E41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C7F16-E0D5-364D-C9A6-8CED98252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F3D1B0-5568-0010-37C5-11F12F9B802C}"/>
              </a:ext>
            </a:extLst>
          </p:cNvPr>
          <p:cNvSpPr/>
          <p:nvPr/>
        </p:nvSpPr>
        <p:spPr>
          <a:xfrm>
            <a:off x="467544" y="2996952"/>
            <a:ext cx="3888432" cy="85194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451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A6D967-8558-40E1-0F6D-68B4036D65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“row” of the dataset (each individual) must be equally unrelated to every other row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4E6BA8-5316-7A92-2021-A6C0269C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06CDD-43F5-5FA1-163A-908B9D5C6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E8F59B1-87AE-E8B3-DDBB-674B8E19F4EA}"/>
              </a:ext>
            </a:extLst>
          </p:cNvPr>
          <p:cNvGrpSpPr/>
          <p:nvPr/>
        </p:nvGrpSpPr>
        <p:grpSpPr>
          <a:xfrm>
            <a:off x="2051720" y="2687288"/>
            <a:ext cx="4795275" cy="3011842"/>
            <a:chOff x="1423978" y="2670416"/>
            <a:chExt cx="4795275" cy="3011842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0CC65B3-D7D4-A106-69C8-B572B44C9E4B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Inpatient with solid fill">
              <a:extLst>
                <a:ext uri="{FF2B5EF4-FFF2-40B4-BE49-F238E27FC236}">
                  <a16:creationId xmlns:a16="http://schemas.microsoft.com/office/drawing/2014/main" id="{13A8BDF9-B057-167D-88BA-DB7FDA5827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71999" y="3081680"/>
              <a:ext cx="761707" cy="761707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A556A5D-58E6-0FA2-106E-CE7A35F92BA4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671D488E-2C43-14EF-CBD8-F8CC95BB5B73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Inpatient with solid fill">
              <a:extLst>
                <a:ext uri="{FF2B5EF4-FFF2-40B4-BE49-F238E27FC236}">
                  <a16:creationId xmlns:a16="http://schemas.microsoft.com/office/drawing/2014/main" id="{7DB9FF6F-82E5-BEDD-08D4-483371B8FC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718019" y="3675405"/>
              <a:ext cx="761707" cy="761707"/>
            </a:xfrm>
            <a:prstGeom prst="rect">
              <a:avLst/>
            </a:prstGeom>
          </p:spPr>
        </p:pic>
        <p:pic>
          <p:nvPicPr>
            <p:cNvPr id="13" name="Graphic 12" descr="Inpatient with solid fill">
              <a:extLst>
                <a:ext uri="{FF2B5EF4-FFF2-40B4-BE49-F238E27FC236}">
                  <a16:creationId xmlns:a16="http://schemas.microsoft.com/office/drawing/2014/main" id="{FA3E413E-3600-BA41-883F-5435ABD8DF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457546" y="4286584"/>
              <a:ext cx="761707" cy="7617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BD454E-4CD1-755A-BDDA-8C8E521E95B3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B9C22B83-F181-F2A4-FB07-7ED73F535A98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Inpatient with solid fill">
              <a:extLst>
                <a:ext uri="{FF2B5EF4-FFF2-40B4-BE49-F238E27FC236}">
                  <a16:creationId xmlns:a16="http://schemas.microsoft.com/office/drawing/2014/main" id="{DAA2E0A9-0FF6-99F3-22A3-AC321AD56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65753" y="4920551"/>
              <a:ext cx="761707" cy="76170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9B0C70-4FD2-510D-1B07-C6D070D13621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Graphic 29" descr="Checkmark with solid fill">
            <a:extLst>
              <a:ext uri="{FF2B5EF4-FFF2-40B4-BE49-F238E27FC236}">
                <a16:creationId xmlns:a16="http://schemas.microsoft.com/office/drawing/2014/main" id="{505C68FB-AB3C-64BF-7F75-8D2DD0281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9224" y="27614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17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4B2E-05D9-99B8-083B-E27F2E38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17744A-EC64-49FC-FAFD-14C41BCC13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“row” of the dataset (each individual) must be equally unrelated to every other row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187F19-4882-89E3-2DD7-3EA1726A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766-2A02-0DE0-BB07-643AAD824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19CF88-AAC3-A1EB-C5E7-3887AA62A103}"/>
              </a:ext>
            </a:extLst>
          </p:cNvPr>
          <p:cNvGrpSpPr/>
          <p:nvPr/>
        </p:nvGrpSpPr>
        <p:grpSpPr>
          <a:xfrm>
            <a:off x="2051720" y="2687288"/>
            <a:ext cx="4795275" cy="3011842"/>
            <a:chOff x="1423978" y="2670416"/>
            <a:chExt cx="4795275" cy="3011842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4AE7BBB-B0D8-93F4-A964-0C848EE13CF0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Inpatient with solid fill">
              <a:extLst>
                <a:ext uri="{FF2B5EF4-FFF2-40B4-BE49-F238E27FC236}">
                  <a16:creationId xmlns:a16="http://schemas.microsoft.com/office/drawing/2014/main" id="{33ABB599-9A53-D6AD-20DB-E7B322DD71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71999" y="3081680"/>
              <a:ext cx="761707" cy="761707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67056C1A-3AFC-1112-ECFE-B096FF884D02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8A98CD7E-C855-D116-73A7-A19274ECF620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Inpatient with solid fill">
              <a:extLst>
                <a:ext uri="{FF2B5EF4-FFF2-40B4-BE49-F238E27FC236}">
                  <a16:creationId xmlns:a16="http://schemas.microsoft.com/office/drawing/2014/main" id="{F9421C21-2132-3BEA-E7A8-744284F263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718019" y="3675405"/>
              <a:ext cx="761707" cy="761707"/>
            </a:xfrm>
            <a:prstGeom prst="rect">
              <a:avLst/>
            </a:prstGeom>
          </p:spPr>
        </p:pic>
        <p:pic>
          <p:nvPicPr>
            <p:cNvPr id="13" name="Graphic 12" descr="Inpatient with solid fill">
              <a:extLst>
                <a:ext uri="{FF2B5EF4-FFF2-40B4-BE49-F238E27FC236}">
                  <a16:creationId xmlns:a16="http://schemas.microsoft.com/office/drawing/2014/main" id="{EF2B26B4-87CE-E817-E0BA-80EC711187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457546" y="4286584"/>
              <a:ext cx="761707" cy="7617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1E9C9C-C67C-66F3-D7FB-777D552D09F2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82058EAD-8825-0BA5-F227-7EB505BD3B6A}"/>
                </a:ext>
              </a:extLst>
            </p:cNvPr>
            <p:cNvSpPr/>
            <p:nvPr/>
          </p:nvSpPr>
          <p:spPr>
            <a:xfrm>
              <a:off x="1786417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Inpatient with solid fill">
              <a:extLst>
                <a:ext uri="{FF2B5EF4-FFF2-40B4-BE49-F238E27FC236}">
                  <a16:creationId xmlns:a16="http://schemas.microsoft.com/office/drawing/2014/main" id="{07073F7B-62F7-1874-2CB0-62E833A791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565753" y="4920551"/>
              <a:ext cx="761707" cy="76170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A6332BD-8FBB-78E9-0A29-C78DAE658992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Hospital with solid fill">
            <a:extLst>
              <a:ext uri="{FF2B5EF4-FFF2-40B4-BE49-F238E27FC236}">
                <a16:creationId xmlns:a16="http://schemas.microsoft.com/office/drawing/2014/main" id="{90A99701-FB76-28E1-3AFE-10065383A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8591" y="3313403"/>
            <a:ext cx="914400" cy="914400"/>
          </a:xfrm>
          <a:prstGeom prst="rect">
            <a:avLst/>
          </a:prstGeom>
        </p:spPr>
      </p:pic>
      <p:pic>
        <p:nvPicPr>
          <p:cNvPr id="7" name="Graphic 6" descr="Hospital with solid fill">
            <a:extLst>
              <a:ext uri="{FF2B5EF4-FFF2-40B4-BE49-F238E27FC236}">
                <a16:creationId xmlns:a16="http://schemas.microsoft.com/office/drawing/2014/main" id="{FC9D09D2-311B-4B77-A802-CFF5DC958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5896" y="4579106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CC52D523-D425-83F1-7030-350653564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899224" y="27614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57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495E-F70F-0C04-B49E-6DE0E6C5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5A9117-2FC3-8B42-EA7A-FF60EDA574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“row” of the dataset (each individual) must be equally unrelated to every other row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5E7104-81DC-DD6F-F12E-0FC9A3FC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45EFF-1DAA-DC35-B33B-110FA4BCC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8D67B1-A08E-2030-B8CD-29F98CD0650F}"/>
              </a:ext>
            </a:extLst>
          </p:cNvPr>
          <p:cNvGrpSpPr/>
          <p:nvPr/>
        </p:nvGrpSpPr>
        <p:grpSpPr>
          <a:xfrm>
            <a:off x="2051720" y="2687288"/>
            <a:ext cx="4795275" cy="3011842"/>
            <a:chOff x="1423978" y="2670416"/>
            <a:chExt cx="4795275" cy="3011842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ED0407B-3837-6322-AC94-FE44BD3353EC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Dental Care with solid fill">
              <a:extLst>
                <a:ext uri="{FF2B5EF4-FFF2-40B4-BE49-F238E27FC236}">
                  <a16:creationId xmlns:a16="http://schemas.microsoft.com/office/drawing/2014/main" id="{F9A8BC0D-65CC-0173-7F0F-5E50D74A89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71999" y="3081680"/>
              <a:ext cx="761707" cy="761707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3AAF70CB-7997-CD03-05F3-367C9E963266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61D6B50D-00B9-DB94-6A06-0315C09A8885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Dental Care with solid fill">
              <a:extLst>
                <a:ext uri="{FF2B5EF4-FFF2-40B4-BE49-F238E27FC236}">
                  <a16:creationId xmlns:a16="http://schemas.microsoft.com/office/drawing/2014/main" id="{49D01568-9BE1-9505-67DA-F43B4F44F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718019" y="3675405"/>
              <a:ext cx="761707" cy="761707"/>
            </a:xfrm>
            <a:prstGeom prst="rect">
              <a:avLst/>
            </a:prstGeom>
          </p:spPr>
        </p:pic>
        <p:pic>
          <p:nvPicPr>
            <p:cNvPr id="13" name="Graphic 12" descr="Dental Care with solid fill">
              <a:extLst>
                <a:ext uri="{FF2B5EF4-FFF2-40B4-BE49-F238E27FC236}">
                  <a16:creationId xmlns:a16="http://schemas.microsoft.com/office/drawing/2014/main" id="{85AA50B2-3890-F73D-428A-1F03B544C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457546" y="4286584"/>
              <a:ext cx="761707" cy="7617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307099-5F16-A610-2AAE-708FDBB072F6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2BB1BBE8-B8B4-1E83-35A6-8DF57BAB9BF7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Dental Care with solid fill">
              <a:extLst>
                <a:ext uri="{FF2B5EF4-FFF2-40B4-BE49-F238E27FC236}">
                  <a16:creationId xmlns:a16="http://schemas.microsoft.com/office/drawing/2014/main" id="{13E10264-CADF-5AF0-5010-8A5303ADD6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565753" y="4920551"/>
              <a:ext cx="761707" cy="76170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9CDB28-72CC-6580-8B65-42F4F27B641E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Lips with solid fill">
            <a:extLst>
              <a:ext uri="{FF2B5EF4-FFF2-40B4-BE49-F238E27FC236}">
                <a16:creationId xmlns:a16="http://schemas.microsoft.com/office/drawing/2014/main" id="{7ED71FCA-0D1D-9CCA-2E0E-2DA9979D6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478591" y="3313403"/>
            <a:ext cx="914400" cy="914400"/>
          </a:xfrm>
          <a:prstGeom prst="rect">
            <a:avLst/>
          </a:prstGeom>
        </p:spPr>
      </p:pic>
      <p:pic>
        <p:nvPicPr>
          <p:cNvPr id="7" name="Graphic 6" descr="Lips with solid fill">
            <a:extLst>
              <a:ext uri="{FF2B5EF4-FFF2-40B4-BE49-F238E27FC236}">
                <a16:creationId xmlns:a16="http://schemas.microsoft.com/office/drawing/2014/main" id="{18E3BFBA-CC01-362C-DAFB-754AB5DB0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85896" y="4579106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E4E10583-B45E-49E2-8304-2CF554C88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899224" y="27614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51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3319-1C2B-2F50-5E40-2F445946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8582BB-3835-E77F-CED8-B710380588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“row” of the dataset (each individual) must be equally unrelated to every other row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2B1192-0CEE-12BC-4702-8DDFF198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DE279-C7E1-9E88-5F9A-E512DC6C7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1690D2-0001-B30E-9CF9-EB7BEA2B16C3}"/>
              </a:ext>
            </a:extLst>
          </p:cNvPr>
          <p:cNvGrpSpPr/>
          <p:nvPr/>
        </p:nvGrpSpPr>
        <p:grpSpPr>
          <a:xfrm>
            <a:off x="2051720" y="2687288"/>
            <a:ext cx="4795275" cy="3011842"/>
            <a:chOff x="1423978" y="2670416"/>
            <a:chExt cx="4795275" cy="3011842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476C2CE5-AFE2-2BF2-C34F-AC5668834A08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Graduation cap with solid fill">
              <a:extLst>
                <a:ext uri="{FF2B5EF4-FFF2-40B4-BE49-F238E27FC236}">
                  <a16:creationId xmlns:a16="http://schemas.microsoft.com/office/drawing/2014/main" id="{1632A66E-46B7-DDF3-EEC0-FE01C90CCF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71999" y="3081680"/>
              <a:ext cx="761707" cy="761707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AC9607D-E5DF-EA9A-8BDB-4C2836A54DDD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5C16816F-CA1C-6220-53CB-ADD399040040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Graduation cap with solid fill">
              <a:extLst>
                <a:ext uri="{FF2B5EF4-FFF2-40B4-BE49-F238E27FC236}">
                  <a16:creationId xmlns:a16="http://schemas.microsoft.com/office/drawing/2014/main" id="{CE4A441A-74BB-3810-8F51-5BDAD1155F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718019" y="3675405"/>
              <a:ext cx="761707" cy="761707"/>
            </a:xfrm>
            <a:prstGeom prst="rect">
              <a:avLst/>
            </a:prstGeom>
          </p:spPr>
        </p:pic>
        <p:pic>
          <p:nvPicPr>
            <p:cNvPr id="13" name="Graphic 12" descr="Graduation cap with solid fill">
              <a:extLst>
                <a:ext uri="{FF2B5EF4-FFF2-40B4-BE49-F238E27FC236}">
                  <a16:creationId xmlns:a16="http://schemas.microsoft.com/office/drawing/2014/main" id="{12B0869A-D3DA-48E6-148E-5915C339D4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457546" y="4286584"/>
              <a:ext cx="761707" cy="7617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4572FC-A19A-CBE8-9639-8541E8B107FD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904C8547-5DA0-05A3-5882-1A12ECB65402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Graduation cap with solid fill">
              <a:extLst>
                <a:ext uri="{FF2B5EF4-FFF2-40B4-BE49-F238E27FC236}">
                  <a16:creationId xmlns:a16="http://schemas.microsoft.com/office/drawing/2014/main" id="{8C3E6956-7B77-2926-A1F5-4877AC0D06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565753" y="4920551"/>
              <a:ext cx="761707" cy="76170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75FCA9B-4BAD-A046-6014-604F8817D900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Office worker female with solid fill">
            <a:extLst>
              <a:ext uri="{FF2B5EF4-FFF2-40B4-BE49-F238E27FC236}">
                <a16:creationId xmlns:a16="http://schemas.microsoft.com/office/drawing/2014/main" id="{F37FCBF8-AB9D-616A-23DD-FA78445F0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75632" y="3388300"/>
            <a:ext cx="767238" cy="767238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12B73679-A7EA-3176-E585-96312F6A2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575632" y="4962606"/>
            <a:ext cx="767238" cy="767238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755BA707-D5A1-A6F3-3C76-5B6BBE76D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99224" y="2761407"/>
            <a:ext cx="914400" cy="914400"/>
          </a:xfrm>
          <a:prstGeom prst="rect">
            <a:avLst/>
          </a:prstGeom>
        </p:spPr>
      </p:pic>
      <p:pic>
        <p:nvPicPr>
          <p:cNvPr id="5" name="Graphic 4" descr="Office worker female with solid fill">
            <a:extLst>
              <a:ext uri="{FF2B5EF4-FFF2-40B4-BE49-F238E27FC236}">
                <a16:creationId xmlns:a16="http://schemas.microsoft.com/office/drawing/2014/main" id="{AB4A06CE-C385-AA83-6F4E-2B0D7C61F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75632" y="4201019"/>
            <a:ext cx="767238" cy="7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295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2310-0355-0089-054F-C20D4CB7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FC22AA-DEAC-1341-C744-94610CB128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“row” of the dataset (each individual) must be equally unrelated to every other row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ACF026-A530-281D-B3D0-4995D491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32F43-5801-5936-F980-8727A0B49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E4D240A-2176-399E-38F1-B6AD2344FE78}"/>
              </a:ext>
            </a:extLst>
          </p:cNvPr>
          <p:cNvGrpSpPr/>
          <p:nvPr/>
        </p:nvGrpSpPr>
        <p:grpSpPr>
          <a:xfrm>
            <a:off x="2051720" y="2687288"/>
            <a:ext cx="4795275" cy="3011842"/>
            <a:chOff x="1423978" y="2670416"/>
            <a:chExt cx="4795275" cy="3011842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DFEFDF68-FAB4-67FB-7B16-F693A44B9134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Graduation cap with solid fill">
              <a:extLst>
                <a:ext uri="{FF2B5EF4-FFF2-40B4-BE49-F238E27FC236}">
                  <a16:creationId xmlns:a16="http://schemas.microsoft.com/office/drawing/2014/main" id="{57160445-1BF4-0C22-AFCB-C1C15221C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71999" y="3081680"/>
              <a:ext cx="761707" cy="761707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54C1DEA-C38D-398A-22A4-1E331C58F6F2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0B9B25D-57B4-9259-9C0D-ACC07BAA08A2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Graduation cap with solid fill">
              <a:extLst>
                <a:ext uri="{FF2B5EF4-FFF2-40B4-BE49-F238E27FC236}">
                  <a16:creationId xmlns:a16="http://schemas.microsoft.com/office/drawing/2014/main" id="{63AA7244-7FA6-50DB-82A8-BA5F51A89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718019" y="3675405"/>
              <a:ext cx="761707" cy="761707"/>
            </a:xfrm>
            <a:prstGeom prst="rect">
              <a:avLst/>
            </a:prstGeom>
          </p:spPr>
        </p:pic>
        <p:pic>
          <p:nvPicPr>
            <p:cNvPr id="13" name="Graphic 12" descr="Graduation cap with solid fill">
              <a:extLst>
                <a:ext uri="{FF2B5EF4-FFF2-40B4-BE49-F238E27FC236}">
                  <a16:creationId xmlns:a16="http://schemas.microsoft.com/office/drawing/2014/main" id="{B301A5EF-3F4E-2108-5076-4319D91412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457546" y="4286584"/>
              <a:ext cx="761707" cy="7617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03FE97-04A2-CD5F-6355-2EDEC59683DC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DD5CE54-6A7A-5665-CE15-6E4C52AB1E08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Graduation cap with solid fill">
              <a:extLst>
                <a:ext uri="{FF2B5EF4-FFF2-40B4-BE49-F238E27FC236}">
                  <a16:creationId xmlns:a16="http://schemas.microsoft.com/office/drawing/2014/main" id="{15EFEC19-CEF9-AF57-F45D-C8ED8D2C7B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565753" y="4920551"/>
              <a:ext cx="761707" cy="76170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E2E8D0-9A47-CB5C-FD89-4C77178DD861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Office worker female with solid fill">
            <a:extLst>
              <a:ext uri="{FF2B5EF4-FFF2-40B4-BE49-F238E27FC236}">
                <a16:creationId xmlns:a16="http://schemas.microsoft.com/office/drawing/2014/main" id="{812DCDFF-092A-C8F5-D54E-65C03C13B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575632" y="3388300"/>
            <a:ext cx="767238" cy="767238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78DD3747-05CC-80E3-FAC2-835AFC905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575632" y="4962606"/>
            <a:ext cx="767238" cy="767238"/>
          </a:xfrm>
          <a:prstGeom prst="rect">
            <a:avLst/>
          </a:prstGeom>
        </p:spPr>
      </p:pic>
      <p:pic>
        <p:nvPicPr>
          <p:cNvPr id="5" name="Graphic 4" descr="Office worker female with solid fill">
            <a:extLst>
              <a:ext uri="{FF2B5EF4-FFF2-40B4-BE49-F238E27FC236}">
                <a16:creationId xmlns:a16="http://schemas.microsoft.com/office/drawing/2014/main" id="{62F90522-598D-543E-ADE1-F2BE37AF0B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75632" y="4201019"/>
            <a:ext cx="767238" cy="767238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F3D4CFA9-9928-41BF-69BA-FF2335D6D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99224" y="27614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515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02A1B-BF37-10B6-B36B-016FE766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1A5783-DBF2-DDDD-C485-BE76CB0D1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Like all significance tests, there are </a:t>
            </a:r>
            <a:r>
              <a:rPr lang="en-GB" b="1" dirty="0"/>
              <a:t>assumptions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1FE0E8-BCF4-6492-8B82-B91731D1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EE8CE-AB60-A63D-E98D-9F9E03C635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08DEB-EE77-3246-6CB1-9E123E0D78FA}"/>
              </a:ext>
            </a:extLst>
          </p:cNvPr>
          <p:cNvSpPr/>
          <p:nvPr/>
        </p:nvSpPr>
        <p:spPr>
          <a:xfrm>
            <a:off x="384175" y="2564904"/>
            <a:ext cx="2747665" cy="42386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A96AE-D238-F1A4-3B47-2842AA1284FB}"/>
              </a:ext>
            </a:extLst>
          </p:cNvPr>
          <p:cNvSpPr/>
          <p:nvPr/>
        </p:nvSpPr>
        <p:spPr>
          <a:xfrm>
            <a:off x="467544" y="3425031"/>
            <a:ext cx="3240360" cy="42386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1028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5F66-5402-80EE-316A-3ABF7396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A7F924C1-25AF-1137-2220-C0C9897A9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99224" y="2783039"/>
            <a:ext cx="914400" cy="9144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E7FBD-CB8C-286F-C221-A6A55CCE49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Censoring is not related to survival/event probability;</a:t>
            </a:r>
            <a:br>
              <a:rPr lang="en-GB" dirty="0"/>
            </a:br>
            <a:r>
              <a:rPr lang="en-GB" dirty="0"/>
              <a:t>Probability of being censored is equal for all individuals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0928F6-B6CA-E86E-87BB-C995CCB1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Non-informative censoring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42904-91B5-711C-3EE8-751BF99E7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CEBAF8D-E801-4733-AC9D-65D10447CEF6}"/>
              </a:ext>
            </a:extLst>
          </p:cNvPr>
          <p:cNvSpPr/>
          <p:nvPr/>
        </p:nvSpPr>
        <p:spPr>
          <a:xfrm>
            <a:off x="2414159" y="3383363"/>
            <a:ext cx="2609290" cy="196414"/>
          </a:xfrm>
          <a:prstGeom prst="rightArrow">
            <a:avLst/>
          </a:prstGeom>
          <a:solidFill>
            <a:srgbClr val="00B1C1"/>
          </a:solidFill>
          <a:ln>
            <a:solidFill>
              <a:srgbClr val="00B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282C1F-9676-E7CF-AEDF-CE2702539C11}"/>
              </a:ext>
            </a:extLst>
          </p:cNvPr>
          <p:cNvSpPr/>
          <p:nvPr/>
        </p:nvSpPr>
        <p:spPr>
          <a:xfrm>
            <a:off x="2414159" y="4322290"/>
            <a:ext cx="3509045" cy="196414"/>
          </a:xfrm>
          <a:prstGeom prst="rightArrow">
            <a:avLst/>
          </a:prstGeom>
          <a:solidFill>
            <a:srgbClr val="00B1C1"/>
          </a:solidFill>
          <a:ln>
            <a:solidFill>
              <a:srgbClr val="00B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E9333F-52DD-D670-C668-7D4E3C8D25AD}"/>
              </a:ext>
            </a:extLst>
          </p:cNvPr>
          <p:cNvSpPr txBox="1"/>
          <p:nvPr/>
        </p:nvSpPr>
        <p:spPr>
          <a:xfrm>
            <a:off x="2051720" y="2708920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Start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077F0AC-4D83-8CE2-F687-977B356719B7}"/>
              </a:ext>
            </a:extLst>
          </p:cNvPr>
          <p:cNvSpPr/>
          <p:nvPr/>
        </p:nvSpPr>
        <p:spPr>
          <a:xfrm>
            <a:off x="2407913" y="5268451"/>
            <a:ext cx="2844000" cy="196414"/>
          </a:xfrm>
          <a:prstGeom prst="rightArrow">
            <a:avLst/>
          </a:prstGeom>
          <a:solidFill>
            <a:srgbClr val="00B1C1"/>
          </a:solidFill>
          <a:ln>
            <a:solidFill>
              <a:srgbClr val="00B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Lights On with solid fill">
            <a:extLst>
              <a:ext uri="{FF2B5EF4-FFF2-40B4-BE49-F238E27FC236}">
                <a16:creationId xmlns:a16="http://schemas.microsoft.com/office/drawing/2014/main" id="{7B8D5626-F1D6-92DA-8D18-6971699EA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19632" y="3933153"/>
            <a:ext cx="864000" cy="86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E3EF52-15A8-FDE6-70A8-B145A9FC5A26}"/>
              </a:ext>
            </a:extLst>
          </p:cNvPr>
          <p:cNvSpPr/>
          <p:nvPr/>
        </p:nvSpPr>
        <p:spPr>
          <a:xfrm>
            <a:off x="2407913" y="3878727"/>
            <a:ext cx="2196000" cy="11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22DFFAD0-30ED-8008-AB94-E6D5FA264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87738" y="3645024"/>
            <a:ext cx="584727" cy="5847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09C8C0-48D1-2A42-6085-3552C6499FBA}"/>
              </a:ext>
            </a:extLst>
          </p:cNvPr>
          <p:cNvSpPr/>
          <p:nvPr/>
        </p:nvSpPr>
        <p:spPr>
          <a:xfrm>
            <a:off x="2428542" y="4854651"/>
            <a:ext cx="2448000" cy="11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B9E94518-D013-8D2F-8A20-E1A40ED2E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00730" y="4611045"/>
            <a:ext cx="584727" cy="5847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FA6BE7-8B0A-7733-756D-A32EC1F053AF}"/>
              </a:ext>
            </a:extLst>
          </p:cNvPr>
          <p:cNvCxnSpPr>
            <a:cxnSpLocks/>
          </p:cNvCxnSpPr>
          <p:nvPr/>
        </p:nvCxnSpPr>
        <p:spPr>
          <a:xfrm>
            <a:off x="2414159" y="3205069"/>
            <a:ext cx="0" cy="2515693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80E227-3B0A-3FDA-7B28-A937F5A8277F}"/>
              </a:ext>
            </a:extLst>
          </p:cNvPr>
          <p:cNvGrpSpPr/>
          <p:nvPr/>
        </p:nvGrpSpPr>
        <p:grpSpPr>
          <a:xfrm>
            <a:off x="5133329" y="3195255"/>
            <a:ext cx="474651" cy="572629"/>
            <a:chOff x="5187978" y="3208259"/>
            <a:chExt cx="474651" cy="57262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050F07-378D-6CA6-0F90-43AB1257046F}"/>
                </a:ext>
              </a:extLst>
            </p:cNvPr>
            <p:cNvSpPr/>
            <p:nvPr/>
          </p:nvSpPr>
          <p:spPr>
            <a:xfrm>
              <a:off x="5341286" y="3667250"/>
              <a:ext cx="168050" cy="42160"/>
            </a:xfrm>
            <a:custGeom>
              <a:avLst/>
              <a:gdLst>
                <a:gd name="csX0" fmla="*/ 146970 w 168050"/>
                <a:gd name="csY0" fmla="*/ 0 h 42160"/>
                <a:gd name="csX1" fmla="*/ 21080 w 168050"/>
                <a:gd name="csY1" fmla="*/ 0 h 42160"/>
                <a:gd name="csX2" fmla="*/ 0 w 168050"/>
                <a:gd name="csY2" fmla="*/ 21080 h 42160"/>
                <a:gd name="csX3" fmla="*/ 21080 w 168050"/>
                <a:gd name="csY3" fmla="*/ 42161 h 42160"/>
                <a:gd name="csX4" fmla="*/ 146970 w 168050"/>
                <a:gd name="csY4" fmla="*/ 42161 h 42160"/>
                <a:gd name="csX5" fmla="*/ 168051 w 168050"/>
                <a:gd name="csY5" fmla="*/ 21080 h 42160"/>
                <a:gd name="csX6" fmla="*/ 146970 w 168050"/>
                <a:gd name="csY6" fmla="*/ 0 h 42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8050" h="42160">
                  <a:moveTo>
                    <a:pt x="146970" y="0"/>
                  </a:moveTo>
                  <a:lnTo>
                    <a:pt x="21080" y="0"/>
                  </a:lnTo>
                  <a:cubicBezTo>
                    <a:pt x="9438" y="0"/>
                    <a:pt x="0" y="9438"/>
                    <a:pt x="0" y="21080"/>
                  </a:cubicBezTo>
                  <a:cubicBezTo>
                    <a:pt x="0" y="32723"/>
                    <a:pt x="9438" y="42161"/>
                    <a:pt x="21080" y="42161"/>
                  </a:cubicBezTo>
                  <a:lnTo>
                    <a:pt x="146970" y="42161"/>
                  </a:lnTo>
                  <a:cubicBezTo>
                    <a:pt x="158613" y="42161"/>
                    <a:pt x="168051" y="32723"/>
                    <a:pt x="168051" y="21080"/>
                  </a:cubicBezTo>
                  <a:cubicBezTo>
                    <a:pt x="168051" y="9438"/>
                    <a:pt x="158613" y="0"/>
                    <a:pt x="146970" y="0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2FB4B5-F669-BEBC-16B1-9A57EC024667}"/>
                </a:ext>
              </a:extLst>
            </p:cNvPr>
            <p:cNvSpPr/>
            <p:nvPr/>
          </p:nvSpPr>
          <p:spPr>
            <a:xfrm>
              <a:off x="5379643" y="3738669"/>
              <a:ext cx="91336" cy="42219"/>
            </a:xfrm>
            <a:custGeom>
              <a:avLst/>
              <a:gdLst>
                <a:gd name="csX0" fmla="*/ 45672 w 91336"/>
                <a:gd name="csY0" fmla="*/ 42219 h 42219"/>
                <a:gd name="csX1" fmla="*/ 91336 w 91336"/>
                <a:gd name="csY1" fmla="*/ 0 h 42219"/>
                <a:gd name="csX2" fmla="*/ 0 w 91336"/>
                <a:gd name="csY2" fmla="*/ 0 h 42219"/>
                <a:gd name="csX3" fmla="*/ 45672 w 91336"/>
                <a:gd name="csY3" fmla="*/ 42219 h 42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336" h="42219">
                  <a:moveTo>
                    <a:pt x="45672" y="42219"/>
                  </a:moveTo>
                  <a:cubicBezTo>
                    <a:pt x="69578" y="42216"/>
                    <a:pt x="89462" y="23832"/>
                    <a:pt x="91336" y="0"/>
                  </a:cubicBezTo>
                  <a:lnTo>
                    <a:pt x="0" y="0"/>
                  </a:lnTo>
                  <a:cubicBezTo>
                    <a:pt x="1875" y="23835"/>
                    <a:pt x="21764" y="42220"/>
                    <a:pt x="45672" y="42219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534B56-638D-279C-FB04-CA03130EB0E6}"/>
                </a:ext>
              </a:extLst>
            </p:cNvPr>
            <p:cNvSpPr/>
            <p:nvPr/>
          </p:nvSpPr>
          <p:spPr>
            <a:xfrm>
              <a:off x="5242628" y="3258603"/>
              <a:ext cx="365352" cy="379396"/>
            </a:xfrm>
            <a:custGeom>
              <a:avLst/>
              <a:gdLst>
                <a:gd name="csX0" fmla="*/ 365352 w 365352"/>
                <a:gd name="csY0" fmla="*/ 186886 h 379396"/>
                <a:gd name="csX1" fmla="*/ 365352 w 365352"/>
                <a:gd name="csY1" fmla="*/ 180566 h 379396"/>
                <a:gd name="csX2" fmla="*/ 182687 w 365352"/>
                <a:gd name="csY2" fmla="*/ 0 h 379396"/>
                <a:gd name="csX3" fmla="*/ 182687 w 365352"/>
                <a:gd name="csY3" fmla="*/ 0 h 379396"/>
                <a:gd name="csX4" fmla="*/ 0 w 365352"/>
                <a:gd name="csY4" fmla="*/ 180566 h 379396"/>
                <a:gd name="csX5" fmla="*/ 0 w 365352"/>
                <a:gd name="csY5" fmla="*/ 186886 h 379396"/>
                <a:gd name="csX6" fmla="*/ 12720 w 365352"/>
                <a:gd name="csY6" fmla="*/ 250120 h 379396"/>
                <a:gd name="csX7" fmla="*/ 44472 w 365352"/>
                <a:gd name="csY7" fmla="*/ 302111 h 379396"/>
                <a:gd name="csX8" fmla="*/ 87262 w 365352"/>
                <a:gd name="csY8" fmla="*/ 371599 h 379396"/>
                <a:gd name="csX9" fmla="*/ 99836 w 365352"/>
                <a:gd name="csY9" fmla="*/ 379396 h 379396"/>
                <a:gd name="csX10" fmla="*/ 265517 w 365352"/>
                <a:gd name="csY10" fmla="*/ 379396 h 379396"/>
                <a:gd name="csX11" fmla="*/ 278098 w 365352"/>
                <a:gd name="csY11" fmla="*/ 371599 h 379396"/>
                <a:gd name="csX12" fmla="*/ 320880 w 365352"/>
                <a:gd name="csY12" fmla="*/ 302111 h 379396"/>
                <a:gd name="csX13" fmla="*/ 352633 w 365352"/>
                <a:gd name="csY13" fmla="*/ 250120 h 379396"/>
                <a:gd name="csX14" fmla="*/ 365352 w 365352"/>
                <a:gd name="csY14" fmla="*/ 186886 h 379396"/>
                <a:gd name="csX15" fmla="*/ 323199 w 365352"/>
                <a:gd name="csY15" fmla="*/ 186154 h 379396"/>
                <a:gd name="csX16" fmla="*/ 313134 w 365352"/>
                <a:gd name="csY16" fmla="*/ 235352 h 379396"/>
                <a:gd name="csX17" fmla="*/ 289384 w 365352"/>
                <a:gd name="csY17" fmla="*/ 273994 h 379396"/>
                <a:gd name="csX18" fmla="*/ 248284 w 365352"/>
                <a:gd name="csY18" fmla="*/ 337221 h 379396"/>
                <a:gd name="csX19" fmla="*/ 117047 w 365352"/>
                <a:gd name="csY19" fmla="*/ 337221 h 379396"/>
                <a:gd name="csX20" fmla="*/ 75947 w 365352"/>
                <a:gd name="csY20" fmla="*/ 273994 h 379396"/>
                <a:gd name="csX21" fmla="*/ 52204 w 365352"/>
                <a:gd name="csY21" fmla="*/ 235352 h 379396"/>
                <a:gd name="csX22" fmla="*/ 42154 w 365352"/>
                <a:gd name="csY22" fmla="*/ 186169 h 379396"/>
                <a:gd name="csX23" fmla="*/ 42154 w 365352"/>
                <a:gd name="csY23" fmla="*/ 180902 h 379396"/>
                <a:gd name="csX24" fmla="*/ 182673 w 365352"/>
                <a:gd name="csY24" fmla="*/ 42154 h 379396"/>
                <a:gd name="csX25" fmla="*/ 182673 w 365352"/>
                <a:gd name="csY25" fmla="*/ 42154 h 379396"/>
                <a:gd name="csX26" fmla="*/ 323184 w 365352"/>
                <a:gd name="csY26" fmla="*/ 180917 h 379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65352" h="379396">
                  <a:moveTo>
                    <a:pt x="365352" y="186886"/>
                  </a:moveTo>
                  <a:lnTo>
                    <a:pt x="365352" y="180566"/>
                  </a:lnTo>
                  <a:cubicBezTo>
                    <a:pt x="363529" y="80790"/>
                    <a:pt x="282477" y="670"/>
                    <a:pt x="182687" y="0"/>
                  </a:cubicBezTo>
                  <a:lnTo>
                    <a:pt x="182687" y="0"/>
                  </a:lnTo>
                  <a:cubicBezTo>
                    <a:pt x="82890" y="662"/>
                    <a:pt x="1827" y="80784"/>
                    <a:pt x="0" y="180566"/>
                  </a:cubicBezTo>
                  <a:lnTo>
                    <a:pt x="0" y="186886"/>
                  </a:lnTo>
                  <a:cubicBezTo>
                    <a:pt x="682" y="208526"/>
                    <a:pt x="4981" y="229899"/>
                    <a:pt x="12720" y="250120"/>
                  </a:cubicBezTo>
                  <a:cubicBezTo>
                    <a:pt x="20125" y="269202"/>
                    <a:pt x="30878" y="286809"/>
                    <a:pt x="44472" y="302111"/>
                  </a:cubicBezTo>
                  <a:cubicBezTo>
                    <a:pt x="61193" y="320398"/>
                    <a:pt x="79531" y="355858"/>
                    <a:pt x="87262" y="371599"/>
                  </a:cubicBezTo>
                  <a:cubicBezTo>
                    <a:pt x="89632" y="376375"/>
                    <a:pt x="94503" y="379396"/>
                    <a:pt x="99836" y="379396"/>
                  </a:cubicBezTo>
                  <a:lnTo>
                    <a:pt x="265517" y="379396"/>
                  </a:lnTo>
                  <a:cubicBezTo>
                    <a:pt x="270850" y="379394"/>
                    <a:pt x="275723" y="376374"/>
                    <a:pt x="278098" y="371599"/>
                  </a:cubicBezTo>
                  <a:cubicBezTo>
                    <a:pt x="285822" y="355866"/>
                    <a:pt x="304159" y="320398"/>
                    <a:pt x="320880" y="302111"/>
                  </a:cubicBezTo>
                  <a:cubicBezTo>
                    <a:pt x="334474" y="286809"/>
                    <a:pt x="345227" y="269202"/>
                    <a:pt x="352633" y="250120"/>
                  </a:cubicBezTo>
                  <a:cubicBezTo>
                    <a:pt x="360368" y="229898"/>
                    <a:pt x="364667" y="208526"/>
                    <a:pt x="365352" y="186886"/>
                  </a:cubicBezTo>
                  <a:close/>
                  <a:moveTo>
                    <a:pt x="323199" y="186154"/>
                  </a:moveTo>
                  <a:cubicBezTo>
                    <a:pt x="322563" y="202994"/>
                    <a:pt x="319164" y="219615"/>
                    <a:pt x="313134" y="235352"/>
                  </a:cubicBezTo>
                  <a:cubicBezTo>
                    <a:pt x="307561" y="249534"/>
                    <a:pt x="299520" y="262617"/>
                    <a:pt x="289384" y="273994"/>
                  </a:cubicBezTo>
                  <a:cubicBezTo>
                    <a:pt x="273280" y="293406"/>
                    <a:pt x="259488" y="314624"/>
                    <a:pt x="248284" y="337221"/>
                  </a:cubicBezTo>
                  <a:lnTo>
                    <a:pt x="117047" y="337221"/>
                  </a:lnTo>
                  <a:cubicBezTo>
                    <a:pt x="105845" y="314623"/>
                    <a:pt x="92052" y="293405"/>
                    <a:pt x="75947" y="273994"/>
                  </a:cubicBezTo>
                  <a:cubicBezTo>
                    <a:pt x="65810" y="262618"/>
                    <a:pt x="57771" y="249535"/>
                    <a:pt x="52204" y="235352"/>
                  </a:cubicBezTo>
                  <a:cubicBezTo>
                    <a:pt x="46178" y="219620"/>
                    <a:pt x="42783" y="203003"/>
                    <a:pt x="42154" y="186169"/>
                  </a:cubicBezTo>
                  <a:lnTo>
                    <a:pt x="42154" y="180902"/>
                  </a:lnTo>
                  <a:cubicBezTo>
                    <a:pt x="43573" y="104181"/>
                    <a:pt x="105939" y="42601"/>
                    <a:pt x="182673" y="42154"/>
                  </a:cubicBezTo>
                  <a:lnTo>
                    <a:pt x="182673" y="42154"/>
                  </a:lnTo>
                  <a:cubicBezTo>
                    <a:pt x="259412" y="42598"/>
                    <a:pt x="321780" y="104189"/>
                    <a:pt x="323184" y="180917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31" name="Graphic 30" descr="Close with solid fill">
              <a:extLst>
                <a:ext uri="{FF2B5EF4-FFF2-40B4-BE49-F238E27FC236}">
                  <a16:creationId xmlns:a16="http://schemas.microsoft.com/office/drawing/2014/main" id="{9A69FEFF-F166-C8BD-EB36-FBBEF27CCD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187978" y="3208259"/>
              <a:ext cx="474651" cy="474651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5EFF27-619A-032E-3B73-33B3DC8AAFDC}"/>
              </a:ext>
            </a:extLst>
          </p:cNvPr>
          <p:cNvGrpSpPr/>
          <p:nvPr/>
        </p:nvGrpSpPr>
        <p:grpSpPr>
          <a:xfrm>
            <a:off x="6028117" y="4134182"/>
            <a:ext cx="474651" cy="572629"/>
            <a:chOff x="5187978" y="3208259"/>
            <a:chExt cx="474651" cy="572629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A3536DF-3C35-7EDE-9CA5-BD472DFE3688}"/>
                </a:ext>
              </a:extLst>
            </p:cNvPr>
            <p:cNvSpPr/>
            <p:nvPr/>
          </p:nvSpPr>
          <p:spPr>
            <a:xfrm>
              <a:off x="5341286" y="3667250"/>
              <a:ext cx="168050" cy="42160"/>
            </a:xfrm>
            <a:custGeom>
              <a:avLst/>
              <a:gdLst>
                <a:gd name="csX0" fmla="*/ 146970 w 168050"/>
                <a:gd name="csY0" fmla="*/ 0 h 42160"/>
                <a:gd name="csX1" fmla="*/ 21080 w 168050"/>
                <a:gd name="csY1" fmla="*/ 0 h 42160"/>
                <a:gd name="csX2" fmla="*/ 0 w 168050"/>
                <a:gd name="csY2" fmla="*/ 21080 h 42160"/>
                <a:gd name="csX3" fmla="*/ 21080 w 168050"/>
                <a:gd name="csY3" fmla="*/ 42161 h 42160"/>
                <a:gd name="csX4" fmla="*/ 146970 w 168050"/>
                <a:gd name="csY4" fmla="*/ 42161 h 42160"/>
                <a:gd name="csX5" fmla="*/ 168051 w 168050"/>
                <a:gd name="csY5" fmla="*/ 21080 h 42160"/>
                <a:gd name="csX6" fmla="*/ 146970 w 168050"/>
                <a:gd name="csY6" fmla="*/ 0 h 42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8050" h="42160">
                  <a:moveTo>
                    <a:pt x="146970" y="0"/>
                  </a:moveTo>
                  <a:lnTo>
                    <a:pt x="21080" y="0"/>
                  </a:lnTo>
                  <a:cubicBezTo>
                    <a:pt x="9438" y="0"/>
                    <a:pt x="0" y="9438"/>
                    <a:pt x="0" y="21080"/>
                  </a:cubicBezTo>
                  <a:cubicBezTo>
                    <a:pt x="0" y="32723"/>
                    <a:pt x="9438" y="42161"/>
                    <a:pt x="21080" y="42161"/>
                  </a:cubicBezTo>
                  <a:lnTo>
                    <a:pt x="146970" y="42161"/>
                  </a:lnTo>
                  <a:cubicBezTo>
                    <a:pt x="158613" y="42161"/>
                    <a:pt x="168051" y="32723"/>
                    <a:pt x="168051" y="21080"/>
                  </a:cubicBezTo>
                  <a:cubicBezTo>
                    <a:pt x="168051" y="9438"/>
                    <a:pt x="158613" y="0"/>
                    <a:pt x="146970" y="0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F117D2-05D0-D579-7D30-87494C902B4A}"/>
                </a:ext>
              </a:extLst>
            </p:cNvPr>
            <p:cNvSpPr/>
            <p:nvPr/>
          </p:nvSpPr>
          <p:spPr>
            <a:xfrm>
              <a:off x="5379643" y="3738669"/>
              <a:ext cx="91336" cy="42219"/>
            </a:xfrm>
            <a:custGeom>
              <a:avLst/>
              <a:gdLst>
                <a:gd name="csX0" fmla="*/ 45672 w 91336"/>
                <a:gd name="csY0" fmla="*/ 42219 h 42219"/>
                <a:gd name="csX1" fmla="*/ 91336 w 91336"/>
                <a:gd name="csY1" fmla="*/ 0 h 42219"/>
                <a:gd name="csX2" fmla="*/ 0 w 91336"/>
                <a:gd name="csY2" fmla="*/ 0 h 42219"/>
                <a:gd name="csX3" fmla="*/ 45672 w 91336"/>
                <a:gd name="csY3" fmla="*/ 42219 h 42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336" h="42219">
                  <a:moveTo>
                    <a:pt x="45672" y="42219"/>
                  </a:moveTo>
                  <a:cubicBezTo>
                    <a:pt x="69578" y="42216"/>
                    <a:pt x="89462" y="23832"/>
                    <a:pt x="91336" y="0"/>
                  </a:cubicBezTo>
                  <a:lnTo>
                    <a:pt x="0" y="0"/>
                  </a:lnTo>
                  <a:cubicBezTo>
                    <a:pt x="1875" y="23835"/>
                    <a:pt x="21764" y="42220"/>
                    <a:pt x="45672" y="42219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D53F863-E033-A107-352D-EF1C0EE89626}"/>
                </a:ext>
              </a:extLst>
            </p:cNvPr>
            <p:cNvSpPr/>
            <p:nvPr/>
          </p:nvSpPr>
          <p:spPr>
            <a:xfrm>
              <a:off x="5242628" y="3258603"/>
              <a:ext cx="365352" cy="379396"/>
            </a:xfrm>
            <a:custGeom>
              <a:avLst/>
              <a:gdLst>
                <a:gd name="csX0" fmla="*/ 365352 w 365352"/>
                <a:gd name="csY0" fmla="*/ 186886 h 379396"/>
                <a:gd name="csX1" fmla="*/ 365352 w 365352"/>
                <a:gd name="csY1" fmla="*/ 180566 h 379396"/>
                <a:gd name="csX2" fmla="*/ 182687 w 365352"/>
                <a:gd name="csY2" fmla="*/ 0 h 379396"/>
                <a:gd name="csX3" fmla="*/ 182687 w 365352"/>
                <a:gd name="csY3" fmla="*/ 0 h 379396"/>
                <a:gd name="csX4" fmla="*/ 0 w 365352"/>
                <a:gd name="csY4" fmla="*/ 180566 h 379396"/>
                <a:gd name="csX5" fmla="*/ 0 w 365352"/>
                <a:gd name="csY5" fmla="*/ 186886 h 379396"/>
                <a:gd name="csX6" fmla="*/ 12720 w 365352"/>
                <a:gd name="csY6" fmla="*/ 250120 h 379396"/>
                <a:gd name="csX7" fmla="*/ 44472 w 365352"/>
                <a:gd name="csY7" fmla="*/ 302111 h 379396"/>
                <a:gd name="csX8" fmla="*/ 87262 w 365352"/>
                <a:gd name="csY8" fmla="*/ 371599 h 379396"/>
                <a:gd name="csX9" fmla="*/ 99836 w 365352"/>
                <a:gd name="csY9" fmla="*/ 379396 h 379396"/>
                <a:gd name="csX10" fmla="*/ 265517 w 365352"/>
                <a:gd name="csY10" fmla="*/ 379396 h 379396"/>
                <a:gd name="csX11" fmla="*/ 278098 w 365352"/>
                <a:gd name="csY11" fmla="*/ 371599 h 379396"/>
                <a:gd name="csX12" fmla="*/ 320880 w 365352"/>
                <a:gd name="csY12" fmla="*/ 302111 h 379396"/>
                <a:gd name="csX13" fmla="*/ 352633 w 365352"/>
                <a:gd name="csY13" fmla="*/ 250120 h 379396"/>
                <a:gd name="csX14" fmla="*/ 365352 w 365352"/>
                <a:gd name="csY14" fmla="*/ 186886 h 379396"/>
                <a:gd name="csX15" fmla="*/ 323199 w 365352"/>
                <a:gd name="csY15" fmla="*/ 186154 h 379396"/>
                <a:gd name="csX16" fmla="*/ 313134 w 365352"/>
                <a:gd name="csY16" fmla="*/ 235352 h 379396"/>
                <a:gd name="csX17" fmla="*/ 289384 w 365352"/>
                <a:gd name="csY17" fmla="*/ 273994 h 379396"/>
                <a:gd name="csX18" fmla="*/ 248284 w 365352"/>
                <a:gd name="csY18" fmla="*/ 337221 h 379396"/>
                <a:gd name="csX19" fmla="*/ 117047 w 365352"/>
                <a:gd name="csY19" fmla="*/ 337221 h 379396"/>
                <a:gd name="csX20" fmla="*/ 75947 w 365352"/>
                <a:gd name="csY20" fmla="*/ 273994 h 379396"/>
                <a:gd name="csX21" fmla="*/ 52204 w 365352"/>
                <a:gd name="csY21" fmla="*/ 235352 h 379396"/>
                <a:gd name="csX22" fmla="*/ 42154 w 365352"/>
                <a:gd name="csY22" fmla="*/ 186169 h 379396"/>
                <a:gd name="csX23" fmla="*/ 42154 w 365352"/>
                <a:gd name="csY23" fmla="*/ 180902 h 379396"/>
                <a:gd name="csX24" fmla="*/ 182673 w 365352"/>
                <a:gd name="csY24" fmla="*/ 42154 h 379396"/>
                <a:gd name="csX25" fmla="*/ 182673 w 365352"/>
                <a:gd name="csY25" fmla="*/ 42154 h 379396"/>
                <a:gd name="csX26" fmla="*/ 323184 w 365352"/>
                <a:gd name="csY26" fmla="*/ 180917 h 379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65352" h="379396">
                  <a:moveTo>
                    <a:pt x="365352" y="186886"/>
                  </a:moveTo>
                  <a:lnTo>
                    <a:pt x="365352" y="180566"/>
                  </a:lnTo>
                  <a:cubicBezTo>
                    <a:pt x="363529" y="80790"/>
                    <a:pt x="282477" y="670"/>
                    <a:pt x="182687" y="0"/>
                  </a:cubicBezTo>
                  <a:lnTo>
                    <a:pt x="182687" y="0"/>
                  </a:lnTo>
                  <a:cubicBezTo>
                    <a:pt x="82890" y="662"/>
                    <a:pt x="1827" y="80784"/>
                    <a:pt x="0" y="180566"/>
                  </a:cubicBezTo>
                  <a:lnTo>
                    <a:pt x="0" y="186886"/>
                  </a:lnTo>
                  <a:cubicBezTo>
                    <a:pt x="682" y="208526"/>
                    <a:pt x="4981" y="229899"/>
                    <a:pt x="12720" y="250120"/>
                  </a:cubicBezTo>
                  <a:cubicBezTo>
                    <a:pt x="20125" y="269202"/>
                    <a:pt x="30878" y="286809"/>
                    <a:pt x="44472" y="302111"/>
                  </a:cubicBezTo>
                  <a:cubicBezTo>
                    <a:pt x="61193" y="320398"/>
                    <a:pt x="79531" y="355858"/>
                    <a:pt x="87262" y="371599"/>
                  </a:cubicBezTo>
                  <a:cubicBezTo>
                    <a:pt x="89632" y="376375"/>
                    <a:pt x="94503" y="379396"/>
                    <a:pt x="99836" y="379396"/>
                  </a:cubicBezTo>
                  <a:lnTo>
                    <a:pt x="265517" y="379396"/>
                  </a:lnTo>
                  <a:cubicBezTo>
                    <a:pt x="270850" y="379394"/>
                    <a:pt x="275723" y="376374"/>
                    <a:pt x="278098" y="371599"/>
                  </a:cubicBezTo>
                  <a:cubicBezTo>
                    <a:pt x="285822" y="355866"/>
                    <a:pt x="304159" y="320398"/>
                    <a:pt x="320880" y="302111"/>
                  </a:cubicBezTo>
                  <a:cubicBezTo>
                    <a:pt x="334474" y="286809"/>
                    <a:pt x="345227" y="269202"/>
                    <a:pt x="352633" y="250120"/>
                  </a:cubicBezTo>
                  <a:cubicBezTo>
                    <a:pt x="360368" y="229898"/>
                    <a:pt x="364667" y="208526"/>
                    <a:pt x="365352" y="186886"/>
                  </a:cubicBezTo>
                  <a:close/>
                  <a:moveTo>
                    <a:pt x="323199" y="186154"/>
                  </a:moveTo>
                  <a:cubicBezTo>
                    <a:pt x="322563" y="202994"/>
                    <a:pt x="319164" y="219615"/>
                    <a:pt x="313134" y="235352"/>
                  </a:cubicBezTo>
                  <a:cubicBezTo>
                    <a:pt x="307561" y="249534"/>
                    <a:pt x="299520" y="262617"/>
                    <a:pt x="289384" y="273994"/>
                  </a:cubicBezTo>
                  <a:cubicBezTo>
                    <a:pt x="273280" y="293406"/>
                    <a:pt x="259488" y="314624"/>
                    <a:pt x="248284" y="337221"/>
                  </a:cubicBezTo>
                  <a:lnTo>
                    <a:pt x="117047" y="337221"/>
                  </a:lnTo>
                  <a:cubicBezTo>
                    <a:pt x="105845" y="314623"/>
                    <a:pt x="92052" y="293405"/>
                    <a:pt x="75947" y="273994"/>
                  </a:cubicBezTo>
                  <a:cubicBezTo>
                    <a:pt x="65810" y="262618"/>
                    <a:pt x="57771" y="249535"/>
                    <a:pt x="52204" y="235352"/>
                  </a:cubicBezTo>
                  <a:cubicBezTo>
                    <a:pt x="46178" y="219620"/>
                    <a:pt x="42783" y="203003"/>
                    <a:pt x="42154" y="186169"/>
                  </a:cubicBezTo>
                  <a:lnTo>
                    <a:pt x="42154" y="180902"/>
                  </a:lnTo>
                  <a:cubicBezTo>
                    <a:pt x="43573" y="104181"/>
                    <a:pt x="105939" y="42601"/>
                    <a:pt x="182673" y="42154"/>
                  </a:cubicBezTo>
                  <a:lnTo>
                    <a:pt x="182673" y="42154"/>
                  </a:lnTo>
                  <a:cubicBezTo>
                    <a:pt x="259412" y="42598"/>
                    <a:pt x="321780" y="104189"/>
                    <a:pt x="323184" y="180917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37" name="Graphic 36" descr="Close with solid fill">
              <a:extLst>
                <a:ext uri="{FF2B5EF4-FFF2-40B4-BE49-F238E27FC236}">
                  <a16:creationId xmlns:a16="http://schemas.microsoft.com/office/drawing/2014/main" id="{A157E7D3-D9C6-3E0B-6A73-C28F35881D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187978" y="3208259"/>
              <a:ext cx="474651" cy="4746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38B6D5-D810-3D8D-E52E-7D219342B50F}"/>
              </a:ext>
            </a:extLst>
          </p:cNvPr>
          <p:cNvGrpSpPr/>
          <p:nvPr/>
        </p:nvGrpSpPr>
        <p:grpSpPr>
          <a:xfrm>
            <a:off x="5372918" y="5092243"/>
            <a:ext cx="474651" cy="572629"/>
            <a:chOff x="5187978" y="3208259"/>
            <a:chExt cx="474651" cy="57262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FB17186-B31D-ED86-D8AB-8EAFB17C9811}"/>
                </a:ext>
              </a:extLst>
            </p:cNvPr>
            <p:cNvSpPr/>
            <p:nvPr/>
          </p:nvSpPr>
          <p:spPr>
            <a:xfrm>
              <a:off x="5341286" y="3667250"/>
              <a:ext cx="168050" cy="42160"/>
            </a:xfrm>
            <a:custGeom>
              <a:avLst/>
              <a:gdLst>
                <a:gd name="csX0" fmla="*/ 146970 w 168050"/>
                <a:gd name="csY0" fmla="*/ 0 h 42160"/>
                <a:gd name="csX1" fmla="*/ 21080 w 168050"/>
                <a:gd name="csY1" fmla="*/ 0 h 42160"/>
                <a:gd name="csX2" fmla="*/ 0 w 168050"/>
                <a:gd name="csY2" fmla="*/ 21080 h 42160"/>
                <a:gd name="csX3" fmla="*/ 21080 w 168050"/>
                <a:gd name="csY3" fmla="*/ 42161 h 42160"/>
                <a:gd name="csX4" fmla="*/ 146970 w 168050"/>
                <a:gd name="csY4" fmla="*/ 42161 h 42160"/>
                <a:gd name="csX5" fmla="*/ 168051 w 168050"/>
                <a:gd name="csY5" fmla="*/ 21080 h 42160"/>
                <a:gd name="csX6" fmla="*/ 146970 w 168050"/>
                <a:gd name="csY6" fmla="*/ 0 h 42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8050" h="42160">
                  <a:moveTo>
                    <a:pt x="146970" y="0"/>
                  </a:moveTo>
                  <a:lnTo>
                    <a:pt x="21080" y="0"/>
                  </a:lnTo>
                  <a:cubicBezTo>
                    <a:pt x="9438" y="0"/>
                    <a:pt x="0" y="9438"/>
                    <a:pt x="0" y="21080"/>
                  </a:cubicBezTo>
                  <a:cubicBezTo>
                    <a:pt x="0" y="32723"/>
                    <a:pt x="9438" y="42161"/>
                    <a:pt x="21080" y="42161"/>
                  </a:cubicBezTo>
                  <a:lnTo>
                    <a:pt x="146970" y="42161"/>
                  </a:lnTo>
                  <a:cubicBezTo>
                    <a:pt x="158613" y="42161"/>
                    <a:pt x="168051" y="32723"/>
                    <a:pt x="168051" y="21080"/>
                  </a:cubicBezTo>
                  <a:cubicBezTo>
                    <a:pt x="168051" y="9438"/>
                    <a:pt x="158613" y="0"/>
                    <a:pt x="146970" y="0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0BB6EC6-4850-3E9D-8612-82DF5D1514FB}"/>
                </a:ext>
              </a:extLst>
            </p:cNvPr>
            <p:cNvSpPr/>
            <p:nvPr/>
          </p:nvSpPr>
          <p:spPr>
            <a:xfrm>
              <a:off x="5379643" y="3738669"/>
              <a:ext cx="91336" cy="42219"/>
            </a:xfrm>
            <a:custGeom>
              <a:avLst/>
              <a:gdLst>
                <a:gd name="csX0" fmla="*/ 45672 w 91336"/>
                <a:gd name="csY0" fmla="*/ 42219 h 42219"/>
                <a:gd name="csX1" fmla="*/ 91336 w 91336"/>
                <a:gd name="csY1" fmla="*/ 0 h 42219"/>
                <a:gd name="csX2" fmla="*/ 0 w 91336"/>
                <a:gd name="csY2" fmla="*/ 0 h 42219"/>
                <a:gd name="csX3" fmla="*/ 45672 w 91336"/>
                <a:gd name="csY3" fmla="*/ 42219 h 42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336" h="42219">
                  <a:moveTo>
                    <a:pt x="45672" y="42219"/>
                  </a:moveTo>
                  <a:cubicBezTo>
                    <a:pt x="69578" y="42216"/>
                    <a:pt x="89462" y="23832"/>
                    <a:pt x="91336" y="0"/>
                  </a:cubicBezTo>
                  <a:lnTo>
                    <a:pt x="0" y="0"/>
                  </a:lnTo>
                  <a:cubicBezTo>
                    <a:pt x="1875" y="23835"/>
                    <a:pt x="21764" y="42220"/>
                    <a:pt x="45672" y="42219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0F9BC4F-FBFA-F9A4-EEC9-1827A010C4E3}"/>
                </a:ext>
              </a:extLst>
            </p:cNvPr>
            <p:cNvSpPr/>
            <p:nvPr/>
          </p:nvSpPr>
          <p:spPr>
            <a:xfrm>
              <a:off x="5242628" y="3258603"/>
              <a:ext cx="365352" cy="379396"/>
            </a:xfrm>
            <a:custGeom>
              <a:avLst/>
              <a:gdLst>
                <a:gd name="csX0" fmla="*/ 365352 w 365352"/>
                <a:gd name="csY0" fmla="*/ 186886 h 379396"/>
                <a:gd name="csX1" fmla="*/ 365352 w 365352"/>
                <a:gd name="csY1" fmla="*/ 180566 h 379396"/>
                <a:gd name="csX2" fmla="*/ 182687 w 365352"/>
                <a:gd name="csY2" fmla="*/ 0 h 379396"/>
                <a:gd name="csX3" fmla="*/ 182687 w 365352"/>
                <a:gd name="csY3" fmla="*/ 0 h 379396"/>
                <a:gd name="csX4" fmla="*/ 0 w 365352"/>
                <a:gd name="csY4" fmla="*/ 180566 h 379396"/>
                <a:gd name="csX5" fmla="*/ 0 w 365352"/>
                <a:gd name="csY5" fmla="*/ 186886 h 379396"/>
                <a:gd name="csX6" fmla="*/ 12720 w 365352"/>
                <a:gd name="csY6" fmla="*/ 250120 h 379396"/>
                <a:gd name="csX7" fmla="*/ 44472 w 365352"/>
                <a:gd name="csY7" fmla="*/ 302111 h 379396"/>
                <a:gd name="csX8" fmla="*/ 87262 w 365352"/>
                <a:gd name="csY8" fmla="*/ 371599 h 379396"/>
                <a:gd name="csX9" fmla="*/ 99836 w 365352"/>
                <a:gd name="csY9" fmla="*/ 379396 h 379396"/>
                <a:gd name="csX10" fmla="*/ 265517 w 365352"/>
                <a:gd name="csY10" fmla="*/ 379396 h 379396"/>
                <a:gd name="csX11" fmla="*/ 278098 w 365352"/>
                <a:gd name="csY11" fmla="*/ 371599 h 379396"/>
                <a:gd name="csX12" fmla="*/ 320880 w 365352"/>
                <a:gd name="csY12" fmla="*/ 302111 h 379396"/>
                <a:gd name="csX13" fmla="*/ 352633 w 365352"/>
                <a:gd name="csY13" fmla="*/ 250120 h 379396"/>
                <a:gd name="csX14" fmla="*/ 365352 w 365352"/>
                <a:gd name="csY14" fmla="*/ 186886 h 379396"/>
                <a:gd name="csX15" fmla="*/ 323199 w 365352"/>
                <a:gd name="csY15" fmla="*/ 186154 h 379396"/>
                <a:gd name="csX16" fmla="*/ 313134 w 365352"/>
                <a:gd name="csY16" fmla="*/ 235352 h 379396"/>
                <a:gd name="csX17" fmla="*/ 289384 w 365352"/>
                <a:gd name="csY17" fmla="*/ 273994 h 379396"/>
                <a:gd name="csX18" fmla="*/ 248284 w 365352"/>
                <a:gd name="csY18" fmla="*/ 337221 h 379396"/>
                <a:gd name="csX19" fmla="*/ 117047 w 365352"/>
                <a:gd name="csY19" fmla="*/ 337221 h 379396"/>
                <a:gd name="csX20" fmla="*/ 75947 w 365352"/>
                <a:gd name="csY20" fmla="*/ 273994 h 379396"/>
                <a:gd name="csX21" fmla="*/ 52204 w 365352"/>
                <a:gd name="csY21" fmla="*/ 235352 h 379396"/>
                <a:gd name="csX22" fmla="*/ 42154 w 365352"/>
                <a:gd name="csY22" fmla="*/ 186169 h 379396"/>
                <a:gd name="csX23" fmla="*/ 42154 w 365352"/>
                <a:gd name="csY23" fmla="*/ 180902 h 379396"/>
                <a:gd name="csX24" fmla="*/ 182673 w 365352"/>
                <a:gd name="csY24" fmla="*/ 42154 h 379396"/>
                <a:gd name="csX25" fmla="*/ 182673 w 365352"/>
                <a:gd name="csY25" fmla="*/ 42154 h 379396"/>
                <a:gd name="csX26" fmla="*/ 323184 w 365352"/>
                <a:gd name="csY26" fmla="*/ 180917 h 379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65352" h="379396">
                  <a:moveTo>
                    <a:pt x="365352" y="186886"/>
                  </a:moveTo>
                  <a:lnTo>
                    <a:pt x="365352" y="180566"/>
                  </a:lnTo>
                  <a:cubicBezTo>
                    <a:pt x="363529" y="80790"/>
                    <a:pt x="282477" y="670"/>
                    <a:pt x="182687" y="0"/>
                  </a:cubicBezTo>
                  <a:lnTo>
                    <a:pt x="182687" y="0"/>
                  </a:lnTo>
                  <a:cubicBezTo>
                    <a:pt x="82890" y="662"/>
                    <a:pt x="1827" y="80784"/>
                    <a:pt x="0" y="180566"/>
                  </a:cubicBezTo>
                  <a:lnTo>
                    <a:pt x="0" y="186886"/>
                  </a:lnTo>
                  <a:cubicBezTo>
                    <a:pt x="682" y="208526"/>
                    <a:pt x="4981" y="229899"/>
                    <a:pt x="12720" y="250120"/>
                  </a:cubicBezTo>
                  <a:cubicBezTo>
                    <a:pt x="20125" y="269202"/>
                    <a:pt x="30878" y="286809"/>
                    <a:pt x="44472" y="302111"/>
                  </a:cubicBezTo>
                  <a:cubicBezTo>
                    <a:pt x="61193" y="320398"/>
                    <a:pt x="79531" y="355858"/>
                    <a:pt x="87262" y="371599"/>
                  </a:cubicBezTo>
                  <a:cubicBezTo>
                    <a:pt x="89632" y="376375"/>
                    <a:pt x="94503" y="379396"/>
                    <a:pt x="99836" y="379396"/>
                  </a:cubicBezTo>
                  <a:lnTo>
                    <a:pt x="265517" y="379396"/>
                  </a:lnTo>
                  <a:cubicBezTo>
                    <a:pt x="270850" y="379394"/>
                    <a:pt x="275723" y="376374"/>
                    <a:pt x="278098" y="371599"/>
                  </a:cubicBezTo>
                  <a:cubicBezTo>
                    <a:pt x="285822" y="355866"/>
                    <a:pt x="304159" y="320398"/>
                    <a:pt x="320880" y="302111"/>
                  </a:cubicBezTo>
                  <a:cubicBezTo>
                    <a:pt x="334474" y="286809"/>
                    <a:pt x="345227" y="269202"/>
                    <a:pt x="352633" y="250120"/>
                  </a:cubicBezTo>
                  <a:cubicBezTo>
                    <a:pt x="360368" y="229898"/>
                    <a:pt x="364667" y="208526"/>
                    <a:pt x="365352" y="186886"/>
                  </a:cubicBezTo>
                  <a:close/>
                  <a:moveTo>
                    <a:pt x="323199" y="186154"/>
                  </a:moveTo>
                  <a:cubicBezTo>
                    <a:pt x="322563" y="202994"/>
                    <a:pt x="319164" y="219615"/>
                    <a:pt x="313134" y="235352"/>
                  </a:cubicBezTo>
                  <a:cubicBezTo>
                    <a:pt x="307561" y="249534"/>
                    <a:pt x="299520" y="262617"/>
                    <a:pt x="289384" y="273994"/>
                  </a:cubicBezTo>
                  <a:cubicBezTo>
                    <a:pt x="273280" y="293406"/>
                    <a:pt x="259488" y="314624"/>
                    <a:pt x="248284" y="337221"/>
                  </a:cubicBezTo>
                  <a:lnTo>
                    <a:pt x="117047" y="337221"/>
                  </a:lnTo>
                  <a:cubicBezTo>
                    <a:pt x="105845" y="314623"/>
                    <a:pt x="92052" y="293405"/>
                    <a:pt x="75947" y="273994"/>
                  </a:cubicBezTo>
                  <a:cubicBezTo>
                    <a:pt x="65810" y="262618"/>
                    <a:pt x="57771" y="249535"/>
                    <a:pt x="52204" y="235352"/>
                  </a:cubicBezTo>
                  <a:cubicBezTo>
                    <a:pt x="46178" y="219620"/>
                    <a:pt x="42783" y="203003"/>
                    <a:pt x="42154" y="186169"/>
                  </a:cubicBezTo>
                  <a:lnTo>
                    <a:pt x="42154" y="180902"/>
                  </a:lnTo>
                  <a:cubicBezTo>
                    <a:pt x="43573" y="104181"/>
                    <a:pt x="105939" y="42601"/>
                    <a:pt x="182673" y="42154"/>
                  </a:cubicBezTo>
                  <a:lnTo>
                    <a:pt x="182673" y="42154"/>
                  </a:lnTo>
                  <a:cubicBezTo>
                    <a:pt x="259412" y="42598"/>
                    <a:pt x="321780" y="104189"/>
                    <a:pt x="323184" y="180917"/>
                  </a:cubicBezTo>
                  <a:close/>
                </a:path>
              </a:pathLst>
            </a:custGeom>
            <a:solidFill>
              <a:srgbClr val="8F2BBC"/>
            </a:solidFill>
            <a:ln w="724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42" name="Graphic 41" descr="Close with solid fill">
              <a:extLst>
                <a:ext uri="{FF2B5EF4-FFF2-40B4-BE49-F238E27FC236}">
                  <a16:creationId xmlns:a16="http://schemas.microsoft.com/office/drawing/2014/main" id="{8F10CDF6-D686-CFF2-7677-4C40F552AE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187978" y="3208259"/>
              <a:ext cx="474651" cy="474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413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3F24-C8A1-BF65-1B41-EB653879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F8C98214-8611-ED68-7F21-BDC619DB4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99224" y="2783039"/>
            <a:ext cx="914400" cy="9144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232A02-CD90-3A72-C55D-22E84EDCE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Censoring is not related to survival/event probability;</a:t>
            </a:r>
            <a:br>
              <a:rPr lang="en-GB" dirty="0"/>
            </a:br>
            <a:r>
              <a:rPr lang="en-GB" dirty="0"/>
              <a:t>Probability of being censored is equal for all individuals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1E884D-9A86-43EE-E4FB-251F7A90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Non-informative censoring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1E6CC-5319-F5B8-8CE9-3305DFD90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13A2813-1B03-FC50-C510-899940C3E1E3}"/>
              </a:ext>
            </a:extLst>
          </p:cNvPr>
          <p:cNvGrpSpPr/>
          <p:nvPr/>
        </p:nvGrpSpPr>
        <p:grpSpPr>
          <a:xfrm>
            <a:off x="1302207" y="2636912"/>
            <a:ext cx="5185219" cy="3241671"/>
            <a:chOff x="1302207" y="2636912"/>
            <a:chExt cx="5185219" cy="32416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F4BABAC-2B3E-D076-D297-C1C49CD21B93}"/>
                </a:ext>
              </a:extLst>
            </p:cNvPr>
            <p:cNvSpPr txBox="1"/>
            <p:nvPr/>
          </p:nvSpPr>
          <p:spPr>
            <a:xfrm>
              <a:off x="2051720" y="2636912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55D597-CB52-3D06-B14F-2EB59351194F}"/>
                </a:ext>
              </a:extLst>
            </p:cNvPr>
            <p:cNvSpPr/>
            <p:nvPr/>
          </p:nvSpPr>
          <p:spPr>
            <a:xfrm>
              <a:off x="2425608" y="3556141"/>
              <a:ext cx="2196000" cy="118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Graphic 5" descr="Close with solid fill">
              <a:extLst>
                <a:ext uri="{FF2B5EF4-FFF2-40B4-BE49-F238E27FC236}">
                  <a16:creationId xmlns:a16="http://schemas.microsoft.com/office/drawing/2014/main" id="{31A354F1-4096-1A3D-BF95-9A717FDF3B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367271" y="3364025"/>
              <a:ext cx="504000" cy="504000"/>
            </a:xfrm>
            <a:prstGeom prst="rect">
              <a:avLst/>
            </a:prstGeom>
          </p:spPr>
        </p:pic>
        <p:pic>
          <p:nvPicPr>
            <p:cNvPr id="17" name="Graphic 16" descr="Inpatient with solid fill">
              <a:extLst>
                <a:ext uri="{FF2B5EF4-FFF2-40B4-BE49-F238E27FC236}">
                  <a16:creationId xmlns:a16="http://schemas.microsoft.com/office/drawing/2014/main" id="{BB584774-C921-86E9-3A15-0FEB5B2157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302207" y="3148739"/>
              <a:ext cx="914400" cy="914400"/>
            </a:xfrm>
            <a:prstGeom prst="rect">
              <a:avLst/>
            </a:prstGeom>
          </p:spPr>
        </p:pic>
        <p:pic>
          <p:nvPicPr>
            <p:cNvPr id="18" name="Graphic 17" descr="Man with solid fill">
              <a:extLst>
                <a:ext uri="{FF2B5EF4-FFF2-40B4-BE49-F238E27FC236}">
                  <a16:creationId xmlns:a16="http://schemas.microsoft.com/office/drawing/2014/main" id="{283C9B70-2BC5-4BD0-8F20-8D74C1404D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307152" y="4858653"/>
              <a:ext cx="914400" cy="914400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956F6F30-81D3-FAB3-C586-29E1572DF7A1}"/>
                </a:ext>
              </a:extLst>
            </p:cNvPr>
            <p:cNvSpPr/>
            <p:nvPr/>
          </p:nvSpPr>
          <p:spPr>
            <a:xfrm>
              <a:off x="2425608" y="3841143"/>
              <a:ext cx="1385922" cy="196414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D9588E-A9DA-DD52-0E69-F6937A851404}"/>
                </a:ext>
              </a:extLst>
            </p:cNvPr>
            <p:cNvSpPr/>
            <p:nvPr/>
          </p:nvSpPr>
          <p:spPr>
            <a:xfrm>
              <a:off x="2419931" y="4215096"/>
              <a:ext cx="2495371" cy="118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9" name="Graphic 18" descr="Close with solid fill">
              <a:extLst>
                <a:ext uri="{FF2B5EF4-FFF2-40B4-BE49-F238E27FC236}">
                  <a16:creationId xmlns:a16="http://schemas.microsoft.com/office/drawing/2014/main" id="{E56CB2FE-5F3D-CB35-DE0E-4B274EAEDD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660965" y="4022980"/>
              <a:ext cx="504000" cy="504000"/>
            </a:xfrm>
            <a:prstGeom prst="rect">
              <a:avLst/>
            </a:prstGeom>
          </p:spPr>
        </p:pic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0E80534-561C-C5E2-8F3B-6CC27E5FC873}"/>
                </a:ext>
              </a:extLst>
            </p:cNvPr>
            <p:cNvSpPr/>
            <p:nvPr/>
          </p:nvSpPr>
          <p:spPr>
            <a:xfrm>
              <a:off x="2425608" y="4499805"/>
              <a:ext cx="3442536" cy="196414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14298C7A-9315-9FB5-CD6D-87620C01BBEE}"/>
                </a:ext>
              </a:extLst>
            </p:cNvPr>
            <p:cNvSpPr/>
            <p:nvPr/>
          </p:nvSpPr>
          <p:spPr>
            <a:xfrm>
              <a:off x="2425608" y="4826876"/>
              <a:ext cx="1584000" cy="196414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B3497F-9309-1C39-7421-62709218D9B3}"/>
                </a:ext>
              </a:extLst>
            </p:cNvPr>
            <p:cNvSpPr/>
            <p:nvPr/>
          </p:nvSpPr>
          <p:spPr>
            <a:xfrm>
              <a:off x="2419932" y="5198528"/>
              <a:ext cx="2654912" cy="118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7" name="Graphic 26" descr="Close with solid fill">
              <a:extLst>
                <a:ext uri="{FF2B5EF4-FFF2-40B4-BE49-F238E27FC236}">
                  <a16:creationId xmlns:a16="http://schemas.microsoft.com/office/drawing/2014/main" id="{D378F023-B33A-12D8-717C-2F633065D4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20506" y="5006412"/>
              <a:ext cx="504000" cy="504000"/>
            </a:xfrm>
            <a:prstGeom prst="rect">
              <a:avLst/>
            </a:prstGeom>
          </p:spPr>
        </p:pic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E2A4C63-9B83-49FF-7EC0-E49E9FCB6047}"/>
                </a:ext>
              </a:extLst>
            </p:cNvPr>
            <p:cNvSpPr/>
            <p:nvPr/>
          </p:nvSpPr>
          <p:spPr>
            <a:xfrm>
              <a:off x="2414159" y="5468785"/>
              <a:ext cx="3485818" cy="196414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rgbClr val="00B1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0ACB9B2-5CCB-039E-0C42-89AAC6BAB88E}"/>
                </a:ext>
              </a:extLst>
            </p:cNvPr>
            <p:cNvSpPr/>
            <p:nvPr/>
          </p:nvSpPr>
          <p:spPr>
            <a:xfrm>
              <a:off x="2419931" y="3234925"/>
              <a:ext cx="2713396" cy="118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3" name="Graphic 32" descr="Close with solid fill">
              <a:extLst>
                <a:ext uri="{FF2B5EF4-FFF2-40B4-BE49-F238E27FC236}">
                  <a16:creationId xmlns:a16="http://schemas.microsoft.com/office/drawing/2014/main" id="{3730F6F4-2CF9-313B-9336-D9B9A8B2CE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78990" y="3042809"/>
              <a:ext cx="504000" cy="504000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B19232-1EBE-3191-0011-F6B711C9CF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760" y="3133061"/>
              <a:ext cx="2399" cy="262800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7C384A3-B2E9-7B20-725D-E6B2D774F38E}"/>
                </a:ext>
              </a:extLst>
            </p:cNvPr>
            <p:cNvCxnSpPr/>
            <p:nvPr/>
          </p:nvCxnSpPr>
          <p:spPr>
            <a:xfrm>
              <a:off x="1763688" y="4063139"/>
              <a:ext cx="0" cy="6620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295F97-F000-B0A0-C40F-B330A7667A07}"/>
                </a:ext>
              </a:extLst>
            </p:cNvPr>
            <p:cNvGrpSpPr/>
            <p:nvPr/>
          </p:nvGrpSpPr>
          <p:grpSpPr>
            <a:xfrm>
              <a:off x="3822979" y="3674941"/>
              <a:ext cx="576000" cy="576000"/>
              <a:chOff x="3822979" y="3674941"/>
              <a:chExt cx="576000" cy="576000"/>
            </a:xfrm>
          </p:grpSpPr>
          <p:pic>
            <p:nvPicPr>
              <p:cNvPr id="12" name="Graphic 11" descr="Kidneys with solid fill">
                <a:extLst>
                  <a:ext uri="{FF2B5EF4-FFF2-40B4-BE49-F238E27FC236}">
                    <a16:creationId xmlns:a16="http://schemas.microsoft.com/office/drawing/2014/main" id="{D77A4796-62F6-D093-9FA7-711D7A0C32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822979" y="3674941"/>
                <a:ext cx="576000" cy="576000"/>
              </a:xfrm>
              <a:prstGeom prst="rect">
                <a:avLst/>
              </a:prstGeom>
            </p:spPr>
          </p:pic>
          <p:sp>
            <p:nvSpPr>
              <p:cNvPr id="8" name="Star: 4 Points 7">
                <a:extLst>
                  <a:ext uri="{FF2B5EF4-FFF2-40B4-BE49-F238E27FC236}">
                    <a16:creationId xmlns:a16="http://schemas.microsoft.com/office/drawing/2014/main" id="{0921E5BC-BFE6-2538-BD7A-53285AF3D223}"/>
                  </a:ext>
                </a:extLst>
              </p:cNvPr>
              <p:cNvSpPr/>
              <p:nvPr/>
            </p:nvSpPr>
            <p:spPr>
              <a:xfrm>
                <a:off x="4247822" y="3769530"/>
                <a:ext cx="108000" cy="108000"/>
              </a:xfrm>
              <a:prstGeom prst="star4">
                <a:avLst/>
              </a:prstGeom>
              <a:solidFill>
                <a:srgbClr val="FFFFFF"/>
              </a:solidFill>
              <a:ln w="3175">
                <a:solidFill>
                  <a:srgbClr val="FF66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7031254-5B87-082B-DB42-B35A367C9344}"/>
                </a:ext>
              </a:extLst>
            </p:cNvPr>
            <p:cNvGrpSpPr/>
            <p:nvPr/>
          </p:nvGrpSpPr>
          <p:grpSpPr>
            <a:xfrm>
              <a:off x="5879593" y="4333896"/>
              <a:ext cx="576000" cy="576000"/>
              <a:chOff x="3822979" y="3674941"/>
              <a:chExt cx="576000" cy="576000"/>
            </a:xfrm>
          </p:grpSpPr>
          <p:pic>
            <p:nvPicPr>
              <p:cNvPr id="31" name="Graphic 30" descr="Kidneys with solid fill">
                <a:extLst>
                  <a:ext uri="{FF2B5EF4-FFF2-40B4-BE49-F238E27FC236}">
                    <a16:creationId xmlns:a16="http://schemas.microsoft.com/office/drawing/2014/main" id="{FBAE79CD-EB7D-3D31-D62D-99E3D5F1AD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822979" y="3674941"/>
                <a:ext cx="576000" cy="576000"/>
              </a:xfrm>
              <a:prstGeom prst="rect">
                <a:avLst/>
              </a:prstGeom>
            </p:spPr>
          </p:pic>
          <p:sp>
            <p:nvSpPr>
              <p:cNvPr id="34" name="Star: 4 Points 33">
                <a:extLst>
                  <a:ext uri="{FF2B5EF4-FFF2-40B4-BE49-F238E27FC236}">
                    <a16:creationId xmlns:a16="http://schemas.microsoft.com/office/drawing/2014/main" id="{4C9F2A35-EF0A-9C09-39DD-56E412B39CDC}"/>
                  </a:ext>
                </a:extLst>
              </p:cNvPr>
              <p:cNvSpPr/>
              <p:nvPr/>
            </p:nvSpPr>
            <p:spPr>
              <a:xfrm>
                <a:off x="4247822" y="3769530"/>
                <a:ext cx="108000" cy="108000"/>
              </a:xfrm>
              <a:prstGeom prst="star4">
                <a:avLst/>
              </a:prstGeom>
              <a:solidFill>
                <a:srgbClr val="FFFFFF"/>
              </a:solidFill>
              <a:ln w="3175">
                <a:solidFill>
                  <a:srgbClr val="FF66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F7762D4-7B4B-1CC5-6857-25977B95D426}"/>
                </a:ext>
              </a:extLst>
            </p:cNvPr>
            <p:cNvGrpSpPr/>
            <p:nvPr/>
          </p:nvGrpSpPr>
          <p:grpSpPr>
            <a:xfrm>
              <a:off x="4020793" y="4660674"/>
              <a:ext cx="576000" cy="576000"/>
              <a:chOff x="3822979" y="3674941"/>
              <a:chExt cx="576000" cy="576000"/>
            </a:xfrm>
          </p:grpSpPr>
          <p:pic>
            <p:nvPicPr>
              <p:cNvPr id="39" name="Graphic 38" descr="Kidneys with solid fill">
                <a:extLst>
                  <a:ext uri="{FF2B5EF4-FFF2-40B4-BE49-F238E27FC236}">
                    <a16:creationId xmlns:a16="http://schemas.microsoft.com/office/drawing/2014/main" id="{44506071-2739-17A1-8B87-AB88CE01BC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822979" y="3674941"/>
                <a:ext cx="576000" cy="576000"/>
              </a:xfrm>
              <a:prstGeom prst="rect">
                <a:avLst/>
              </a:prstGeom>
            </p:spPr>
          </p:pic>
          <p:sp>
            <p:nvSpPr>
              <p:cNvPr id="40" name="Star: 4 Points 39">
                <a:extLst>
                  <a:ext uri="{FF2B5EF4-FFF2-40B4-BE49-F238E27FC236}">
                    <a16:creationId xmlns:a16="http://schemas.microsoft.com/office/drawing/2014/main" id="{2D54EE6E-F1FF-3599-154D-68DF4E7730D4}"/>
                  </a:ext>
                </a:extLst>
              </p:cNvPr>
              <p:cNvSpPr/>
              <p:nvPr/>
            </p:nvSpPr>
            <p:spPr>
              <a:xfrm>
                <a:off x="4247822" y="3769530"/>
                <a:ext cx="108000" cy="108000"/>
              </a:xfrm>
              <a:prstGeom prst="star4">
                <a:avLst/>
              </a:prstGeom>
              <a:solidFill>
                <a:srgbClr val="FFFFFF"/>
              </a:solidFill>
              <a:ln w="3175">
                <a:solidFill>
                  <a:srgbClr val="FF66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2239EE9-4D67-8C5F-CACE-D362B33FD424}"/>
                </a:ext>
              </a:extLst>
            </p:cNvPr>
            <p:cNvGrpSpPr/>
            <p:nvPr/>
          </p:nvGrpSpPr>
          <p:grpSpPr>
            <a:xfrm>
              <a:off x="5911426" y="5302583"/>
              <a:ext cx="576000" cy="576000"/>
              <a:chOff x="3822979" y="3674941"/>
              <a:chExt cx="576000" cy="576000"/>
            </a:xfrm>
          </p:grpSpPr>
          <p:pic>
            <p:nvPicPr>
              <p:cNvPr id="45" name="Graphic 44" descr="Kidneys with solid fill">
                <a:extLst>
                  <a:ext uri="{FF2B5EF4-FFF2-40B4-BE49-F238E27FC236}">
                    <a16:creationId xmlns:a16="http://schemas.microsoft.com/office/drawing/2014/main" id="{7D3D12A3-E891-45E3-8813-A1B1FCD0B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822979" y="3674941"/>
                <a:ext cx="576000" cy="576000"/>
              </a:xfrm>
              <a:prstGeom prst="rect">
                <a:avLst/>
              </a:prstGeom>
            </p:spPr>
          </p:pic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E6F3C9BA-C4D0-A4B8-AB57-91AA3B1552B6}"/>
                  </a:ext>
                </a:extLst>
              </p:cNvPr>
              <p:cNvSpPr/>
              <p:nvPr/>
            </p:nvSpPr>
            <p:spPr>
              <a:xfrm>
                <a:off x="4247822" y="3769530"/>
                <a:ext cx="108000" cy="108000"/>
              </a:xfrm>
              <a:prstGeom prst="star4">
                <a:avLst/>
              </a:prstGeom>
              <a:solidFill>
                <a:srgbClr val="FFFFFF"/>
              </a:solidFill>
              <a:ln w="3175">
                <a:solidFill>
                  <a:srgbClr val="FF66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151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2251-3183-544B-630C-9344CBF1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EED56C-1697-765D-5F3F-C8A4CA7EA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Like all significance tests, there are </a:t>
            </a:r>
            <a:r>
              <a:rPr lang="en-GB" b="1" dirty="0"/>
              <a:t>assumptions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A13BEE-969D-D9BE-E1E3-7E6500F0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log-rank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FE061-D61B-1E40-7D2D-7A0F2CA3F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FC337-433A-1B03-2E82-ADFC876C57BD}"/>
              </a:ext>
            </a:extLst>
          </p:cNvPr>
          <p:cNvSpPr/>
          <p:nvPr/>
        </p:nvSpPr>
        <p:spPr>
          <a:xfrm>
            <a:off x="384175" y="2564904"/>
            <a:ext cx="4043809" cy="79208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293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027A3D-5E02-99B2-3A7C-9C95C28F5E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effect of predictor on event occurring is consistent over time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6B10C-9356-57EA-9527-D37F0369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99FED-122D-EBEE-2EBB-7CFA13E0D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AD098-CD2B-2A8D-7393-30DA4D49E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457191" y="2348880"/>
            <a:ext cx="4114809" cy="3657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5AECE2-EA3B-0D07-11A9-BC26DB2C72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457191" y="2348880"/>
            <a:ext cx="41148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397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71DA-F25A-42F9-1645-333F510F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DE4AD1-F433-0CB6-800E-41FDAC14FF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effect of predictor on event occurring is consistent over time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09517-BFAC-16B1-A436-279B5505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EB20-2348-5047-8D2F-231E8ECCE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85615-DC5D-A000-DC65-3ABDF7190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845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E77A-896E-E6E7-B4BA-324FE615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92E16B-B614-BA40-0326-A03822ED4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effect of predictor on event occurring is consistent over time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0F38FA-919E-DB38-7F1A-F479E24A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FF032-B92D-1E71-1B63-2306CE0DC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0BC06-FD0E-2474-CF35-D9C8AC91EB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221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145F-5F56-213A-AB42-4F57A3E2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EF7BD-28CC-2194-7D5C-D8E3BFB3EE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effect of predictor on event occurring is consistent over time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BC81B0-8B38-A481-A9D2-FC74A2C2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AE3B3-FFA2-8B7F-59DE-AEF33E1A0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671A5-4580-B8E8-9536-D90185081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79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B035-AA94-822C-3883-AC37B419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A56463-B913-3100-44D0-3E7D0C6250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Note: </a:t>
            </a:r>
            <a:r>
              <a:rPr lang="en-GB" dirty="0"/>
              <a:t>it won’t always be foolproof!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FAFC48-3591-F027-3F27-36B61EA0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FECE9-10AD-BC04-5DA8-A85F49F44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A7346-2FE0-7A28-39A7-045AF93B60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62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5EBD-5DB0-D3ED-3F3D-8F447745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D39EC0-F1C8-879F-A37D-97CD4A1E4F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Note: </a:t>
            </a:r>
            <a:r>
              <a:rPr lang="en-GB" dirty="0"/>
              <a:t>it won’t always be foolproof!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B113AD-9D45-8D0F-F835-F13522D3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BBCDD-7A5E-D943-301E-8FD5CC986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0EFD56-9A53-264A-E72A-88CD5FF456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610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B33D-84EF-A34A-6C96-C2C3A283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486ACD-90C6-3701-25E1-FAE25B2DF0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Note: </a:t>
            </a:r>
            <a:r>
              <a:rPr lang="en-GB" dirty="0"/>
              <a:t>we care about the underlying population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858896-D0C6-5F14-C26E-50D6FC2D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Proportional hazards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F4E1-B069-B593-5DA2-5A357716B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59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C4E0B-41A2-BCA8-F2D3-542B00C094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1" y="2348880"/>
            <a:ext cx="822961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20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7520B9-E77B-DC86-59EC-D98F2A53AA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Is time to hatch predicted by scale colour?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could cause the assumption to fail?</a:t>
            </a:r>
          </a:p>
          <a:p>
            <a:pPr marL="457200" indent="-457200"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AutoNum type="arabicPeriod"/>
            </a:pPr>
            <a:r>
              <a:rPr lang="en-GB" dirty="0"/>
              <a:t>Proportional hazards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394A3B-15C5-BDDE-9E0B-145462AF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example: are assumptions met?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17F03-D9B0-0CCC-FA34-1CA0D4FF0A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60</a:t>
            </a:fld>
            <a:endParaRPr lang="en-GB"/>
          </a:p>
        </p:txBody>
      </p:sp>
      <p:pic>
        <p:nvPicPr>
          <p:cNvPr id="5" name="Graphic 4" descr="Dragon with solid fill">
            <a:extLst>
              <a:ext uri="{FF2B5EF4-FFF2-40B4-BE49-F238E27FC236}">
                <a16:creationId xmlns:a16="http://schemas.microsoft.com/office/drawing/2014/main" id="{5B69FB61-298A-6FC7-5AE8-7D5F47503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6296" y="1697663"/>
            <a:ext cx="1440000" cy="1440000"/>
          </a:xfrm>
          <a:prstGeom prst="rect">
            <a:avLst/>
          </a:prstGeom>
        </p:spPr>
      </p:pic>
      <p:pic>
        <p:nvPicPr>
          <p:cNvPr id="6" name="Graphic 5" descr="Dinosaur Egg with solid fill">
            <a:extLst>
              <a:ext uri="{FF2B5EF4-FFF2-40B4-BE49-F238E27FC236}">
                <a16:creationId xmlns:a16="http://schemas.microsoft.com/office/drawing/2014/main" id="{9F874B1A-1C9C-CB9C-ADB3-F6A6D155B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2484" y="3209831"/>
            <a:ext cx="1440000" cy="1440000"/>
          </a:xfrm>
          <a:prstGeom prst="rect">
            <a:avLst/>
          </a:prstGeom>
        </p:spPr>
      </p:pic>
      <p:pic>
        <p:nvPicPr>
          <p:cNvPr id="8" name="Graphic 7" descr="Thought bubble with solid fill">
            <a:extLst>
              <a:ext uri="{FF2B5EF4-FFF2-40B4-BE49-F238E27FC236}">
                <a16:creationId xmlns:a16="http://schemas.microsoft.com/office/drawing/2014/main" id="{C4E05E56-22BE-311B-ECE8-EAFB76394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5207" y="1046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749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48FCF-244C-33AF-799A-2F6BE493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BD8F1-1777-E8FF-4DCD-5FB970FD6B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649" y="1772918"/>
            <a:ext cx="6360608" cy="400240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Independence:</a:t>
            </a:r>
          </a:p>
          <a:p>
            <a:r>
              <a:rPr lang="en-GB" dirty="0"/>
              <a:t>Multiple eggs from same parent(s)</a:t>
            </a:r>
          </a:p>
          <a:p>
            <a:pPr lvl="1"/>
            <a:r>
              <a:rPr lang="en-GB" sz="2000" dirty="0"/>
              <a:t>Genetic similarity</a:t>
            </a:r>
          </a:p>
          <a:p>
            <a:pPr lvl="1"/>
            <a:r>
              <a:rPr lang="en-GB" sz="2000" dirty="0"/>
              <a:t>Shared parental behaviours (e.g., incubation)</a:t>
            </a:r>
          </a:p>
          <a:p>
            <a:pPr lvl="1"/>
            <a:r>
              <a:rPr lang="en-GB" sz="2000" dirty="0"/>
              <a:t>Same clutch: affect each other (e.g., warming up)</a:t>
            </a:r>
          </a:p>
          <a:p>
            <a:r>
              <a:rPr lang="en-GB" dirty="0"/>
              <a:t>Nesting site</a:t>
            </a:r>
          </a:p>
          <a:p>
            <a:r>
              <a:rPr lang="en-GB" dirty="0"/>
              <a:t>Season/year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A424FF-A1F9-CA5B-1384-298C85C5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example: are assumptions met?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C0003-B16A-51D2-6790-3B4BCE580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61</a:t>
            </a:fld>
            <a:endParaRPr lang="en-GB"/>
          </a:p>
        </p:txBody>
      </p:sp>
      <p:pic>
        <p:nvPicPr>
          <p:cNvPr id="5" name="Graphic 4" descr="Dragon with solid fill">
            <a:extLst>
              <a:ext uri="{FF2B5EF4-FFF2-40B4-BE49-F238E27FC236}">
                <a16:creationId xmlns:a16="http://schemas.microsoft.com/office/drawing/2014/main" id="{00D85DFA-D91D-C438-819C-0BF45286FF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6296" y="1697663"/>
            <a:ext cx="1440000" cy="1440000"/>
          </a:xfrm>
          <a:prstGeom prst="rect">
            <a:avLst/>
          </a:prstGeom>
        </p:spPr>
      </p:pic>
      <p:pic>
        <p:nvPicPr>
          <p:cNvPr id="6" name="Graphic 5" descr="Dinosaur Egg with solid fill">
            <a:extLst>
              <a:ext uri="{FF2B5EF4-FFF2-40B4-BE49-F238E27FC236}">
                <a16:creationId xmlns:a16="http://schemas.microsoft.com/office/drawing/2014/main" id="{7AA80CBF-E87B-9E8D-CF14-36E04C74C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2484" y="3209831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8BA2E-E4A3-ABCA-D0DE-FF281579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A4BB1-748F-C0F6-D50C-AB4090784A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649" y="1772918"/>
            <a:ext cx="6216592" cy="400240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Non-informative censoring:</a:t>
            </a:r>
          </a:p>
          <a:p>
            <a:r>
              <a:rPr lang="en-GB" dirty="0"/>
              <a:t>Unhealthy/slow-hatching eggs are removed or abandoned</a:t>
            </a:r>
          </a:p>
          <a:p>
            <a:r>
              <a:rPr lang="en-GB" dirty="0"/>
              <a:t>Attentive/protective dragon parents hide eggs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What if chromatic dragon eggs are more likely to be censored than metallic ones?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A53CC4-D6CA-40BE-8FF4-2BCF982C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example: are assumptions met?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CA018-F96C-80DA-F9F1-7B56A0320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62</a:t>
            </a:fld>
            <a:endParaRPr lang="en-GB"/>
          </a:p>
        </p:txBody>
      </p:sp>
      <p:pic>
        <p:nvPicPr>
          <p:cNvPr id="5" name="Graphic 4" descr="Dragon with solid fill">
            <a:extLst>
              <a:ext uri="{FF2B5EF4-FFF2-40B4-BE49-F238E27FC236}">
                <a16:creationId xmlns:a16="http://schemas.microsoft.com/office/drawing/2014/main" id="{C28A87FC-BD13-0D1F-1E89-4F047BF6E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6296" y="1697663"/>
            <a:ext cx="1440000" cy="1440000"/>
          </a:xfrm>
          <a:prstGeom prst="rect">
            <a:avLst/>
          </a:prstGeom>
        </p:spPr>
      </p:pic>
      <p:pic>
        <p:nvPicPr>
          <p:cNvPr id="6" name="Graphic 5" descr="Dinosaur Egg with solid fill">
            <a:extLst>
              <a:ext uri="{FF2B5EF4-FFF2-40B4-BE49-F238E27FC236}">
                <a16:creationId xmlns:a16="http://schemas.microsoft.com/office/drawing/2014/main" id="{A45C5AE3-68F4-D420-1205-0719167EF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2484" y="3209831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7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F724-2343-836F-1A9A-3BF34E10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7BB6C7-7C2C-C1E5-9694-11357230A7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649" y="1772918"/>
            <a:ext cx="6216592" cy="400240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Proportional hazards:</a:t>
            </a:r>
          </a:p>
          <a:p>
            <a:r>
              <a:rPr lang="en-GB" dirty="0"/>
              <a:t>There is no difference up to 30 days, but after that, chromatic eggs hatch faster</a:t>
            </a:r>
          </a:p>
          <a:p>
            <a:r>
              <a:rPr lang="en-GB" dirty="0"/>
              <a:t>Metallic eggs hatch slowly but steadily the whole time, while:</a:t>
            </a:r>
          </a:p>
          <a:p>
            <a:pPr lvl="1"/>
            <a:r>
              <a:rPr lang="en-GB" sz="2000" dirty="0"/>
              <a:t>Chromatic eggs hatch quickly but with late-stage complications</a:t>
            </a:r>
          </a:p>
          <a:p>
            <a:pPr lvl="1"/>
            <a:r>
              <a:rPr lang="en-GB" sz="2000" dirty="0"/>
              <a:t>Or chromatic eggs only start hatching after 30 days have passed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F5D4DB-F2B9-3155-3EAA-A0A7336D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Dragon egg example: are assumptions met?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F6852-201E-FDEB-B8EB-3DB9B0B91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63</a:t>
            </a:fld>
            <a:endParaRPr lang="en-GB"/>
          </a:p>
        </p:txBody>
      </p:sp>
      <p:pic>
        <p:nvPicPr>
          <p:cNvPr id="5" name="Graphic 4" descr="Dragon with solid fill">
            <a:extLst>
              <a:ext uri="{FF2B5EF4-FFF2-40B4-BE49-F238E27FC236}">
                <a16:creationId xmlns:a16="http://schemas.microsoft.com/office/drawing/2014/main" id="{A02D4431-CA18-CAF0-1146-C1F8BA783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6296" y="1697663"/>
            <a:ext cx="1440000" cy="1440000"/>
          </a:xfrm>
          <a:prstGeom prst="rect">
            <a:avLst/>
          </a:prstGeom>
        </p:spPr>
      </p:pic>
      <p:pic>
        <p:nvPicPr>
          <p:cNvPr id="6" name="Graphic 5" descr="Dinosaur Egg with solid fill">
            <a:extLst>
              <a:ext uri="{FF2B5EF4-FFF2-40B4-BE49-F238E27FC236}">
                <a16:creationId xmlns:a16="http://schemas.microsoft.com/office/drawing/2014/main" id="{7FCB7728-9A04-F574-432F-11DCA2F4A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2484" y="3209831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715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43F3-897F-5E5F-7094-F65C54F6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5CFB6F-241F-CCE9-6673-B45530CF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dragon populations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0F16E-20FC-A222-B511-D0B584F34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smtClean="0"/>
              <a:pPr>
                <a:defRPr/>
              </a:pPr>
              <a:t>64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A14CA-8DC7-2C28-67BE-6AE7BFD275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244" y="1556637"/>
            <a:ext cx="7397510" cy="457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698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434F-58D4-C709-3EF9-EFDFE471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1FC889C-7AEE-39DA-51F6-1EE9CCD8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dragon populations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DD64A-3D97-DC07-22B7-ABD2E0AED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smtClean="0"/>
              <a:pPr>
                <a:defRPr/>
              </a:pPr>
              <a:t>65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BD339-F3D4-329C-C433-9304C84F2E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244" y="1556637"/>
            <a:ext cx="7397509" cy="457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474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7382-2C2B-3EB7-71AF-437D9507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A31752-448E-A487-D64E-3C152ACE84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dirty="0">
                <a:latin typeface="+mj-lt"/>
              </a:rPr>
              <a:t>Allows us to </a:t>
            </a:r>
            <a:r>
              <a:rPr lang="en-GB" b="1" dirty="0">
                <a:latin typeface="+mj-lt"/>
              </a:rPr>
              <a:t>compare groups </a:t>
            </a:r>
            <a:r>
              <a:rPr lang="en-GB" dirty="0">
                <a:latin typeface="+mj-lt"/>
              </a:rPr>
              <a:t>like a t-test or one-way ANOVA </a:t>
            </a:r>
            <a:r>
              <a:rPr lang="en-GB" dirty="0"/>
              <a:t>(i.e., single categorical predictor) </a:t>
            </a:r>
            <a:endParaRPr lang="en-GB" dirty="0">
              <a:latin typeface="+mj-lt"/>
            </a:endParaRPr>
          </a:p>
          <a:p>
            <a:pPr>
              <a:buClr>
                <a:schemeClr val="tx1"/>
              </a:buClr>
            </a:pPr>
            <a:endParaRPr lang="en-GB" dirty="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GB" dirty="0">
                <a:latin typeface="+mj-lt"/>
              </a:rPr>
              <a:t>The </a:t>
            </a:r>
            <a:r>
              <a:rPr lang="en-GB" b="1" dirty="0">
                <a:latin typeface="+mj-lt"/>
              </a:rPr>
              <a:t>null hypothesis</a:t>
            </a:r>
            <a:r>
              <a:rPr lang="en-GB" dirty="0">
                <a:latin typeface="+mj-lt"/>
              </a:rPr>
              <a:t> is that all groups share the same underlying survival curve</a:t>
            </a:r>
          </a:p>
          <a:p>
            <a:pPr>
              <a:buClr>
                <a:schemeClr val="tx1"/>
              </a:buClr>
            </a:pPr>
            <a:endParaRPr lang="en-GB" noProof="0" dirty="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GB" noProof="0" dirty="0">
                <a:latin typeface="+mj-lt"/>
              </a:rPr>
              <a:t>Makes </a:t>
            </a:r>
            <a:r>
              <a:rPr lang="en-GB" b="1" dirty="0">
                <a:latin typeface="+mj-lt"/>
              </a:rPr>
              <a:t>assumptions</a:t>
            </a:r>
            <a:r>
              <a:rPr lang="en-GB" dirty="0">
                <a:latin typeface="+mj-lt"/>
              </a:rPr>
              <a:t> about:</a:t>
            </a:r>
          </a:p>
          <a:p>
            <a:pPr lvl="1">
              <a:buClr>
                <a:schemeClr val="tx1"/>
              </a:buClr>
            </a:pPr>
            <a:r>
              <a:rPr lang="en-GB" sz="2000" noProof="0" dirty="0">
                <a:latin typeface="+mj-lt"/>
              </a:rPr>
              <a:t>Independence</a:t>
            </a:r>
          </a:p>
          <a:p>
            <a:pPr lvl="1">
              <a:buClr>
                <a:schemeClr val="tx1"/>
              </a:buClr>
            </a:pPr>
            <a:r>
              <a:rPr lang="en-GB" sz="2000" noProof="0" dirty="0">
                <a:latin typeface="+mj-lt"/>
              </a:rPr>
              <a:t>Non-informative censoring</a:t>
            </a:r>
          </a:p>
          <a:p>
            <a:pPr lvl="1">
              <a:buClr>
                <a:schemeClr val="tx1"/>
              </a:buClr>
            </a:pPr>
            <a:r>
              <a:rPr lang="en-GB" sz="2000" dirty="0">
                <a:latin typeface="+mj-lt"/>
              </a:rPr>
              <a:t>Proportional hazards</a:t>
            </a:r>
            <a:endParaRPr lang="en-GB" sz="2000" noProof="0" dirty="0">
              <a:latin typeface="+mj-lt"/>
            </a:endParaRPr>
          </a:p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39CA94-4387-937D-F856-02950294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Summary: Log-rank test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8BD9B6-CBF4-CB6F-F96C-730D9EDC7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66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974599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4EAD-9F9C-5DF4-1305-0965F02A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B9DF6458-EAB6-6DBC-0EBC-4332D8412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036465C-945F-44BE-994D-AFC5D4629323}" type="slidenum">
              <a:rPr lang="en-GB" noProof="0" smtClean="0">
                <a:cs typeface="Arial" charset="0"/>
              </a:rPr>
              <a:pPr/>
              <a:t>67</a:t>
            </a:fld>
            <a:endParaRPr lang="en-GB" noProof="0" dirty="0">
              <a:cs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205E37A-E6B9-A1E5-B20F-04C683E09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9" y="2060645"/>
            <a:ext cx="7560840" cy="576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3500" kern="0" noProof="0" dirty="0"/>
              <a:t>Survival (time-to-event) analysis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93F975-18B4-F3F0-35B3-ABC32D02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2780928"/>
            <a:ext cx="717932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0"/>
              </a:spcBef>
              <a:spcAft>
                <a:spcPct val="75000"/>
              </a:spcAft>
              <a:buFontTx/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GB" kern="0" noProof="0" dirty="0"/>
              <a:t> </a:t>
            </a:r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r>
              <a:rPr lang="en-GB" kern="0" noProof="0" dirty="0"/>
              <a:t>Cambridge Centre for Research Informatics Training</a:t>
            </a:r>
          </a:p>
        </p:txBody>
      </p:sp>
    </p:spTree>
    <p:extLst>
      <p:ext uri="{BB962C8B-B14F-4D97-AF65-F5344CB8AC3E}">
        <p14:creationId xmlns:p14="http://schemas.microsoft.com/office/powerpoint/2010/main" val="32844377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0744-5690-72B8-0851-DA127904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B32869-880E-4BBA-D638-956B15961F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GB" sz="2200" b="1" noProof="0" dirty="0">
                <a:latin typeface="+mj-lt"/>
              </a:rPr>
              <a:t>In session 1:</a:t>
            </a:r>
          </a:p>
          <a:p>
            <a:pPr>
              <a:buClr>
                <a:schemeClr val="tx1"/>
              </a:buClr>
            </a:pPr>
            <a:endParaRPr lang="en-GB" sz="2200" noProof="0" dirty="0">
              <a:latin typeface="+mj-lt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What’s special about survival/time-to-event data?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Survival curves (Kaplan-Meier estimation)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200" noProof="0" dirty="0"/>
              <a:t>Comparing two curves (log rank test)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FAD750-35FF-6176-E937-E4046A7D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Session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345A3-7F3F-00AC-B499-4C5CE7545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noProof="0" smtClean="0"/>
              <a:pPr>
                <a:defRPr/>
              </a:pPr>
              <a:t>68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92752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FAC3-0979-AC9F-80A5-174E239F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72B9A-F833-713B-0E02-A3E184158B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GB" sz="2200" b="1" noProof="0" dirty="0">
                <a:latin typeface="+mj-lt"/>
              </a:rPr>
              <a:t>In session 2:</a:t>
            </a:r>
          </a:p>
          <a:p>
            <a:pPr>
              <a:buClr>
                <a:schemeClr val="tx1"/>
              </a:buClr>
            </a:pPr>
            <a:endParaRPr lang="en-GB" sz="2200" noProof="0" dirty="0">
              <a:latin typeface="+mj-lt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GB" dirty="0"/>
              <a:t>Continuous predictor variables</a:t>
            </a:r>
            <a:br>
              <a:rPr lang="en-GB" dirty="0"/>
            </a:br>
            <a:r>
              <a:rPr lang="en-GB" dirty="0"/>
              <a:t>(fitting Cox regression models)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GB" dirty="0"/>
              <a:t>Interpreting Cox regression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E2928E-DB3E-C689-B15D-C6CDB8B7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Session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F20FB-871C-2AE1-ACE1-6AB06000D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17E7F-5007-4559-A9EA-6621C16865F0}" type="slidenum">
              <a:rPr lang="en-GB" noProof="0" smtClean="0"/>
              <a:pPr>
                <a:defRPr/>
              </a:pPr>
              <a:t>69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776502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F99B-DED4-9DAF-D140-B506D2B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ABD0B8-B0A3-4E1B-A33A-5E9522029E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Introducing Cox proportional hazards regression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F2F2B-D7CC-6171-4126-9AB86160B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 dirty="0"/>
              <a:t>4.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9C296-32B6-9A02-7A98-0F4434431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70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048842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950563-B236-3325-BB60-4677AAFFD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What’s the “risk” of a </a:t>
            </a:r>
            <a:r>
              <a:rPr lang="en-GB" dirty="0">
                <a:solidFill>
                  <a:schemeClr val="accent5"/>
                </a:solidFill>
              </a:rPr>
              <a:t>random lightbulb </a:t>
            </a:r>
            <a:r>
              <a:rPr lang="en-GB" dirty="0"/>
              <a:t>failing </a:t>
            </a:r>
            <a:r>
              <a:rPr lang="en-GB" b="1" dirty="0">
                <a:solidFill>
                  <a:schemeClr val="accent4"/>
                </a:solidFill>
              </a:rPr>
              <a:t>right now</a:t>
            </a:r>
            <a:r>
              <a:rPr lang="en-GB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5739C1-908F-CF81-17F8-0F036904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C5F73-0649-D7A3-360C-719441859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71</a:t>
            </a:fld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C3B953B-FD32-4245-BF46-371C130E0E60}"/>
              </a:ext>
            </a:extLst>
          </p:cNvPr>
          <p:cNvGrpSpPr/>
          <p:nvPr/>
        </p:nvGrpSpPr>
        <p:grpSpPr>
          <a:xfrm>
            <a:off x="1961434" y="2515271"/>
            <a:ext cx="5221130" cy="3047322"/>
            <a:chOff x="1625865" y="2687288"/>
            <a:chExt cx="5221130" cy="3047322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A3D11FD8-7C8A-635E-9151-8114B9BE3022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 descr="Lightbulb with solid fill">
              <a:extLst>
                <a:ext uri="{FF2B5EF4-FFF2-40B4-BE49-F238E27FC236}">
                  <a16:creationId xmlns:a16="http://schemas.microsoft.com/office/drawing/2014/main" id="{F373A7BA-2A56-2DF6-D06E-3B4A5970A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6C05A971-34C8-4835-D416-2C7E82E54452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37DE9E8-A179-2C4B-026F-E69741BCAC0F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Lightbulb with solid fill">
              <a:extLst>
                <a:ext uri="{FF2B5EF4-FFF2-40B4-BE49-F238E27FC236}">
                  <a16:creationId xmlns:a16="http://schemas.microsoft.com/office/drawing/2014/main" id="{D841F6FB-6989-DF3C-4FEA-C6980F7787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26" name="Graphic 25" descr="Lightbulb with solid fill">
              <a:extLst>
                <a:ext uri="{FF2B5EF4-FFF2-40B4-BE49-F238E27FC236}">
                  <a16:creationId xmlns:a16="http://schemas.microsoft.com/office/drawing/2014/main" id="{ABF231CF-077B-DCBF-AC65-A466A78AE6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14DA2A7-3404-1885-0439-53D4986B94D4}"/>
                </a:ext>
              </a:extLst>
            </p:cNvPr>
            <p:cNvSpPr txBox="1"/>
            <p:nvPr/>
          </p:nvSpPr>
          <p:spPr>
            <a:xfrm>
              <a:off x="2051720" y="2687288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F3814F3-7370-AE1E-852A-8DF79676738B}"/>
                </a:ext>
              </a:extLst>
            </p:cNvPr>
            <p:cNvSpPr/>
            <p:nvPr/>
          </p:nvSpPr>
          <p:spPr>
            <a:xfrm>
              <a:off x="2419229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CC986507-C5DE-99AD-D908-6AD20E5364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3" y="4972903"/>
              <a:ext cx="761707" cy="761707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38058AF-1B7C-C0D8-962C-D611CF08FB24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 descr="Lights On with solid fill">
              <a:extLst>
                <a:ext uri="{FF2B5EF4-FFF2-40B4-BE49-F238E27FC236}">
                  <a16:creationId xmlns:a16="http://schemas.microsoft.com/office/drawing/2014/main" id="{3D8C131B-0A86-0070-C3C3-A1295DA55C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7" y="3204373"/>
              <a:ext cx="612000" cy="612000"/>
            </a:xfrm>
            <a:prstGeom prst="rect">
              <a:avLst/>
            </a:prstGeom>
          </p:spPr>
        </p:pic>
        <p:pic>
          <p:nvPicPr>
            <p:cNvPr id="32" name="Graphic 31" descr="Lights On with solid fill">
              <a:extLst>
                <a:ext uri="{FF2B5EF4-FFF2-40B4-BE49-F238E27FC236}">
                  <a16:creationId xmlns:a16="http://schemas.microsoft.com/office/drawing/2014/main" id="{119F3518-EEF2-342F-2082-184E2C3A2C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5" y="4421841"/>
              <a:ext cx="612000" cy="612000"/>
            </a:xfrm>
            <a:prstGeom prst="rect">
              <a:avLst/>
            </a:prstGeom>
          </p:spPr>
        </p:pic>
        <p:pic>
          <p:nvPicPr>
            <p:cNvPr id="33" name="Graphic 32" descr="Lights On with solid fill">
              <a:extLst>
                <a:ext uri="{FF2B5EF4-FFF2-40B4-BE49-F238E27FC236}">
                  <a16:creationId xmlns:a16="http://schemas.microsoft.com/office/drawing/2014/main" id="{04C242AF-EF9E-B30B-F26C-29265DC872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6" y="3809841"/>
              <a:ext cx="612000" cy="612000"/>
            </a:xfrm>
            <a:prstGeom prst="rect">
              <a:avLst/>
            </a:prstGeom>
          </p:spPr>
        </p:pic>
        <p:pic>
          <p:nvPicPr>
            <p:cNvPr id="35" name="Graphic 34" descr="Lights On with solid fill">
              <a:extLst>
                <a:ext uri="{FF2B5EF4-FFF2-40B4-BE49-F238E27FC236}">
                  <a16:creationId xmlns:a16="http://schemas.microsoft.com/office/drawing/2014/main" id="{F250AB61-76D1-D817-B259-1066D5C24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625867" y="5064471"/>
              <a:ext cx="612000" cy="612000"/>
            </a:xfrm>
            <a:prstGeom prst="rect">
              <a:avLst/>
            </a:prstGeom>
          </p:spPr>
        </p:pic>
      </p:grpSp>
      <p:pic>
        <p:nvPicPr>
          <p:cNvPr id="38" name="Graphic 37" descr="Close with solid fill">
            <a:extLst>
              <a:ext uri="{FF2B5EF4-FFF2-40B4-BE49-F238E27FC236}">
                <a16:creationId xmlns:a16="http://schemas.microsoft.com/office/drawing/2014/main" id="{FB6E9107-F8F1-F5D8-1993-032B6C317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0163" y="2876608"/>
            <a:ext cx="612000" cy="612000"/>
          </a:xfrm>
          <a:prstGeom prst="rect">
            <a:avLst/>
          </a:prstGeom>
        </p:spPr>
      </p:pic>
      <p:pic>
        <p:nvPicPr>
          <p:cNvPr id="40" name="Graphic 39" descr="Close with solid fill">
            <a:extLst>
              <a:ext uri="{FF2B5EF4-FFF2-40B4-BE49-F238E27FC236}">
                <a16:creationId xmlns:a16="http://schemas.microsoft.com/office/drawing/2014/main" id="{94CC94E9-A173-E328-7A8F-EED3D8724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8619" y="3570710"/>
            <a:ext cx="612000" cy="612000"/>
          </a:xfrm>
          <a:prstGeom prst="rect">
            <a:avLst/>
          </a:prstGeom>
        </p:spPr>
      </p:pic>
      <p:pic>
        <p:nvPicPr>
          <p:cNvPr id="42" name="Graphic 41" descr="Close with solid fill">
            <a:extLst>
              <a:ext uri="{FF2B5EF4-FFF2-40B4-BE49-F238E27FC236}">
                <a16:creationId xmlns:a16="http://schemas.microsoft.com/office/drawing/2014/main" id="{CE40E666-E384-5A40-1AFA-EEE686094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5710" y="4101089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82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4402-83C1-7BC8-4D92-2904C210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81090E-7C70-48CA-CDDC-6F1BF52D2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What’s the “risk” of a </a:t>
            </a:r>
            <a:r>
              <a:rPr lang="en-GB" dirty="0">
                <a:solidFill>
                  <a:schemeClr val="accent5"/>
                </a:solidFill>
              </a:rPr>
              <a:t>random customer </a:t>
            </a:r>
            <a:r>
              <a:rPr lang="en-GB" dirty="0"/>
              <a:t>cancelling </a:t>
            </a:r>
            <a:r>
              <a:rPr lang="en-GB" b="1" dirty="0">
                <a:solidFill>
                  <a:schemeClr val="accent4"/>
                </a:solidFill>
              </a:rPr>
              <a:t>right now</a:t>
            </a:r>
            <a:r>
              <a:rPr lang="en-GB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418E33-94AD-19B5-CC77-7D1F46D5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5D3CE-C3F6-B0E6-B8FB-A4F676C98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72</a:t>
            </a:fld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148D7A-01F4-9E87-DCAE-505520675E67}"/>
              </a:ext>
            </a:extLst>
          </p:cNvPr>
          <p:cNvGrpSpPr/>
          <p:nvPr/>
        </p:nvGrpSpPr>
        <p:grpSpPr>
          <a:xfrm>
            <a:off x="1961434" y="2515271"/>
            <a:ext cx="5221130" cy="3047322"/>
            <a:chOff x="1625865" y="2687288"/>
            <a:chExt cx="5221130" cy="3047322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FCF2CE2E-08F4-F06D-31D0-DEDBB409FF2B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 descr="Debt with solid fill">
              <a:extLst>
                <a:ext uri="{FF2B5EF4-FFF2-40B4-BE49-F238E27FC236}">
                  <a16:creationId xmlns:a16="http://schemas.microsoft.com/office/drawing/2014/main" id="{88075984-5721-4716-E321-513D6E9D84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5896DA57-097E-0FDE-05CA-E760650B35E5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87B407B-6138-3FC5-C392-C184566CCDD8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Debt with solid fill">
              <a:extLst>
                <a:ext uri="{FF2B5EF4-FFF2-40B4-BE49-F238E27FC236}">
                  <a16:creationId xmlns:a16="http://schemas.microsoft.com/office/drawing/2014/main" id="{50685176-61D2-147E-6017-B27C9833CF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41951"/>
              <a:ext cx="761707" cy="761707"/>
            </a:xfrm>
            <a:prstGeom prst="rect">
              <a:avLst/>
            </a:prstGeom>
          </p:spPr>
        </p:pic>
        <p:pic>
          <p:nvPicPr>
            <p:cNvPr id="26" name="Graphic 25" descr="Debt with solid fill">
              <a:extLst>
                <a:ext uri="{FF2B5EF4-FFF2-40B4-BE49-F238E27FC236}">
                  <a16:creationId xmlns:a16="http://schemas.microsoft.com/office/drawing/2014/main" id="{61123073-B75B-0E74-5737-55D449C31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872FDD-C94B-168F-6A6C-C42971AA8520}"/>
                </a:ext>
              </a:extLst>
            </p:cNvPr>
            <p:cNvSpPr txBox="1"/>
            <p:nvPr/>
          </p:nvSpPr>
          <p:spPr>
            <a:xfrm>
              <a:off x="2051720" y="2687288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CDFC5AF6-04EC-A230-ED4B-2374FDF37886}"/>
                </a:ext>
              </a:extLst>
            </p:cNvPr>
            <p:cNvSpPr/>
            <p:nvPr/>
          </p:nvSpPr>
          <p:spPr>
            <a:xfrm>
              <a:off x="2419229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6EE10659-1328-F73F-16C5-D2B5CAEFF4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3" y="4972903"/>
              <a:ext cx="761707" cy="761707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216D423-03E0-D17F-87B1-4CB069FB1C48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AF49860C-42C7-0BBC-3D34-A844033082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7" y="3204373"/>
              <a:ext cx="612000" cy="612000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8D7F46EC-FFCD-BC2C-BE7D-3FBF86EDE2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5" y="4421841"/>
              <a:ext cx="612000" cy="612000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4AA3DBA1-8C3F-B237-801B-4E8D80FC0E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6" y="3809841"/>
              <a:ext cx="612000" cy="612000"/>
            </a:xfrm>
            <a:prstGeom prst="rect">
              <a:avLst/>
            </a:prstGeom>
          </p:spPr>
        </p:pic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2DA1FED0-FFC7-FE55-D631-2DB92AA609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625867" y="5064471"/>
              <a:ext cx="612000" cy="61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19648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6411-4573-43AC-8A71-2F88CAAB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152ACB-C1E2-CBD9-ED12-D7B30E6991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What’s the “risk” of a </a:t>
            </a:r>
            <a:r>
              <a:rPr lang="en-GB" dirty="0">
                <a:solidFill>
                  <a:schemeClr val="accent5"/>
                </a:solidFill>
              </a:rPr>
              <a:t>random patient </a:t>
            </a:r>
            <a:r>
              <a:rPr lang="en-GB" dirty="0"/>
              <a:t>dying </a:t>
            </a:r>
            <a:r>
              <a:rPr lang="en-GB" b="1" dirty="0">
                <a:solidFill>
                  <a:schemeClr val="accent4"/>
                </a:solidFill>
              </a:rPr>
              <a:t>right now</a:t>
            </a:r>
            <a:r>
              <a:rPr lang="en-GB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640456-307E-A655-F16D-12328EAF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E17FF-B2A6-B60F-8A30-565C19B80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73</a:t>
            </a:fld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009B45-6046-B368-ADC2-AEE6D59B63D2}"/>
              </a:ext>
            </a:extLst>
          </p:cNvPr>
          <p:cNvGrpSpPr/>
          <p:nvPr/>
        </p:nvGrpSpPr>
        <p:grpSpPr>
          <a:xfrm>
            <a:off x="1961434" y="2515271"/>
            <a:ext cx="5221130" cy="3047322"/>
            <a:chOff x="1625865" y="2687288"/>
            <a:chExt cx="5221130" cy="3047322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555D1193-BBBE-C178-E635-B58BB39E0EF6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 descr="Skull with solid fill">
              <a:extLst>
                <a:ext uri="{FF2B5EF4-FFF2-40B4-BE49-F238E27FC236}">
                  <a16:creationId xmlns:a16="http://schemas.microsoft.com/office/drawing/2014/main" id="{9F074969-4935-ECA6-DF7D-14ACEC6905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503FCBAE-2DE1-95D5-ED75-DD0E02AF8BEC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B6AE8F1-A1AC-B534-70EC-64F4C31666D6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Skull with solid fill">
              <a:extLst>
                <a:ext uri="{FF2B5EF4-FFF2-40B4-BE49-F238E27FC236}">
                  <a16:creationId xmlns:a16="http://schemas.microsoft.com/office/drawing/2014/main" id="{C2C791CF-E713-6A8E-D9CD-15AB7FA05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46060"/>
              <a:ext cx="761707" cy="761707"/>
            </a:xfrm>
            <a:prstGeom prst="rect">
              <a:avLst/>
            </a:prstGeom>
          </p:spPr>
        </p:pic>
        <p:pic>
          <p:nvPicPr>
            <p:cNvPr id="26" name="Graphic 25" descr="Skull with solid fill">
              <a:extLst>
                <a:ext uri="{FF2B5EF4-FFF2-40B4-BE49-F238E27FC236}">
                  <a16:creationId xmlns:a16="http://schemas.microsoft.com/office/drawing/2014/main" id="{812AF1A0-343E-C4F3-6CF2-DC252AFD25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53E6EB-C8C2-76B0-0531-9B2A7E1A7C1D}"/>
                </a:ext>
              </a:extLst>
            </p:cNvPr>
            <p:cNvSpPr txBox="1"/>
            <p:nvPr/>
          </p:nvSpPr>
          <p:spPr>
            <a:xfrm>
              <a:off x="2051720" y="2687288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53D1CA05-3E1C-1AB7-F24D-F5FE64DDA7D5}"/>
                </a:ext>
              </a:extLst>
            </p:cNvPr>
            <p:cNvSpPr/>
            <p:nvPr/>
          </p:nvSpPr>
          <p:spPr>
            <a:xfrm>
              <a:off x="2419229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132B196D-EB23-E1B8-819E-062BFE098F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3" y="4972903"/>
              <a:ext cx="761707" cy="761707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792D08-F969-1FB3-E37D-272CC0E485F9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 descr="Inpatient with solid fill">
              <a:extLst>
                <a:ext uri="{FF2B5EF4-FFF2-40B4-BE49-F238E27FC236}">
                  <a16:creationId xmlns:a16="http://schemas.microsoft.com/office/drawing/2014/main" id="{D2707042-4B4A-BBC1-D0B3-FF2B82E37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7" y="3204373"/>
              <a:ext cx="612000" cy="612000"/>
            </a:xfrm>
            <a:prstGeom prst="rect">
              <a:avLst/>
            </a:prstGeom>
          </p:spPr>
        </p:pic>
        <p:pic>
          <p:nvPicPr>
            <p:cNvPr id="32" name="Graphic 31" descr="Inpatient with solid fill">
              <a:extLst>
                <a:ext uri="{FF2B5EF4-FFF2-40B4-BE49-F238E27FC236}">
                  <a16:creationId xmlns:a16="http://schemas.microsoft.com/office/drawing/2014/main" id="{C3F25398-726C-ED6A-E8F7-86E33E79E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5" y="4421841"/>
              <a:ext cx="612000" cy="612000"/>
            </a:xfrm>
            <a:prstGeom prst="rect">
              <a:avLst/>
            </a:prstGeom>
          </p:spPr>
        </p:pic>
        <p:pic>
          <p:nvPicPr>
            <p:cNvPr id="33" name="Graphic 32" descr="Inpatient with solid fill">
              <a:extLst>
                <a:ext uri="{FF2B5EF4-FFF2-40B4-BE49-F238E27FC236}">
                  <a16:creationId xmlns:a16="http://schemas.microsoft.com/office/drawing/2014/main" id="{12D40CF3-F3DC-F21D-0B67-99318E15AB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6" y="3809841"/>
              <a:ext cx="612000" cy="612000"/>
            </a:xfrm>
            <a:prstGeom prst="rect">
              <a:avLst/>
            </a:prstGeom>
          </p:spPr>
        </p:pic>
        <p:pic>
          <p:nvPicPr>
            <p:cNvPr id="35" name="Graphic 34" descr="Inpatient with solid fill">
              <a:extLst>
                <a:ext uri="{FF2B5EF4-FFF2-40B4-BE49-F238E27FC236}">
                  <a16:creationId xmlns:a16="http://schemas.microsoft.com/office/drawing/2014/main" id="{D9EDC3F2-86AE-321F-769A-5736A88696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625867" y="5064471"/>
              <a:ext cx="612000" cy="61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10910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7ACF-EEF6-A1AF-946C-D1B65DF7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7452E-9E5D-29C8-75A7-D4580DF48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649" y="2527133"/>
            <a:ext cx="3328914" cy="3248192"/>
          </a:xfrm>
        </p:spPr>
        <p:txBody>
          <a:bodyPr/>
          <a:lstStyle/>
          <a:p>
            <a:r>
              <a:rPr lang="en-GB" dirty="0"/>
              <a:t>We know nothing specific about this egg</a:t>
            </a:r>
          </a:p>
          <a:p>
            <a:pPr lvl="1"/>
            <a:r>
              <a:rPr lang="en-GB" dirty="0"/>
              <a:t>i.e., no predictors</a:t>
            </a:r>
          </a:p>
          <a:p>
            <a:pPr lvl="1"/>
            <a:r>
              <a:rPr lang="en-GB" dirty="0"/>
              <a:t>(yet!)</a:t>
            </a:r>
          </a:p>
          <a:p>
            <a:endParaRPr lang="en-GB" dirty="0"/>
          </a:p>
          <a:p>
            <a:r>
              <a:rPr lang="en-GB" b="1" dirty="0"/>
              <a:t>But</a:t>
            </a:r>
            <a:r>
              <a:rPr lang="en-GB" dirty="0"/>
              <a:t> we do know something about the general baseline hazard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CC753-89BF-0B68-B28C-1AF23BEA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E761-8310-F9CD-CB4D-AE5932224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74</a:t>
            </a:fld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BCDC6B-6B1F-3D3E-648B-EB899CD7A567}"/>
              </a:ext>
            </a:extLst>
          </p:cNvPr>
          <p:cNvGrpSpPr/>
          <p:nvPr/>
        </p:nvGrpSpPr>
        <p:grpSpPr>
          <a:xfrm>
            <a:off x="4498813" y="2853825"/>
            <a:ext cx="4156411" cy="2425897"/>
            <a:chOff x="1625865" y="2687288"/>
            <a:chExt cx="5221130" cy="3047322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AD3F5338-2492-920C-9D50-EB97493B6736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 descr="Dinosaur Egg with solid fill">
              <a:extLst>
                <a:ext uri="{FF2B5EF4-FFF2-40B4-BE49-F238E27FC236}">
                  <a16:creationId xmlns:a16="http://schemas.microsoft.com/office/drawing/2014/main" id="{447B88A6-7664-3C6E-BFC6-6C1AC51261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936A7A86-E931-6530-8AB7-5691F9B1DF9E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851ECC99-76D8-8D7C-6345-8A1E9B911964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Dinosaur Egg with solid fill">
              <a:extLst>
                <a:ext uri="{FF2B5EF4-FFF2-40B4-BE49-F238E27FC236}">
                  <a16:creationId xmlns:a16="http://schemas.microsoft.com/office/drawing/2014/main" id="{79E3ACE4-F9F0-08C3-65AF-17A77E3168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71617"/>
              <a:ext cx="761707" cy="761707"/>
            </a:xfrm>
            <a:prstGeom prst="rect">
              <a:avLst/>
            </a:prstGeom>
          </p:spPr>
        </p:pic>
        <p:pic>
          <p:nvPicPr>
            <p:cNvPr id="26" name="Graphic 25" descr="Dinosaur Egg with solid fill">
              <a:extLst>
                <a:ext uri="{FF2B5EF4-FFF2-40B4-BE49-F238E27FC236}">
                  <a16:creationId xmlns:a16="http://schemas.microsoft.com/office/drawing/2014/main" id="{A8881DDC-5A51-05EC-7989-173CE8E713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6B89C2-70BC-01FE-CC80-104BBAF19C0A}"/>
                </a:ext>
              </a:extLst>
            </p:cNvPr>
            <p:cNvSpPr txBox="1"/>
            <p:nvPr/>
          </p:nvSpPr>
          <p:spPr>
            <a:xfrm>
              <a:off x="2051721" y="2687288"/>
              <a:ext cx="777665" cy="425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Start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5CB2DDF0-9533-6E1A-B3C1-0A6D18A56DEC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E2F34BCE-473F-2AE9-709B-CC13211961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3" y="4972903"/>
              <a:ext cx="761707" cy="761707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30846B9-D00F-5E0D-1304-057E5E6D5BBE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 descr="Dinosaur Egg with solid fill">
              <a:extLst>
                <a:ext uri="{FF2B5EF4-FFF2-40B4-BE49-F238E27FC236}">
                  <a16:creationId xmlns:a16="http://schemas.microsoft.com/office/drawing/2014/main" id="{4AD17DD5-0216-5C4B-E0BE-F9D2160FFF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8" y="3204372"/>
              <a:ext cx="612000" cy="612000"/>
            </a:xfrm>
            <a:prstGeom prst="rect">
              <a:avLst/>
            </a:prstGeom>
          </p:spPr>
        </p:pic>
        <p:pic>
          <p:nvPicPr>
            <p:cNvPr id="32" name="Graphic 31" descr="Dinosaur Egg with solid fill">
              <a:extLst>
                <a:ext uri="{FF2B5EF4-FFF2-40B4-BE49-F238E27FC236}">
                  <a16:creationId xmlns:a16="http://schemas.microsoft.com/office/drawing/2014/main" id="{32849804-B1BE-DB9C-9184-9ED394C114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5" y="4421841"/>
              <a:ext cx="612000" cy="612000"/>
            </a:xfrm>
            <a:prstGeom prst="rect">
              <a:avLst/>
            </a:prstGeom>
          </p:spPr>
        </p:pic>
        <p:pic>
          <p:nvPicPr>
            <p:cNvPr id="33" name="Graphic 32" descr="Dinosaur Egg with solid fill">
              <a:extLst>
                <a:ext uri="{FF2B5EF4-FFF2-40B4-BE49-F238E27FC236}">
                  <a16:creationId xmlns:a16="http://schemas.microsoft.com/office/drawing/2014/main" id="{F2EFA344-BEBA-4D90-6C19-A38500BD0A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25866" y="3809840"/>
              <a:ext cx="612000" cy="612000"/>
            </a:xfrm>
            <a:prstGeom prst="rect">
              <a:avLst/>
            </a:prstGeom>
          </p:spPr>
        </p:pic>
        <p:pic>
          <p:nvPicPr>
            <p:cNvPr id="35" name="Graphic 34" descr="Dinosaur Egg with solid fill">
              <a:extLst>
                <a:ext uri="{FF2B5EF4-FFF2-40B4-BE49-F238E27FC236}">
                  <a16:creationId xmlns:a16="http://schemas.microsoft.com/office/drawing/2014/main" id="{ABAE3956-D709-9C44-A6D8-39DCBAFC2F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625868" y="5064471"/>
              <a:ext cx="612000" cy="612000"/>
            </a:xfrm>
            <a:prstGeom prst="rect">
              <a:avLst/>
            </a:prstGeom>
          </p:spPr>
        </p:pic>
      </p:grp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A84693C-89BC-DAE2-37BF-3B633BB46A0A}"/>
              </a:ext>
            </a:extLst>
          </p:cNvPr>
          <p:cNvSpPr txBox="1">
            <a:spLocks/>
          </p:cNvSpPr>
          <p:nvPr/>
        </p:nvSpPr>
        <p:spPr bwMode="auto">
          <a:xfrm>
            <a:off x="515648" y="1772919"/>
            <a:ext cx="8112703" cy="63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kern="0" dirty="0"/>
              <a:t>What’s the “risk” of a </a:t>
            </a:r>
            <a:r>
              <a:rPr lang="en-GB" kern="0" dirty="0">
                <a:solidFill>
                  <a:schemeClr val="accent5"/>
                </a:solidFill>
              </a:rPr>
              <a:t>random egg </a:t>
            </a:r>
            <a:r>
              <a:rPr lang="en-GB" kern="0" dirty="0"/>
              <a:t>hatching </a:t>
            </a:r>
            <a:r>
              <a:rPr lang="en-GB" b="1" kern="0" dirty="0">
                <a:solidFill>
                  <a:schemeClr val="accent2"/>
                </a:solidFill>
              </a:rPr>
              <a:t>right now</a:t>
            </a:r>
            <a:r>
              <a:rPr lang="en-GB" kern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964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0719F4-EE6B-E067-B412-0C618EE8D3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Baseline hazard may change over time, even without predictors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06687A-4CD1-3F10-F3ED-6ED80D68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hazard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97544-3DA1-8E75-80FD-9A1AC123A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75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420132-BF9C-7707-6C7C-C99013D8F1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648" y="2574918"/>
            <a:ext cx="6400813" cy="3200407"/>
          </a:xfrm>
          <a:prstGeom prst="rect">
            <a:avLst/>
          </a:prstGeom>
        </p:spPr>
      </p:pic>
      <p:pic>
        <p:nvPicPr>
          <p:cNvPr id="18" name="Graphic 17" descr="Lightbulb with solid fill">
            <a:extLst>
              <a:ext uri="{FF2B5EF4-FFF2-40B4-BE49-F238E27FC236}">
                <a16:creationId xmlns:a16="http://schemas.microsoft.com/office/drawing/2014/main" id="{33B2111D-668E-8566-30F9-523709194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29564" y="3794267"/>
            <a:ext cx="761707" cy="761707"/>
          </a:xfrm>
          <a:prstGeom prst="rect">
            <a:avLst/>
          </a:prstGeom>
        </p:spPr>
      </p:pic>
      <p:pic>
        <p:nvPicPr>
          <p:cNvPr id="20" name="Graphic 19" descr="Lights On with solid fill">
            <a:extLst>
              <a:ext uri="{FF2B5EF4-FFF2-40B4-BE49-F238E27FC236}">
                <a16:creationId xmlns:a16="http://schemas.microsoft.com/office/drawing/2014/main" id="{C0FBCC9C-5796-9A8C-5DF2-9DBD1E24D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04417" y="3185316"/>
            <a:ext cx="612000" cy="612000"/>
          </a:xfrm>
          <a:prstGeom prst="rect">
            <a:avLst/>
          </a:prstGeom>
        </p:spPr>
      </p:pic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9B3D723B-D715-B8E3-FE87-0F17B1D8F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4417" y="374668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632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950F-AAE1-A99A-D57F-0A677346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406C6-7C9C-852B-56EC-B9836632CE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Baseline hazard may change over time, even without predictors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64F5EE-4B19-66A6-392E-5AE011B5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hazard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00696-5FC4-1E0B-C142-608110932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CEE953-E3FF-63C2-B2B3-09F6CF592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648" y="2574918"/>
            <a:ext cx="6400813" cy="3200407"/>
          </a:xfrm>
          <a:prstGeom prst="rect">
            <a:avLst/>
          </a:prstGeom>
        </p:spPr>
      </p:pic>
      <p:pic>
        <p:nvPicPr>
          <p:cNvPr id="10" name="Graphic 9" descr="Debt with solid fill">
            <a:extLst>
              <a:ext uri="{FF2B5EF4-FFF2-40B4-BE49-F238E27FC236}">
                <a16:creationId xmlns:a16="http://schemas.microsoft.com/office/drawing/2014/main" id="{A144C69A-1D54-8D3B-DCBC-4BC96B2C4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29564" y="3794267"/>
            <a:ext cx="761707" cy="761707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C00D1361-9665-77EF-E108-48D73EDCD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04417" y="3185316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189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3222-689E-5028-97D1-BD601C32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35628-0C53-5CD0-5D26-A549291242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Baseline hazard may change over time, even without predictors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4200B3-9712-4298-1EAD-A2732AE9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hazard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600CD-C719-B323-ECA1-F02585AAC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A9C07-B60F-CAB4-C750-D82415B5D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647" y="2574918"/>
            <a:ext cx="6400813" cy="3200407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69D85BAC-D4AC-2A21-E55A-93AB93F317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29564" y="3794267"/>
            <a:ext cx="761707" cy="761707"/>
          </a:xfrm>
          <a:prstGeom prst="rect">
            <a:avLst/>
          </a:prstGeom>
        </p:spPr>
      </p:pic>
      <p:pic>
        <p:nvPicPr>
          <p:cNvPr id="10" name="Graphic 9" descr="Inpatient with solid fill">
            <a:extLst>
              <a:ext uri="{FF2B5EF4-FFF2-40B4-BE49-F238E27FC236}">
                <a16:creationId xmlns:a16="http://schemas.microsoft.com/office/drawing/2014/main" id="{DBCE5F78-19E1-E748-6782-CFF3A22FF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04417" y="3185316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168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3C16-5F35-1D0A-73F2-2A77E972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C8938E-9951-94A7-49E4-946503A528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Baseline hazard may change over time, even without predictors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0C3E4E-0C51-79D2-1AA2-3492944C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hazard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200FF-20BC-143D-8410-3113140C6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7C2BF-9410-7A4D-6085-174B2B121A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647" y="2574918"/>
            <a:ext cx="6400813" cy="3200407"/>
          </a:xfrm>
          <a:prstGeom prst="rect">
            <a:avLst/>
          </a:prstGeom>
        </p:spPr>
      </p:pic>
      <p:pic>
        <p:nvPicPr>
          <p:cNvPr id="7" name="Graphic 6" descr="Man with cane with solid fill">
            <a:extLst>
              <a:ext uri="{FF2B5EF4-FFF2-40B4-BE49-F238E27FC236}">
                <a16:creationId xmlns:a16="http://schemas.microsoft.com/office/drawing/2014/main" id="{6E90C99B-124C-E2A9-5D5C-CB4838A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71271" y="3815120"/>
            <a:ext cx="720000" cy="720000"/>
          </a:xfrm>
          <a:prstGeom prst="rect">
            <a:avLst/>
          </a:prstGeom>
        </p:spPr>
      </p:pic>
      <p:pic>
        <p:nvPicPr>
          <p:cNvPr id="11" name="Graphic 10" descr="Baby with solid fill">
            <a:extLst>
              <a:ext uri="{FF2B5EF4-FFF2-40B4-BE49-F238E27FC236}">
                <a16:creationId xmlns:a16="http://schemas.microsoft.com/office/drawing/2014/main" id="{67C27A6B-1157-A275-CBD0-BC6BE94E3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471271" y="315064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228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C5E7-6A01-A56F-87AE-C88FE8F5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FF1982-C78B-6ADC-526C-6299E4A9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hazard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927E2-A2E2-0C23-BED6-10B71513C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79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FCE16BC-CCAF-D300-036A-F18BAF50B9FB}"/>
              </a:ext>
            </a:extLst>
          </p:cNvPr>
          <p:cNvSpPr txBox="1">
            <a:spLocks/>
          </p:cNvSpPr>
          <p:nvPr/>
        </p:nvSpPr>
        <p:spPr bwMode="auto">
          <a:xfrm>
            <a:off x="515648" y="1772919"/>
            <a:ext cx="8112703" cy="63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kern="0" dirty="0"/>
              <a:t>What’s the “risk” of a </a:t>
            </a:r>
            <a:r>
              <a:rPr lang="en-GB" kern="0" dirty="0">
                <a:solidFill>
                  <a:schemeClr val="accent5"/>
                </a:solidFill>
              </a:rPr>
              <a:t>random egg </a:t>
            </a:r>
            <a:r>
              <a:rPr lang="en-GB" kern="0" dirty="0"/>
              <a:t>hatching </a:t>
            </a:r>
            <a:r>
              <a:rPr lang="en-GB" b="1" kern="0" dirty="0">
                <a:solidFill>
                  <a:schemeClr val="accent2"/>
                </a:solidFill>
              </a:rPr>
              <a:t>right now</a:t>
            </a:r>
            <a:r>
              <a:rPr lang="en-GB" kern="0" dirty="0"/>
              <a:t>?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CDD5E96-675E-23D1-C139-2505E12A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842719C-F29D-068A-6B8F-7631D48DB52C}"/>
              </a:ext>
            </a:extLst>
          </p:cNvPr>
          <p:cNvGrpSpPr/>
          <p:nvPr/>
        </p:nvGrpSpPr>
        <p:grpSpPr>
          <a:xfrm>
            <a:off x="5436096" y="2912322"/>
            <a:ext cx="3092642" cy="1793992"/>
            <a:chOff x="1593752" y="2687288"/>
            <a:chExt cx="5253243" cy="3047322"/>
          </a:xfrm>
        </p:grpSpPr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530D4893-3586-1A3B-E3E6-92BB72B946DD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8" name="Graphic 47" descr="Dinosaur Egg with solid fill">
              <a:extLst>
                <a:ext uri="{FF2B5EF4-FFF2-40B4-BE49-F238E27FC236}">
                  <a16:creationId xmlns:a16="http://schemas.microsoft.com/office/drawing/2014/main" id="{C9D5CCF2-B1E5-B564-1B24-3EA7C216DE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36E13600-FAB9-91C6-6B88-EF2540338C51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5F4B07CE-3D63-7E09-BF01-7E23518A2F6E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1" name="Graphic 50" descr="Dinosaur Egg with solid fill">
              <a:extLst>
                <a:ext uri="{FF2B5EF4-FFF2-40B4-BE49-F238E27FC236}">
                  <a16:creationId xmlns:a16="http://schemas.microsoft.com/office/drawing/2014/main" id="{9C4147A4-1C17-7EE9-3A91-A190830E80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52" name="Graphic 51" descr="Dinosaur Egg with solid fill">
              <a:extLst>
                <a:ext uri="{FF2B5EF4-FFF2-40B4-BE49-F238E27FC236}">
                  <a16:creationId xmlns:a16="http://schemas.microsoft.com/office/drawing/2014/main" id="{D33B12D1-CF5C-4BF5-347C-981387C29F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FCD235-B975-D290-07FD-3CBED984066B}"/>
                </a:ext>
              </a:extLst>
            </p:cNvPr>
            <p:cNvSpPr txBox="1"/>
            <p:nvPr/>
          </p:nvSpPr>
          <p:spPr>
            <a:xfrm>
              <a:off x="2051720" y="2687288"/>
              <a:ext cx="866429" cy="470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Start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9E733004-DB8A-84C2-9358-B033290792F1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5" name="Graphic 54" descr="Dinosaur Egg with solid fill">
              <a:extLst>
                <a:ext uri="{FF2B5EF4-FFF2-40B4-BE49-F238E27FC236}">
                  <a16:creationId xmlns:a16="http://schemas.microsoft.com/office/drawing/2014/main" id="{E034E4B2-28A7-4BEC-74C6-7408C6AFAE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2" y="4972903"/>
              <a:ext cx="761706" cy="761707"/>
            </a:xfrm>
            <a:prstGeom prst="rect">
              <a:avLst/>
            </a:prstGeom>
          </p:spPr>
        </p:pic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9FAEBD5-A6C8-49C7-1B87-91CED81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Graphic 56" descr="Dinosaur Egg with solid fill">
              <a:extLst>
                <a:ext uri="{FF2B5EF4-FFF2-40B4-BE49-F238E27FC236}">
                  <a16:creationId xmlns:a16="http://schemas.microsoft.com/office/drawing/2014/main" id="{6BCF49E2-276B-CE63-FE80-61C9DDCB79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55249" y="3239878"/>
              <a:ext cx="540000" cy="540000"/>
            </a:xfrm>
            <a:prstGeom prst="rect">
              <a:avLst/>
            </a:prstGeom>
          </p:spPr>
        </p:pic>
        <p:pic>
          <p:nvPicPr>
            <p:cNvPr id="58" name="Graphic 57" descr="Dinosaur Egg with solid fill">
              <a:extLst>
                <a:ext uri="{FF2B5EF4-FFF2-40B4-BE49-F238E27FC236}">
                  <a16:creationId xmlns:a16="http://schemas.microsoft.com/office/drawing/2014/main" id="{DA46C1A5-EBBE-D98F-7262-A88FC67CCB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91250" y="4549349"/>
              <a:ext cx="468000" cy="468000"/>
            </a:xfrm>
            <a:prstGeom prst="rect">
              <a:avLst/>
            </a:prstGeom>
          </p:spPr>
        </p:pic>
        <p:pic>
          <p:nvPicPr>
            <p:cNvPr id="59" name="Graphic 58" descr="Dinosaur Egg with solid fill">
              <a:extLst>
                <a:ext uri="{FF2B5EF4-FFF2-40B4-BE49-F238E27FC236}">
                  <a16:creationId xmlns:a16="http://schemas.microsoft.com/office/drawing/2014/main" id="{9A001990-EB26-8734-87C4-B81AA5B60E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593752" y="3797280"/>
              <a:ext cx="684000" cy="684000"/>
            </a:xfrm>
            <a:prstGeom prst="rect">
              <a:avLst/>
            </a:prstGeom>
          </p:spPr>
        </p:pic>
        <p:pic>
          <p:nvPicPr>
            <p:cNvPr id="60" name="Graphic 59" descr="Dinosaur Egg with solid fill">
              <a:extLst>
                <a:ext uri="{FF2B5EF4-FFF2-40B4-BE49-F238E27FC236}">
                  <a16:creationId xmlns:a16="http://schemas.microsoft.com/office/drawing/2014/main" id="{739EC760-3C30-95C2-AD7B-DDF4DA7AAC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60014" y="5085419"/>
              <a:ext cx="540000" cy="540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413392F-ABE3-CFA5-4351-132955FAEE39}"/>
              </a:ext>
            </a:extLst>
          </p:cNvPr>
          <p:cNvSpPr/>
          <p:nvPr/>
        </p:nvSpPr>
        <p:spPr>
          <a:xfrm>
            <a:off x="4067944" y="2912322"/>
            <a:ext cx="648072" cy="449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073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8F67-3735-47C9-94F9-52947215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7D6B75-0084-0A2F-3D60-6D415F02E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Continuous predictor: </a:t>
            </a:r>
            <a:r>
              <a:rPr lang="en-GB" b="1" dirty="0">
                <a:solidFill>
                  <a:schemeClr val="accent2"/>
                </a:solidFill>
              </a:rPr>
              <a:t>weight/size </a:t>
            </a:r>
            <a:r>
              <a:rPr lang="en-GB" dirty="0"/>
              <a:t>of the egg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DEC4D4-1C14-4AE2-8F8D-93FF50B0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170E3-5642-90FC-054F-5D900A810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80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21854B-4B14-3DBA-4F09-D19DBFADBCDE}"/>
              </a:ext>
            </a:extLst>
          </p:cNvPr>
          <p:cNvGrpSpPr/>
          <p:nvPr/>
        </p:nvGrpSpPr>
        <p:grpSpPr>
          <a:xfrm>
            <a:off x="1929321" y="2515271"/>
            <a:ext cx="5253243" cy="3047322"/>
            <a:chOff x="1593752" y="2687288"/>
            <a:chExt cx="5253243" cy="3047322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1C56DD04-3B6A-0454-DBE3-39C99CC91718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Dinosaur Egg with solid fill">
              <a:extLst>
                <a:ext uri="{FF2B5EF4-FFF2-40B4-BE49-F238E27FC236}">
                  <a16:creationId xmlns:a16="http://schemas.microsoft.com/office/drawing/2014/main" id="{11A94D31-5A9E-3F8A-D8BC-FB35B2FA14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EA3734A-08B2-E0E2-BA82-41E49E22E31D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27F13319-66B5-8114-3A6E-123401EC256A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Dinosaur Egg with solid fill">
              <a:extLst>
                <a:ext uri="{FF2B5EF4-FFF2-40B4-BE49-F238E27FC236}">
                  <a16:creationId xmlns:a16="http://schemas.microsoft.com/office/drawing/2014/main" id="{29A8E821-D874-2694-37D8-2F0A8C713C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11" name="Graphic 10" descr="Dinosaur Egg with solid fill">
              <a:extLst>
                <a:ext uri="{FF2B5EF4-FFF2-40B4-BE49-F238E27FC236}">
                  <a16:creationId xmlns:a16="http://schemas.microsoft.com/office/drawing/2014/main" id="{558CEFE4-1563-4166-BB3B-6611FC3EAA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47E15D-A85E-2468-1097-78B57E8DF962}"/>
                </a:ext>
              </a:extLst>
            </p:cNvPr>
            <p:cNvSpPr txBox="1"/>
            <p:nvPr/>
          </p:nvSpPr>
          <p:spPr>
            <a:xfrm>
              <a:off x="2051720" y="2687288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3AD12649-FB90-6DFC-08DC-601C666182D7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" name="Graphic 13" descr="Question Mark with solid fill">
              <a:extLst>
                <a:ext uri="{FF2B5EF4-FFF2-40B4-BE49-F238E27FC236}">
                  <a16:creationId xmlns:a16="http://schemas.microsoft.com/office/drawing/2014/main" id="{E7F35E17-D14C-C940-EC42-40718DBC88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3" y="4972903"/>
              <a:ext cx="761707" cy="76170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F6C1CB8-2412-51E1-CF4D-35011A657529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Graphic 15" descr="Dinosaur Egg with solid fill">
              <a:extLst>
                <a:ext uri="{FF2B5EF4-FFF2-40B4-BE49-F238E27FC236}">
                  <a16:creationId xmlns:a16="http://schemas.microsoft.com/office/drawing/2014/main" id="{2704FE8C-3B67-B21E-E909-2D52516740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55249" y="3239878"/>
              <a:ext cx="540000" cy="540000"/>
            </a:xfrm>
            <a:prstGeom prst="rect">
              <a:avLst/>
            </a:prstGeom>
          </p:spPr>
        </p:pic>
        <p:pic>
          <p:nvPicPr>
            <p:cNvPr id="17" name="Graphic 16" descr="Dinosaur Egg with solid fill">
              <a:extLst>
                <a:ext uri="{FF2B5EF4-FFF2-40B4-BE49-F238E27FC236}">
                  <a16:creationId xmlns:a16="http://schemas.microsoft.com/office/drawing/2014/main" id="{A9AFB343-3440-E37A-33F3-37FA8FA71B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91249" y="4512776"/>
              <a:ext cx="468000" cy="468000"/>
            </a:xfrm>
            <a:prstGeom prst="rect">
              <a:avLst/>
            </a:prstGeom>
          </p:spPr>
        </p:pic>
        <p:pic>
          <p:nvPicPr>
            <p:cNvPr id="18" name="Graphic 17" descr="Dinosaur Egg with solid fill">
              <a:extLst>
                <a:ext uri="{FF2B5EF4-FFF2-40B4-BE49-F238E27FC236}">
                  <a16:creationId xmlns:a16="http://schemas.microsoft.com/office/drawing/2014/main" id="{73E7B00E-F1F3-D5CD-05AB-71FF434618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593752" y="3797280"/>
              <a:ext cx="684000" cy="684000"/>
            </a:xfrm>
            <a:prstGeom prst="rect">
              <a:avLst/>
            </a:prstGeom>
          </p:spPr>
        </p:pic>
        <p:pic>
          <p:nvPicPr>
            <p:cNvPr id="19" name="Graphic 18" descr="Dinosaur Egg with solid fill">
              <a:extLst>
                <a:ext uri="{FF2B5EF4-FFF2-40B4-BE49-F238E27FC236}">
                  <a16:creationId xmlns:a16="http://schemas.microsoft.com/office/drawing/2014/main" id="{15D25EA1-42C3-8038-8F7E-6B8F4432FD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660013" y="5145400"/>
              <a:ext cx="540000" cy="540000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DD268A-F493-BE8B-3143-16FB32235DF8}"/>
              </a:ext>
            </a:extLst>
          </p:cNvPr>
          <p:cNvCxnSpPr/>
          <p:nvPr/>
        </p:nvCxnSpPr>
        <p:spPr>
          <a:xfrm>
            <a:off x="1691680" y="3270172"/>
            <a:ext cx="0" cy="2111495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7038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74D8-1270-607D-9985-72779333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9802EBE-D566-508A-6779-D0E7FF001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A6761C-660A-D113-F7B3-3193C4CC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A81A-F904-3781-3D55-A96CFE64E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81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2EB7F9-69AD-0B15-C554-744054FBF804}"/>
              </a:ext>
            </a:extLst>
          </p:cNvPr>
          <p:cNvSpPr txBox="1">
            <a:spLocks/>
          </p:cNvSpPr>
          <p:nvPr/>
        </p:nvSpPr>
        <p:spPr bwMode="auto">
          <a:xfrm>
            <a:off x="515648" y="1772919"/>
            <a:ext cx="8112703" cy="63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dirty="0"/>
              <a:t>Continuous predictor: </a:t>
            </a:r>
            <a:r>
              <a:rPr lang="en-GB" b="1" dirty="0">
                <a:solidFill>
                  <a:schemeClr val="accent2"/>
                </a:solidFill>
              </a:rPr>
              <a:t>weight/size </a:t>
            </a:r>
            <a:r>
              <a:rPr lang="en-GB" dirty="0"/>
              <a:t>of the egg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03A8D1-1B93-384E-2C3C-2F2B578B7F58}"/>
              </a:ext>
            </a:extLst>
          </p:cNvPr>
          <p:cNvGrpSpPr/>
          <p:nvPr/>
        </p:nvGrpSpPr>
        <p:grpSpPr>
          <a:xfrm>
            <a:off x="5436096" y="2912322"/>
            <a:ext cx="3092642" cy="1793992"/>
            <a:chOff x="1593752" y="2687288"/>
            <a:chExt cx="5253243" cy="3047322"/>
          </a:xfrm>
        </p:grpSpPr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7F976910-61B0-18F7-0AA6-E6A31A27B006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8" name="Graphic 47" descr="Dinosaur Egg with solid fill">
              <a:extLst>
                <a:ext uri="{FF2B5EF4-FFF2-40B4-BE49-F238E27FC236}">
                  <a16:creationId xmlns:a16="http://schemas.microsoft.com/office/drawing/2014/main" id="{C936D6D2-0E82-A20F-6606-CC3DB7D865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C4AB5913-6D8C-E882-722A-9859CF25F54E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20FD0DDA-E056-165C-EB4B-BC24B5D1A9C1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1" name="Graphic 50" descr="Dinosaur Egg with solid fill">
              <a:extLst>
                <a:ext uri="{FF2B5EF4-FFF2-40B4-BE49-F238E27FC236}">
                  <a16:creationId xmlns:a16="http://schemas.microsoft.com/office/drawing/2014/main" id="{3F8FB72C-BE9C-845D-6212-08BE583713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52" name="Graphic 51" descr="Dinosaur Egg with solid fill">
              <a:extLst>
                <a:ext uri="{FF2B5EF4-FFF2-40B4-BE49-F238E27FC236}">
                  <a16:creationId xmlns:a16="http://schemas.microsoft.com/office/drawing/2014/main" id="{80091D6D-FC91-DF75-FD0F-6D0779C761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9274838-25B9-8B47-0B56-E941618FC1B5}"/>
                </a:ext>
              </a:extLst>
            </p:cNvPr>
            <p:cNvSpPr txBox="1"/>
            <p:nvPr/>
          </p:nvSpPr>
          <p:spPr>
            <a:xfrm>
              <a:off x="2051720" y="2687288"/>
              <a:ext cx="866429" cy="470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Start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01772D49-B465-7ED6-E4B1-9726317A8F36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5" name="Graphic 54" descr="Dinosaur Egg with solid fill">
              <a:extLst>
                <a:ext uri="{FF2B5EF4-FFF2-40B4-BE49-F238E27FC236}">
                  <a16:creationId xmlns:a16="http://schemas.microsoft.com/office/drawing/2014/main" id="{E3C985C7-EB6B-E55B-750C-0BB35868AE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7202" y="4972903"/>
              <a:ext cx="761706" cy="761707"/>
            </a:xfrm>
            <a:prstGeom prst="rect">
              <a:avLst/>
            </a:prstGeom>
          </p:spPr>
        </p:pic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93DF15D-A5F0-F7CF-4EA7-FACBDEF3F541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Graphic 56" descr="Dinosaur Egg with solid fill">
              <a:extLst>
                <a:ext uri="{FF2B5EF4-FFF2-40B4-BE49-F238E27FC236}">
                  <a16:creationId xmlns:a16="http://schemas.microsoft.com/office/drawing/2014/main" id="{1ADC3D0A-E468-5D2B-8437-268F7D4BA1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55249" y="3239878"/>
              <a:ext cx="540000" cy="540000"/>
            </a:xfrm>
            <a:prstGeom prst="rect">
              <a:avLst/>
            </a:prstGeom>
          </p:spPr>
        </p:pic>
        <p:pic>
          <p:nvPicPr>
            <p:cNvPr id="58" name="Graphic 57" descr="Dinosaur Egg with solid fill">
              <a:extLst>
                <a:ext uri="{FF2B5EF4-FFF2-40B4-BE49-F238E27FC236}">
                  <a16:creationId xmlns:a16="http://schemas.microsoft.com/office/drawing/2014/main" id="{AFAB1BDA-5F5A-932F-5118-C51BD9670A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91250" y="4549349"/>
              <a:ext cx="468000" cy="468000"/>
            </a:xfrm>
            <a:prstGeom prst="rect">
              <a:avLst/>
            </a:prstGeom>
          </p:spPr>
        </p:pic>
        <p:pic>
          <p:nvPicPr>
            <p:cNvPr id="59" name="Graphic 58" descr="Dinosaur Egg with solid fill">
              <a:extLst>
                <a:ext uri="{FF2B5EF4-FFF2-40B4-BE49-F238E27FC236}">
                  <a16:creationId xmlns:a16="http://schemas.microsoft.com/office/drawing/2014/main" id="{08039EF1-C794-163E-D362-189DF39BBC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593752" y="3797280"/>
              <a:ext cx="684000" cy="684000"/>
            </a:xfrm>
            <a:prstGeom prst="rect">
              <a:avLst/>
            </a:prstGeom>
          </p:spPr>
        </p:pic>
        <p:pic>
          <p:nvPicPr>
            <p:cNvPr id="60" name="Graphic 59" descr="Dinosaur Egg with solid fill">
              <a:extLst>
                <a:ext uri="{FF2B5EF4-FFF2-40B4-BE49-F238E27FC236}">
                  <a16:creationId xmlns:a16="http://schemas.microsoft.com/office/drawing/2014/main" id="{82CF8645-E6A2-6EA4-4323-7ECA6C1FFB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60014" y="5085419"/>
              <a:ext cx="540000" cy="540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7E1BF68-75F2-BE29-7D6A-895FBE3E9276}"/>
              </a:ext>
            </a:extLst>
          </p:cNvPr>
          <p:cNvCxnSpPr>
            <a:cxnSpLocks/>
          </p:cNvCxnSpPr>
          <p:nvPr/>
        </p:nvCxnSpPr>
        <p:spPr>
          <a:xfrm>
            <a:off x="5364088" y="3309373"/>
            <a:ext cx="0" cy="1332659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51FF1EC-FE18-4911-555E-7A14E4DB3040}"/>
              </a:ext>
            </a:extLst>
          </p:cNvPr>
          <p:cNvSpPr/>
          <p:nvPr/>
        </p:nvSpPr>
        <p:spPr>
          <a:xfrm>
            <a:off x="4067944" y="2912322"/>
            <a:ext cx="648072" cy="449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5408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7714-C3F5-51DE-5B13-C8886EE7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185D87-09EB-525D-B5C5-E9D6A226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6A77A-5416-2B0D-371B-72255AF3D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82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920A820-E046-2425-7BB5-06A7F599A299}"/>
              </a:ext>
            </a:extLst>
          </p:cNvPr>
          <p:cNvSpPr txBox="1">
            <a:spLocks/>
          </p:cNvSpPr>
          <p:nvPr/>
        </p:nvSpPr>
        <p:spPr bwMode="auto">
          <a:xfrm>
            <a:off x="515648" y="1772919"/>
            <a:ext cx="8112703" cy="63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kern="0" dirty="0"/>
              <a:t>Different weight can change an egg’s hazard from the baseline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0302987-6867-A87F-59D2-71B718B3C0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42DD3D34-02A9-8147-5CB8-DE031DB36B51}"/>
              </a:ext>
            </a:extLst>
          </p:cNvPr>
          <p:cNvGrpSpPr/>
          <p:nvPr/>
        </p:nvGrpSpPr>
        <p:grpSpPr>
          <a:xfrm>
            <a:off x="5436096" y="2912322"/>
            <a:ext cx="3092642" cy="1793992"/>
            <a:chOff x="1593752" y="2687288"/>
            <a:chExt cx="5253243" cy="3047322"/>
          </a:xfrm>
        </p:grpSpPr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383D77B6-40AD-2E98-5FE2-A73F97E6D02E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5" name="Graphic 54" descr="Dinosaur Egg with solid fill">
              <a:extLst>
                <a:ext uri="{FF2B5EF4-FFF2-40B4-BE49-F238E27FC236}">
                  <a16:creationId xmlns:a16="http://schemas.microsoft.com/office/drawing/2014/main" id="{FDC76C14-EB73-628F-F8B5-14E3A9BF2C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2DEC49F1-CEBA-6521-620D-6852DAA255AC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3D9E885B-E922-0C1F-10AD-38D641EDE255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Graphic 57" descr="Dinosaur Egg with solid fill">
              <a:extLst>
                <a:ext uri="{FF2B5EF4-FFF2-40B4-BE49-F238E27FC236}">
                  <a16:creationId xmlns:a16="http://schemas.microsoft.com/office/drawing/2014/main" id="{AD63E878-FBC3-CDB9-A096-2A585153CB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59" name="Graphic 58" descr="Dinosaur Egg with solid fill">
              <a:extLst>
                <a:ext uri="{FF2B5EF4-FFF2-40B4-BE49-F238E27FC236}">
                  <a16:creationId xmlns:a16="http://schemas.microsoft.com/office/drawing/2014/main" id="{4E353BA4-7DDA-6388-9471-584D76C61B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5061BE-5C81-9D22-90D1-8CC0B662D989}"/>
                </a:ext>
              </a:extLst>
            </p:cNvPr>
            <p:cNvSpPr txBox="1"/>
            <p:nvPr/>
          </p:nvSpPr>
          <p:spPr>
            <a:xfrm>
              <a:off x="2051720" y="2687288"/>
              <a:ext cx="866429" cy="470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Start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BC27A6CA-BACF-66DD-DE49-CC0AF42EEDA9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2" name="Graphic 61" descr="Dinosaur Egg with solid fill">
              <a:extLst>
                <a:ext uri="{FF2B5EF4-FFF2-40B4-BE49-F238E27FC236}">
                  <a16:creationId xmlns:a16="http://schemas.microsoft.com/office/drawing/2014/main" id="{241EC7C3-CAC4-F194-31EE-DBDD465B63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017202" y="4972903"/>
              <a:ext cx="761706" cy="761707"/>
            </a:xfrm>
            <a:prstGeom prst="rect">
              <a:avLst/>
            </a:prstGeom>
          </p:spPr>
        </p:pic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957A9D7-63D8-7CDF-4835-8821AD138303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Graphic 63" descr="Dinosaur Egg with solid fill">
              <a:extLst>
                <a:ext uri="{FF2B5EF4-FFF2-40B4-BE49-F238E27FC236}">
                  <a16:creationId xmlns:a16="http://schemas.microsoft.com/office/drawing/2014/main" id="{24439A90-8C76-7A8D-9AD5-87DE5DA9B8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655249" y="3239878"/>
              <a:ext cx="540000" cy="540000"/>
            </a:xfrm>
            <a:prstGeom prst="rect">
              <a:avLst/>
            </a:prstGeom>
          </p:spPr>
        </p:pic>
        <p:pic>
          <p:nvPicPr>
            <p:cNvPr id="65" name="Graphic 64" descr="Dinosaur Egg with solid fill">
              <a:extLst>
                <a:ext uri="{FF2B5EF4-FFF2-40B4-BE49-F238E27FC236}">
                  <a16:creationId xmlns:a16="http://schemas.microsoft.com/office/drawing/2014/main" id="{3062859A-9F7E-154B-1E2D-981C5F521E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691250" y="4549349"/>
              <a:ext cx="468000" cy="468000"/>
            </a:xfrm>
            <a:prstGeom prst="rect">
              <a:avLst/>
            </a:prstGeom>
          </p:spPr>
        </p:pic>
        <p:pic>
          <p:nvPicPr>
            <p:cNvPr id="66" name="Graphic 65" descr="Dinosaur Egg with solid fill">
              <a:extLst>
                <a:ext uri="{FF2B5EF4-FFF2-40B4-BE49-F238E27FC236}">
                  <a16:creationId xmlns:a16="http://schemas.microsoft.com/office/drawing/2014/main" id="{2D121931-DB15-1D16-B934-49A889EFDE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593752" y="3797280"/>
              <a:ext cx="684000" cy="684000"/>
            </a:xfrm>
            <a:prstGeom prst="rect">
              <a:avLst/>
            </a:prstGeom>
          </p:spPr>
        </p:pic>
        <p:pic>
          <p:nvPicPr>
            <p:cNvPr id="67" name="Graphic 66" descr="Dinosaur Egg with solid fill">
              <a:extLst>
                <a:ext uri="{FF2B5EF4-FFF2-40B4-BE49-F238E27FC236}">
                  <a16:creationId xmlns:a16="http://schemas.microsoft.com/office/drawing/2014/main" id="{DC6CCD9B-D8B0-C165-66C9-2701D5F8C4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660014" y="5085419"/>
              <a:ext cx="540000" cy="540000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2CF453-C275-1022-6A95-0E4D930DD3EF}"/>
              </a:ext>
            </a:extLst>
          </p:cNvPr>
          <p:cNvCxnSpPr>
            <a:cxnSpLocks/>
          </p:cNvCxnSpPr>
          <p:nvPr/>
        </p:nvCxnSpPr>
        <p:spPr>
          <a:xfrm>
            <a:off x="5220072" y="3309373"/>
            <a:ext cx="0" cy="1332659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01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AF60-85F9-765A-8E18-96E94042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5C774C-780D-9C4E-6DFA-DF0F4E9F16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</a:rPr>
              <a:t>Predictor “multiplies” the baseline hazard</a:t>
            </a:r>
          </a:p>
          <a:p>
            <a:pPr marL="0" indent="0">
              <a:buNone/>
            </a:pPr>
            <a:endParaRPr lang="en-GB" sz="2400" dirty="0">
              <a:latin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h(t) = 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24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2400" dirty="0">
                <a:latin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* exp(</a:t>
            </a:r>
            <a:r>
              <a:rPr lang="el-GR" sz="2400" dirty="0">
                <a:solidFill>
                  <a:schemeClr val="bg1"/>
                </a:solidFill>
                <a:latin typeface="Arial" panose="020B0604020202020204" pitchFamily="34" charset="0"/>
              </a:rPr>
              <a:t>β</a:t>
            </a:r>
            <a:r>
              <a:rPr lang="el-GR" sz="2400" baseline="-25000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x</a:t>
            </a:r>
            <a:r>
              <a:rPr lang="en-GB" sz="2400" baseline="-25000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B44673-8662-DBE2-9792-201E9F0E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D6850-2011-D40E-E980-AF9F62E82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83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A3B48A-6192-060D-62E6-CA3A717549B5}"/>
              </a:ext>
            </a:extLst>
          </p:cNvPr>
          <p:cNvCxnSpPr>
            <a:cxnSpLocks/>
          </p:cNvCxnSpPr>
          <p:nvPr/>
        </p:nvCxnSpPr>
        <p:spPr>
          <a:xfrm flipV="1">
            <a:off x="6804247" y="3140968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100B1D-BCEF-406A-A66F-2509FCD32FA2}"/>
              </a:ext>
            </a:extLst>
          </p:cNvPr>
          <p:cNvSpPr txBox="1"/>
          <p:nvPr/>
        </p:nvSpPr>
        <p:spPr>
          <a:xfrm>
            <a:off x="6228184" y="3667868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Baseline hazard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05D04-9F22-9C6F-A38C-FCEBADCF9E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96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09B9-ACF5-4095-93B0-9FC52B2E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A3EBE8-EA95-70C3-970B-FB5272ABA2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</a:rPr>
              <a:t>Predictor “multiplies” the baseline hazard</a:t>
            </a:r>
          </a:p>
          <a:p>
            <a:pPr marL="0" indent="0">
              <a:buNone/>
            </a:pPr>
            <a:endParaRPr lang="en-GB" sz="2400" dirty="0">
              <a:latin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h(t) = 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24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2400" dirty="0">
                <a:latin typeface="Arial" panose="020B0604020202020204" pitchFamily="34" charset="0"/>
              </a:rPr>
              <a:t> * exp(</a:t>
            </a:r>
            <a:r>
              <a:rPr lang="el-GR" sz="2400" dirty="0">
                <a:latin typeface="Arial" panose="020B0604020202020204" pitchFamily="34" charset="0"/>
              </a:rPr>
              <a:t>β</a:t>
            </a:r>
            <a:r>
              <a:rPr lang="el-GR" sz="2400" baseline="-25000" dirty="0">
                <a:latin typeface="Arial" panose="020B0604020202020204" pitchFamily="34" charset="0"/>
              </a:rPr>
              <a:t>1</a:t>
            </a:r>
            <a:r>
              <a:rPr lang="en-GB" sz="24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24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</a:rPr>
              <a:t>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72EE50-773E-489C-1163-A30F43B4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B0C1B-0744-C9E2-3223-CA5D477EF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84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90E70B-2502-80E1-EB78-F9C623AB0D1A}"/>
              </a:ext>
            </a:extLst>
          </p:cNvPr>
          <p:cNvCxnSpPr>
            <a:cxnSpLocks/>
          </p:cNvCxnSpPr>
          <p:nvPr/>
        </p:nvCxnSpPr>
        <p:spPr>
          <a:xfrm flipV="1">
            <a:off x="6804247" y="3140968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39FE39-CDE4-1A58-CB07-D06A7893CD2B}"/>
              </a:ext>
            </a:extLst>
          </p:cNvPr>
          <p:cNvSpPr txBox="1"/>
          <p:nvPr/>
        </p:nvSpPr>
        <p:spPr>
          <a:xfrm>
            <a:off x="6228184" y="3667868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Baseline hazard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4A11DB-F7C3-F2AA-7751-6090F28A1496}"/>
              </a:ext>
            </a:extLst>
          </p:cNvPr>
          <p:cNvCxnSpPr>
            <a:cxnSpLocks/>
          </p:cNvCxnSpPr>
          <p:nvPr/>
        </p:nvCxnSpPr>
        <p:spPr>
          <a:xfrm flipV="1">
            <a:off x="8378122" y="3146778"/>
            <a:ext cx="0" cy="5040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BE97CE-D76A-CC99-575B-9B6FF855BD92}"/>
              </a:ext>
            </a:extLst>
          </p:cNvPr>
          <p:cNvSpPr txBox="1"/>
          <p:nvPr/>
        </p:nvSpPr>
        <p:spPr>
          <a:xfrm>
            <a:off x="7802059" y="3673678"/>
            <a:ext cx="1152126" cy="3693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Predictor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E1B921-375B-5C3F-3F08-C42E475B10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652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3219-EDEE-5D4B-4CC9-1DDE9C06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798D9-0C1A-D6EB-33C8-B459F8141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</a:rPr>
              <a:t>Predictor “multiplies” the baseline hazard</a:t>
            </a:r>
          </a:p>
          <a:p>
            <a:pPr marL="0" indent="0">
              <a:buNone/>
            </a:pPr>
            <a:endParaRPr lang="en-GB" sz="2400" dirty="0">
              <a:latin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h(t) = 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24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2400" dirty="0">
                <a:latin typeface="Arial" panose="020B0604020202020204" pitchFamily="34" charset="0"/>
              </a:rPr>
              <a:t> * exp(</a:t>
            </a:r>
            <a:r>
              <a:rPr lang="el-GR" sz="24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l-GR" sz="24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24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</a:rPr>
              <a:t>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82039E-C983-F8AA-0C31-B941AE65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0BD47-F792-F92A-0E3C-380669F7F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85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6C05FA-3870-6E15-0CD6-676E8E164520}"/>
              </a:ext>
            </a:extLst>
          </p:cNvPr>
          <p:cNvCxnSpPr>
            <a:cxnSpLocks/>
          </p:cNvCxnSpPr>
          <p:nvPr/>
        </p:nvCxnSpPr>
        <p:spPr>
          <a:xfrm flipV="1">
            <a:off x="6804247" y="3140968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78957B-178E-8D78-1523-327715AA5664}"/>
              </a:ext>
            </a:extLst>
          </p:cNvPr>
          <p:cNvSpPr txBox="1"/>
          <p:nvPr/>
        </p:nvSpPr>
        <p:spPr>
          <a:xfrm>
            <a:off x="6228184" y="3667868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Baseline hazard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C0583A-4BD9-CA6C-A360-B340213ECDF8}"/>
              </a:ext>
            </a:extLst>
          </p:cNvPr>
          <p:cNvCxnSpPr>
            <a:cxnSpLocks/>
          </p:cNvCxnSpPr>
          <p:nvPr/>
        </p:nvCxnSpPr>
        <p:spPr>
          <a:xfrm flipV="1">
            <a:off x="8378122" y="3146778"/>
            <a:ext cx="0" cy="5040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EFA56B-193B-EC2C-E7B8-E75997E2D961}"/>
              </a:ext>
            </a:extLst>
          </p:cNvPr>
          <p:cNvCxnSpPr>
            <a:cxnSpLocks/>
          </p:cNvCxnSpPr>
          <p:nvPr/>
        </p:nvCxnSpPr>
        <p:spPr>
          <a:xfrm flipV="1">
            <a:off x="8082064" y="3146778"/>
            <a:ext cx="0" cy="118062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F907EA8-3646-1479-99BE-6BE0C72B7FE0}"/>
              </a:ext>
            </a:extLst>
          </p:cNvPr>
          <p:cNvSpPr txBox="1"/>
          <p:nvPr/>
        </p:nvSpPr>
        <p:spPr>
          <a:xfrm>
            <a:off x="7369439" y="4305973"/>
            <a:ext cx="1421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Beta coefficient of predictor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F60B3-5B58-5E59-B621-3DE4ED27E567}"/>
              </a:ext>
            </a:extLst>
          </p:cNvPr>
          <p:cNvSpPr txBox="1"/>
          <p:nvPr/>
        </p:nvSpPr>
        <p:spPr>
          <a:xfrm>
            <a:off x="7802059" y="3673678"/>
            <a:ext cx="1152126" cy="36933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Predictor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60304-96FA-C425-A1F9-1FB705C1F7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764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3316-045E-16EE-1CC0-EB13F2A4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69E43-8DF8-4A4C-2AA4-F8D2B9E86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</a:rPr>
              <a:t>Predictor “multiplies” the baseline hazard</a:t>
            </a:r>
          </a:p>
          <a:p>
            <a:pPr marL="0" indent="0">
              <a:buNone/>
            </a:pPr>
            <a:endParaRPr lang="en-GB" sz="2400" dirty="0">
              <a:latin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GB" sz="2400" dirty="0">
                <a:solidFill>
                  <a:schemeClr val="accent3"/>
                </a:solidFill>
                <a:latin typeface="Arial" panose="020B0604020202020204" pitchFamily="34" charset="0"/>
              </a:rPr>
              <a:t>h(t) </a:t>
            </a:r>
            <a:r>
              <a:rPr lang="en-GB" sz="2400" dirty="0">
                <a:latin typeface="Arial" panose="020B0604020202020204" pitchFamily="34" charset="0"/>
              </a:rPr>
              <a:t>= 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24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24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2400" dirty="0">
                <a:latin typeface="Arial" panose="020B0604020202020204" pitchFamily="34" charset="0"/>
              </a:rPr>
              <a:t> * exp(</a:t>
            </a:r>
            <a:r>
              <a:rPr lang="el-GR" sz="24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l-GR" sz="24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24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</a:rPr>
              <a:t>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F70459-4A2E-512C-6DC6-8BB9E17C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the predictor “affect” the hazard?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0BB3C-4716-BFAF-697D-0A63CAADE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86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B33D19-7CA3-1C92-1DF5-0F4C08015913}"/>
              </a:ext>
            </a:extLst>
          </p:cNvPr>
          <p:cNvCxnSpPr>
            <a:cxnSpLocks/>
          </p:cNvCxnSpPr>
          <p:nvPr/>
        </p:nvCxnSpPr>
        <p:spPr>
          <a:xfrm flipV="1">
            <a:off x="6804247" y="3140968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DC28F8-EF45-812C-6648-BEE421DDF22E}"/>
              </a:ext>
            </a:extLst>
          </p:cNvPr>
          <p:cNvSpPr txBox="1"/>
          <p:nvPr/>
        </p:nvSpPr>
        <p:spPr>
          <a:xfrm>
            <a:off x="6228184" y="3667868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Baseline hazard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A65052-7E72-88DB-E4F5-71C8854F4A6B}"/>
              </a:ext>
            </a:extLst>
          </p:cNvPr>
          <p:cNvCxnSpPr>
            <a:cxnSpLocks/>
          </p:cNvCxnSpPr>
          <p:nvPr/>
        </p:nvCxnSpPr>
        <p:spPr>
          <a:xfrm flipV="1">
            <a:off x="8378122" y="3146778"/>
            <a:ext cx="0" cy="5040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E7E085-3C5E-9913-C1E0-F2A91222B263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968451" y="3146778"/>
            <a:ext cx="0" cy="146513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72F7FA-E2DE-03AE-3C63-1B0983DF91FF}"/>
              </a:ext>
            </a:extLst>
          </p:cNvPr>
          <p:cNvSpPr txBox="1"/>
          <p:nvPr/>
        </p:nvSpPr>
        <p:spPr>
          <a:xfrm>
            <a:off x="5262523" y="4611914"/>
            <a:ext cx="1411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“Final” (predicted) hazard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FFCAEA-2277-F566-8F0C-43A49C7DF08B}"/>
              </a:ext>
            </a:extLst>
          </p:cNvPr>
          <p:cNvCxnSpPr>
            <a:cxnSpLocks/>
          </p:cNvCxnSpPr>
          <p:nvPr/>
        </p:nvCxnSpPr>
        <p:spPr>
          <a:xfrm flipV="1">
            <a:off x="8082064" y="3146778"/>
            <a:ext cx="0" cy="118062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1ED634-67D3-21E6-2C99-CA0DA9ADD44A}"/>
              </a:ext>
            </a:extLst>
          </p:cNvPr>
          <p:cNvSpPr txBox="1"/>
          <p:nvPr/>
        </p:nvSpPr>
        <p:spPr>
          <a:xfrm>
            <a:off x="7369439" y="4305973"/>
            <a:ext cx="1421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Beta coefficient of predictor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19B3A-D09D-2FE0-9A21-340B647E113D}"/>
              </a:ext>
            </a:extLst>
          </p:cNvPr>
          <p:cNvSpPr txBox="1"/>
          <p:nvPr/>
        </p:nvSpPr>
        <p:spPr>
          <a:xfrm>
            <a:off x="7802059" y="3673678"/>
            <a:ext cx="1152126" cy="369332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Predictor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67BE0-AA88-73CC-A8F4-7D226D752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49" y="2536597"/>
            <a:ext cx="4572009" cy="32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548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9CDA-A49A-3C01-9D52-58F5426F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F87285-631A-484D-5743-9AF517D1D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ctr">
              <a:buClr>
                <a:schemeClr val="tx1"/>
              </a:buClr>
              <a:buNone/>
            </a:pPr>
            <a:r>
              <a:rPr lang="en-GB" sz="3200" dirty="0">
                <a:solidFill>
                  <a:schemeClr val="accent3"/>
                </a:solidFill>
                <a:latin typeface="Arial" panose="020B0604020202020204" pitchFamily="34" charset="0"/>
              </a:rPr>
              <a:t>h(t) </a:t>
            </a:r>
            <a:r>
              <a:rPr lang="en-GB" sz="3200" dirty="0">
                <a:latin typeface="Arial" panose="020B0604020202020204" pitchFamily="34" charset="0"/>
              </a:rPr>
              <a:t>= </a:t>
            </a:r>
            <a:r>
              <a:rPr lang="en-GB" sz="32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32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32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3200" dirty="0">
                <a:latin typeface="Arial" panose="020B0604020202020204" pitchFamily="34" charset="0"/>
              </a:rPr>
              <a:t> * exp(</a:t>
            </a:r>
            <a:r>
              <a:rPr lang="el-GR" sz="32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l-GR" sz="32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1</a:t>
            </a:r>
            <a:r>
              <a:rPr lang="en-GB" sz="32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2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3200" dirty="0">
                <a:latin typeface="Arial" panose="020B0604020202020204" pitchFamily="34" charset="0"/>
              </a:rPr>
              <a:t>)	  	   </a:t>
            </a:r>
            <a:r>
              <a:rPr lang="en-GB" sz="3200" dirty="0">
                <a:solidFill>
                  <a:schemeClr val="accent3"/>
                </a:solidFill>
                <a:latin typeface="Arial" panose="020B0604020202020204" pitchFamily="34" charset="0"/>
              </a:rPr>
              <a:t>y</a:t>
            </a:r>
            <a:r>
              <a:rPr lang="en-GB" sz="3200" dirty="0">
                <a:latin typeface="Arial" panose="020B0604020202020204" pitchFamily="34" charset="0"/>
              </a:rPr>
              <a:t> = </a:t>
            </a:r>
            <a:r>
              <a:rPr lang="el-GR" sz="3200" dirty="0">
                <a:solidFill>
                  <a:schemeClr val="accent1"/>
                </a:solidFill>
                <a:latin typeface="Arial" panose="020B0604020202020204" pitchFamily="34" charset="0"/>
              </a:rPr>
              <a:t>β</a:t>
            </a:r>
            <a:r>
              <a:rPr lang="en-US" sz="32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3200" dirty="0">
                <a:latin typeface="Arial" panose="020B0604020202020204" pitchFamily="34" charset="0"/>
              </a:rPr>
              <a:t> + </a:t>
            </a:r>
            <a:r>
              <a:rPr lang="el-GR" sz="32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l-GR" sz="32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1</a:t>
            </a:r>
            <a:r>
              <a:rPr lang="en-GB" sz="32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2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endParaRPr lang="en-GB" sz="3200" dirty="0">
              <a:latin typeface="Arial" panose="020B0604020202020204" pitchFamily="34" charset="0"/>
            </a:endParaRPr>
          </a:p>
          <a:p>
            <a:pPr marL="0" indent="0">
              <a:buClr>
                <a:schemeClr val="tx1"/>
              </a:buClr>
              <a:buNone/>
            </a:pPr>
            <a:endParaRPr lang="en-GB" sz="2000" dirty="0">
              <a:latin typeface="+mj-lt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GB" dirty="0"/>
              <a:t>Cox regression is an </a:t>
            </a:r>
            <a:r>
              <a:rPr lang="en-GB" b="1" dirty="0"/>
              <a:t>extension of a linear model</a:t>
            </a:r>
          </a:p>
          <a:p>
            <a:pPr>
              <a:buClr>
                <a:schemeClr val="tx1"/>
              </a:buClr>
            </a:pPr>
            <a:endParaRPr lang="en-GB" b="1" dirty="0"/>
          </a:p>
          <a:p>
            <a:pPr>
              <a:buClr>
                <a:schemeClr val="tx1"/>
              </a:buClr>
            </a:pPr>
            <a:r>
              <a:rPr lang="en-GB" dirty="0">
                <a:solidFill>
                  <a:schemeClr val="accent1"/>
                </a:solidFill>
                <a:latin typeface="+mj-lt"/>
              </a:rPr>
              <a:t>Baseline hazard </a:t>
            </a:r>
            <a:r>
              <a:rPr lang="en-GB" dirty="0">
                <a:latin typeface="+mj-lt"/>
              </a:rPr>
              <a:t>acts as the “intercept”/</a:t>
            </a:r>
            <a:r>
              <a:rPr lang="el-GR" dirty="0">
                <a:latin typeface="+mj-lt"/>
              </a:rPr>
              <a:t>β</a:t>
            </a:r>
            <a:r>
              <a:rPr lang="en-US" baseline="-25000" dirty="0">
                <a:latin typeface="+mj-lt"/>
              </a:rPr>
              <a:t>0</a:t>
            </a:r>
            <a:endParaRPr lang="en-GB" dirty="0">
              <a:latin typeface="+mj-lt"/>
            </a:endParaRPr>
          </a:p>
          <a:p>
            <a:r>
              <a:rPr lang="en-GB" noProof="0" dirty="0"/>
              <a:t>May be </a:t>
            </a:r>
            <a:r>
              <a:rPr lang="en-GB" noProof="0" dirty="0">
                <a:solidFill>
                  <a:schemeClr val="accent5"/>
                </a:solidFill>
              </a:rPr>
              <a:t>modulated/affected </a:t>
            </a:r>
            <a:r>
              <a:rPr lang="en-GB" noProof="0" dirty="0"/>
              <a:t>by a changing </a:t>
            </a:r>
            <a:r>
              <a:rPr lang="en-GB" noProof="0" dirty="0">
                <a:solidFill>
                  <a:schemeClr val="accent2"/>
                </a:solidFill>
              </a:rPr>
              <a:t>predictor variable</a:t>
            </a:r>
            <a:endParaRPr lang="en-GB" dirty="0"/>
          </a:p>
          <a:p>
            <a:r>
              <a:rPr lang="en-GB" noProof="0" dirty="0"/>
              <a:t>We are trying to predict the </a:t>
            </a:r>
            <a:r>
              <a:rPr lang="en-GB" noProof="0" dirty="0">
                <a:solidFill>
                  <a:schemeClr val="accent3"/>
                </a:solidFill>
              </a:rPr>
              <a:t>“final” hazard</a:t>
            </a:r>
            <a:r>
              <a:rPr lang="en-GB" noProof="0" dirty="0"/>
              <a:t>, after modulation by a predictor variable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E58472-E5F5-8B9D-2773-B463EBC0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Summary: </a:t>
            </a:r>
            <a:r>
              <a:rPr lang="en-GB" dirty="0"/>
              <a:t>Cox regression</a:t>
            </a:r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9B9B2-5E5B-F864-4B72-3BCCB689C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87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0499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0BC5-D357-63BC-B9AB-F7F70FEA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F3A0E4-996C-4F8F-D1EE-A57763CDA9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ctr">
              <a:buClr>
                <a:schemeClr val="tx1"/>
              </a:buClr>
              <a:buNone/>
            </a:pPr>
            <a:r>
              <a:rPr lang="en-GB" sz="3000" dirty="0">
                <a:solidFill>
                  <a:schemeClr val="accent3"/>
                </a:solidFill>
                <a:latin typeface="Arial" panose="020B0604020202020204" pitchFamily="34" charset="0"/>
              </a:rPr>
              <a:t>h(t) </a:t>
            </a:r>
            <a:r>
              <a:rPr lang="en-GB" sz="3000" dirty="0">
                <a:latin typeface="Arial" panose="020B0604020202020204" pitchFamily="34" charset="0"/>
              </a:rPr>
              <a:t>= </a:t>
            </a:r>
            <a:r>
              <a:rPr lang="en-GB" sz="3000" dirty="0">
                <a:solidFill>
                  <a:schemeClr val="accent1"/>
                </a:solidFill>
                <a:latin typeface="Arial" panose="020B0604020202020204" pitchFamily="34" charset="0"/>
              </a:rPr>
              <a:t>h</a:t>
            </a:r>
            <a:r>
              <a:rPr lang="en-GB" sz="3000" baseline="-25000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en-GB" sz="3000" dirty="0">
                <a:solidFill>
                  <a:schemeClr val="accent1"/>
                </a:solidFill>
                <a:latin typeface="Arial" panose="020B0604020202020204" pitchFamily="34" charset="0"/>
              </a:rPr>
              <a:t>(t)</a:t>
            </a:r>
            <a:r>
              <a:rPr lang="en-GB" sz="3000" dirty="0">
                <a:latin typeface="Arial" panose="020B0604020202020204" pitchFamily="34" charset="0"/>
              </a:rPr>
              <a:t> * exp(</a:t>
            </a:r>
            <a:r>
              <a:rPr lang="el-GR" sz="30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l-GR" sz="30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1</a:t>
            </a:r>
            <a:r>
              <a:rPr lang="en-GB" sz="30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0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3000" dirty="0">
                <a:latin typeface="Arial" panose="020B0604020202020204" pitchFamily="34" charset="0"/>
              </a:rPr>
              <a:t>+ </a:t>
            </a:r>
            <a:r>
              <a:rPr lang="el-GR" sz="30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n-US" sz="30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2</a:t>
            </a:r>
            <a:r>
              <a:rPr lang="en-GB" sz="30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0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2</a:t>
            </a:r>
            <a:r>
              <a:rPr lang="en-GB" sz="3000" dirty="0">
                <a:latin typeface="Arial" panose="020B0604020202020204" pitchFamily="34" charset="0"/>
              </a:rPr>
              <a:t> + </a:t>
            </a:r>
            <a:r>
              <a:rPr lang="el-GR" sz="30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n-US" sz="30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3</a:t>
            </a:r>
            <a:r>
              <a:rPr lang="en-GB" sz="30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0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GB" sz="3000" dirty="0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000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2</a:t>
            </a:r>
            <a:r>
              <a:rPr lang="en-GB" sz="3000" dirty="0">
                <a:latin typeface="Arial" panose="020B0604020202020204" pitchFamily="34" charset="0"/>
              </a:rPr>
              <a:t> + … + </a:t>
            </a:r>
            <a:r>
              <a:rPr lang="el-GR" sz="3000" dirty="0">
                <a:solidFill>
                  <a:schemeClr val="accent5"/>
                </a:solidFill>
                <a:latin typeface="Arial" panose="020B0604020202020204" pitchFamily="34" charset="0"/>
              </a:rPr>
              <a:t>β</a:t>
            </a:r>
            <a:r>
              <a:rPr lang="en-US" sz="3000" baseline="-25000" dirty="0">
                <a:solidFill>
                  <a:schemeClr val="accent5"/>
                </a:solidFill>
                <a:latin typeface="Arial" panose="020B0604020202020204" pitchFamily="34" charset="0"/>
              </a:rPr>
              <a:t>n</a:t>
            </a:r>
            <a:r>
              <a:rPr lang="en-GB" sz="3000" dirty="0" err="1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r>
              <a:rPr lang="en-GB" sz="3000" baseline="-25000" dirty="0" err="1">
                <a:solidFill>
                  <a:schemeClr val="accent2"/>
                </a:solidFill>
                <a:latin typeface="Arial" panose="020B0604020202020204" pitchFamily="34" charset="0"/>
              </a:rPr>
              <a:t>n</a:t>
            </a:r>
            <a:r>
              <a:rPr lang="en-GB" sz="3000" dirty="0">
                <a:latin typeface="Arial" panose="020B0604020202020204" pitchFamily="34" charset="0"/>
              </a:rPr>
              <a:t>)</a:t>
            </a:r>
            <a:endParaRPr lang="en-GB" sz="3000" dirty="0">
              <a:latin typeface="+mj-lt"/>
            </a:endParaRP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Cox regression is an </a:t>
            </a:r>
            <a:r>
              <a:rPr lang="en-GB" b="1" dirty="0"/>
              <a:t>extension of a linear model</a:t>
            </a:r>
          </a:p>
          <a:p>
            <a:endParaRPr lang="en-GB" dirty="0"/>
          </a:p>
          <a:p>
            <a:r>
              <a:rPr lang="en-GB" dirty="0"/>
              <a:t>Just like a linear model:</a:t>
            </a:r>
          </a:p>
          <a:p>
            <a:pPr lvl="1"/>
            <a:r>
              <a:rPr lang="en-GB" sz="2000" dirty="0"/>
              <a:t>Any number of predictors</a:t>
            </a:r>
          </a:p>
          <a:p>
            <a:pPr lvl="1"/>
            <a:r>
              <a:rPr lang="en-GB" sz="2000" dirty="0"/>
              <a:t>Categorical, continuous, interactions, transformations etc.</a:t>
            </a:r>
          </a:p>
          <a:p>
            <a:endParaRPr lang="en-GB" dirty="0"/>
          </a:p>
          <a:p>
            <a:r>
              <a:rPr lang="en-GB" dirty="0"/>
              <a:t>As with any statistical model, there are some </a:t>
            </a:r>
            <a:r>
              <a:rPr lang="en-GB" b="1" dirty="0"/>
              <a:t>assumptions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D776BC-6ECC-DCAF-3734-DF80A40C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Cox regression</a:t>
            </a:r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9235E-8C02-C9FE-AF5C-D36C42F65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88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8830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2D4D1D-3036-1A2B-9DEC-813D09B8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Cox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8F15B-8F9A-926D-C75F-C5A3FFDADC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89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BCED9BE-CEEC-0833-782F-4614216352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773238"/>
            <a:ext cx="8112125" cy="400208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assumptions </a:t>
            </a:r>
            <a:r>
              <a:rPr lang="en-GB" dirty="0"/>
              <a:t>are the same as the log-rank test</a:t>
            </a:r>
            <a:r>
              <a:rPr lang="en-GB" dirty="0">
                <a:solidFill>
                  <a:schemeClr val="accent2"/>
                </a:solidFill>
              </a:rPr>
              <a:t>*</a:t>
            </a:r>
            <a:endParaRPr lang="en-GB" b="1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</p:txBody>
      </p:sp>
    </p:spTree>
    <p:extLst>
      <p:ext uri="{BB962C8B-B14F-4D97-AF65-F5344CB8AC3E}">
        <p14:creationId xmlns:p14="http://schemas.microsoft.com/office/powerpoint/2010/main" val="13932404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AE46-352B-2A8D-4FF4-C7E41A85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CF76A3-E487-EC5D-39F2-6A68840F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of Cox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AD188-7E34-3345-A254-6166AE41C9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90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0D10778-97A8-70AA-66DC-5B863D1E72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773238"/>
            <a:ext cx="8112125" cy="400208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assumptions </a:t>
            </a:r>
            <a:r>
              <a:rPr lang="en-GB" dirty="0"/>
              <a:t>are the same as the log-rank test</a:t>
            </a:r>
            <a:r>
              <a:rPr lang="en-GB" dirty="0">
                <a:solidFill>
                  <a:schemeClr val="accent2"/>
                </a:solidFill>
              </a:rPr>
              <a:t>*</a:t>
            </a:r>
            <a:endParaRPr lang="en-GB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Independence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Non-informative censoring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Proportional hazards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*Plus, two extra things: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GB" dirty="0">
                <a:solidFill>
                  <a:schemeClr val="accent2"/>
                </a:solidFill>
              </a:rPr>
              <a:t>Linearity (continuous predictors)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GB" dirty="0">
                <a:solidFill>
                  <a:schemeClr val="accent2"/>
                </a:solidFill>
              </a:rPr>
              <a:t>Time-independent predictors </a:t>
            </a:r>
          </a:p>
        </p:txBody>
      </p:sp>
    </p:spTree>
    <p:extLst>
      <p:ext uri="{BB962C8B-B14F-4D97-AF65-F5344CB8AC3E}">
        <p14:creationId xmlns:p14="http://schemas.microsoft.com/office/powerpoint/2010/main" val="24852002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DBB1FE-FE0B-A0ED-04CC-D2AB835479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Values of predictors remain constant</a:t>
            </a:r>
          </a:p>
          <a:p>
            <a:r>
              <a:rPr lang="en-GB" dirty="0"/>
              <a:t>Only need to be measured once at the start of the study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Examples:</a:t>
            </a:r>
          </a:p>
          <a:p>
            <a:r>
              <a:rPr lang="en-GB" dirty="0"/>
              <a:t>Baseline age</a:t>
            </a:r>
          </a:p>
          <a:p>
            <a:r>
              <a:rPr lang="en-GB" dirty="0"/>
              <a:t>Dragon egg weight</a:t>
            </a:r>
          </a:p>
          <a:p>
            <a:r>
              <a:rPr lang="en-GB" dirty="0"/>
              <a:t>Degree subject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C8DAB9-C263-7BEE-8CB1-F2DBA447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Time-independent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BC962-402E-CC8F-C32C-C6EFAF198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91</a:t>
            </a:fld>
            <a:endParaRPr lang="en-GB"/>
          </a:p>
        </p:txBody>
      </p:sp>
      <p:pic>
        <p:nvPicPr>
          <p:cNvPr id="6" name="Graphic 5" descr="Graduation cap with solid fill">
            <a:extLst>
              <a:ext uri="{FF2B5EF4-FFF2-40B4-BE49-F238E27FC236}">
                <a16:creationId xmlns:a16="http://schemas.microsoft.com/office/drawing/2014/main" id="{BC05D4FF-0123-155E-D0F0-A2E6B183F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8544" y="3882752"/>
            <a:ext cx="914400" cy="914400"/>
          </a:xfrm>
          <a:prstGeom prst="rect">
            <a:avLst/>
          </a:prstGeom>
        </p:spPr>
      </p:pic>
      <p:pic>
        <p:nvPicPr>
          <p:cNvPr id="8" name="Graphic 7" descr="Dinosaur Egg with solid fill">
            <a:extLst>
              <a:ext uri="{FF2B5EF4-FFF2-40B4-BE49-F238E27FC236}">
                <a16:creationId xmlns:a16="http://schemas.microsoft.com/office/drawing/2014/main" id="{5C6CB63A-CB35-8EE2-3DE0-EDCCD911B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9122" y="3425552"/>
            <a:ext cx="914400" cy="914400"/>
          </a:xfrm>
          <a:prstGeom prst="rect">
            <a:avLst/>
          </a:prstGeom>
        </p:spPr>
      </p:pic>
      <p:pic>
        <p:nvPicPr>
          <p:cNvPr id="10" name="Graphic 9" descr="Inpatient with solid fill">
            <a:extLst>
              <a:ext uri="{FF2B5EF4-FFF2-40B4-BE49-F238E27FC236}">
                <a16:creationId xmlns:a16="http://schemas.microsoft.com/office/drawing/2014/main" id="{99193C50-59D8-4F82-76D5-81AAA5A11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4722" y="29683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5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F36B6E-9D60-92DD-56CF-5B1768818B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If values of predictors </a:t>
            </a:r>
            <a:r>
              <a:rPr lang="en-GB" b="1" dirty="0"/>
              <a:t>vary</a:t>
            </a:r>
            <a:r>
              <a:rPr lang="en-GB" dirty="0"/>
              <a:t> across the study</a:t>
            </a:r>
          </a:p>
          <a:p>
            <a:r>
              <a:rPr lang="en-GB" dirty="0"/>
              <a:t>Standard Cox regression model </a:t>
            </a:r>
            <a:r>
              <a:rPr lang="en-GB" b="1" dirty="0"/>
              <a:t>cannot be used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dirty="0"/>
              <a:t>Examples:</a:t>
            </a:r>
          </a:p>
          <a:p>
            <a:r>
              <a:rPr lang="en-GB" dirty="0"/>
              <a:t>Disease stage progressing</a:t>
            </a:r>
          </a:p>
          <a:p>
            <a:r>
              <a:rPr lang="en-GB" dirty="0"/>
              <a:t>Subscription cost increasing</a:t>
            </a:r>
          </a:p>
          <a:p>
            <a:r>
              <a:rPr lang="en-GB" dirty="0"/>
              <a:t>Weather/seasonal changes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5E8CE0-972E-1239-ECD3-FA1A75FF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Time-independent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AD268-3659-B968-1D8C-BEDBF54E6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92</a:t>
            </a:fld>
            <a:endParaRPr lang="en-GB"/>
          </a:p>
        </p:txBody>
      </p:sp>
      <p:pic>
        <p:nvPicPr>
          <p:cNvPr id="5" name="Graphic 4" descr="Sparrow with solid fill">
            <a:extLst>
              <a:ext uri="{FF2B5EF4-FFF2-40B4-BE49-F238E27FC236}">
                <a16:creationId xmlns:a16="http://schemas.microsoft.com/office/drawing/2014/main" id="{EA2400BC-3A15-1B07-644C-27AC1C914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98544" y="3882752"/>
            <a:ext cx="914400" cy="914400"/>
          </a:xfrm>
          <a:prstGeom prst="rect">
            <a:avLst/>
          </a:prstGeom>
        </p:spPr>
      </p:pic>
      <p:pic>
        <p:nvPicPr>
          <p:cNvPr id="6" name="Graphic 5" descr="Credit card with solid fill">
            <a:extLst>
              <a:ext uri="{FF2B5EF4-FFF2-40B4-BE49-F238E27FC236}">
                <a16:creationId xmlns:a16="http://schemas.microsoft.com/office/drawing/2014/main" id="{C1B47F1B-CD6D-1009-1186-7C5F1E258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79122" y="3425552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0D7DC892-EE50-799D-BE1D-781E9492C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-2700000">
            <a:off x="5564722" y="29683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5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237D-2805-5747-80FD-2CF52FBD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DB0C96-9361-A5FE-AA37-2A33DE11D0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Understanding h</a:t>
            </a:r>
            <a:r>
              <a:rPr lang="en-GB" noProof="0" dirty="0" err="1"/>
              <a:t>azard</a:t>
            </a:r>
            <a:r>
              <a:rPr lang="en-GB" noProof="0" dirty="0"/>
              <a:t> ratios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C2AB7-AD01-7531-2384-E0B79F7F9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noProof="0" dirty="0"/>
              <a:t>5. Interpreting Cox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FD29B-6997-1B9C-497A-E45197FB3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93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282845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C059A7-1055-DAE7-1695-F40BAA991B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a Cox model, we can estimate/calculate:</a:t>
            </a:r>
          </a:p>
          <a:p>
            <a:endParaRPr lang="en-US" dirty="0"/>
          </a:p>
          <a:p>
            <a:r>
              <a:rPr lang="en-GB" b="1" dirty="0"/>
              <a:t>P-values</a:t>
            </a:r>
            <a:r>
              <a:rPr lang="en-GB" dirty="0"/>
              <a:t> and confidence intervals</a:t>
            </a:r>
          </a:p>
          <a:p>
            <a:r>
              <a:rPr lang="en-GB" b="1" dirty="0"/>
              <a:t>Coefficients</a:t>
            </a:r>
            <a:r>
              <a:rPr lang="en-GB" dirty="0"/>
              <a:t> for predictors</a:t>
            </a:r>
          </a:p>
          <a:p>
            <a:endParaRPr lang="en-GB" dirty="0"/>
          </a:p>
          <a:p>
            <a:r>
              <a:rPr lang="en-US" b="1" dirty="0"/>
              <a:t>Survival probability </a:t>
            </a:r>
            <a:r>
              <a:rPr lang="en-US" dirty="0"/>
              <a:t>at any specific time</a:t>
            </a:r>
          </a:p>
          <a:p>
            <a:r>
              <a:rPr lang="en-US" b="1" dirty="0"/>
              <a:t>Hazard ratios</a:t>
            </a:r>
          </a:p>
          <a:p>
            <a:pPr lvl="1"/>
            <a:r>
              <a:rPr lang="en-US" sz="2000" dirty="0"/>
              <a:t>For an individual </a:t>
            </a:r>
          </a:p>
          <a:p>
            <a:pPr lvl="1"/>
            <a:r>
              <a:rPr lang="en-US" sz="2000" dirty="0"/>
              <a:t>Or between groups</a:t>
            </a:r>
          </a:p>
          <a:p>
            <a:endParaRPr lang="en-GB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F7287F-A207-7243-6A8C-977767F0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 of a Cox regression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B8B97-44A9-AD7A-1742-D7DCCA861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79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4F87D1-15C3-5412-7420-035DA0D74E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Quantifies </a:t>
            </a:r>
            <a:r>
              <a:rPr lang="en-GB" b="1" dirty="0"/>
              <a:t>how much </a:t>
            </a:r>
            <a:r>
              <a:rPr lang="en-GB" dirty="0"/>
              <a:t>the change in the predictor variable affects the hazard</a:t>
            </a:r>
          </a:p>
          <a:p>
            <a:endParaRPr lang="en-GB" dirty="0"/>
          </a:p>
          <a:p>
            <a:r>
              <a:rPr lang="en-GB" dirty="0"/>
              <a:t>Such as:</a:t>
            </a:r>
          </a:p>
          <a:p>
            <a:pPr lvl="1"/>
            <a:r>
              <a:rPr lang="en-GB" sz="2000" dirty="0"/>
              <a:t>Difference in hazard between groups</a:t>
            </a:r>
          </a:p>
          <a:p>
            <a:pPr lvl="1"/>
            <a:r>
              <a:rPr lang="en-GB" sz="2000" dirty="0"/>
              <a:t>Change in hazard per unit change in the predictor</a:t>
            </a:r>
            <a:endParaRPr lang="en-GB" dirty="0"/>
          </a:p>
          <a:p>
            <a:endParaRPr lang="en-GB" dirty="0"/>
          </a:p>
          <a:p>
            <a:r>
              <a:rPr lang="en-GB" dirty="0"/>
              <a:t>An effect size for Cox regression/survival data</a:t>
            </a:r>
          </a:p>
          <a:p>
            <a:r>
              <a:rPr lang="en-GB" dirty="0"/>
              <a:t>Not the same as odds ratio/risk ratio!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C607ED-ACB5-B7AB-1290-635563BE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8EAD7-8019-FA13-CC77-AFD71DB3C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2219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331E17-E6F8-10D2-B349-F0B69AF2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BEFAF-0F71-67B6-40B7-B33224E10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96</a:t>
            </a:fld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9A5CC9-7CB1-52FE-6699-660C156871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244" y="1556637"/>
            <a:ext cx="7397510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340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CED73-EF18-AADF-46BA-AA61CA9E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5F3A26-31D7-C1F6-A46B-5AEEC4DA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BE391-065E-2CAB-2017-0B9396A08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F1FE59-9ACF-1CF7-5A2E-6B784DB167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262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43FC-503E-5432-AACA-3200C59C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05D2DB2-B5E8-6154-E539-1F380E9D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6BBD0-D847-F233-1767-EF75A6F9B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E1C8BD-AC75-5114-29DF-56E371039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39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53B4CD9-7EC1-576D-A105-28621565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8BA85-E074-4218-4846-0A19BE4FF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99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D4BFC-B886-B9E1-316F-B5938564F3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227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E1CB-D793-EBAD-5B50-079999B0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A8FAAB-93BD-BB3A-3155-266931E4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53E37-C5ED-DF2B-8317-34B25CF33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7EAC9A-9E9B-4DB9-8B5B-3FE4F5052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48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612F-32BB-9E60-506F-4C112A8C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6902C2F-3BCB-A2F9-C498-B72DDE4D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9FFD5-310C-32DE-E8EE-CD2F676E3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00247C-5D21-C016-5D9D-D053DDE490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238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30D2-0F11-6FED-C4F5-5210C026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33F8BC-59B4-6CBE-308C-BED5A228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2933-C758-6437-E433-091F0D6BA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45340-AA78-F95D-2591-6F521BD1F3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C4F5AF-2F61-C0BA-1954-1AB77718575E}"/>
              </a:ext>
            </a:extLst>
          </p:cNvPr>
          <p:cNvSpPr txBox="1"/>
          <p:nvPr/>
        </p:nvSpPr>
        <p:spPr>
          <a:xfrm>
            <a:off x="4832899" y="2205802"/>
            <a:ext cx="172819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HR ≈ 0.5</a:t>
            </a:r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978056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D43E8C-4169-B450-7526-2DD5E0000E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Size of hazard ratio tells you about the strength of the effect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	HR &gt; 1	</a:t>
            </a:r>
            <a:r>
              <a:rPr lang="en-GB" dirty="0"/>
              <a:t>	increase hazard</a:t>
            </a:r>
          </a:p>
          <a:p>
            <a:pPr marL="0" indent="0">
              <a:buNone/>
            </a:pPr>
            <a:r>
              <a:rPr lang="en-GB" b="1" dirty="0"/>
              <a:t>	HR = 1	</a:t>
            </a:r>
            <a:r>
              <a:rPr lang="en-GB" dirty="0"/>
              <a:t>	equal hazard</a:t>
            </a:r>
          </a:p>
          <a:p>
            <a:pPr marL="0" indent="0">
              <a:buNone/>
            </a:pPr>
            <a:r>
              <a:rPr lang="en-GB" b="1" dirty="0"/>
              <a:t>	HR &lt; 1	</a:t>
            </a:r>
            <a:r>
              <a:rPr lang="en-GB" dirty="0"/>
              <a:t>	decrease hazard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Note: choice of </a:t>
            </a:r>
            <a:r>
              <a:rPr lang="en-GB" dirty="0">
                <a:solidFill>
                  <a:schemeClr val="accent2"/>
                </a:solidFill>
              </a:rPr>
              <a:t>reference group matters</a:t>
            </a:r>
            <a:r>
              <a:rPr lang="en-GB" dirty="0"/>
              <a:t>!</a:t>
            </a:r>
          </a:p>
          <a:p>
            <a:r>
              <a:rPr lang="en-GB" sz="2000" dirty="0"/>
              <a:t>Chromatic </a:t>
            </a:r>
            <a:r>
              <a:rPr lang="en-GB" sz="2000" dirty="0">
                <a:sym typeface="Wingdings" panose="05000000000000000000" pitchFamily="2" charset="2"/>
              </a:rPr>
              <a:t> metallic		0.5</a:t>
            </a:r>
          </a:p>
          <a:p>
            <a:r>
              <a:rPr lang="en-GB" sz="2000" dirty="0">
                <a:sym typeface="Wingdings" panose="05000000000000000000" pitchFamily="2" charset="2"/>
              </a:rPr>
              <a:t>Metallic  chromatic		2</a:t>
            </a:r>
            <a:endParaRPr lang="en-GB" sz="20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E6C85E-BB23-3E57-BDBF-BADE680F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8DCEA-AE6E-7438-6363-225C3B43B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94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27CA-D3DE-659F-05AF-2345B9BC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A58213-C385-96BF-7F83-342D2F1C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5E6BF-EBE2-A87B-F6D4-F9798CD3FF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8F61F-188A-2205-6AB1-BC1C25627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673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89FF-A69E-AF18-0568-6B17149B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186ECBA-6953-CFD8-3F5C-07338390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1F53A-850F-3B80-9FE2-DFA880958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4B25E7-B77E-8439-4FB6-A46DF59B7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826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C0A1-8898-33D7-9541-4079B680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8843FDB-F9FA-A06E-9504-C48AF6A6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categorical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4AF93-B5A4-9397-55F0-A7CB41DC6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842C83-B748-BC83-2C05-1AE5C07AB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62435B-5C51-7B1E-BDC7-BE7231383353}"/>
              </a:ext>
            </a:extLst>
          </p:cNvPr>
          <p:cNvSpPr txBox="1"/>
          <p:nvPr/>
        </p:nvSpPr>
        <p:spPr>
          <a:xfrm>
            <a:off x="4832898" y="2205802"/>
            <a:ext cx="182733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HR ≈ 0.33</a:t>
            </a:r>
          </a:p>
        </p:txBody>
      </p:sp>
    </p:spTree>
    <p:extLst>
      <p:ext uri="{BB962C8B-B14F-4D97-AF65-F5344CB8AC3E}">
        <p14:creationId xmlns:p14="http://schemas.microsoft.com/office/powerpoint/2010/main" val="8251029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D0DAD-808E-3CF8-0BEE-0164693846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So, what happens when the predictor isn’t categorical?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1FDE5-BED5-DD94-2F4D-15B47D44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9FDC50-07D7-FDCE-1297-C9FE7C3A0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2FE7C6-874C-4E62-8759-08C2AB2543BB}" type="slidenum">
              <a:rPr lang="en-GB" smtClean="0"/>
              <a:pPr>
                <a:defRPr/>
              </a:pPr>
              <a:t>107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63EDF-77A9-7F1D-AE00-B1008DBCFC01}"/>
              </a:ext>
            </a:extLst>
          </p:cNvPr>
          <p:cNvGrpSpPr/>
          <p:nvPr/>
        </p:nvGrpSpPr>
        <p:grpSpPr>
          <a:xfrm>
            <a:off x="2771800" y="2725887"/>
            <a:ext cx="4246337" cy="2463232"/>
            <a:chOff x="1593752" y="2687288"/>
            <a:chExt cx="5253243" cy="3047322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9D9C3E9-6A96-5B3D-0EDF-2697DF410CDA}"/>
                </a:ext>
              </a:extLst>
            </p:cNvPr>
            <p:cNvSpPr/>
            <p:nvPr/>
          </p:nvSpPr>
          <p:spPr>
            <a:xfrm>
              <a:off x="2414159" y="3361730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Dinosaur Egg with solid fill">
              <a:extLst>
                <a:ext uri="{FF2B5EF4-FFF2-40B4-BE49-F238E27FC236}">
                  <a16:creationId xmlns:a16="http://schemas.microsoft.com/office/drawing/2014/main" id="{7AD30CB7-79A9-6B2D-DC0D-88FADA5A50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199741" y="3098552"/>
              <a:ext cx="761707" cy="761707"/>
            </a:xfrm>
            <a:prstGeom prst="rect">
              <a:avLst/>
            </a:prstGeom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7564E99-06E0-7104-7232-A7D09F9F77C8}"/>
                </a:ext>
              </a:extLst>
            </p:cNvPr>
            <p:cNvSpPr/>
            <p:nvPr/>
          </p:nvSpPr>
          <p:spPr>
            <a:xfrm>
              <a:off x="2414159" y="3950373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A6C42A00-F1EA-C0C1-8EC8-2885A5C4DCBE}"/>
                </a:ext>
              </a:extLst>
            </p:cNvPr>
            <p:cNvSpPr/>
            <p:nvPr/>
          </p:nvSpPr>
          <p:spPr>
            <a:xfrm>
              <a:off x="2414159" y="4579106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Dinosaur Egg with solid fill">
              <a:extLst>
                <a:ext uri="{FF2B5EF4-FFF2-40B4-BE49-F238E27FC236}">
                  <a16:creationId xmlns:a16="http://schemas.microsoft.com/office/drawing/2014/main" id="{A640D436-B4CB-B1C7-D5A0-1FAABC5AD1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45761" y="3775414"/>
              <a:ext cx="761707" cy="761707"/>
            </a:xfrm>
            <a:prstGeom prst="rect">
              <a:avLst/>
            </a:prstGeom>
          </p:spPr>
        </p:pic>
        <p:pic>
          <p:nvPicPr>
            <p:cNvPr id="11" name="Graphic 10" descr="Dinosaur Egg with solid fill">
              <a:extLst>
                <a:ext uri="{FF2B5EF4-FFF2-40B4-BE49-F238E27FC236}">
                  <a16:creationId xmlns:a16="http://schemas.microsoft.com/office/drawing/2014/main" id="{7DDB0DB8-A3F3-9E75-6101-6FDCA53CEE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85288" y="4303456"/>
              <a:ext cx="761707" cy="76170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ECF5E6-CE0A-E965-A65F-4174AC85FC1D}"/>
                </a:ext>
              </a:extLst>
            </p:cNvPr>
            <p:cNvSpPr txBox="1"/>
            <p:nvPr/>
          </p:nvSpPr>
          <p:spPr>
            <a:xfrm>
              <a:off x="2051720" y="2687288"/>
              <a:ext cx="765878" cy="418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Start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29B6A99-400D-836C-8980-12F07583AC20}"/>
                </a:ext>
              </a:extLst>
            </p:cNvPr>
            <p:cNvSpPr/>
            <p:nvPr/>
          </p:nvSpPr>
          <p:spPr>
            <a:xfrm>
              <a:off x="2407913" y="5200601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" name="Graphic 13" descr="Dinosaur Egg with solid fill">
              <a:extLst>
                <a:ext uri="{FF2B5EF4-FFF2-40B4-BE49-F238E27FC236}">
                  <a16:creationId xmlns:a16="http://schemas.microsoft.com/office/drawing/2014/main" id="{030DE598-9841-2F13-4DF6-D17AA1BCE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017202" y="4972903"/>
              <a:ext cx="761706" cy="76170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010B23-7600-1AF1-D960-1C8293AECDFD}"/>
                </a:ext>
              </a:extLst>
            </p:cNvPr>
            <p:cNvCxnSpPr>
              <a:cxnSpLocks/>
            </p:cNvCxnSpPr>
            <p:nvPr/>
          </p:nvCxnSpPr>
          <p:spPr>
            <a:xfrm>
              <a:off x="2414159" y="3183437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Graphic 15" descr="Dinosaur Egg with solid fill">
              <a:extLst>
                <a:ext uri="{FF2B5EF4-FFF2-40B4-BE49-F238E27FC236}">
                  <a16:creationId xmlns:a16="http://schemas.microsoft.com/office/drawing/2014/main" id="{35B01885-657E-3830-46D7-53ABD8502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55249" y="3239878"/>
              <a:ext cx="540000" cy="540000"/>
            </a:xfrm>
            <a:prstGeom prst="rect">
              <a:avLst/>
            </a:prstGeom>
          </p:spPr>
        </p:pic>
        <p:pic>
          <p:nvPicPr>
            <p:cNvPr id="17" name="Graphic 16" descr="Dinosaur Egg with solid fill">
              <a:extLst>
                <a:ext uri="{FF2B5EF4-FFF2-40B4-BE49-F238E27FC236}">
                  <a16:creationId xmlns:a16="http://schemas.microsoft.com/office/drawing/2014/main" id="{DD341998-DD21-58E3-3FC2-2DCA1CFB7B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91250" y="4549349"/>
              <a:ext cx="468000" cy="468000"/>
            </a:xfrm>
            <a:prstGeom prst="rect">
              <a:avLst/>
            </a:prstGeom>
          </p:spPr>
        </p:pic>
        <p:pic>
          <p:nvPicPr>
            <p:cNvPr id="18" name="Graphic 17" descr="Dinosaur Egg with solid fill">
              <a:extLst>
                <a:ext uri="{FF2B5EF4-FFF2-40B4-BE49-F238E27FC236}">
                  <a16:creationId xmlns:a16="http://schemas.microsoft.com/office/drawing/2014/main" id="{5E08DCF5-9454-7D5F-8FAB-45CB1755C7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593752" y="3797280"/>
              <a:ext cx="684000" cy="684000"/>
            </a:xfrm>
            <a:prstGeom prst="rect">
              <a:avLst/>
            </a:prstGeom>
          </p:spPr>
        </p:pic>
        <p:pic>
          <p:nvPicPr>
            <p:cNvPr id="19" name="Graphic 18" descr="Dinosaur Egg with solid fill">
              <a:extLst>
                <a:ext uri="{FF2B5EF4-FFF2-40B4-BE49-F238E27FC236}">
                  <a16:creationId xmlns:a16="http://schemas.microsoft.com/office/drawing/2014/main" id="{AD3DCD2D-C18F-7073-D256-5D1B0EF0DF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60014" y="5085419"/>
              <a:ext cx="540000" cy="540000"/>
            </a:xfrm>
            <a:prstGeom prst="rect">
              <a:avLst/>
            </a:prstGeom>
          </p:spPr>
        </p:pic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721087-9107-8B05-BDB3-2859ECCCE5F6}"/>
              </a:ext>
            </a:extLst>
          </p:cNvPr>
          <p:cNvCxnSpPr>
            <a:cxnSpLocks/>
          </p:cNvCxnSpPr>
          <p:nvPr/>
        </p:nvCxnSpPr>
        <p:spPr>
          <a:xfrm>
            <a:off x="2627785" y="3172560"/>
            <a:ext cx="0" cy="198788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1674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C9D8C2-6815-DDBD-9790-FF9525A9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44A99-CC74-8892-08B9-8AAC66B7A8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DFDA5-0C91-A2BD-509E-1CC9B3618E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42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88D7-89F9-4AA2-F975-925FDE12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A7D4DA-5D8A-E593-BE8A-CC5F7AEC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23895-9950-A425-F9B9-B57CBEDAB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109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88677-FB7B-05A9-F652-A97DBA52A0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248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DC05-2613-8F1A-AEC8-A65857E2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284495-1937-D3A1-38CC-857E25D6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A25EA-2F8A-A9BF-63AF-01AF4792F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FBAFD-596D-0876-DF40-FBD7EA73C0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62A3F-AE3A-6ABB-19AC-93DEBBD3DB50}"/>
              </a:ext>
            </a:extLst>
          </p:cNvPr>
          <p:cNvSpPr txBox="1"/>
          <p:nvPr/>
        </p:nvSpPr>
        <p:spPr>
          <a:xfrm>
            <a:off x="4644008" y="3501008"/>
            <a:ext cx="1872208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HR ≈ 1.5</a:t>
            </a:r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776200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EBFF-A69C-A9CB-B817-F0245371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33B2F-86E2-B2DA-6CE1-1D33B11A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CE3CB-4EE3-3AA2-E595-5B498008E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111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A9175-94D5-4D71-84F0-EF9BBC2B9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980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CF12-FD5D-8C6F-54D2-55A2CD42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4CCEED-6FAE-3603-46E3-A4C6E6B9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 ratios for continuous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B0A95-FA84-AACF-5801-893AD60FD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DC0A1-F5F9-5508-B402-756D2C8CDB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392" y="1498600"/>
            <a:ext cx="7315215" cy="4572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78ADF-B2C1-B2FF-D87A-74CB3B1727F3}"/>
              </a:ext>
            </a:extLst>
          </p:cNvPr>
          <p:cNvSpPr txBox="1"/>
          <p:nvPr/>
        </p:nvSpPr>
        <p:spPr>
          <a:xfrm>
            <a:off x="4646432" y="3645024"/>
            <a:ext cx="187220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HR ≈ 1.5</a:t>
            </a:r>
          </a:p>
        </p:txBody>
      </p:sp>
    </p:spTree>
    <p:extLst>
      <p:ext uri="{BB962C8B-B14F-4D97-AF65-F5344CB8AC3E}">
        <p14:creationId xmlns:p14="http://schemas.microsoft.com/office/powerpoint/2010/main" val="27996311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C75C-7DF9-B46B-67DF-EEE9918A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2A1458-3632-054E-DA58-7BBB3412C7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Can calculate a hazard ratio for each predictor</a:t>
            </a:r>
          </a:p>
          <a:p>
            <a:endParaRPr lang="en-GB" dirty="0"/>
          </a:p>
          <a:p>
            <a:r>
              <a:rPr lang="en-GB" b="1" dirty="0"/>
              <a:t>Size (relative to 1) </a:t>
            </a:r>
            <a:r>
              <a:rPr lang="en-GB" dirty="0"/>
              <a:t>of hazard ratio tells you about the strength of the effect</a:t>
            </a:r>
          </a:p>
          <a:p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categorical </a:t>
            </a:r>
            <a:r>
              <a:rPr lang="en-GB" dirty="0"/>
              <a:t>predictors: how much does the hazard change as you move from the reference group to another group?</a:t>
            </a:r>
          </a:p>
          <a:p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continuous</a:t>
            </a:r>
            <a:r>
              <a:rPr lang="en-GB" dirty="0"/>
              <a:t> predictors: how much does the hazard change for each one-unit increase?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4CF258-1284-3C3B-7EC5-B6BA7A66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Hazard ratios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99AA3-D1A6-8E76-3D27-749B5CADE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smtClean="0"/>
              <a:pPr>
                <a:defRPr/>
              </a:pPr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92332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C384-C233-C10C-4C1B-8F20E1A8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65A3CB-D8BE-9310-F4C8-3205765696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noProof="0" dirty="0">
                <a:latin typeface="+mj-lt"/>
              </a:rPr>
              <a:t>Allows us to incorporate </a:t>
            </a:r>
            <a:r>
              <a:rPr lang="en-GB" b="1" noProof="0" dirty="0">
                <a:latin typeface="+mj-lt"/>
              </a:rPr>
              <a:t>continuous and multiple predictors</a:t>
            </a:r>
          </a:p>
          <a:p>
            <a:endParaRPr lang="en-GB" noProof="0" dirty="0"/>
          </a:p>
          <a:p>
            <a:r>
              <a:rPr lang="en-GB" dirty="0"/>
              <a:t>Predict </a:t>
            </a:r>
            <a:r>
              <a:rPr lang="en-GB" b="1" dirty="0"/>
              <a:t>survival probability</a:t>
            </a:r>
          </a:p>
          <a:p>
            <a:r>
              <a:rPr lang="en-GB" noProof="0" dirty="0"/>
              <a:t>Estimate </a:t>
            </a:r>
            <a:r>
              <a:rPr lang="en-GB" b="1" noProof="0" dirty="0"/>
              <a:t>hazard ratios</a:t>
            </a:r>
          </a:p>
          <a:p>
            <a:r>
              <a:rPr lang="en-GB" dirty="0"/>
              <a:t>Test significance/confidence</a:t>
            </a:r>
          </a:p>
          <a:p>
            <a:endParaRPr lang="en-GB" dirty="0"/>
          </a:p>
          <a:p>
            <a:r>
              <a:rPr lang="en-GB" dirty="0"/>
              <a:t>Shares </a:t>
            </a:r>
            <a:r>
              <a:rPr lang="en-GB" b="1" dirty="0"/>
              <a:t>assumptions</a:t>
            </a:r>
            <a:r>
              <a:rPr lang="en-GB" dirty="0"/>
              <a:t> with the log-rank test, plus:</a:t>
            </a:r>
          </a:p>
          <a:p>
            <a:pPr lvl="1"/>
            <a:r>
              <a:rPr lang="en-GB" sz="2000" dirty="0"/>
              <a:t>Linearity</a:t>
            </a:r>
          </a:p>
          <a:p>
            <a:pPr lvl="1"/>
            <a:r>
              <a:rPr lang="en-GB" sz="2000" dirty="0"/>
              <a:t>Time-independent predictors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BC11B1-F8D2-B73A-A6F1-0DAF1654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Summary: Cox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EF63C9-5A2C-DA2B-9EC6-D78500F4D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3FC0C4-D681-4CE5-B41E-BCE48B80373A}" type="slidenum">
              <a:rPr lang="en-GB" noProof="0" smtClean="0"/>
              <a:pPr>
                <a:defRPr/>
              </a:pPr>
              <a:t>114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8434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202AB-7E71-9C3C-CB37-D89FA2CB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363FCEB-6ED0-5778-5D69-50C302986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9" y="2060645"/>
            <a:ext cx="7560840" cy="576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3500" kern="0" noProof="0" dirty="0"/>
              <a:t>Survival (time-to-event) analysis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0C74C91-0FFA-862A-2CB0-F801808C3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2780928"/>
            <a:ext cx="717932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0"/>
              </a:spcBef>
              <a:spcAft>
                <a:spcPct val="75000"/>
              </a:spcAft>
              <a:buFontTx/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GB" kern="0" noProof="0" dirty="0"/>
              <a:t> </a:t>
            </a:r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endParaRPr lang="en-GB" kern="0" noProof="0" dirty="0"/>
          </a:p>
          <a:p>
            <a:pPr eaLnBrk="1" hangingPunct="1"/>
            <a:r>
              <a:rPr lang="en-GB" kern="0" noProof="0" dirty="0"/>
              <a:t>Cambridge Centre for Research Informatics Training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B6C1C-B441-0DF1-2D50-010A1FB09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8F0ED0-70FD-4BCE-966F-358F104CE5BB}" type="slidenum">
              <a:rPr lang="en-GB" noProof="0" smtClean="0"/>
              <a:pPr>
                <a:defRPr/>
              </a:pPr>
              <a:t>115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050314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Custom 6">
      <a:dk1>
        <a:srgbClr val="003E72"/>
      </a:dk1>
      <a:lt1>
        <a:srgbClr val="FFFFFF"/>
      </a:lt1>
      <a:dk2>
        <a:srgbClr val="FFFFFF"/>
      </a:dk2>
      <a:lt2>
        <a:srgbClr val="68ACE5"/>
      </a:lt2>
      <a:accent1>
        <a:srgbClr val="0072CF"/>
      </a:accent1>
      <a:accent2>
        <a:srgbClr val="EA7125"/>
      </a:accent2>
      <a:accent3>
        <a:srgbClr val="D6083B"/>
      </a:accent3>
      <a:accent4>
        <a:srgbClr val="55A51C"/>
      </a:accent4>
      <a:accent5>
        <a:srgbClr val="8F2BBC"/>
      </a:accent5>
      <a:accent6>
        <a:srgbClr val="00B1C1"/>
      </a:accent6>
      <a:hlink>
        <a:srgbClr val="55A51C"/>
      </a:hlink>
      <a:folHlink>
        <a:srgbClr val="55A51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3E72"/>
        </a:dk1>
        <a:lt1>
          <a:srgbClr val="FFFFFF"/>
        </a:lt1>
        <a:dk2>
          <a:srgbClr val="FFFFFF"/>
        </a:dk2>
        <a:lt2>
          <a:srgbClr val="00B3BE"/>
        </a:lt2>
        <a:accent1>
          <a:srgbClr val="0073CF"/>
        </a:accent1>
        <a:accent2>
          <a:srgbClr val="E37222"/>
        </a:accent2>
        <a:accent3>
          <a:srgbClr val="FFFFFF"/>
        </a:accent3>
        <a:accent4>
          <a:srgbClr val="003460"/>
        </a:accent4>
        <a:accent5>
          <a:srgbClr val="AABCE4"/>
        </a:accent5>
        <a:accent6>
          <a:srgbClr val="CE671E"/>
        </a:accent6>
        <a:hlink>
          <a:srgbClr val="58A618"/>
        </a:hlink>
        <a:folHlink>
          <a:srgbClr val="8E25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3E72"/>
        </a:dk1>
        <a:lt1>
          <a:srgbClr val="FFFFFF"/>
        </a:lt1>
        <a:dk2>
          <a:srgbClr val="FFFFFF"/>
        </a:dk2>
        <a:lt2>
          <a:srgbClr val="83AFB4"/>
        </a:lt2>
        <a:accent1>
          <a:srgbClr val="6AADE4"/>
        </a:accent1>
        <a:accent2>
          <a:srgbClr val="EFBD47"/>
        </a:accent2>
        <a:accent3>
          <a:srgbClr val="FFFFFF"/>
        </a:accent3>
        <a:accent4>
          <a:srgbClr val="003460"/>
        </a:accent4>
        <a:accent5>
          <a:srgbClr val="B9D3EF"/>
        </a:accent5>
        <a:accent6>
          <a:srgbClr val="D9AB3F"/>
        </a:accent6>
        <a:hlink>
          <a:srgbClr val="A8B400"/>
        </a:hlink>
        <a:folHlink>
          <a:srgbClr val="6A40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3E72"/>
        </a:dk1>
        <a:lt1>
          <a:srgbClr val="FFFFFF"/>
        </a:lt1>
        <a:dk2>
          <a:srgbClr val="FFFFFF"/>
        </a:dk2>
        <a:lt2>
          <a:srgbClr val="156570"/>
        </a:lt2>
        <a:accent1>
          <a:srgbClr val="003E72"/>
        </a:accent1>
        <a:accent2>
          <a:srgbClr val="C84E00"/>
        </a:accent2>
        <a:accent3>
          <a:srgbClr val="FFFFFF"/>
        </a:accent3>
        <a:accent4>
          <a:srgbClr val="003460"/>
        </a:accent4>
        <a:accent5>
          <a:srgbClr val="AAAFBC"/>
        </a:accent5>
        <a:accent6>
          <a:srgbClr val="B54600"/>
        </a:accent6>
        <a:hlink>
          <a:srgbClr val="435125"/>
        </a:hlink>
        <a:folHlink>
          <a:srgbClr val="412D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7354</Words>
  <Application>Microsoft Office PowerPoint</Application>
  <PresentationFormat>On-screen Show (4:3)</PresentationFormat>
  <Paragraphs>1494</Paragraphs>
  <Slides>115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Wingdings</vt:lpstr>
      <vt:lpstr>blank</vt:lpstr>
      <vt:lpstr>PowerPoint Presentation</vt:lpstr>
      <vt:lpstr>Course aims</vt:lpstr>
      <vt:lpstr>Session 1</vt:lpstr>
      <vt:lpstr>PowerPoint Presentation</vt:lpstr>
      <vt:lpstr>Survival data</vt:lpstr>
      <vt:lpstr>“Time to event” </vt:lpstr>
      <vt:lpstr>Properties of survival data</vt:lpstr>
      <vt:lpstr>Censoring</vt:lpstr>
      <vt:lpstr>More censoring (&amp; truncation)</vt:lpstr>
      <vt:lpstr>A survival dataset</vt:lpstr>
      <vt:lpstr>A survival dataset</vt:lpstr>
      <vt:lpstr>A survival dataset</vt:lpstr>
      <vt:lpstr>A survival dataset</vt:lpstr>
      <vt:lpstr>A survival dataset</vt:lpstr>
      <vt:lpstr>Example 1</vt:lpstr>
      <vt:lpstr>Example 2</vt:lpstr>
      <vt:lpstr>Example 3</vt:lpstr>
      <vt:lpstr>Example 4</vt:lpstr>
      <vt:lpstr>Summary: Survival data is unique</vt:lpstr>
      <vt:lpstr>PowerPoint Presentation</vt:lpstr>
      <vt:lpstr>What is a survival curve?</vt:lpstr>
      <vt:lpstr>What is a survival curve?</vt:lpstr>
      <vt:lpstr>The goal: estimating the survival curve</vt:lpstr>
      <vt:lpstr>An example</vt:lpstr>
      <vt:lpstr>An example</vt:lpstr>
      <vt:lpstr>An example</vt:lpstr>
      <vt:lpstr>Kaplan-Meier survival curve</vt:lpstr>
      <vt:lpstr>Kaplan-Meier survival curve</vt:lpstr>
      <vt:lpstr>Kaplan-Meier survival curve</vt:lpstr>
      <vt:lpstr>Kaplan-Meier survival curve</vt:lpstr>
      <vt:lpstr>How is the curve constructed?</vt:lpstr>
      <vt:lpstr>Dragon egg dataset</vt:lpstr>
      <vt:lpstr>Dragon egg dataset</vt:lpstr>
      <vt:lpstr>Dragon egg dataset</vt:lpstr>
      <vt:lpstr>Dragon egg dataset</vt:lpstr>
      <vt:lpstr>Summary: Survival curves</vt:lpstr>
      <vt:lpstr>PowerPoint Presentation</vt:lpstr>
      <vt:lpstr>Two dragon populations</vt:lpstr>
      <vt:lpstr>Two dragon populations</vt:lpstr>
      <vt:lpstr>Log-rank test</vt:lpstr>
      <vt:lpstr>Log-rank test</vt:lpstr>
      <vt:lpstr>Assumptions of log-rank test</vt:lpstr>
      <vt:lpstr>Assumptions of log-rank test</vt:lpstr>
      <vt:lpstr>Independence</vt:lpstr>
      <vt:lpstr>Independence</vt:lpstr>
      <vt:lpstr>Independence</vt:lpstr>
      <vt:lpstr>Independence</vt:lpstr>
      <vt:lpstr>Independence</vt:lpstr>
      <vt:lpstr>Assumptions of log-rank test</vt:lpstr>
      <vt:lpstr>Non-informative censoring</vt:lpstr>
      <vt:lpstr>Non-informative censoring</vt:lpstr>
      <vt:lpstr>Assumptions of log-rank test</vt:lpstr>
      <vt:lpstr>Proportional hazards</vt:lpstr>
      <vt:lpstr>Proportional hazards</vt:lpstr>
      <vt:lpstr>Proportional hazards</vt:lpstr>
      <vt:lpstr>Proportional hazards</vt:lpstr>
      <vt:lpstr>Proportional hazards</vt:lpstr>
      <vt:lpstr>Proportional hazards</vt:lpstr>
      <vt:lpstr>Proportional hazards</vt:lpstr>
      <vt:lpstr>Dragon egg example: are assumptions met?</vt:lpstr>
      <vt:lpstr>Dragon egg example: are assumptions met?</vt:lpstr>
      <vt:lpstr>Dragon egg example: are assumptions met?</vt:lpstr>
      <vt:lpstr>Dragon egg example: are assumptions met?</vt:lpstr>
      <vt:lpstr>Two dragon populations</vt:lpstr>
      <vt:lpstr>Multiple dragon populations</vt:lpstr>
      <vt:lpstr>Summary: Log-rank test</vt:lpstr>
      <vt:lpstr>PowerPoint Presentation</vt:lpstr>
      <vt:lpstr>Session 1</vt:lpstr>
      <vt:lpstr>Session 2</vt:lpstr>
      <vt:lpstr>PowerPoint Presentation</vt:lpstr>
      <vt:lpstr>How does the predictor “affect” the hazard?</vt:lpstr>
      <vt:lpstr>How does the predictor “affect” the hazard?</vt:lpstr>
      <vt:lpstr>How does the predictor “affect” the hazard?</vt:lpstr>
      <vt:lpstr>How does the predictor “affect” the hazard?</vt:lpstr>
      <vt:lpstr>Baseline hazard</vt:lpstr>
      <vt:lpstr>Baseline hazard</vt:lpstr>
      <vt:lpstr>Baseline hazard</vt:lpstr>
      <vt:lpstr>Baseline hazard</vt:lpstr>
      <vt:lpstr>Baseline hazard</vt:lpstr>
      <vt:lpstr>Adding a predictor</vt:lpstr>
      <vt:lpstr>How does the predictor “affect” the hazard?</vt:lpstr>
      <vt:lpstr>How does the predictor “affect” the hazard?</vt:lpstr>
      <vt:lpstr>How does the predictor “affect” the hazard?</vt:lpstr>
      <vt:lpstr>How does the predictor “affect” the hazard?</vt:lpstr>
      <vt:lpstr>How does the predictor “affect” the hazard?</vt:lpstr>
      <vt:lpstr>How does the predictor “affect” the hazard?</vt:lpstr>
      <vt:lpstr>Summary: Cox regression</vt:lpstr>
      <vt:lpstr>Summary: Cox regression</vt:lpstr>
      <vt:lpstr>Assumptions of Cox regression</vt:lpstr>
      <vt:lpstr>Assumptions of Cox regression</vt:lpstr>
      <vt:lpstr>Time-independent predictors</vt:lpstr>
      <vt:lpstr>Time-independent predictors</vt:lpstr>
      <vt:lpstr>PowerPoint Presentation</vt:lpstr>
      <vt:lpstr>Interpretation of a Cox regression model</vt:lpstr>
      <vt:lpstr>Hazard ratios</vt:lpstr>
      <vt:lpstr>Hazard ratios for categorical predictors</vt:lpstr>
      <vt:lpstr>Hazard ratios for categorical predictors</vt:lpstr>
      <vt:lpstr>Hazard ratios for categorical predictors</vt:lpstr>
      <vt:lpstr>Hazard ratios for categorical predictors</vt:lpstr>
      <vt:lpstr>Hazard ratios for categorical predictors</vt:lpstr>
      <vt:lpstr>Hazard ratios for categorical predictors</vt:lpstr>
      <vt:lpstr>Hazard ratios for categorical predictors</vt:lpstr>
      <vt:lpstr>Hazard ratio</vt:lpstr>
      <vt:lpstr>Hazard ratios for categorical predictors</vt:lpstr>
      <vt:lpstr>Hazard ratios for categorical predictors</vt:lpstr>
      <vt:lpstr>Hazard ratios for categorical predictors</vt:lpstr>
      <vt:lpstr>Hazard ratios for continuous predictors</vt:lpstr>
      <vt:lpstr>Hazard ratios for continuous predictors</vt:lpstr>
      <vt:lpstr>Hazard ratios for continuous predictors</vt:lpstr>
      <vt:lpstr>Hazard ratios for continuous predictors</vt:lpstr>
      <vt:lpstr>Hazard ratios for continuous predictors</vt:lpstr>
      <vt:lpstr>Hazard ratios for continuous predictors</vt:lpstr>
      <vt:lpstr>Summary: Hazard ratios</vt:lpstr>
      <vt:lpstr>Summary: Cox regression</vt:lpstr>
      <vt:lpstr>PowerPoint Presentation</vt:lpstr>
    </vt:vector>
  </TitlesOfParts>
  <Company>..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..</dc:creator>
  <cp:lastModifiedBy>Vicki Hodgson</cp:lastModifiedBy>
  <cp:revision>539</cp:revision>
  <cp:lastPrinted>1601-01-01T00:00:00Z</cp:lastPrinted>
  <dcterms:created xsi:type="dcterms:W3CDTF">2008-03-27T10:29:55Z</dcterms:created>
  <dcterms:modified xsi:type="dcterms:W3CDTF">2026-09-25T14:38:35Z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