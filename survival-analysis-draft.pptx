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6"/>
  </p:notesMasterIdLst>
  <p:handoutMasterIdLst>
    <p:handoutMasterId r:id="rId77"/>
  </p:handoutMasterIdLst>
  <p:sldIdLst>
    <p:sldId id="696" r:id="rId2"/>
    <p:sldId id="464" r:id="rId3"/>
    <p:sldId id="714" r:id="rId4"/>
    <p:sldId id="1431" r:id="rId5"/>
    <p:sldId id="1404" r:id="rId6"/>
    <p:sldId id="1432" r:id="rId7"/>
    <p:sldId id="1433" r:id="rId8"/>
    <p:sldId id="1434" r:id="rId9"/>
    <p:sldId id="1435" r:id="rId10"/>
    <p:sldId id="1456" r:id="rId11"/>
    <p:sldId id="1436" r:id="rId12"/>
    <p:sldId id="1437" r:id="rId13"/>
    <p:sldId id="1438" r:id="rId14"/>
    <p:sldId id="1439" r:id="rId15"/>
    <p:sldId id="1440" r:id="rId16"/>
    <p:sldId id="1484" r:id="rId17"/>
    <p:sldId id="1483" r:id="rId18"/>
    <p:sldId id="1485" r:id="rId19"/>
    <p:sldId id="1486" r:id="rId20"/>
    <p:sldId id="1492" r:id="rId21"/>
    <p:sldId id="519" r:id="rId22"/>
    <p:sldId id="1481" r:id="rId23"/>
    <p:sldId id="1482" r:id="rId24"/>
    <p:sldId id="1480" r:id="rId25"/>
    <p:sldId id="1487" r:id="rId26"/>
    <p:sldId id="1494" r:id="rId27"/>
    <p:sldId id="1442" r:id="rId28"/>
    <p:sldId id="1508" r:id="rId29"/>
    <p:sldId id="1488" r:id="rId30"/>
    <p:sldId id="1496" r:id="rId31"/>
    <p:sldId id="1497" r:id="rId32"/>
    <p:sldId id="1460" r:id="rId33"/>
    <p:sldId id="1443" r:id="rId34"/>
    <p:sldId id="1461" r:id="rId35"/>
    <p:sldId id="1463" r:id="rId36"/>
    <p:sldId id="1464" r:id="rId37"/>
    <p:sldId id="1493" r:id="rId38"/>
    <p:sldId id="1428" r:id="rId39"/>
    <p:sldId id="1465" r:id="rId40"/>
    <p:sldId id="1491" r:id="rId41"/>
    <p:sldId id="1478" r:id="rId42"/>
    <p:sldId id="1468" r:id="rId43"/>
    <p:sldId id="1469" r:id="rId44"/>
    <p:sldId id="1504" r:id="rId45"/>
    <p:sldId id="1470" r:id="rId46"/>
    <p:sldId id="1498" r:id="rId47"/>
    <p:sldId id="1499" r:id="rId48"/>
    <p:sldId id="1501" r:id="rId49"/>
    <p:sldId id="1502" r:id="rId50"/>
    <p:sldId id="1503" r:id="rId51"/>
    <p:sldId id="1506" r:id="rId52"/>
    <p:sldId id="1507" r:id="rId53"/>
    <p:sldId id="1471" r:id="rId54"/>
    <p:sldId id="1505" r:id="rId55"/>
    <p:sldId id="1472" r:id="rId56"/>
    <p:sldId id="1509" r:id="rId57"/>
    <p:sldId id="1510" r:id="rId58"/>
    <p:sldId id="1511" r:id="rId59"/>
    <p:sldId id="1512" r:id="rId60"/>
    <p:sldId id="1473" r:id="rId61"/>
    <p:sldId id="1467" r:id="rId62"/>
    <p:sldId id="1477" r:id="rId63"/>
    <p:sldId id="1474" r:id="rId64"/>
    <p:sldId id="1475" r:id="rId65"/>
    <p:sldId id="1476" r:id="rId66"/>
    <p:sldId id="1449" r:id="rId67"/>
    <p:sldId id="1451" r:id="rId68"/>
    <p:sldId id="1453" r:id="rId69"/>
    <p:sldId id="1452" r:id="rId70"/>
    <p:sldId id="1450" r:id="rId71"/>
    <p:sldId id="1454" r:id="rId72"/>
    <p:sldId id="1455" r:id="rId73"/>
    <p:sldId id="1397" r:id="rId74"/>
    <p:sldId id="1410" r:id="rId75"/>
  </p:sldIdLst>
  <p:sldSz cx="9144000" cy="6858000" type="screen4x3"/>
  <p:notesSz cx="6797675" cy="9928225"/>
  <p:defaultTextStyle>
    <a:defPPr>
      <a:defRPr lang="en-GB"/>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Introduction" id="{1C78BB04-9DD1-421D-AA96-4BEC2462826F}">
          <p14:sldIdLst>
            <p14:sldId id="696"/>
            <p14:sldId id="464"/>
            <p14:sldId id="714"/>
            <p14:sldId id="1431"/>
          </p14:sldIdLst>
        </p14:section>
        <p14:section name="Survival data" id="{AB2DB496-4FB2-4E64-BDFB-79D648F2EFB3}">
          <p14:sldIdLst>
            <p14:sldId id="1404"/>
            <p14:sldId id="1432"/>
            <p14:sldId id="1433"/>
            <p14:sldId id="1434"/>
            <p14:sldId id="1435"/>
            <p14:sldId id="1456"/>
            <p14:sldId id="1436"/>
            <p14:sldId id="1437"/>
            <p14:sldId id="1438"/>
            <p14:sldId id="1439"/>
            <p14:sldId id="1440"/>
            <p14:sldId id="1484"/>
            <p14:sldId id="1483"/>
            <p14:sldId id="1485"/>
            <p14:sldId id="1486"/>
            <p14:sldId id="1492"/>
          </p14:sldIdLst>
        </p14:section>
        <p14:section name="Survival curves" id="{4901E46B-6DC2-41FE-B748-AE2F67846EA8}">
          <p14:sldIdLst>
            <p14:sldId id="519"/>
            <p14:sldId id="1481"/>
            <p14:sldId id="1482"/>
            <p14:sldId id="1480"/>
            <p14:sldId id="1487"/>
            <p14:sldId id="1494"/>
            <p14:sldId id="1442"/>
            <p14:sldId id="1508"/>
            <p14:sldId id="1488"/>
            <p14:sldId id="1496"/>
            <p14:sldId id="1497"/>
            <p14:sldId id="1460"/>
            <p14:sldId id="1443"/>
            <p14:sldId id="1461"/>
            <p14:sldId id="1463"/>
            <p14:sldId id="1464"/>
            <p14:sldId id="1493"/>
          </p14:sldIdLst>
        </p14:section>
        <p14:section name="Comparing curves" id="{BF05FFF6-9755-4EDF-BEFE-AD79AFA00FEE}">
          <p14:sldIdLst>
            <p14:sldId id="1428"/>
            <p14:sldId id="1465"/>
            <p14:sldId id="1491"/>
            <p14:sldId id="1478"/>
            <p14:sldId id="1468"/>
            <p14:sldId id="1469"/>
            <p14:sldId id="1504"/>
            <p14:sldId id="1470"/>
            <p14:sldId id="1498"/>
            <p14:sldId id="1499"/>
            <p14:sldId id="1501"/>
            <p14:sldId id="1502"/>
            <p14:sldId id="1503"/>
            <p14:sldId id="1506"/>
            <p14:sldId id="1507"/>
            <p14:sldId id="1471"/>
            <p14:sldId id="1505"/>
            <p14:sldId id="1472"/>
            <p14:sldId id="1509"/>
            <p14:sldId id="1510"/>
            <p14:sldId id="1511"/>
            <p14:sldId id="1512"/>
            <p14:sldId id="1473"/>
            <p14:sldId id="1467"/>
            <p14:sldId id="1477"/>
            <p14:sldId id="1474"/>
            <p14:sldId id="1475"/>
            <p14:sldId id="1476"/>
          </p14:sldIdLst>
        </p14:section>
        <p14:section name="Cox regression" id="{64341288-D7B7-40CC-8AAE-7919E6B60261}">
          <p14:sldIdLst>
            <p14:sldId id="1449"/>
            <p14:sldId id="1451"/>
            <p14:sldId id="1453"/>
            <p14:sldId id="1452"/>
            <p14:sldId id="1450"/>
            <p14:sldId id="1454"/>
            <p14:sldId id="1455"/>
          </p14:sldIdLst>
        </p14:section>
        <p14:section name="Outro" id="{1ECFEA05-F589-4E57-99F2-568CBA5C45A4}">
          <p14:sldIdLst>
            <p14:sldId id="1397"/>
            <p14:sldId id="141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27">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6699"/>
    <a:srgbClr val="FFFFFF"/>
    <a:srgbClr val="F8766D"/>
    <a:srgbClr val="AF95A3"/>
    <a:srgbClr val="68ACE5"/>
    <a:srgbClr val="FFC000"/>
    <a:srgbClr val="91B9A4"/>
    <a:srgbClr val="AAB300"/>
    <a:srgbClr val="F3BD4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17" autoAdjust="0"/>
    <p:restoredTop sz="62486" autoAdjust="0"/>
  </p:normalViewPr>
  <p:slideViewPr>
    <p:cSldViewPr snapToObjects="1">
      <p:cViewPr varScale="1">
        <p:scale>
          <a:sx n="100" d="100"/>
          <a:sy n="100" d="100"/>
        </p:scale>
        <p:origin x="1604" y="64"/>
      </p:cViewPr>
      <p:guideLst>
        <p:guide orient="horz" pos="2160"/>
        <p:guide pos="2880"/>
      </p:guideLst>
    </p:cSldViewPr>
  </p:slideViewPr>
  <p:outlineViewPr>
    <p:cViewPr>
      <p:scale>
        <a:sx n="33" d="100"/>
        <a:sy n="33" d="100"/>
      </p:scale>
      <p:origin x="0" y="5196"/>
    </p:cViewPr>
  </p:outlineViewPr>
  <p:notesTextViewPr>
    <p:cViewPr>
      <p:scale>
        <a:sx n="100" d="100"/>
        <a:sy n="100" d="100"/>
      </p:scale>
      <p:origin x="0" y="0"/>
    </p:cViewPr>
  </p:notesTextViewPr>
  <p:sorterViewPr>
    <p:cViewPr>
      <p:scale>
        <a:sx n="66" d="100"/>
        <a:sy n="66" d="100"/>
      </p:scale>
      <p:origin x="0" y="0"/>
    </p:cViewPr>
  </p:sorterViewPr>
  <p:notesViewPr>
    <p:cSldViewPr snapToObjects="1">
      <p:cViewPr varScale="1">
        <p:scale>
          <a:sx n="77" d="100"/>
          <a:sy n="77" d="100"/>
        </p:scale>
        <p:origin x="3228" y="84"/>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ki Hodgson" userId="179904206160527c" providerId="LiveId" clId="{A65D6C05-0B12-4742-BA36-3268228148B1}"/>
    <pc:docChg chg="custSel modSld">
      <pc:chgData name="Vicki Hodgson" userId="179904206160527c" providerId="LiveId" clId="{A65D6C05-0B12-4742-BA36-3268228148B1}" dt="2026-04-17T08:47:15.226" v="44" actId="20577"/>
      <pc:docMkLst>
        <pc:docMk/>
      </pc:docMkLst>
      <pc:sldChg chg="modSp mod">
        <pc:chgData name="Vicki Hodgson" userId="179904206160527c" providerId="LiveId" clId="{A65D6C05-0B12-4742-BA36-3268228148B1}" dt="2026-04-17T08:47:15.226" v="44" actId="20577"/>
        <pc:sldMkLst>
          <pc:docMk/>
          <pc:sldMk cId="4024045093" sldId="714"/>
        </pc:sldMkLst>
        <pc:spChg chg="mod">
          <ac:chgData name="Vicki Hodgson" userId="179904206160527c" providerId="LiveId" clId="{A65D6C05-0B12-4742-BA36-3268228148B1}" dt="2026-04-17T08:47:15.226" v="44" actId="20577"/>
          <ac:spMkLst>
            <pc:docMk/>
            <pc:sldMk cId="4024045093" sldId="714"/>
            <ac:spMk id="10" creationId="{927FC6D6-F764-CF4B-3370-8E8C071ABAF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9219" name="Rectangle 3"/>
          <p:cNvSpPr>
            <a:spLocks noGrp="1" noChangeArrowheads="1"/>
          </p:cNvSpPr>
          <p:nvPr>
            <p:ph type="dt" sz="quarter"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9220" name="Rectangle 4"/>
          <p:cNvSpPr>
            <a:spLocks noGrp="1" noChangeArrowheads="1"/>
          </p:cNvSpPr>
          <p:nvPr>
            <p:ph type="ftr" sz="quarter" idx="2"/>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9221" name="Rectangle 5"/>
          <p:cNvSpPr>
            <a:spLocks noGrp="1" noChangeArrowheads="1"/>
          </p:cNvSpPr>
          <p:nvPr>
            <p:ph type="sldNum" sz="quarter" idx="3"/>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63AA5FB3-4351-4085-AA63-BE6A6B385718}" type="slidenum">
              <a:rPr lang="en-GB"/>
              <a:pPr>
                <a:defRPr/>
              </a:pPr>
              <a:t>‹#›</a:t>
            </a:fld>
            <a:endParaRPr lang="en-GB"/>
          </a:p>
        </p:txBody>
      </p:sp>
    </p:spTree>
    <p:extLst>
      <p:ext uri="{BB962C8B-B14F-4D97-AF65-F5344CB8AC3E}">
        <p14:creationId xmlns:p14="http://schemas.microsoft.com/office/powerpoint/2010/main" val="1605702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8195" name="Rectangle 3"/>
          <p:cNvSpPr>
            <a:spLocks noGrp="1" noChangeArrowheads="1"/>
          </p:cNvSpPr>
          <p:nvPr>
            <p:ph type="dt"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13316" name="Rectangle 4"/>
          <p:cNvSpPr>
            <a:spLocks noGrp="1" noRot="1" noChangeAspect="1" noChangeArrowheads="1" noTextEdit="1"/>
          </p:cNvSpPr>
          <p:nvPr>
            <p:ph type="sldImg" idx="2"/>
          </p:nvPr>
        </p:nvSpPr>
        <p:spPr bwMode="auto">
          <a:xfrm>
            <a:off x="917575" y="744538"/>
            <a:ext cx="4962525" cy="3722687"/>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1133475" y="4716463"/>
            <a:ext cx="4514850" cy="44672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8198" name="Rectangle 6"/>
          <p:cNvSpPr>
            <a:spLocks noGrp="1" noChangeArrowheads="1"/>
          </p:cNvSpPr>
          <p:nvPr>
            <p:ph type="ftr" sz="quarter" idx="4"/>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8199" name="Rectangle 7"/>
          <p:cNvSpPr>
            <a:spLocks noGrp="1" noChangeArrowheads="1"/>
          </p:cNvSpPr>
          <p:nvPr>
            <p:ph type="sldNum" sz="quarter" idx="5"/>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7091D1AB-24F6-48F0-A15B-00F40EB78CCB}" type="slidenum">
              <a:rPr lang="en-GB"/>
              <a:pPr>
                <a:defRPr/>
              </a:pPr>
              <a:t>‹#›</a:t>
            </a:fld>
            <a:endParaRPr lang="en-GB"/>
          </a:p>
        </p:txBody>
      </p:sp>
    </p:spTree>
    <p:extLst>
      <p:ext uri="{BB962C8B-B14F-4D97-AF65-F5344CB8AC3E}">
        <p14:creationId xmlns:p14="http://schemas.microsoft.com/office/powerpoint/2010/main" val="28936972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p:spPr>
        <p:txBody>
          <a:bodyPr/>
          <a:lstStyle/>
          <a:p>
            <a:fld id="{12B26FF2-21A4-4D45-8B69-E1FBC758DB49}" type="slidenum">
              <a:rPr lang="en-GB" smtClean="0">
                <a:cs typeface="Arial" charset="0"/>
              </a:rPr>
              <a:pPr/>
              <a:t>1</a:t>
            </a:fld>
            <a:endParaRPr lang="en-GB">
              <a:cs typeface="Arial" charset="0"/>
            </a:endParaRPr>
          </a:p>
        </p:txBody>
      </p:sp>
      <p:sp>
        <p:nvSpPr>
          <p:cNvPr id="16386" name="Rectangle 2"/>
          <p:cNvSpPr>
            <a:spLocks noGrp="1" noRot="1" noChangeAspect="1" noChangeArrowheads="1" noTextEdit="1"/>
          </p:cNvSpPr>
          <p:nvPr>
            <p:ph type="sldImg"/>
          </p:nvPr>
        </p:nvSpPr>
        <p:spPr>
          <a:ln/>
        </p:spPr>
      </p:sp>
      <p:sp>
        <p:nvSpPr>
          <p:cNvPr id="16387"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5599287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Note: time will always be a number &gt;=0, which makes it different to standard continuous variables</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a:t>
            </a:fld>
            <a:endParaRPr lang="en-GB"/>
          </a:p>
        </p:txBody>
      </p:sp>
    </p:spTree>
    <p:extLst>
      <p:ext uri="{BB962C8B-B14F-4D97-AF65-F5344CB8AC3E}">
        <p14:creationId xmlns:p14="http://schemas.microsoft.com/office/powerpoint/2010/main" val="3007814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event does not </a:t>
            </a:r>
            <a:r>
              <a:rPr lang="en-GB" b="1" dirty="0"/>
              <a:t>have </a:t>
            </a:r>
            <a:r>
              <a:rPr lang="en-GB" b="0" i="0" dirty="0"/>
              <a:t>to be death!</a:t>
            </a:r>
          </a:p>
          <a:p>
            <a:endParaRPr lang="en-GB" b="0" i="0" dirty="0"/>
          </a:p>
          <a:p>
            <a:pPr marL="171450" indent="-171450">
              <a:buFont typeface="Arial" panose="020B0604020202020204" pitchFamily="34" charset="0"/>
              <a:buChar char="•"/>
            </a:pPr>
            <a:r>
              <a:rPr lang="en-GB" b="0" i="0" dirty="0"/>
              <a:t>Time until the next bus arrives at different bus stops</a:t>
            </a:r>
          </a:p>
          <a:p>
            <a:pPr marL="171450" indent="-171450">
              <a:buFont typeface="Arial" panose="020B0604020202020204" pitchFamily="34" charset="0"/>
              <a:buChar char="•"/>
            </a:pPr>
            <a:r>
              <a:rPr lang="en-GB" b="0" i="0" dirty="0"/>
              <a:t>Time </a:t>
            </a:r>
            <a:r>
              <a:rPr lang="en-GB" b="0" i="0" dirty="0" err="1"/>
              <a:t>untio</a:t>
            </a: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a:t>
            </a:fld>
            <a:endParaRPr lang="en-GB"/>
          </a:p>
        </p:txBody>
      </p:sp>
    </p:spTree>
    <p:extLst>
      <p:ext uri="{BB962C8B-B14F-4D97-AF65-F5344CB8AC3E}">
        <p14:creationId xmlns:p14="http://schemas.microsoft.com/office/powerpoint/2010/main" val="4008360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These are the two common issues we need to deal with (and will be the main focus of the course)</a:t>
            </a:r>
          </a:p>
          <a:p>
            <a:endParaRPr lang="en-GB" dirty="0"/>
          </a:p>
          <a:p>
            <a:r>
              <a:rPr lang="en-GB" dirty="0"/>
              <a:t>Right-censored: either they survived to the end of the study without experiencing the event, or something else happened (e.g., dropping out) that meant we can’t follow them any more and we don’t know if they experienced the event</a:t>
            </a:r>
          </a:p>
          <a:p>
            <a:r>
              <a:rPr lang="en-GB" dirty="0"/>
              <a:t>Short version: right-censored if we were following them during the study, but we don’t know if they ever experienced the event because we stopped following them</a:t>
            </a:r>
          </a:p>
          <a:p>
            <a:endParaRPr lang="en-GB" dirty="0"/>
          </a:p>
          <a:p>
            <a:r>
              <a:rPr lang="en-GB" dirty="0"/>
              <a:t>Interval censored: super common; when we don’t know the exact instance the event occurred, but we do know it happened after some set time and before some other set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a:t>
            </a:fld>
            <a:endParaRPr lang="en-GB"/>
          </a:p>
        </p:txBody>
      </p:sp>
    </p:spTree>
    <p:extLst>
      <p:ext uri="{BB962C8B-B14F-4D97-AF65-F5344CB8AC3E}">
        <p14:creationId xmlns:p14="http://schemas.microsoft.com/office/powerpoint/2010/main" val="209802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BB7FA-A748-CA9C-EF1B-A8552ED7A9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ACEBAC-E7E8-1DC1-96A4-E697B45F07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01F93-7996-2D24-447E-AB23794EAFCE}"/>
              </a:ext>
            </a:extLst>
          </p:cNvPr>
          <p:cNvSpPr>
            <a:spLocks noGrp="1"/>
          </p:cNvSpPr>
          <p:nvPr>
            <p:ph type="body" idx="1"/>
          </p:nvPr>
        </p:nvSpPr>
        <p:spPr/>
        <p:txBody>
          <a:bodyPr/>
          <a:lstStyle/>
          <a:p>
            <a:r>
              <a:rPr lang="en-GB" b="1" dirty="0"/>
              <a:t>These are other things that can occur in survival data, and may or may not need to be accounted for – but won’t be a major focus of this course</a:t>
            </a:r>
          </a:p>
          <a:p>
            <a:endParaRPr lang="en-GB" dirty="0"/>
          </a:p>
          <a:p>
            <a:r>
              <a:rPr lang="en-GB" dirty="0"/>
              <a:t>Staggered entry: when not everyone enters the study at the same time</a:t>
            </a:r>
          </a:p>
          <a:p>
            <a:r>
              <a:rPr lang="en-GB" dirty="0"/>
              <a:t>Left-censored: when the event of interest occurs before the study started (extremely rare!)</a:t>
            </a:r>
          </a:p>
          <a:p>
            <a:endParaRPr lang="en-GB" dirty="0"/>
          </a:p>
          <a:p>
            <a:r>
              <a:rPr lang="en-GB" dirty="0"/>
              <a:t>Truncation is deliberate/due to study design:</a:t>
            </a:r>
          </a:p>
          <a:p>
            <a:r>
              <a:rPr lang="en-GB" dirty="0"/>
              <a:t>Left-truncated: when the individual was at risk before the study started, and we don’t know whether they did or didn’t experience the event</a:t>
            </a:r>
          </a:p>
          <a:p>
            <a:r>
              <a:rPr lang="en-GB" dirty="0"/>
              <a:t>Right-truncated: only happens when membership in the study is determined retrospectively; the individual experienced the event after the date of the study that would’ve made them eligible for inclusion</a:t>
            </a:r>
          </a:p>
        </p:txBody>
      </p:sp>
      <p:sp>
        <p:nvSpPr>
          <p:cNvPr id="4" name="Slide Number Placeholder 3">
            <a:extLst>
              <a:ext uri="{FF2B5EF4-FFF2-40B4-BE49-F238E27FC236}">
                <a16:creationId xmlns:a16="http://schemas.microsoft.com/office/drawing/2014/main" id="{6DA6903D-FD56-473F-7225-20BE9871DB2B}"/>
              </a:ext>
            </a:extLst>
          </p:cNvPr>
          <p:cNvSpPr>
            <a:spLocks noGrp="1"/>
          </p:cNvSpPr>
          <p:nvPr>
            <p:ph type="sldNum" sz="quarter" idx="5"/>
          </p:nvPr>
        </p:nvSpPr>
        <p:spPr/>
        <p:txBody>
          <a:bodyPr/>
          <a:lstStyle/>
          <a:p>
            <a:pPr>
              <a:defRPr/>
            </a:pPr>
            <a:fld id="{7091D1AB-24F6-48F0-A15B-00F40EB78CCB}" type="slidenum">
              <a:rPr lang="en-GB" smtClean="0"/>
              <a:pPr>
                <a:defRPr/>
              </a:pPr>
              <a:t>10</a:t>
            </a:fld>
            <a:endParaRPr lang="en-GB"/>
          </a:p>
        </p:txBody>
      </p:sp>
    </p:spTree>
    <p:extLst>
      <p:ext uri="{BB962C8B-B14F-4D97-AF65-F5344CB8AC3E}">
        <p14:creationId xmlns:p14="http://schemas.microsoft.com/office/powerpoint/2010/main" val="2684216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graft/transplant failure</a:t>
            </a:r>
          </a:p>
          <a:p>
            <a:endParaRPr lang="en-GB" dirty="0"/>
          </a:p>
          <a:p>
            <a:r>
              <a:rPr lang="en-GB" dirty="0"/>
              <a:t>Censoring: </a:t>
            </a:r>
          </a:p>
          <a:p>
            <a:pPr marL="171450" indent="-171450">
              <a:buFont typeface="Arial" panose="020B0604020202020204" pitchFamily="34" charset="0"/>
              <a:buChar char="•"/>
            </a:pPr>
            <a:r>
              <a:rPr lang="en-GB" dirty="0"/>
              <a:t>Patient drops out (RC)</a:t>
            </a:r>
          </a:p>
          <a:p>
            <a:pPr marL="171450" indent="-171450">
              <a:buFont typeface="Arial" panose="020B0604020202020204" pitchFamily="34" charset="0"/>
              <a:buChar char="•"/>
            </a:pPr>
            <a:r>
              <a:rPr lang="en-GB" dirty="0"/>
              <a:t>Graft never fails by the end of the study (RC)</a:t>
            </a:r>
          </a:p>
          <a:p>
            <a:pPr marL="171450" indent="-171450">
              <a:buFont typeface="Arial" panose="020B0604020202020204" pitchFamily="34" charset="0"/>
              <a:buChar char="•"/>
            </a:pPr>
            <a:r>
              <a:rPr lang="en-GB" dirty="0"/>
              <a:t>Death from unrelated causes (competing risk)</a:t>
            </a:r>
          </a:p>
          <a:p>
            <a:pPr marL="171450" indent="-171450">
              <a:buFont typeface="Arial" panose="020B0604020202020204" pitchFamily="34" charset="0"/>
              <a:buChar char="•"/>
            </a:pPr>
            <a:r>
              <a:rPr lang="en-GB" dirty="0"/>
              <a:t>Graft fails between clinical visits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structured follow-up + competing risks</a:t>
            </a:r>
          </a:p>
          <a:p>
            <a:pPr marL="171450" indent="-171450">
              <a:buFont typeface="Arial" panose="020B0604020202020204" pitchFamily="34" charset="0"/>
              <a:buChar char="•"/>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16</a:t>
            </a:fld>
            <a:endParaRPr lang="en-GB"/>
          </a:p>
        </p:txBody>
      </p:sp>
    </p:spTree>
    <p:extLst>
      <p:ext uri="{BB962C8B-B14F-4D97-AF65-F5344CB8AC3E}">
        <p14:creationId xmlns:p14="http://schemas.microsoft.com/office/powerpoint/2010/main" val="1919317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animal leaves area</a:t>
            </a:r>
          </a:p>
          <a:p>
            <a:endParaRPr lang="en-GB" dirty="0"/>
          </a:p>
          <a:p>
            <a:r>
              <a:rPr lang="en-GB" dirty="0"/>
              <a:t>Censoring: </a:t>
            </a:r>
          </a:p>
          <a:p>
            <a:pPr marL="171450" indent="-171450">
              <a:buFont typeface="Arial" panose="020B0604020202020204" pitchFamily="34" charset="0"/>
              <a:buChar char="•"/>
            </a:pPr>
            <a:r>
              <a:rPr lang="en-GB" dirty="0"/>
              <a:t>Animal dies (RC)</a:t>
            </a:r>
          </a:p>
          <a:p>
            <a:pPr marL="171450" indent="-171450">
              <a:buFont typeface="Arial" panose="020B0604020202020204" pitchFamily="34" charset="0"/>
              <a:buChar char="•"/>
            </a:pPr>
            <a:r>
              <a:rPr lang="en-GB" dirty="0"/>
              <a:t>Study ends before bird leaves (RC)</a:t>
            </a:r>
          </a:p>
          <a:p>
            <a:pPr marL="171450" indent="-171450">
              <a:buFont typeface="Arial" panose="020B0604020202020204" pitchFamily="34" charset="0"/>
              <a:buChar char="•"/>
            </a:pPr>
            <a:r>
              <a:rPr lang="en-GB" dirty="0"/>
              <a:t>Tagging device fails (RC)</a:t>
            </a:r>
          </a:p>
          <a:p>
            <a:pPr marL="171450" indent="-171450">
              <a:buFont typeface="Arial" panose="020B0604020202020204" pitchFamily="34" charset="0"/>
              <a:buChar char="•"/>
            </a:pPr>
            <a:r>
              <a:rPr lang="en-GB" dirty="0"/>
              <a:t>Tagging device only reports location once per day/week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loss + intermittent observation</a:t>
            </a:r>
          </a:p>
          <a:p>
            <a:pPr marL="0" indent="0">
              <a:buFont typeface="Arial" panose="020B0604020202020204" pitchFamily="34" charset="0"/>
              <a:buNone/>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17</a:t>
            </a:fld>
            <a:endParaRPr lang="en-GB"/>
          </a:p>
        </p:txBody>
      </p:sp>
    </p:spTree>
    <p:extLst>
      <p:ext uri="{BB962C8B-B14F-4D97-AF65-F5344CB8AC3E}">
        <p14:creationId xmlns:p14="http://schemas.microsoft.com/office/powerpoint/2010/main" val="19124652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95CC3-8C9C-7FBC-D8D9-33813C537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532B7-EDA0-ACA6-670D-20D618553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07685-554F-5650-7D62-37A4EC5554D4}"/>
              </a:ext>
            </a:extLst>
          </p:cNvPr>
          <p:cNvSpPr>
            <a:spLocks noGrp="1"/>
          </p:cNvSpPr>
          <p:nvPr>
            <p:ph type="body" idx="1"/>
          </p:nvPr>
        </p:nvSpPr>
        <p:spPr/>
        <p:txBody>
          <a:bodyPr/>
          <a:lstStyle/>
          <a:p>
            <a:r>
              <a:rPr lang="en-GB" dirty="0"/>
              <a:t>Event: cancellation</a:t>
            </a:r>
          </a:p>
          <a:p>
            <a:endParaRPr lang="en-GB" dirty="0"/>
          </a:p>
          <a:p>
            <a:r>
              <a:rPr lang="en-GB" dirty="0"/>
              <a:t>Censoring:</a:t>
            </a:r>
          </a:p>
          <a:p>
            <a:pPr marL="171450" indent="-171450">
              <a:buFont typeface="Arial" panose="020B0604020202020204" pitchFamily="34" charset="0"/>
              <a:buChar char="•"/>
            </a:pPr>
            <a:r>
              <a:rPr lang="en-GB" dirty="0"/>
              <a:t>Customer never cancels before end of study period (RC)</a:t>
            </a:r>
          </a:p>
          <a:p>
            <a:pPr marL="171450" indent="-171450">
              <a:buFont typeface="Arial" panose="020B0604020202020204" pitchFamily="34" charset="0"/>
              <a:buChar char="•"/>
            </a:pPr>
            <a:r>
              <a:rPr lang="en-GB" dirty="0"/>
              <a:t>Customer becomes inactive, e.g., data loss, subscription status unknown (RC)</a:t>
            </a:r>
          </a:p>
          <a:p>
            <a:pPr marL="171450" indent="-171450">
              <a:buFont typeface="Arial" panose="020B0604020202020204" pitchFamily="34" charset="0"/>
              <a:buChar char="•"/>
            </a:pPr>
            <a:r>
              <a:rPr lang="en-GB" dirty="0"/>
              <a:t>Cancellation occurs between billing cycles, e.g., monthly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periodic observation</a:t>
            </a:r>
          </a:p>
          <a:p>
            <a:pPr marL="0" indent="0">
              <a:buFont typeface="Arial" panose="020B0604020202020204" pitchFamily="34" charset="0"/>
              <a:buNone/>
            </a:pPr>
            <a:endParaRPr lang="en-GB" dirty="0"/>
          </a:p>
        </p:txBody>
      </p:sp>
      <p:sp>
        <p:nvSpPr>
          <p:cNvPr id="4" name="Slide Number Placeholder 3">
            <a:extLst>
              <a:ext uri="{FF2B5EF4-FFF2-40B4-BE49-F238E27FC236}">
                <a16:creationId xmlns:a16="http://schemas.microsoft.com/office/drawing/2014/main" id="{E0594EDE-39CD-AE1B-5325-2A0D867DE058}"/>
              </a:ext>
            </a:extLst>
          </p:cNvPr>
          <p:cNvSpPr>
            <a:spLocks noGrp="1"/>
          </p:cNvSpPr>
          <p:nvPr>
            <p:ph type="sldNum" sz="quarter" idx="5"/>
          </p:nvPr>
        </p:nvSpPr>
        <p:spPr/>
        <p:txBody>
          <a:bodyPr/>
          <a:lstStyle/>
          <a:p>
            <a:pPr>
              <a:defRPr/>
            </a:pPr>
            <a:fld id="{7091D1AB-24F6-48F0-A15B-00F40EB78CCB}" type="slidenum">
              <a:rPr lang="en-GB" smtClean="0"/>
              <a:pPr>
                <a:defRPr/>
              </a:pPr>
              <a:t>18</a:t>
            </a:fld>
            <a:endParaRPr lang="en-GB"/>
          </a:p>
        </p:txBody>
      </p:sp>
    </p:spTree>
    <p:extLst>
      <p:ext uri="{BB962C8B-B14F-4D97-AF65-F5344CB8AC3E}">
        <p14:creationId xmlns:p14="http://schemas.microsoft.com/office/powerpoint/2010/main" val="35801237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26125-D800-E733-3F7D-D4F8F9F449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D4FCA-0044-7200-A381-5C79E0D28D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B25DC-317E-A661-AF91-97AE2A3E21B0}"/>
              </a:ext>
            </a:extLst>
          </p:cNvPr>
          <p:cNvSpPr>
            <a:spLocks noGrp="1"/>
          </p:cNvSpPr>
          <p:nvPr>
            <p:ph type="body" idx="1"/>
          </p:nvPr>
        </p:nvSpPr>
        <p:spPr/>
        <p:txBody>
          <a:bodyPr/>
          <a:lstStyle/>
          <a:p>
            <a:r>
              <a:rPr lang="en-GB" dirty="0"/>
              <a:t>Event: eruption</a:t>
            </a:r>
          </a:p>
          <a:p>
            <a:endParaRPr lang="en-GB" dirty="0"/>
          </a:p>
          <a:p>
            <a:r>
              <a:rPr lang="en-GB" dirty="0"/>
              <a:t>Censoring:</a:t>
            </a:r>
          </a:p>
          <a:p>
            <a:pPr marL="171450" indent="-171450">
              <a:buFont typeface="Arial" panose="020B0604020202020204" pitchFamily="34" charset="0"/>
              <a:buChar char="•"/>
            </a:pPr>
            <a:r>
              <a:rPr lang="en-GB" dirty="0"/>
              <a:t>No eruption before study ends (RC)</a:t>
            </a:r>
          </a:p>
          <a:p>
            <a:pPr marL="171450" indent="-171450">
              <a:buFont typeface="Arial" panose="020B0604020202020204" pitchFamily="34" charset="0"/>
              <a:buChar char="•"/>
            </a:pPr>
            <a:r>
              <a:rPr lang="en-GB" dirty="0"/>
              <a:t>Unknown prior dormancy period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Broad conceptual ideas: historical data +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To better understand the left truncation issue, imagine:</a:t>
            </a:r>
          </a:p>
          <a:p>
            <a:pPr marL="171450" indent="-171450">
              <a:buFontTx/>
              <a:buChar char="-"/>
            </a:pPr>
            <a:r>
              <a:rPr lang="en-GB" dirty="0"/>
              <a:t>Volcano erupting sporadically for centuries</a:t>
            </a:r>
          </a:p>
          <a:p>
            <a:pPr marL="171450" indent="-171450">
              <a:buFontTx/>
              <a:buChar char="-"/>
            </a:pPr>
            <a:r>
              <a:rPr lang="en-GB" dirty="0"/>
              <a:t>Monitoring started in earnest in 2000</a:t>
            </a:r>
          </a:p>
          <a:p>
            <a:pPr marL="171450" indent="-171450">
              <a:buFontTx/>
              <a:buChar char="-"/>
            </a:pPr>
            <a:r>
              <a:rPr lang="en-GB" dirty="0"/>
              <a:t>The last eruption prior to that monitoring was 1992</a:t>
            </a:r>
          </a:p>
          <a:p>
            <a:pPr marL="171450" indent="-171450">
              <a:buFontTx/>
              <a:buChar char="-"/>
            </a:pPr>
            <a:r>
              <a:rPr lang="en-GB" dirty="0"/>
              <a:t>Volcano must not have erupted between 1992 and 2000, otherwise we would’ve seen it</a:t>
            </a:r>
          </a:p>
          <a:p>
            <a:pPr marL="171450" indent="-171450">
              <a:buFontTx/>
              <a:buChar char="-"/>
            </a:pPr>
            <a:r>
              <a:rPr lang="en-GB" dirty="0"/>
              <a:t>We’re biased to only include eruption intervals that extend into the 2000+ dataset</a:t>
            </a:r>
          </a:p>
          <a:p>
            <a:pPr marL="171450" indent="-171450">
              <a:buFontTx/>
              <a:buChar char="-"/>
            </a:pPr>
            <a:r>
              <a:rPr lang="en-GB" dirty="0"/>
              <a:t>i.e., we can only study volcano waiting times that are still ongoing when we actually start monitoring; we miss any short waiting times/cycles that occurred before we started watching</a:t>
            </a:r>
          </a:p>
          <a:p>
            <a:pPr marL="171450" indent="-171450">
              <a:buFontTx/>
              <a:buChar char="-"/>
            </a:pPr>
            <a:r>
              <a:rPr lang="en-GB" dirty="0"/>
              <a:t>Leads to an overestimate of average time between eruptions</a:t>
            </a:r>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CEC305D2-5638-971B-42BE-6060652D4947}"/>
              </a:ext>
            </a:extLst>
          </p:cNvPr>
          <p:cNvSpPr>
            <a:spLocks noGrp="1"/>
          </p:cNvSpPr>
          <p:nvPr>
            <p:ph type="sldNum" sz="quarter" idx="5"/>
          </p:nvPr>
        </p:nvSpPr>
        <p:spPr/>
        <p:txBody>
          <a:bodyPr/>
          <a:lstStyle/>
          <a:p>
            <a:pPr>
              <a:defRPr/>
            </a:pPr>
            <a:fld id="{7091D1AB-24F6-48F0-A15B-00F40EB78CCB}" type="slidenum">
              <a:rPr lang="en-GB" smtClean="0"/>
              <a:pPr>
                <a:defRPr/>
              </a:pPr>
              <a:t>19</a:t>
            </a:fld>
            <a:endParaRPr lang="en-GB"/>
          </a:p>
        </p:txBody>
      </p:sp>
    </p:spTree>
    <p:extLst>
      <p:ext uri="{BB962C8B-B14F-4D97-AF65-F5344CB8AC3E}">
        <p14:creationId xmlns:p14="http://schemas.microsoft.com/office/powerpoint/2010/main" val="27094189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2571-88C9-B4EC-B640-C967541EBD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17A3D5-29A8-1B15-53B0-D799B68A8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3F0D3-612D-9BA8-53B3-7980A0C7867A}"/>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B5AD0E02-28EC-BFD4-06FD-B66BF961BF8F}"/>
              </a:ext>
            </a:extLst>
          </p:cNvPr>
          <p:cNvSpPr>
            <a:spLocks noGrp="1"/>
          </p:cNvSpPr>
          <p:nvPr>
            <p:ph type="sldNum" sz="quarter" idx="5"/>
          </p:nvPr>
        </p:nvSpPr>
        <p:spPr/>
        <p:txBody>
          <a:bodyPr/>
          <a:lstStyle/>
          <a:p>
            <a:pPr>
              <a:defRPr/>
            </a:pPr>
            <a:fld id="{7091D1AB-24F6-48F0-A15B-00F40EB78CCB}" type="slidenum">
              <a:rPr lang="en-GB" smtClean="0"/>
              <a:pPr>
                <a:defRPr/>
              </a:pPr>
              <a:t>25</a:t>
            </a:fld>
            <a:endParaRPr lang="en-GB"/>
          </a:p>
        </p:txBody>
      </p:sp>
    </p:spTree>
    <p:extLst>
      <p:ext uri="{BB962C8B-B14F-4D97-AF65-F5344CB8AC3E}">
        <p14:creationId xmlns:p14="http://schemas.microsoft.com/office/powerpoint/2010/main" val="3472386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27</a:t>
            </a:fld>
            <a:endParaRPr lang="en-GB"/>
          </a:p>
        </p:txBody>
      </p:sp>
    </p:spTree>
    <p:extLst>
      <p:ext uri="{BB962C8B-B14F-4D97-AF65-F5344CB8AC3E}">
        <p14:creationId xmlns:p14="http://schemas.microsoft.com/office/powerpoint/2010/main" val="3523316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671F3-0457-1596-E4AA-89046DEE1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D64532-57FC-237E-3874-8CA3F27E3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D00DD4-EB30-A5E6-9C9C-0C9ECE500F31}"/>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p:txBody>
      </p:sp>
      <p:sp>
        <p:nvSpPr>
          <p:cNvPr id="4" name="Slide Number Placeholder 3">
            <a:extLst>
              <a:ext uri="{FF2B5EF4-FFF2-40B4-BE49-F238E27FC236}">
                <a16:creationId xmlns:a16="http://schemas.microsoft.com/office/drawing/2014/main" id="{835A794D-1A1E-9C39-7F6D-996105EB7319}"/>
              </a:ext>
            </a:extLst>
          </p:cNvPr>
          <p:cNvSpPr>
            <a:spLocks noGrp="1"/>
          </p:cNvSpPr>
          <p:nvPr>
            <p:ph type="sldNum" sz="quarter" idx="5"/>
          </p:nvPr>
        </p:nvSpPr>
        <p:spPr/>
        <p:txBody>
          <a:bodyPr/>
          <a:lstStyle/>
          <a:p>
            <a:pPr>
              <a:defRPr/>
            </a:pPr>
            <a:fld id="{7091D1AB-24F6-48F0-A15B-00F40EB78CCB}" type="slidenum">
              <a:rPr lang="en-GB" smtClean="0"/>
              <a:pPr>
                <a:defRPr/>
              </a:pPr>
              <a:t>28</a:t>
            </a:fld>
            <a:endParaRPr lang="en-GB"/>
          </a:p>
        </p:txBody>
      </p:sp>
    </p:spTree>
    <p:extLst>
      <p:ext uri="{BB962C8B-B14F-4D97-AF65-F5344CB8AC3E}">
        <p14:creationId xmlns:p14="http://schemas.microsoft.com/office/powerpoint/2010/main" val="3656972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8231E-3A37-7908-494F-FC3F246725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87456-9081-DFCF-F5E0-9A28B6E1B9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17457-8223-2D5A-A787-F9BAA5B95D43}"/>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a:p>
            <a:endParaRPr lang="en-GB" dirty="0"/>
          </a:p>
          <a:p>
            <a:r>
              <a:rPr lang="en-GB" dirty="0"/>
              <a:t>Median value: time at which you expect 50% of individuals to have experienced the event</a:t>
            </a:r>
          </a:p>
          <a:p>
            <a:r>
              <a:rPr lang="en-GB" dirty="0"/>
              <a:t>(In this case – 26 days)</a:t>
            </a:r>
          </a:p>
        </p:txBody>
      </p:sp>
      <p:sp>
        <p:nvSpPr>
          <p:cNvPr id="4" name="Slide Number Placeholder 3">
            <a:extLst>
              <a:ext uri="{FF2B5EF4-FFF2-40B4-BE49-F238E27FC236}">
                <a16:creationId xmlns:a16="http://schemas.microsoft.com/office/drawing/2014/main" id="{BFC594D1-DB0D-F006-8DD2-58ACC47D5FFE}"/>
              </a:ext>
            </a:extLst>
          </p:cNvPr>
          <p:cNvSpPr>
            <a:spLocks noGrp="1"/>
          </p:cNvSpPr>
          <p:nvPr>
            <p:ph type="sldNum" sz="quarter" idx="5"/>
          </p:nvPr>
        </p:nvSpPr>
        <p:spPr/>
        <p:txBody>
          <a:bodyPr/>
          <a:lstStyle/>
          <a:p>
            <a:pPr>
              <a:defRPr/>
            </a:pPr>
            <a:fld id="{7091D1AB-24F6-48F0-A15B-00F40EB78CCB}" type="slidenum">
              <a:rPr lang="en-GB" smtClean="0"/>
              <a:pPr>
                <a:defRPr/>
              </a:pPr>
              <a:t>29</a:t>
            </a:fld>
            <a:endParaRPr lang="en-GB"/>
          </a:p>
        </p:txBody>
      </p:sp>
    </p:spTree>
    <p:extLst>
      <p:ext uri="{BB962C8B-B14F-4D97-AF65-F5344CB8AC3E}">
        <p14:creationId xmlns:p14="http://schemas.microsoft.com/office/powerpoint/2010/main" val="2093510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D7C9C-4D6E-A53D-D51D-FB62884B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4AC94-795B-2BE9-1122-8CAB2BD48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24CE72-8CDF-A78E-9212-2E98E2434CDC}"/>
              </a:ext>
            </a:extLst>
          </p:cNvPr>
          <p:cNvSpPr>
            <a:spLocks noGrp="1"/>
          </p:cNvSpPr>
          <p:nvPr>
            <p:ph type="body" idx="1"/>
          </p:nvPr>
        </p:nvSpPr>
        <p:spPr/>
        <p:txBody>
          <a:bodyPr/>
          <a:lstStyle/>
          <a:p>
            <a:r>
              <a:rPr lang="en-GB" dirty="0"/>
              <a:t>The “number at risk” table – shows you, at specific points in the study, how many individuals were still at risk</a:t>
            </a:r>
          </a:p>
          <a:p>
            <a:r>
              <a:rPr lang="en-GB" dirty="0"/>
              <a:t>Meaning = they were still being followed (weren’t censored) and hadn’t yet experienced the event</a:t>
            </a:r>
          </a:p>
        </p:txBody>
      </p:sp>
      <p:sp>
        <p:nvSpPr>
          <p:cNvPr id="4" name="Slide Number Placeholder 3">
            <a:extLst>
              <a:ext uri="{FF2B5EF4-FFF2-40B4-BE49-F238E27FC236}">
                <a16:creationId xmlns:a16="http://schemas.microsoft.com/office/drawing/2014/main" id="{5FEE0C57-4FF5-4872-DC0B-6FDCA9FFBA8F}"/>
              </a:ext>
            </a:extLst>
          </p:cNvPr>
          <p:cNvSpPr>
            <a:spLocks noGrp="1"/>
          </p:cNvSpPr>
          <p:nvPr>
            <p:ph type="sldNum" sz="quarter" idx="5"/>
          </p:nvPr>
        </p:nvSpPr>
        <p:spPr/>
        <p:txBody>
          <a:bodyPr/>
          <a:lstStyle/>
          <a:p>
            <a:pPr>
              <a:defRPr/>
            </a:pPr>
            <a:fld id="{7091D1AB-24F6-48F0-A15B-00F40EB78CCB}" type="slidenum">
              <a:rPr lang="en-GB" smtClean="0"/>
              <a:pPr>
                <a:defRPr/>
              </a:pPr>
              <a:t>30</a:t>
            </a:fld>
            <a:endParaRPr lang="en-GB"/>
          </a:p>
        </p:txBody>
      </p:sp>
    </p:spTree>
    <p:extLst>
      <p:ext uri="{BB962C8B-B14F-4D97-AF65-F5344CB8AC3E}">
        <p14:creationId xmlns:p14="http://schemas.microsoft.com/office/powerpoint/2010/main" val="26493221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33DE5-A83E-B65E-4854-B963E90BA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85F32-3A13-EC9B-EE7A-4406E3013D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4F82DE-5696-D5B6-49BD-3952EB3D16AC}"/>
              </a:ext>
            </a:extLst>
          </p:cNvPr>
          <p:cNvSpPr>
            <a:spLocks noGrp="1"/>
          </p:cNvSpPr>
          <p:nvPr>
            <p:ph type="body" idx="1"/>
          </p:nvPr>
        </p:nvSpPr>
        <p:spPr/>
        <p:txBody>
          <a:bodyPr/>
          <a:lstStyle/>
          <a:p>
            <a:r>
              <a:rPr lang="en-GB" dirty="0"/>
              <a:t>Similar information is given in the cumulative events table</a:t>
            </a:r>
          </a:p>
          <a:p>
            <a:r>
              <a:rPr lang="en-GB" dirty="0"/>
              <a:t>This shows how many individuals </a:t>
            </a:r>
            <a:r>
              <a:rPr lang="en-GB" i="1" dirty="0"/>
              <a:t>have </a:t>
            </a:r>
            <a:r>
              <a:rPr lang="en-GB" i="0" dirty="0"/>
              <a:t>experienced the event (doesn’t keep track of dropouts/censored observations, though)</a:t>
            </a:r>
            <a:endParaRPr lang="en-GB" dirty="0"/>
          </a:p>
        </p:txBody>
      </p:sp>
      <p:sp>
        <p:nvSpPr>
          <p:cNvPr id="4" name="Slide Number Placeholder 3">
            <a:extLst>
              <a:ext uri="{FF2B5EF4-FFF2-40B4-BE49-F238E27FC236}">
                <a16:creationId xmlns:a16="http://schemas.microsoft.com/office/drawing/2014/main" id="{A12B9E79-D70C-FAC8-DCF3-0DC85A2640D4}"/>
              </a:ext>
            </a:extLst>
          </p:cNvPr>
          <p:cNvSpPr>
            <a:spLocks noGrp="1"/>
          </p:cNvSpPr>
          <p:nvPr>
            <p:ph type="sldNum" sz="quarter" idx="5"/>
          </p:nvPr>
        </p:nvSpPr>
        <p:spPr/>
        <p:txBody>
          <a:bodyPr/>
          <a:lstStyle/>
          <a:p>
            <a:pPr>
              <a:defRPr/>
            </a:pPr>
            <a:fld id="{7091D1AB-24F6-48F0-A15B-00F40EB78CCB}" type="slidenum">
              <a:rPr lang="en-GB" smtClean="0"/>
              <a:pPr>
                <a:defRPr/>
              </a:pPr>
              <a:t>31</a:t>
            </a:fld>
            <a:endParaRPr lang="en-GB"/>
          </a:p>
        </p:txBody>
      </p:sp>
    </p:spTree>
    <p:extLst>
      <p:ext uri="{BB962C8B-B14F-4D97-AF65-F5344CB8AC3E}">
        <p14:creationId xmlns:p14="http://schemas.microsoft.com/office/powerpoint/2010/main" val="3918801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when we produce a survival curve, what’s actually being plotted?</a:t>
            </a:r>
          </a:p>
          <a:p>
            <a:endParaRPr lang="en-GB" dirty="0"/>
          </a:p>
          <a:p>
            <a:r>
              <a:rPr lang="en-GB" dirty="0"/>
              <a:t>You don’t need to do this manually (but it is possible!)</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32</a:t>
            </a:fld>
            <a:endParaRPr lang="en-GB"/>
          </a:p>
        </p:txBody>
      </p:sp>
    </p:spTree>
    <p:extLst>
      <p:ext uri="{BB962C8B-B14F-4D97-AF65-F5344CB8AC3E}">
        <p14:creationId xmlns:p14="http://schemas.microsoft.com/office/powerpoint/2010/main" val="35047734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33</a:t>
            </a:fld>
            <a:endParaRPr lang="en-GB"/>
          </a:p>
        </p:txBody>
      </p:sp>
    </p:spTree>
    <p:extLst>
      <p:ext uri="{BB962C8B-B14F-4D97-AF65-F5344CB8AC3E}">
        <p14:creationId xmlns:p14="http://schemas.microsoft.com/office/powerpoint/2010/main" val="690492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construct (in R/Python) a special “survival object” from the original dataset</a:t>
            </a:r>
          </a:p>
          <a:p>
            <a:r>
              <a:rPr lang="en-GB" dirty="0"/>
              <a:t>Our original dataset has a unique individual (in this case, egg) per row</a:t>
            </a:r>
          </a:p>
          <a:p>
            <a:endParaRPr lang="en-GB" dirty="0"/>
          </a:p>
          <a:p>
            <a:r>
              <a:rPr lang="en-GB" dirty="0"/>
              <a:t>The new object has a unique time point per row, instead</a:t>
            </a:r>
          </a:p>
          <a:p>
            <a:r>
              <a:rPr lang="en-GB" dirty="0"/>
              <a:t>This is a specialist layout for a dataset that we don’t use in other type of models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34</a:t>
            </a:fld>
            <a:endParaRPr lang="en-GB"/>
          </a:p>
        </p:txBody>
      </p:sp>
    </p:spTree>
    <p:extLst>
      <p:ext uri="{BB962C8B-B14F-4D97-AF65-F5344CB8AC3E}">
        <p14:creationId xmlns:p14="http://schemas.microsoft.com/office/powerpoint/2010/main" val="349995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two key columns: elapsed time and survival probability</a:t>
            </a:r>
          </a:p>
          <a:p>
            <a:r>
              <a:rPr lang="en-GB" dirty="0"/>
              <a:t>Accounting for censoring, </a:t>
            </a:r>
            <a:r>
              <a:rPr lang="en-GB" b="1" dirty="0"/>
              <a:t>what’s the survival probability at each new time point?</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35</a:t>
            </a:fld>
            <a:endParaRPr lang="en-GB"/>
          </a:p>
        </p:txBody>
      </p:sp>
    </p:spTree>
    <p:extLst>
      <p:ext uri="{BB962C8B-B14F-4D97-AF65-F5344CB8AC3E}">
        <p14:creationId xmlns:p14="http://schemas.microsoft.com/office/powerpoint/2010/main" val="42867823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02DF7-850B-B2F1-F892-4587900BE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80046-9C8B-BF92-0CAD-8005447B53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2C09A-A2CE-DE08-8ACC-D2FE2F62B48E}"/>
              </a:ext>
            </a:extLst>
          </p:cNvPr>
          <p:cNvSpPr>
            <a:spLocks noGrp="1"/>
          </p:cNvSpPr>
          <p:nvPr>
            <p:ph type="body" idx="1"/>
          </p:nvPr>
        </p:nvSpPr>
        <p:spPr/>
        <p:txBody>
          <a:bodyPr/>
          <a:lstStyle/>
          <a:p>
            <a:r>
              <a:rPr lang="en-GB" dirty="0"/>
              <a:t>And that’s what we plot when we produce a survival curve!</a:t>
            </a:r>
          </a:p>
          <a:p>
            <a:endParaRPr lang="en-GB" dirty="0"/>
          </a:p>
          <a:p>
            <a:r>
              <a:rPr lang="en-GB" dirty="0"/>
              <a:t>So: the Kaplan-Meier estimator allows us to convert individual-level data, with censoring</a:t>
            </a:r>
          </a:p>
          <a:p>
            <a:r>
              <a:rPr lang="en-GB" dirty="0"/>
              <a:t>Into probability against time</a:t>
            </a:r>
          </a:p>
        </p:txBody>
      </p:sp>
      <p:sp>
        <p:nvSpPr>
          <p:cNvPr id="4" name="Slide Number Placeholder 3">
            <a:extLst>
              <a:ext uri="{FF2B5EF4-FFF2-40B4-BE49-F238E27FC236}">
                <a16:creationId xmlns:a16="http://schemas.microsoft.com/office/drawing/2014/main" id="{4A0167E5-BA09-A75E-87D7-B3F6BF01EF72}"/>
              </a:ext>
            </a:extLst>
          </p:cNvPr>
          <p:cNvSpPr>
            <a:spLocks noGrp="1"/>
          </p:cNvSpPr>
          <p:nvPr>
            <p:ph type="sldNum" sz="quarter" idx="5"/>
          </p:nvPr>
        </p:nvSpPr>
        <p:spPr/>
        <p:txBody>
          <a:bodyPr/>
          <a:lstStyle/>
          <a:p>
            <a:pPr>
              <a:defRPr/>
            </a:pPr>
            <a:fld id="{7091D1AB-24F6-48F0-A15B-00F40EB78CCB}" type="slidenum">
              <a:rPr lang="en-GB" smtClean="0"/>
              <a:pPr>
                <a:defRPr/>
              </a:pPr>
              <a:t>36</a:t>
            </a:fld>
            <a:endParaRPr lang="en-GB"/>
          </a:p>
        </p:txBody>
      </p:sp>
    </p:spTree>
    <p:extLst>
      <p:ext uri="{BB962C8B-B14F-4D97-AF65-F5344CB8AC3E}">
        <p14:creationId xmlns:p14="http://schemas.microsoft.com/office/powerpoint/2010/main" val="336218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37</a:t>
            </a:fld>
            <a:endParaRPr lang="en-GB"/>
          </a:p>
        </p:txBody>
      </p:sp>
    </p:spTree>
    <p:extLst>
      <p:ext uri="{BB962C8B-B14F-4D97-AF65-F5344CB8AC3E}">
        <p14:creationId xmlns:p14="http://schemas.microsoft.com/office/powerpoint/2010/main" val="20196672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Used to compare two or more survival curves</a:t>
            </a:r>
            <a:br>
              <a:rPr lang="en-US" dirty="0"/>
            </a:br>
            <a:r>
              <a:rPr lang="en-US" dirty="0"/>
              <a:t>(single categorical predictor)</a:t>
            </a:r>
          </a:p>
          <a:p>
            <a:endParaRPr lang="en-US" dirty="0"/>
          </a:p>
          <a:p>
            <a:r>
              <a:rPr lang="en-GB" dirty="0"/>
              <a:t>Is a null hypothesis significance test</a:t>
            </a:r>
          </a:p>
          <a:p>
            <a:pPr marL="171450" indent="-171450">
              <a:buFont typeface="Arial" panose="020B0604020202020204" pitchFamily="34" charset="0"/>
              <a:buChar char="•"/>
            </a:pPr>
            <a:r>
              <a:rPr lang="en-GB" dirty="0"/>
              <a:t>H</a:t>
            </a:r>
            <a:r>
              <a:rPr lang="en-GB" baseline="-25000" dirty="0"/>
              <a:t>0</a:t>
            </a:r>
            <a:r>
              <a:rPr lang="en-GB" dirty="0"/>
              <a:t> = groups have identical curves in the population</a:t>
            </a:r>
          </a:p>
          <a:p>
            <a:pPr marL="171450" indent="-171450">
              <a:buFont typeface="Arial" panose="020B0604020202020204" pitchFamily="34" charset="0"/>
              <a:buChar char="•"/>
            </a:pPr>
            <a:r>
              <a:rPr lang="en-GB" dirty="0"/>
              <a:t>Produces a p-value</a:t>
            </a:r>
          </a:p>
          <a:p>
            <a:pPr marL="171450" indent="-171450">
              <a:buFont typeface="Arial" panose="020B0604020202020204" pitchFamily="34" charset="0"/>
              <a:buChar char="•"/>
            </a:pPr>
            <a:r>
              <a:rPr lang="en-GB" dirty="0"/>
              <a:t>Has assumptions</a:t>
            </a:r>
          </a:p>
          <a:p>
            <a:endParaRPr lang="en-GB" dirty="0"/>
          </a:p>
          <a:p>
            <a:r>
              <a:rPr lang="en-GB" dirty="0"/>
              <a:t>Can think of it as like a t-test, but for survival data</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40</a:t>
            </a:fld>
            <a:endParaRPr lang="en-GB"/>
          </a:p>
        </p:txBody>
      </p:sp>
    </p:spTree>
    <p:extLst>
      <p:ext uri="{BB962C8B-B14F-4D97-AF65-F5344CB8AC3E}">
        <p14:creationId xmlns:p14="http://schemas.microsoft.com/office/powerpoint/2010/main" val="27538866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all significance tests, there must be a null hypothesis</a:t>
            </a:r>
          </a:p>
          <a:p>
            <a:r>
              <a:rPr lang="en-GB" dirty="0"/>
              <a:t>Usually some version of “the world is boring”</a:t>
            </a:r>
          </a:p>
          <a:p>
            <a:endParaRPr lang="en-GB" dirty="0"/>
          </a:p>
          <a:p>
            <a:r>
              <a:rPr lang="en-GB" dirty="0"/>
              <a:t>Here are two “versions of reality”</a:t>
            </a:r>
          </a:p>
          <a:p>
            <a:endParaRPr lang="en-GB" dirty="0"/>
          </a:p>
          <a:p>
            <a:r>
              <a:rPr lang="en-GB" dirty="0"/>
              <a:t>(Note: a false null hypothesis could have a steeper curve for blue than red, too; just anything where the curves aren’t the same)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41</a:t>
            </a:fld>
            <a:endParaRPr lang="en-GB"/>
          </a:p>
        </p:txBody>
      </p:sp>
    </p:spTree>
    <p:extLst>
      <p:ext uri="{BB962C8B-B14F-4D97-AF65-F5344CB8AC3E}">
        <p14:creationId xmlns:p14="http://schemas.microsoft.com/office/powerpoint/2010/main" val="22397939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Here’s an example of what the datasets might look like, coming from those two different “versions of reality”</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42</a:t>
            </a:fld>
            <a:endParaRPr lang="en-GB"/>
          </a:p>
        </p:txBody>
      </p:sp>
    </p:spTree>
    <p:extLst>
      <p:ext uri="{BB962C8B-B14F-4D97-AF65-F5344CB8AC3E}">
        <p14:creationId xmlns:p14="http://schemas.microsoft.com/office/powerpoint/2010/main" val="106871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 row is a single patient</a:t>
            </a:r>
          </a:p>
          <a:p>
            <a:pPr marL="171450" indent="-171450">
              <a:buFont typeface="Arial" panose="020B0604020202020204" pitchFamily="34" charset="0"/>
              <a:buChar char="•"/>
            </a:pPr>
            <a:r>
              <a:rPr lang="en-GB" dirty="0"/>
              <a:t>Not related to each other in any way</a:t>
            </a:r>
          </a:p>
          <a:p>
            <a:pPr marL="171450" indent="-171450">
              <a:buFont typeface="Arial" panose="020B0604020202020204" pitchFamily="34" charset="0"/>
              <a:buChar char="•"/>
            </a:pPr>
            <a:r>
              <a:rPr lang="en-GB" dirty="0"/>
              <a:t>Not measuring the same patient more than once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45</a:t>
            </a:fld>
            <a:endParaRPr lang="en-GB"/>
          </a:p>
        </p:txBody>
      </p:sp>
    </p:spTree>
    <p:extLst>
      <p:ext uri="{BB962C8B-B14F-4D97-AF65-F5344CB8AC3E}">
        <p14:creationId xmlns:p14="http://schemas.microsoft.com/office/powerpoint/2010/main" val="26159270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F7C4B-CF49-78B0-C697-0DB63C75CB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221F5-3204-3202-65D8-0666C3DD52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D2276E-249F-901E-2AEC-941E48F3065C}"/>
              </a:ext>
            </a:extLst>
          </p:cNvPr>
          <p:cNvSpPr>
            <a:spLocks noGrp="1"/>
          </p:cNvSpPr>
          <p:nvPr>
            <p:ph type="body" idx="1"/>
          </p:nvPr>
        </p:nvSpPr>
        <p:spPr/>
        <p:txBody>
          <a:bodyPr/>
          <a:lstStyle/>
          <a:p>
            <a:r>
              <a:rPr lang="en-GB" dirty="0"/>
              <a:t>BUT – if patients are grouped within hospitals, e.g., a multi-site clinical study</a:t>
            </a:r>
          </a:p>
          <a:p>
            <a:r>
              <a:rPr lang="en-GB" dirty="0"/>
              <a:t>Now they are related/clustered together</a:t>
            </a:r>
          </a:p>
          <a:p>
            <a:endParaRPr lang="en-GB" dirty="0"/>
          </a:p>
          <a:p>
            <a:r>
              <a:rPr lang="en-GB" dirty="0"/>
              <a:t>Patients from a single hospital have more similar outcomes, and perhaps more similar probability of experience the event, than they will to patients in other hospitals</a:t>
            </a:r>
          </a:p>
        </p:txBody>
      </p:sp>
      <p:sp>
        <p:nvSpPr>
          <p:cNvPr id="4" name="Slide Number Placeholder 3">
            <a:extLst>
              <a:ext uri="{FF2B5EF4-FFF2-40B4-BE49-F238E27FC236}">
                <a16:creationId xmlns:a16="http://schemas.microsoft.com/office/drawing/2014/main" id="{90EAA947-F16C-9B50-8674-8815FF2DCAF2}"/>
              </a:ext>
            </a:extLst>
          </p:cNvPr>
          <p:cNvSpPr>
            <a:spLocks noGrp="1"/>
          </p:cNvSpPr>
          <p:nvPr>
            <p:ph type="sldNum" sz="quarter" idx="5"/>
          </p:nvPr>
        </p:nvSpPr>
        <p:spPr/>
        <p:txBody>
          <a:bodyPr/>
          <a:lstStyle/>
          <a:p>
            <a:pPr>
              <a:defRPr/>
            </a:pPr>
            <a:fld id="{7091D1AB-24F6-48F0-A15B-00F40EB78CCB}" type="slidenum">
              <a:rPr lang="en-GB" smtClean="0"/>
              <a:pPr>
                <a:defRPr/>
              </a:pPr>
              <a:t>46</a:t>
            </a:fld>
            <a:endParaRPr lang="en-GB"/>
          </a:p>
        </p:txBody>
      </p:sp>
    </p:spTree>
    <p:extLst>
      <p:ext uri="{BB962C8B-B14F-4D97-AF65-F5344CB8AC3E}">
        <p14:creationId xmlns:p14="http://schemas.microsoft.com/office/powerpoint/2010/main" val="7195579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BAC87-5FA0-71C0-E64D-2FA9069879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67BFA-EF6E-2A58-F452-C104EF2C8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BF5B9-29EE-27BA-B493-CE9B9B58BAC4}"/>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of interest: tooth erupting</a:t>
            </a:r>
          </a:p>
          <a:p>
            <a:pPr marL="171450" indent="-171450">
              <a:buFont typeface="Arial" panose="020B0604020202020204" pitchFamily="34" charset="0"/>
              <a:buChar char="•"/>
            </a:pPr>
            <a:r>
              <a:rPr lang="en-GB" dirty="0"/>
              <a:t>Multiple teeth per child</a:t>
            </a:r>
          </a:p>
          <a:p>
            <a:pPr marL="171450" indent="-171450">
              <a:buFont typeface="Arial" panose="020B0604020202020204" pitchFamily="34" charset="0"/>
              <a:buChar char="•"/>
            </a:pPr>
            <a:r>
              <a:rPr lang="en-GB" dirty="0"/>
              <a:t>Teeth belonging to the same child are not independent of each other</a:t>
            </a:r>
          </a:p>
          <a:p>
            <a:pPr marL="171450" indent="-171450">
              <a:buFont typeface="Arial" panose="020B0604020202020204" pitchFamily="34" charset="0"/>
              <a:buChar char="•"/>
            </a:pPr>
            <a:r>
              <a:rPr lang="en-GB" dirty="0"/>
              <a:t>We know that children tend to go through phases of losing/growing multiple teeth at once</a:t>
            </a:r>
          </a:p>
        </p:txBody>
      </p:sp>
      <p:sp>
        <p:nvSpPr>
          <p:cNvPr id="4" name="Slide Number Placeholder 3">
            <a:extLst>
              <a:ext uri="{FF2B5EF4-FFF2-40B4-BE49-F238E27FC236}">
                <a16:creationId xmlns:a16="http://schemas.microsoft.com/office/drawing/2014/main" id="{8FF589AF-1702-9D19-181B-FAACE802A7A1}"/>
              </a:ext>
            </a:extLst>
          </p:cNvPr>
          <p:cNvSpPr>
            <a:spLocks noGrp="1"/>
          </p:cNvSpPr>
          <p:nvPr>
            <p:ph type="sldNum" sz="quarter" idx="5"/>
          </p:nvPr>
        </p:nvSpPr>
        <p:spPr/>
        <p:txBody>
          <a:bodyPr/>
          <a:lstStyle/>
          <a:p>
            <a:pPr>
              <a:defRPr/>
            </a:pPr>
            <a:fld id="{7091D1AB-24F6-48F0-A15B-00F40EB78CCB}" type="slidenum">
              <a:rPr lang="en-GB" smtClean="0"/>
              <a:pPr>
                <a:defRPr/>
              </a:pPr>
              <a:t>47</a:t>
            </a:fld>
            <a:endParaRPr lang="en-GB"/>
          </a:p>
        </p:txBody>
      </p:sp>
    </p:spTree>
    <p:extLst>
      <p:ext uri="{BB962C8B-B14F-4D97-AF65-F5344CB8AC3E}">
        <p14:creationId xmlns:p14="http://schemas.microsoft.com/office/powerpoint/2010/main" val="12452120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875A8-8EDF-0FB3-70EF-71A0965CB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F03AF-60AD-EEED-E864-02B445C9CE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6DE26-28CE-F359-EBE1-D689946C93CB}"/>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graduation/earning a degree</a:t>
            </a:r>
          </a:p>
          <a:p>
            <a:pPr marL="171450" indent="-171450">
              <a:buFont typeface="Arial" panose="020B0604020202020204" pitchFamily="34" charset="0"/>
              <a:buChar char="•"/>
            </a:pPr>
            <a:r>
              <a:rPr lang="en-GB" dirty="0"/>
              <a:t>If we track the same individual over multiple degrees (some people are overachievers!) then again, not independent</a:t>
            </a:r>
          </a:p>
        </p:txBody>
      </p:sp>
      <p:sp>
        <p:nvSpPr>
          <p:cNvPr id="4" name="Slide Number Placeholder 3">
            <a:extLst>
              <a:ext uri="{FF2B5EF4-FFF2-40B4-BE49-F238E27FC236}">
                <a16:creationId xmlns:a16="http://schemas.microsoft.com/office/drawing/2014/main" id="{E0A33C09-27D1-AEDB-8E5A-B6897D61A128}"/>
              </a:ext>
            </a:extLst>
          </p:cNvPr>
          <p:cNvSpPr>
            <a:spLocks noGrp="1"/>
          </p:cNvSpPr>
          <p:nvPr>
            <p:ph type="sldNum" sz="quarter" idx="5"/>
          </p:nvPr>
        </p:nvSpPr>
        <p:spPr/>
        <p:txBody>
          <a:bodyPr/>
          <a:lstStyle/>
          <a:p>
            <a:pPr>
              <a:defRPr/>
            </a:pPr>
            <a:fld id="{7091D1AB-24F6-48F0-A15B-00F40EB78CCB}" type="slidenum">
              <a:rPr lang="en-GB" smtClean="0"/>
              <a:pPr>
                <a:defRPr/>
              </a:pPr>
              <a:t>48</a:t>
            </a:fld>
            <a:endParaRPr lang="en-GB"/>
          </a:p>
        </p:txBody>
      </p:sp>
    </p:spTree>
    <p:extLst>
      <p:ext uri="{BB962C8B-B14F-4D97-AF65-F5344CB8AC3E}">
        <p14:creationId xmlns:p14="http://schemas.microsoft.com/office/powerpoint/2010/main" val="4031402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4AD36-DE36-4789-3EB3-868725A5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DEEB0D-AE7F-0477-87D1-A5652D6E0A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84FCE-044C-5C46-F5A5-42A270EBF5C7}"/>
              </a:ext>
            </a:extLst>
          </p:cNvPr>
          <p:cNvSpPr>
            <a:spLocks noGrp="1"/>
          </p:cNvSpPr>
          <p:nvPr>
            <p:ph type="body" idx="1"/>
          </p:nvPr>
        </p:nvSpPr>
        <p:spPr/>
        <p:txBody>
          <a:bodyPr/>
          <a:lstStyle/>
          <a:p>
            <a:r>
              <a:rPr lang="en-GB" dirty="0"/>
              <a:t>If you switched to people’s </a:t>
            </a:r>
            <a:r>
              <a:rPr lang="en-GB" i="1" dirty="0"/>
              <a:t>first </a:t>
            </a:r>
            <a:r>
              <a:rPr lang="en-GB" i="0" dirty="0"/>
              <a:t>degrees, it would fix this problem</a:t>
            </a:r>
          </a:p>
          <a:p>
            <a:r>
              <a:rPr lang="en-GB" i="0" dirty="0"/>
              <a:t>Now only one observation per person</a:t>
            </a:r>
            <a:endParaRPr lang="en-GB" dirty="0"/>
          </a:p>
        </p:txBody>
      </p:sp>
      <p:sp>
        <p:nvSpPr>
          <p:cNvPr id="4" name="Slide Number Placeholder 3">
            <a:extLst>
              <a:ext uri="{FF2B5EF4-FFF2-40B4-BE49-F238E27FC236}">
                <a16:creationId xmlns:a16="http://schemas.microsoft.com/office/drawing/2014/main" id="{DAEAC6F9-32DC-8B30-557F-4BFEB9DDB6CD}"/>
              </a:ext>
            </a:extLst>
          </p:cNvPr>
          <p:cNvSpPr>
            <a:spLocks noGrp="1"/>
          </p:cNvSpPr>
          <p:nvPr>
            <p:ph type="sldNum" sz="quarter" idx="5"/>
          </p:nvPr>
        </p:nvSpPr>
        <p:spPr/>
        <p:txBody>
          <a:bodyPr/>
          <a:lstStyle/>
          <a:p>
            <a:pPr>
              <a:defRPr/>
            </a:pPr>
            <a:fld id="{7091D1AB-24F6-48F0-A15B-00F40EB78CCB}" type="slidenum">
              <a:rPr lang="en-GB" smtClean="0"/>
              <a:pPr>
                <a:defRPr/>
              </a:pPr>
              <a:t>49</a:t>
            </a:fld>
            <a:endParaRPr lang="en-GB"/>
          </a:p>
        </p:txBody>
      </p:sp>
    </p:spTree>
    <p:extLst>
      <p:ext uri="{BB962C8B-B14F-4D97-AF65-F5344CB8AC3E}">
        <p14:creationId xmlns:p14="http://schemas.microsoft.com/office/powerpoint/2010/main" val="31552969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of the two survival-specific assumptions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50</a:t>
            </a:fld>
            <a:endParaRPr lang="en-GB"/>
          </a:p>
        </p:txBody>
      </p:sp>
    </p:spTree>
    <p:extLst>
      <p:ext uri="{BB962C8B-B14F-4D97-AF65-F5344CB8AC3E}">
        <p14:creationId xmlns:p14="http://schemas.microsoft.com/office/powerpoint/2010/main" val="27238032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BEF34-B8CA-BF57-20EA-ABFEC26B5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8AC4B-7A54-289D-AD49-E3D7EDCB1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AE7B75-AA42-7E63-3A97-C801AFBAE5AE}"/>
              </a:ext>
            </a:extLst>
          </p:cNvPr>
          <p:cNvSpPr>
            <a:spLocks noGrp="1"/>
          </p:cNvSpPr>
          <p:nvPr>
            <p:ph type="body" idx="1"/>
          </p:nvPr>
        </p:nvSpPr>
        <p:spPr/>
        <p:txBody>
          <a:bodyPr/>
          <a:lstStyle/>
          <a:p>
            <a:r>
              <a:rPr lang="en-GB" dirty="0"/>
              <a:t>Imagine:</a:t>
            </a:r>
          </a:p>
          <a:p>
            <a:pPr marL="171450" indent="-171450">
              <a:buFont typeface="Arial" panose="020B0604020202020204" pitchFamily="34" charset="0"/>
              <a:buChar char="•"/>
            </a:pPr>
            <a:r>
              <a:rPr lang="en-GB" dirty="0"/>
              <a:t>Event of interest is: getting a transplant kidney</a:t>
            </a:r>
          </a:p>
          <a:p>
            <a:pPr marL="171450" indent="-171450">
              <a:buFont typeface="Arial" panose="020B0604020202020204" pitchFamily="34" charset="0"/>
              <a:buChar char="•"/>
            </a:pPr>
            <a:r>
              <a:rPr lang="en-GB" dirty="0"/>
              <a:t>Orange crosses represent censoring – e.g., patient drops out of the study/is lost to follow-up</a:t>
            </a:r>
          </a:p>
          <a:p>
            <a:pPr marL="171450" indent="-171450">
              <a:buFont typeface="Arial" panose="020B0604020202020204" pitchFamily="34" charset="0"/>
              <a:buChar char="•"/>
            </a:pPr>
            <a:r>
              <a:rPr lang="en-GB" dirty="0"/>
              <a:t>Sample is made up of individuals with varying degrees of illness, perhaps different stages of kidney disease</a:t>
            </a:r>
          </a:p>
          <a:p>
            <a:pPr marL="171450" indent="-171450">
              <a:buFont typeface="Arial" panose="020B0604020202020204" pitchFamily="34" charset="0"/>
              <a:buChar char="•"/>
            </a:pPr>
            <a:r>
              <a:rPr lang="en-GB" dirty="0"/>
              <a:t>Followed from the time they join the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Here’s the informative censoring:</a:t>
            </a:r>
          </a:p>
          <a:p>
            <a:pPr marL="171450" indent="-171450">
              <a:buFont typeface="Arial" panose="020B0604020202020204" pitchFamily="34" charset="0"/>
              <a:buChar char="•"/>
            </a:pPr>
            <a:r>
              <a:rPr lang="en-GB" dirty="0"/>
              <a:t>Patients who become too ill for transplantation are removed from the waiting list, i.e., censored</a:t>
            </a:r>
          </a:p>
          <a:p>
            <a:pPr marL="171450" indent="-171450">
              <a:buFont typeface="Arial" panose="020B0604020202020204" pitchFamily="34" charset="0"/>
              <a:buChar char="•"/>
            </a:pPr>
            <a:r>
              <a:rPr lang="en-GB" dirty="0"/>
              <a:t>They are </a:t>
            </a:r>
            <a:r>
              <a:rPr lang="en-GB" b="1" dirty="0"/>
              <a:t>not</a:t>
            </a:r>
            <a:r>
              <a:rPr lang="en-GB" b="0" dirty="0"/>
              <a:t> a random subset of that waiting list, so censoring is not happening at random</a:t>
            </a:r>
          </a:p>
          <a:p>
            <a:pPr marL="171450" indent="-171450">
              <a:buFont typeface="Arial" panose="020B0604020202020204" pitchFamily="34" charset="0"/>
              <a:buChar char="•"/>
            </a:pPr>
            <a:r>
              <a:rPr lang="en-GB" b="0" dirty="0"/>
              <a:t>Once removed, their chance of experiencing the event (transplant) is lowered</a:t>
            </a:r>
          </a:p>
          <a:p>
            <a:pPr marL="171450" indent="-171450">
              <a:buFont typeface="Arial" panose="020B0604020202020204" pitchFamily="34" charset="0"/>
              <a:buChar char="•"/>
            </a:pPr>
            <a:r>
              <a:rPr lang="en-GB" b="0" dirty="0"/>
              <a:t>Meaning the likelihood of getting a kidney, is related to the likelihood of being censored</a:t>
            </a:r>
          </a:p>
          <a:p>
            <a:pPr marL="171450" indent="-171450">
              <a:buFont typeface="Arial" panose="020B0604020202020204" pitchFamily="34" charset="0"/>
              <a:buChar char="•"/>
            </a:pPr>
            <a:endParaRPr lang="en-GB" b="0" dirty="0"/>
          </a:p>
          <a:p>
            <a:pPr marL="0" indent="0">
              <a:buFont typeface="Arial" panose="020B0604020202020204" pitchFamily="34" charset="0"/>
              <a:buNone/>
            </a:pPr>
            <a:r>
              <a:rPr lang="en-GB" b="0" dirty="0"/>
              <a:t>What would non-informative censoring look like?</a:t>
            </a:r>
            <a:endParaRPr lang="en-GB" dirty="0"/>
          </a:p>
          <a:p>
            <a:pPr marL="171450" indent="-171450">
              <a:buFont typeface="Arial" panose="020B0604020202020204" pitchFamily="34" charset="0"/>
              <a:buChar char="•"/>
            </a:pPr>
            <a:r>
              <a:rPr lang="en-GB" dirty="0"/>
              <a:t>Patient moves country</a:t>
            </a:r>
          </a:p>
          <a:p>
            <a:pPr marL="171450" indent="-171450">
              <a:buFont typeface="Arial" panose="020B0604020202020204" pitchFamily="34" charset="0"/>
              <a:buChar char="•"/>
            </a:pPr>
            <a:r>
              <a:rPr lang="en-GB" dirty="0"/>
              <a:t>Patient is transferred to another transplant centre that doesn’t share data with the study</a:t>
            </a:r>
          </a:p>
          <a:p>
            <a:pPr marL="171450" indent="-171450">
              <a:buFont typeface="Arial" panose="020B0604020202020204" pitchFamily="34" charset="0"/>
              <a:buChar char="•"/>
            </a:pPr>
            <a:r>
              <a:rPr lang="en-GB" dirty="0"/>
              <a:t>Study ends while patient is still on the transplant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Note: a patient dying is not so much censoring as a “competing event”, but that would also be a potential problem!</a:t>
            </a:r>
          </a:p>
          <a:p>
            <a:pPr marL="0" indent="0">
              <a:buFont typeface="Arial" panose="020B0604020202020204" pitchFamily="34" charset="0"/>
              <a:buNone/>
            </a:pPr>
            <a:endParaRPr lang="en-GB" dirty="0"/>
          </a:p>
          <a:p>
            <a:pPr marL="0" indent="0">
              <a:buFont typeface="Arial" panose="020B0604020202020204" pitchFamily="34" charset="0"/>
              <a:buNone/>
            </a:pPr>
            <a:r>
              <a:rPr lang="en-GB" b="1" u="sng" dirty="0"/>
              <a:t>In general: it’s very common in medical settings that patients with poorer health are more likely to be lost to follow-up!!</a:t>
            </a:r>
          </a:p>
        </p:txBody>
      </p:sp>
      <p:sp>
        <p:nvSpPr>
          <p:cNvPr id="4" name="Slide Number Placeholder 3">
            <a:extLst>
              <a:ext uri="{FF2B5EF4-FFF2-40B4-BE49-F238E27FC236}">
                <a16:creationId xmlns:a16="http://schemas.microsoft.com/office/drawing/2014/main" id="{C5FE1131-4038-BD3A-8DD5-204779DE1F5F}"/>
              </a:ext>
            </a:extLst>
          </p:cNvPr>
          <p:cNvSpPr>
            <a:spLocks noGrp="1"/>
          </p:cNvSpPr>
          <p:nvPr>
            <p:ph type="sldNum" sz="quarter" idx="5"/>
          </p:nvPr>
        </p:nvSpPr>
        <p:spPr/>
        <p:txBody>
          <a:bodyPr/>
          <a:lstStyle/>
          <a:p>
            <a:pPr>
              <a:defRPr/>
            </a:pPr>
            <a:fld id="{7091D1AB-24F6-48F0-A15B-00F40EB78CCB}" type="slidenum">
              <a:rPr lang="en-GB" smtClean="0"/>
              <a:pPr>
                <a:defRPr/>
              </a:pPr>
              <a:t>51</a:t>
            </a:fld>
            <a:endParaRPr lang="en-GB"/>
          </a:p>
        </p:txBody>
      </p:sp>
    </p:spTree>
    <p:extLst>
      <p:ext uri="{BB962C8B-B14F-4D97-AF65-F5344CB8AC3E}">
        <p14:creationId xmlns:p14="http://schemas.microsoft.com/office/powerpoint/2010/main" val="19927490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F6A6E-C993-66E9-C496-EC1A9DE1B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F083C-6846-B43F-1775-0536947190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19B9E-8094-7739-C2F9-44F9A02EA6C3}"/>
              </a:ext>
            </a:extLst>
          </p:cNvPr>
          <p:cNvSpPr>
            <a:spLocks noGrp="1"/>
          </p:cNvSpPr>
          <p:nvPr>
            <p:ph type="body" idx="1"/>
          </p:nvPr>
        </p:nvSpPr>
        <p:spPr/>
        <p:txBody>
          <a:bodyPr/>
          <a:lstStyle/>
          <a:p>
            <a:r>
              <a:rPr lang="en-GB" dirty="0"/>
              <a:t>Event of interest: lightbulb failure</a:t>
            </a:r>
          </a:p>
          <a:p>
            <a:r>
              <a:rPr lang="en-GB" dirty="0"/>
              <a:t>Building maintenance install 500 bulbs in a new building, and a researcher monitors each of them</a:t>
            </a:r>
          </a:p>
          <a:p>
            <a:endParaRPr lang="en-GB" dirty="0"/>
          </a:p>
          <a:p>
            <a:r>
              <a:rPr lang="en-GB" dirty="0"/>
              <a:t>The informative censoring comes in here:</a:t>
            </a:r>
          </a:p>
          <a:p>
            <a:pPr marL="171450" indent="-171450">
              <a:buFont typeface="Arial" panose="020B0604020202020204" pitchFamily="34" charset="0"/>
              <a:buChar char="•"/>
            </a:pPr>
            <a:r>
              <a:rPr lang="en-GB" dirty="0"/>
              <a:t>Regular/routine checks by building maintenance</a:t>
            </a:r>
          </a:p>
          <a:p>
            <a:pPr marL="171450" indent="-171450">
              <a:buFont typeface="Arial" panose="020B0604020202020204" pitchFamily="34" charset="0"/>
              <a:buChar char="•"/>
            </a:pPr>
            <a:r>
              <a:rPr lang="en-GB" dirty="0"/>
              <a:t>Bulbs are removed if they look close to failure (flickering, dimming), and lost to researcher follow-up</a:t>
            </a:r>
          </a:p>
          <a:p>
            <a:pPr marL="171450" indent="-171450">
              <a:buFont typeface="Arial" panose="020B0604020202020204" pitchFamily="34" charset="0"/>
              <a:buChar char="•"/>
            </a:pPr>
            <a:r>
              <a:rPr lang="en-GB" dirty="0"/>
              <a:t>So the censoring is directly related to the survival time</a:t>
            </a:r>
          </a:p>
          <a:p>
            <a:pPr marL="171450" indent="-171450">
              <a:buFont typeface="Arial" panose="020B0604020202020204" pitchFamily="34" charset="0"/>
              <a:buChar char="•"/>
            </a:pPr>
            <a:r>
              <a:rPr lang="en-GB" dirty="0"/>
              <a:t>The same process that governs the event occurring, also governs censoring</a:t>
            </a:r>
          </a:p>
          <a:p>
            <a:pPr marL="171450" indent="-171450">
              <a:buFont typeface="Arial" panose="020B0604020202020204" pitchFamily="34" charset="0"/>
              <a:buChar char="•"/>
            </a:pPr>
            <a:r>
              <a:rPr lang="en-GB" dirty="0"/>
              <a:t>And then your survival analysis will end up overestimating how long bulbs survive, because </a:t>
            </a:r>
          </a:p>
          <a:p>
            <a:endParaRPr lang="en-GB" dirty="0"/>
          </a:p>
          <a:p>
            <a:r>
              <a:rPr lang="en-GB" dirty="0"/>
              <a:t>Censoring</a:t>
            </a:r>
          </a:p>
        </p:txBody>
      </p:sp>
      <p:sp>
        <p:nvSpPr>
          <p:cNvPr id="4" name="Slide Number Placeholder 3">
            <a:extLst>
              <a:ext uri="{FF2B5EF4-FFF2-40B4-BE49-F238E27FC236}">
                <a16:creationId xmlns:a16="http://schemas.microsoft.com/office/drawing/2014/main" id="{0E0E4D9A-A343-9FA0-1E96-781D27E45222}"/>
              </a:ext>
            </a:extLst>
          </p:cNvPr>
          <p:cNvSpPr>
            <a:spLocks noGrp="1"/>
          </p:cNvSpPr>
          <p:nvPr>
            <p:ph type="sldNum" sz="quarter" idx="5"/>
          </p:nvPr>
        </p:nvSpPr>
        <p:spPr/>
        <p:txBody>
          <a:bodyPr/>
          <a:lstStyle/>
          <a:p>
            <a:pPr>
              <a:defRPr/>
            </a:pPr>
            <a:fld id="{7091D1AB-24F6-48F0-A15B-00F40EB78CCB}" type="slidenum">
              <a:rPr lang="en-GB" smtClean="0"/>
              <a:pPr>
                <a:defRPr/>
              </a:pPr>
              <a:t>52</a:t>
            </a:fld>
            <a:endParaRPr lang="en-GB"/>
          </a:p>
        </p:txBody>
      </p:sp>
    </p:spTree>
    <p:extLst>
      <p:ext uri="{BB962C8B-B14F-4D97-AF65-F5344CB8AC3E}">
        <p14:creationId xmlns:p14="http://schemas.microsoft.com/office/powerpoint/2010/main" val="31499898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most protective parents are hardest to follow. The most protective parents also keep eggs warmer, leading to faster hatching.</a:t>
            </a:r>
          </a:p>
          <a:p>
            <a:endParaRPr lang="en-GB" dirty="0"/>
          </a:p>
          <a:p>
            <a:r>
              <a:rPr lang="en-GB" dirty="0"/>
              <a:t>Note: If your survival model includes subspecies as a covariate and, </a:t>
            </a:r>
            <a:r>
              <a:rPr lang="en-GB" b="1" dirty="0"/>
              <a:t>conditional on subspecies</a:t>
            </a:r>
            <a:r>
              <a:rPr lang="en-GB" dirty="0"/>
              <a:t>, censoring is unrelated to hatching time, then many survival methods would regard the censoring mechanism as non-informative </a:t>
            </a:r>
            <a:r>
              <a:rPr lang="en-GB" i="1" dirty="0"/>
              <a:t>given the covariates</a:t>
            </a:r>
            <a:r>
              <a:rPr lang="en-GB" dirty="0"/>
              <a:t>.</a:t>
            </a:r>
          </a:p>
          <a:p>
            <a:endParaRPr lang="en-GB" dirty="0"/>
          </a:p>
          <a:p>
            <a:r>
              <a:rPr lang="en-GB" dirty="0"/>
              <a:t>(Use this as a key example of when, just because censoring does vary, doesn’t automatically make it informative – it depends what variables you have in your model!)</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53</a:t>
            </a:fld>
            <a:endParaRPr lang="en-GB"/>
          </a:p>
        </p:txBody>
      </p:sp>
    </p:spTree>
    <p:extLst>
      <p:ext uri="{BB962C8B-B14F-4D97-AF65-F5344CB8AC3E}">
        <p14:creationId xmlns:p14="http://schemas.microsoft.com/office/powerpoint/2010/main" val="15514403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Remember, proportional hazards relates to whether the predictor variable(s) have a constant effect on survival</a:t>
            </a:r>
          </a:p>
          <a:p>
            <a:r>
              <a:rPr lang="en-GB" dirty="0"/>
              <a:t>So we need to focus on the scale colour in this instance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59</a:t>
            </a:fld>
            <a:endParaRPr lang="en-GB"/>
          </a:p>
        </p:txBody>
      </p:sp>
    </p:spTree>
    <p:extLst>
      <p:ext uri="{BB962C8B-B14F-4D97-AF65-F5344CB8AC3E}">
        <p14:creationId xmlns:p14="http://schemas.microsoft.com/office/powerpoint/2010/main" val="11820027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Decreasing – things less likely to wear with time, e.g., businesses become more stable the longer they are established for</a:t>
            </a:r>
          </a:p>
          <a:p>
            <a:r>
              <a:rPr lang="en-GB" dirty="0"/>
              <a:t>Increasing – things are more likely to wear with time, e.g., mechanical parts</a:t>
            </a:r>
          </a:p>
          <a:p>
            <a:r>
              <a:rPr lang="en-GB" dirty="0"/>
              <a:t>Constant – things with exponential lifetimes, e.g., a lightbulb that is equally likely to fail at any given time</a:t>
            </a:r>
          </a:p>
          <a:p>
            <a:r>
              <a:rPr lang="en-GB" dirty="0"/>
              <a:t>Bathtub – high failure rates when young and old, e.g., humans</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68</a:t>
            </a:fld>
            <a:endParaRPr lang="en-GB"/>
          </a:p>
        </p:txBody>
      </p:sp>
    </p:spTree>
    <p:extLst>
      <p:ext uri="{BB962C8B-B14F-4D97-AF65-F5344CB8AC3E}">
        <p14:creationId xmlns:p14="http://schemas.microsoft.com/office/powerpoint/2010/main" val="13310526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B1FDA-7AAC-9308-072A-DFCB9CAC887D}"/>
            </a:ext>
          </a:extLst>
        </p:cNvPr>
        <p:cNvGrpSpPr/>
        <p:nvPr/>
      </p:nvGrpSpPr>
      <p:grpSpPr>
        <a:xfrm>
          <a:off x="0" y="0"/>
          <a:ext cx="0" cy="0"/>
          <a:chOff x="0" y="0"/>
          <a:chExt cx="0" cy="0"/>
        </a:xfrm>
      </p:grpSpPr>
      <p:sp>
        <p:nvSpPr>
          <p:cNvPr id="16385" name="Rectangle 7">
            <a:extLst>
              <a:ext uri="{FF2B5EF4-FFF2-40B4-BE49-F238E27FC236}">
                <a16:creationId xmlns:a16="http://schemas.microsoft.com/office/drawing/2014/main" id="{9D4C8C92-629E-2862-0F26-76A51DE34B95}"/>
              </a:ext>
            </a:extLst>
          </p:cNvPr>
          <p:cNvSpPr>
            <a:spLocks noGrp="1" noChangeArrowheads="1"/>
          </p:cNvSpPr>
          <p:nvPr>
            <p:ph type="sldNum" sz="quarter" idx="5"/>
          </p:nvPr>
        </p:nvSpPr>
        <p:spPr>
          <a:noFill/>
        </p:spPr>
        <p:txBody>
          <a:bodyPr/>
          <a:lstStyle/>
          <a:p>
            <a:fld id="{12B26FF2-21A4-4D45-8B69-E1FBC758DB49}" type="slidenum">
              <a:rPr lang="en-GB" smtClean="0">
                <a:cs typeface="Arial" charset="0"/>
              </a:rPr>
              <a:pPr/>
              <a:t>74</a:t>
            </a:fld>
            <a:endParaRPr lang="en-GB">
              <a:cs typeface="Arial" charset="0"/>
            </a:endParaRPr>
          </a:p>
        </p:txBody>
      </p:sp>
      <p:sp>
        <p:nvSpPr>
          <p:cNvPr id="16386" name="Rectangle 2">
            <a:extLst>
              <a:ext uri="{FF2B5EF4-FFF2-40B4-BE49-F238E27FC236}">
                <a16:creationId xmlns:a16="http://schemas.microsoft.com/office/drawing/2014/main" id="{7D8EEA7D-BBB0-B053-E8BE-DB0E7B50DCA6}"/>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6277B0DA-09FF-F512-CC08-0524CBFA4D73}"/>
              </a:ext>
            </a:extLst>
          </p:cNvPr>
          <p:cNvSpPr>
            <a:spLocks noGrp="1" noChangeArrowheads="1"/>
          </p:cNvSpPr>
          <p:nvPr>
            <p:ph type="body" idx="1"/>
          </p:nvPr>
        </p:nvSpPr>
        <p:spPr>
          <a:noFill/>
          <a:ln/>
        </p:spPr>
        <p:txBody>
          <a:bodyPr/>
          <a:lstStyle/>
          <a:p>
            <a:pPr eaLnBrk="1" hangingPunct="1"/>
            <a:r>
              <a:rPr lang="en-US" dirty="0"/>
              <a:t>Duration analysis/duration modelling;</a:t>
            </a:r>
          </a:p>
          <a:p>
            <a:pPr eaLnBrk="1" hangingPunct="1"/>
            <a:r>
              <a:rPr lang="en-US" dirty="0"/>
              <a:t>Event history analysis</a:t>
            </a:r>
          </a:p>
        </p:txBody>
      </p:sp>
    </p:spTree>
    <p:extLst>
      <p:ext uri="{BB962C8B-B14F-4D97-AF65-F5344CB8AC3E}">
        <p14:creationId xmlns:p14="http://schemas.microsoft.com/office/powerpoint/2010/main" val="101731647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bwMode="auto">
      <p:bgPr>
        <a:blipFill dpi="0" rotWithShape="0">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9F6CCC-1102-65CA-5EDD-A85EE027AD7C}"/>
              </a:ext>
            </a:extLst>
          </p:cNvPr>
          <p:cNvSpPr>
            <a:spLocks noGrp="1"/>
          </p:cNvSpPr>
          <p:nvPr>
            <p:ph type="body" sz="quarter" idx="11"/>
          </p:nvPr>
        </p:nvSpPr>
        <p:spPr>
          <a:xfrm>
            <a:off x="682624" y="2060645"/>
            <a:ext cx="7775575" cy="665163"/>
          </a:xfrm>
        </p:spPr>
        <p:txBody>
          <a:bodyPr/>
          <a:lstStyle>
            <a:lvl1pPr marL="0" indent="0">
              <a:buNone/>
              <a:defRPr sz="3500" b="1">
                <a:solidFill>
                  <a:schemeClr val="bg1"/>
                </a:solidFill>
              </a:defRPr>
            </a:lvl1pPr>
          </a:lstStyle>
          <a:p>
            <a:pPr lvl="0"/>
            <a:endParaRPr lang="en-GB" dirty="0"/>
          </a:p>
        </p:txBody>
      </p:sp>
      <p:sp>
        <p:nvSpPr>
          <p:cNvPr id="4" name="Rectangle 13"/>
          <p:cNvSpPr>
            <a:spLocks noChangeArrowheads="1"/>
          </p:cNvSpPr>
          <p:nvPr/>
        </p:nvSpPr>
        <p:spPr bwMode="auto">
          <a:xfrm>
            <a:off x="0" y="5365750"/>
            <a:ext cx="9140825" cy="665163"/>
          </a:xfrm>
          <a:prstGeom prst="rect">
            <a:avLst/>
          </a:prstGeom>
          <a:solidFill>
            <a:srgbClr val="003E72"/>
          </a:solidFill>
          <a:ln w="127">
            <a:noFill/>
            <a:miter lim="800000"/>
            <a:headEnd/>
            <a:tailEnd/>
          </a:ln>
          <a:effectLst/>
        </p:spPr>
        <p:txBody>
          <a:bodyPr wrap="none" anchor="ctr"/>
          <a:lstStyle/>
          <a:p>
            <a:pPr>
              <a:defRPr/>
            </a:pPr>
            <a:endParaRPr lang="en-GB">
              <a:cs typeface="+mn-cs"/>
            </a:endParaRPr>
          </a:p>
        </p:txBody>
      </p:sp>
      <p:sp>
        <p:nvSpPr>
          <p:cNvPr id="5" name="Rectangle 14"/>
          <p:cNvSpPr>
            <a:spLocks noChangeArrowheads="1"/>
          </p:cNvSpPr>
          <p:nvPr/>
        </p:nvSpPr>
        <p:spPr bwMode="auto">
          <a:xfrm>
            <a:off x="0" y="6030913"/>
            <a:ext cx="9140825" cy="173037"/>
          </a:xfrm>
          <a:prstGeom prst="rect">
            <a:avLst/>
          </a:prstGeom>
          <a:solidFill>
            <a:srgbClr val="6AADE4"/>
          </a:solidFill>
          <a:ln w="127">
            <a:noFill/>
            <a:miter lim="800000"/>
            <a:headEnd/>
            <a:tailEnd/>
          </a:ln>
          <a:effectLst/>
        </p:spPr>
        <p:txBody>
          <a:bodyPr wrap="none" anchor="ctr"/>
          <a:lstStyle/>
          <a:p>
            <a:pPr>
              <a:defRPr/>
            </a:pPr>
            <a:endParaRPr lang="en-GB">
              <a:cs typeface="+mn-cs"/>
            </a:endParaRPr>
          </a:p>
        </p:txBody>
      </p:sp>
      <p:sp>
        <p:nvSpPr>
          <p:cNvPr id="6" name="Rectangle 10"/>
          <p:cNvSpPr>
            <a:spLocks noGrp="1" noChangeArrowheads="1"/>
          </p:cNvSpPr>
          <p:nvPr>
            <p:ph type="sldNum" sz="quarter" idx="10"/>
          </p:nvPr>
        </p:nvSpPr>
        <p:spPr>
          <a:xfrm>
            <a:off x="7862888" y="6448425"/>
            <a:ext cx="900112" cy="179388"/>
          </a:xfrm>
        </p:spPr>
        <p:txBody>
          <a:bodyPr/>
          <a:lstStyle>
            <a:lvl1pPr>
              <a:defRPr>
                <a:solidFill>
                  <a:schemeClr val="tx1"/>
                </a:solidFill>
              </a:defRPr>
            </a:lvl1pPr>
          </a:lstStyle>
          <a:p>
            <a:pPr>
              <a:defRPr/>
            </a:pPr>
            <a:fld id="{E08F0ED0-70FD-4BCE-966F-358F104CE5BB}" type="slidenum">
              <a:rPr lang="en-GB"/>
              <a:pPr>
                <a:defRPr/>
              </a:pPr>
              <a:t>‹#›</a:t>
            </a:fld>
            <a:endParaRPr lang="en-GB"/>
          </a:p>
        </p:txBody>
      </p:sp>
      <p:sp>
        <p:nvSpPr>
          <p:cNvPr id="2" name="Rectangle 3">
            <a:extLst>
              <a:ext uri="{FF2B5EF4-FFF2-40B4-BE49-F238E27FC236}">
                <a16:creationId xmlns:a16="http://schemas.microsoft.com/office/drawing/2014/main" id="{7379F852-FE1F-9380-F759-F06FE95A8880}"/>
              </a:ext>
            </a:extLst>
          </p:cNvPr>
          <p:cNvSpPr txBox="1">
            <a:spLocks noChangeArrowheads="1"/>
          </p:cNvSpPr>
          <p:nvPr userDrawn="1"/>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endParaRPr lang="en-US" kern="0" dirty="0"/>
          </a:p>
          <a:p>
            <a:pPr eaLnBrk="1" hangingPunct="1"/>
            <a:endParaRPr lang="en-US" kern="0" dirty="0"/>
          </a:p>
          <a:p>
            <a:pPr eaLnBrk="1" hangingPunct="1"/>
            <a:endParaRPr lang="en-US" kern="0" dirty="0"/>
          </a:p>
          <a:p>
            <a:pPr eaLnBrk="1" hangingPunct="1"/>
            <a:endParaRPr lang="en-US" kern="0" dirty="0"/>
          </a:p>
          <a:p>
            <a:pPr eaLnBrk="1" hangingPunct="1"/>
            <a:r>
              <a:rPr lang="en-US" kern="0" dirty="0"/>
              <a:t>Cambridge Centre for Research Informatics Training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7395BFF-6EFC-AE50-A4DD-39FA3F9A834D}"/>
              </a:ext>
            </a:extLst>
          </p:cNvPr>
          <p:cNvSpPr>
            <a:spLocks noGrp="1"/>
          </p:cNvSpPr>
          <p:nvPr>
            <p:ph type="body" sz="quarter" idx="11"/>
          </p:nvPr>
        </p:nvSpPr>
        <p:spPr>
          <a:xfrm>
            <a:off x="515648" y="1772918"/>
            <a:ext cx="8112703" cy="4002407"/>
          </a:xfrm>
        </p:spPr>
        <p:txBody>
          <a:bodyPr/>
          <a:lstStyle/>
          <a:p>
            <a:pPr lvl="0"/>
            <a:endParaRPr lang="en-GB" dirty="0"/>
          </a:p>
        </p:txBody>
      </p:sp>
      <p:sp>
        <p:nvSpPr>
          <p:cNvPr id="2" name="Title 1"/>
          <p:cNvSpPr>
            <a:spLocks noGrp="1"/>
          </p:cNvSpPr>
          <p:nvPr>
            <p:ph type="title"/>
          </p:nvPr>
        </p:nvSpPr>
        <p:spPr/>
        <p:txBody>
          <a:bodyPr/>
          <a:lstStyle/>
          <a:p>
            <a:r>
              <a:rPr lang="en-US" dirty="0"/>
              <a:t>Click to edit Master title style</a:t>
            </a:r>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CD3FC0C4-D681-4CE5-B41E-BCE48B80373A}" type="slidenum">
              <a:rPr lang="en-GB"/>
              <a:pPr>
                <a:defRPr/>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B5431F5C-3D34-05D6-6852-6802E02D7D49}"/>
              </a:ext>
            </a:extLst>
          </p:cNvPr>
          <p:cNvSpPr>
            <a:spLocks noGrp="1"/>
          </p:cNvSpPr>
          <p:nvPr>
            <p:ph type="body" sz="quarter" idx="12"/>
          </p:nvPr>
        </p:nvSpPr>
        <p:spPr>
          <a:xfrm>
            <a:off x="722313" y="3706813"/>
            <a:ext cx="7772400" cy="2062162"/>
          </a:xfrm>
        </p:spPr>
        <p:txBody>
          <a:bodyPr/>
          <a:lstStyle>
            <a:lvl1pPr marL="0" indent="0">
              <a:buNone/>
              <a:defRPr/>
            </a:lvl1pPr>
          </a:lstStyle>
          <a:p>
            <a:pPr lvl="0"/>
            <a:endParaRPr lang="en-GB" dirty="0"/>
          </a:p>
        </p:txBody>
      </p:sp>
      <p:sp>
        <p:nvSpPr>
          <p:cNvPr id="16" name="Text Placeholder 15">
            <a:extLst>
              <a:ext uri="{FF2B5EF4-FFF2-40B4-BE49-F238E27FC236}">
                <a16:creationId xmlns:a16="http://schemas.microsoft.com/office/drawing/2014/main" id="{2B95E417-BE0F-9D22-6C8E-C898B95AE5EB}"/>
              </a:ext>
            </a:extLst>
          </p:cNvPr>
          <p:cNvSpPr>
            <a:spLocks noGrp="1"/>
          </p:cNvSpPr>
          <p:nvPr>
            <p:ph type="body" sz="quarter" idx="11"/>
          </p:nvPr>
        </p:nvSpPr>
        <p:spPr>
          <a:xfrm>
            <a:off x="722313" y="2000250"/>
            <a:ext cx="7772400" cy="1628775"/>
          </a:xfrm>
        </p:spPr>
        <p:txBody>
          <a:bodyPr anchor="b"/>
          <a:lstStyle>
            <a:lvl1pPr marL="0" indent="0">
              <a:buNone/>
              <a:defRPr sz="2800" b="1"/>
            </a:lvl1pPr>
          </a:lstStyle>
          <a:p>
            <a:pPr lvl="0"/>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E5717E7F-5007-4559-A9EA-6621C16865F0}" type="slidenum">
              <a:rPr lang="en-GB"/>
              <a:pPr>
                <a:defRPr/>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84175" y="1708150"/>
            <a:ext cx="4110038"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6613" y="1708150"/>
            <a:ext cx="4111625"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6"/>
          <p:cNvSpPr>
            <a:spLocks noGrp="1" noChangeArrowheads="1"/>
          </p:cNvSpPr>
          <p:nvPr>
            <p:ph type="sldNum" sz="quarter" idx="10"/>
          </p:nvPr>
        </p:nvSpPr>
        <p:spPr>
          <a:ln/>
        </p:spPr>
        <p:txBody>
          <a:bodyPr/>
          <a:lstStyle>
            <a:lvl1pPr>
              <a:defRPr/>
            </a:lvl1pPr>
          </a:lstStyle>
          <a:p>
            <a:pPr>
              <a:defRPr/>
            </a:pPr>
            <a:fld id="{3B84A50D-3EE8-4C4C-AEDA-A3757F6A4A77}" type="slidenum">
              <a:rPr lang="en-GB"/>
              <a:pPr>
                <a:defRPr/>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6"/>
          <p:cNvSpPr>
            <a:spLocks noGrp="1" noChangeArrowheads="1"/>
          </p:cNvSpPr>
          <p:nvPr>
            <p:ph type="sldNum" sz="quarter" idx="10"/>
          </p:nvPr>
        </p:nvSpPr>
        <p:spPr>
          <a:ln/>
        </p:spPr>
        <p:txBody>
          <a:bodyPr/>
          <a:lstStyle>
            <a:lvl1pPr>
              <a:defRPr/>
            </a:lvl1pPr>
          </a:lstStyle>
          <a:p>
            <a:pPr>
              <a:defRPr/>
            </a:pPr>
            <a:fld id="{C7CDCC55-62A8-437E-9110-6ECF98C371C5}" type="slidenum">
              <a:rPr lang="en-GB"/>
              <a:pPr>
                <a:defRPr/>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6"/>
          <p:cNvSpPr>
            <a:spLocks noGrp="1" noChangeArrowheads="1"/>
          </p:cNvSpPr>
          <p:nvPr>
            <p:ph type="sldNum" sz="quarter" idx="10"/>
          </p:nvPr>
        </p:nvSpPr>
        <p:spPr>
          <a:ln/>
        </p:spPr>
        <p:txBody>
          <a:bodyPr/>
          <a:lstStyle>
            <a:lvl1pPr>
              <a:defRPr/>
            </a:lvl1pPr>
          </a:lstStyle>
          <a:p>
            <a:pPr>
              <a:defRPr/>
            </a:pPr>
            <a:fld id="{062FE7C6-874C-4E62-8759-08C2AB2543BB}" type="slidenum">
              <a:rPr lang="en-GB"/>
              <a:pPr>
                <a:defRPr/>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8" cstate="print"/>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84175" y="398463"/>
            <a:ext cx="8375650" cy="42386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title style</a:t>
            </a:r>
          </a:p>
        </p:txBody>
      </p:sp>
      <p:sp>
        <p:nvSpPr>
          <p:cNvPr id="1027" name="Rectangle 3"/>
          <p:cNvSpPr>
            <a:spLocks noGrp="1" noChangeArrowheads="1"/>
          </p:cNvSpPr>
          <p:nvPr>
            <p:ph type="body" idx="1"/>
          </p:nvPr>
        </p:nvSpPr>
        <p:spPr bwMode="auto">
          <a:xfrm>
            <a:off x="515648" y="1772918"/>
            <a:ext cx="8112703" cy="400240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30" name="Rectangle 6"/>
          <p:cNvSpPr>
            <a:spLocks noGrp="1" noChangeArrowheads="1"/>
          </p:cNvSpPr>
          <p:nvPr>
            <p:ph type="sldNum" sz="quarter" idx="4"/>
          </p:nvPr>
        </p:nvSpPr>
        <p:spPr bwMode="auto">
          <a:xfrm>
            <a:off x="7862888" y="6451600"/>
            <a:ext cx="900112" cy="179388"/>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r">
              <a:defRPr sz="1000">
                <a:solidFill>
                  <a:schemeClr val="tx2"/>
                </a:solidFill>
                <a:cs typeface="+mn-cs"/>
              </a:defRPr>
            </a:lvl1pPr>
          </a:lstStyle>
          <a:p>
            <a:pPr>
              <a:defRPr/>
            </a:pPr>
            <a:fld id="{538E2CDC-1426-42D5-A328-40ED0E0B2EB2}" type="slidenum">
              <a:rPr lang="en-GB"/>
              <a:pPr>
                <a:defRPr/>
              </a:pPr>
              <a:t>‹#›</a:t>
            </a:fld>
            <a:endParaRPr lang="en-GB"/>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Lst>
  <p:hf hdr="0" ftr="0" dt="0"/>
  <p:txStyles>
    <p:titleStyle>
      <a:lvl1pPr algn="l" rtl="0" eaLnBrk="0" fontAlgn="base" hangingPunct="0">
        <a:spcBef>
          <a:spcPct val="0"/>
        </a:spcBef>
        <a:spcAft>
          <a:spcPct val="0"/>
        </a:spcAft>
        <a:defRPr sz="2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p:titleStyle>
    <p:body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svg"/></Relationships>
</file>

<file path=ppt/slides/_rels/slide1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8.svg"/></Relationships>
</file>

<file path=ppt/slides/_rels/slide46.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2.svg"/><Relationship Id="rId5" Type="http://schemas.openxmlformats.org/officeDocument/2006/relationships/image" Target="../media/image41.svg"/><Relationship Id="rId4" Type="http://schemas.openxmlformats.org/officeDocument/2006/relationships/image" Target="../media/image40.svg"/></Relationships>
</file>

<file path=ppt/slides/_rels/slide4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48.xml.rels><?xml version="1.0" encoding="UTF-8" standalone="yes"?>
<Relationships xmlns="http://schemas.openxmlformats.org/package/2006/relationships"><Relationship Id="rId8" Type="http://schemas.openxmlformats.org/officeDocument/2006/relationships/image" Target="../media/image43.svg"/><Relationship Id="rId3" Type="http://schemas.openxmlformats.org/officeDocument/2006/relationships/image" Target="../media/image48.svg"/><Relationship Id="rId7" Type="http://schemas.openxmlformats.org/officeDocument/2006/relationships/image" Target="../media/image52.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1.svg"/><Relationship Id="rId5" Type="http://schemas.openxmlformats.org/officeDocument/2006/relationships/image" Target="../media/image50.svg"/><Relationship Id="rId4" Type="http://schemas.openxmlformats.org/officeDocument/2006/relationships/image" Target="../media/image49.svg"/><Relationship Id="rId9" Type="http://schemas.openxmlformats.org/officeDocument/2006/relationships/image" Target="../media/image53.svg"/></Relationships>
</file>

<file path=ppt/slides/_rels/slide4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48.svg"/><Relationship Id="rId7" Type="http://schemas.openxmlformats.org/officeDocument/2006/relationships/image" Target="../media/image51.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10" Type="http://schemas.openxmlformats.org/officeDocument/2006/relationships/image" Target="../media/image38.svg"/><Relationship Id="rId4" Type="http://schemas.openxmlformats.org/officeDocument/2006/relationships/image" Target="../media/image54.svg"/><Relationship Id="rId9" Type="http://schemas.openxmlformats.org/officeDocument/2006/relationships/image" Target="../media/image53.sv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58.sv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57.svg"/><Relationship Id="rId5" Type="http://schemas.openxmlformats.org/officeDocument/2006/relationships/image" Target="../media/image56.svg"/><Relationship Id="rId4" Type="http://schemas.openxmlformats.org/officeDocument/2006/relationships/image" Target="../media/image55.svg"/></Relationships>
</file>

<file path=ppt/slides/_rels/slide52.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61.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60.svg"/><Relationship Id="rId5" Type="http://schemas.openxmlformats.org/officeDocument/2006/relationships/image" Target="../media/image55.svg"/><Relationship Id="rId4" Type="http://schemas.openxmlformats.org/officeDocument/2006/relationships/image" Target="../media/image59.sv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p:cNvGrpSpPr/>
        <p:nvPr/>
      </p:nvGrpSpPr>
      <p:grpSpPr>
        <a:xfrm>
          <a:off x="0" y="0"/>
          <a:ext cx="0" cy="0"/>
          <a:chOff x="0" y="0"/>
          <a:chExt cx="0" cy="0"/>
        </a:xfrm>
      </p:grpSpPr>
      <p:sp>
        <p:nvSpPr>
          <p:cNvPr id="15364" name="Slide Number Placeholder 4"/>
          <p:cNvSpPr>
            <a:spLocks noGrp="1"/>
          </p:cNvSpPr>
          <p:nvPr>
            <p:ph type="sldNum" sz="quarter" idx="10"/>
          </p:nvPr>
        </p:nvSpPr>
        <p:spPr>
          <a:noFill/>
        </p:spPr>
        <p:txBody>
          <a:bodyPr/>
          <a:lstStyle/>
          <a:p>
            <a:fld id="{E036465C-945F-44BE-994D-AFC5D4629323}" type="slidenum">
              <a:rPr lang="en-GB" noProof="0" smtClean="0">
                <a:cs typeface="Arial" charset="0"/>
              </a:rPr>
              <a:pPr/>
              <a:t>1</a:t>
            </a:fld>
            <a:endParaRPr lang="en-GB" noProof="0" dirty="0">
              <a:cs typeface="Arial" charset="0"/>
            </a:endParaRPr>
          </a:p>
        </p:txBody>
      </p:sp>
      <p:sp>
        <p:nvSpPr>
          <p:cNvPr id="6" name="Rectangle 2">
            <a:extLst>
              <a:ext uri="{FF2B5EF4-FFF2-40B4-BE49-F238E27FC236}">
                <a16:creationId xmlns:a16="http://schemas.microsoft.com/office/drawing/2014/main" id="{C22D2681-16A5-D742-B500-FECAB1CC6221}"/>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A3EBAEC8-8C01-B24B-91FF-09127DEA620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Tree>
    <p:extLst>
      <p:ext uri="{BB962C8B-B14F-4D97-AF65-F5344CB8AC3E}">
        <p14:creationId xmlns:p14="http://schemas.microsoft.com/office/powerpoint/2010/main" val="900782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EA46D39-B972-B0E9-DF40-B68A39BAD848}"/>
              </a:ext>
            </a:extLst>
          </p:cNvPr>
          <p:cNvSpPr>
            <a:spLocks noGrp="1"/>
          </p:cNvSpPr>
          <p:nvPr>
            <p:ph type="body" sz="quarter" idx="11"/>
          </p:nvPr>
        </p:nvSpPr>
        <p:spPr/>
        <p:txBody>
          <a:bodyPr/>
          <a:lstStyle/>
          <a:p>
            <a:r>
              <a:rPr lang="en-GB" sz="2200" noProof="0" dirty="0"/>
              <a:t>Recognise when survival analysis should be used, based on dataset/experimental design</a:t>
            </a:r>
          </a:p>
          <a:p>
            <a:endParaRPr lang="en-GB" sz="2200" noProof="0" dirty="0"/>
          </a:p>
          <a:p>
            <a:r>
              <a:rPr lang="en-GB" sz="2200" noProof="0" dirty="0"/>
              <a:t>Implement survival analysis (including multiple predictor variables &amp; time-varying predictors)</a:t>
            </a:r>
          </a:p>
          <a:p>
            <a:endParaRPr lang="en-GB" sz="2200" noProof="0" dirty="0"/>
          </a:p>
          <a:p>
            <a:r>
              <a:rPr lang="en-GB" sz="2200" noProof="0" dirty="0"/>
              <a:t>Meaningfully interpret the results</a:t>
            </a:r>
          </a:p>
          <a:p>
            <a:endParaRPr lang="en-GB" sz="2200" noProof="0" dirty="0"/>
          </a:p>
          <a:p>
            <a:r>
              <a:rPr lang="en-GB" sz="2200" noProof="0" dirty="0"/>
              <a:t>Visualise survival data and survival curves effectively</a:t>
            </a:r>
          </a:p>
          <a:p>
            <a:endParaRPr lang="en-GB" noProof="0" dirty="0"/>
          </a:p>
        </p:txBody>
      </p:sp>
      <p:sp>
        <p:nvSpPr>
          <p:cNvPr id="5" name="Title 4">
            <a:extLst>
              <a:ext uri="{FF2B5EF4-FFF2-40B4-BE49-F238E27FC236}">
                <a16:creationId xmlns:a16="http://schemas.microsoft.com/office/drawing/2014/main" id="{F87C8362-8004-4935-97D7-FA6115F9C2FC}"/>
              </a:ext>
            </a:extLst>
          </p:cNvPr>
          <p:cNvSpPr>
            <a:spLocks noGrp="1"/>
          </p:cNvSpPr>
          <p:nvPr>
            <p:ph type="title"/>
          </p:nvPr>
        </p:nvSpPr>
        <p:spPr/>
        <p:txBody>
          <a:bodyPr/>
          <a:lstStyle/>
          <a:p>
            <a:r>
              <a:rPr lang="en-GB" noProof="0" dirty="0"/>
              <a:t>Course aims</a:t>
            </a:r>
          </a:p>
        </p:txBody>
      </p:sp>
      <p:sp>
        <p:nvSpPr>
          <p:cNvPr id="4" name="Slide Number Placeholder 3">
            <a:extLst>
              <a:ext uri="{FF2B5EF4-FFF2-40B4-BE49-F238E27FC236}">
                <a16:creationId xmlns:a16="http://schemas.microsoft.com/office/drawing/2014/main" id="{CB9BDCFF-E613-4693-8452-F066573985D4}"/>
              </a:ext>
            </a:extLst>
          </p:cNvPr>
          <p:cNvSpPr>
            <a:spLocks noGrp="1"/>
          </p:cNvSpPr>
          <p:nvPr>
            <p:ph type="sldNum" sz="quarter" idx="10"/>
          </p:nvPr>
        </p:nvSpPr>
        <p:spPr/>
        <p:txBody>
          <a:bodyPr/>
          <a:lstStyle/>
          <a:p>
            <a:pPr>
              <a:defRPr/>
            </a:pPr>
            <a:fld id="{E5717E7F-5007-4559-A9EA-6621C16865F0}" type="slidenum">
              <a:rPr lang="en-GB" noProof="0" smtClean="0"/>
              <a:pPr>
                <a:defRPr/>
              </a:pPr>
              <a:t>2</a:t>
            </a:fld>
            <a:endParaRPr lang="en-GB" noProof="0" dirty="0"/>
          </a:p>
        </p:txBody>
      </p:sp>
    </p:spTree>
    <p:extLst>
      <p:ext uri="{BB962C8B-B14F-4D97-AF65-F5344CB8AC3E}">
        <p14:creationId xmlns:p14="http://schemas.microsoft.com/office/powerpoint/2010/main" val="2827721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D422F-D0E5-AD98-076C-667223FC592C}"/>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27FC6D6-F764-CF4B-3370-8E8C071ABAFE}"/>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1:</a:t>
            </a:r>
          </a:p>
          <a:p>
            <a:pPr>
              <a:buClr>
                <a:schemeClr val="tx1"/>
              </a:buClr>
            </a:pPr>
            <a:endParaRPr lang="en-GB" sz="2200" noProof="0" dirty="0">
              <a:latin typeface="+mj-lt"/>
            </a:endParaRPr>
          </a:p>
          <a:p>
            <a:pPr marL="457200" indent="-457200">
              <a:spcAft>
                <a:spcPts val="600"/>
              </a:spcAft>
              <a:buFont typeface="+mj-lt"/>
              <a:buAutoNum type="arabicPeriod"/>
            </a:pPr>
            <a:r>
              <a:rPr lang="en-GB" sz="2200" noProof="0" dirty="0"/>
              <a:t>What’s special about survival/time-to-event data?</a:t>
            </a:r>
          </a:p>
          <a:p>
            <a:pPr marL="457200" indent="-457200">
              <a:spcAft>
                <a:spcPts val="600"/>
              </a:spcAft>
              <a:buFont typeface="+mj-lt"/>
              <a:buAutoNum type="arabicPeriod"/>
            </a:pPr>
            <a:r>
              <a:rPr lang="en-GB" sz="2200" noProof="0" dirty="0"/>
              <a:t>Survival curves (Kaplan-Meier estimation)</a:t>
            </a:r>
          </a:p>
          <a:p>
            <a:pPr marL="457200" indent="-457200">
              <a:spcAft>
                <a:spcPts val="600"/>
              </a:spcAft>
              <a:buFont typeface="+mj-lt"/>
              <a:buAutoNum type="arabicPeriod"/>
            </a:pPr>
            <a:r>
              <a:rPr lang="en-GB" sz="2200" noProof="0" dirty="0"/>
              <a:t>Comparing two curves (log rank test)</a:t>
            </a:r>
          </a:p>
        </p:txBody>
      </p:sp>
      <p:sp>
        <p:nvSpPr>
          <p:cNvPr id="5" name="Title 4">
            <a:extLst>
              <a:ext uri="{FF2B5EF4-FFF2-40B4-BE49-F238E27FC236}">
                <a16:creationId xmlns:a16="http://schemas.microsoft.com/office/drawing/2014/main" id="{60F1600A-5AA9-1E83-97FE-DD96D00838F2}"/>
              </a:ext>
            </a:extLst>
          </p:cNvPr>
          <p:cNvSpPr>
            <a:spLocks noGrp="1"/>
          </p:cNvSpPr>
          <p:nvPr>
            <p:ph type="title"/>
          </p:nvPr>
        </p:nvSpPr>
        <p:spPr/>
        <p:txBody>
          <a:bodyPr/>
          <a:lstStyle/>
          <a:p>
            <a:r>
              <a:rPr lang="en-GB" noProof="0" dirty="0"/>
              <a:t>Session 1</a:t>
            </a:r>
          </a:p>
        </p:txBody>
      </p:sp>
      <p:sp>
        <p:nvSpPr>
          <p:cNvPr id="4" name="Slide Number Placeholder 3">
            <a:extLst>
              <a:ext uri="{FF2B5EF4-FFF2-40B4-BE49-F238E27FC236}">
                <a16:creationId xmlns:a16="http://schemas.microsoft.com/office/drawing/2014/main" id="{D5C1CE49-4194-F377-337A-7D306213ACC5}"/>
              </a:ext>
            </a:extLst>
          </p:cNvPr>
          <p:cNvSpPr>
            <a:spLocks noGrp="1"/>
          </p:cNvSpPr>
          <p:nvPr>
            <p:ph type="sldNum" sz="quarter" idx="10"/>
          </p:nvPr>
        </p:nvSpPr>
        <p:spPr/>
        <p:txBody>
          <a:bodyPr/>
          <a:lstStyle/>
          <a:p>
            <a:pPr>
              <a:defRPr/>
            </a:pPr>
            <a:fld id="{E5717E7F-5007-4559-A9EA-6621C16865F0}" type="slidenum">
              <a:rPr lang="en-GB" noProof="0" smtClean="0"/>
              <a:pPr>
                <a:defRPr/>
              </a:pPr>
              <a:t>3</a:t>
            </a:fld>
            <a:endParaRPr lang="en-GB" noProof="0" dirty="0"/>
          </a:p>
        </p:txBody>
      </p:sp>
    </p:spTree>
    <p:extLst>
      <p:ext uri="{BB962C8B-B14F-4D97-AF65-F5344CB8AC3E}">
        <p14:creationId xmlns:p14="http://schemas.microsoft.com/office/powerpoint/2010/main" val="4024045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E627-A383-7D16-1D23-79213A387B7E}"/>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ED3EB365-8D3D-D1BE-2A05-A06F2AD6B2B7}"/>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2:</a:t>
            </a:r>
          </a:p>
          <a:p>
            <a:pPr>
              <a:buClr>
                <a:schemeClr val="tx1"/>
              </a:buClr>
            </a:pPr>
            <a:endParaRPr lang="en-GB" sz="2200" noProof="0" dirty="0">
              <a:latin typeface="+mj-lt"/>
            </a:endParaRPr>
          </a:p>
          <a:p>
            <a:pPr marL="457200" indent="-457200">
              <a:buFont typeface="+mj-lt"/>
              <a:buAutoNum type="arabicPeriod" startAt="4"/>
            </a:pPr>
            <a:r>
              <a:rPr lang="en-GB" dirty="0"/>
              <a:t>Multiple predictor variables (Cox regression)</a:t>
            </a:r>
          </a:p>
          <a:p>
            <a:pPr marL="457200" indent="-457200">
              <a:buFont typeface="+mj-lt"/>
              <a:buAutoNum type="arabicPeriod" startAt="4"/>
            </a:pPr>
            <a:r>
              <a:rPr lang="en-GB" dirty="0"/>
              <a:t>Important assumptions</a:t>
            </a:r>
          </a:p>
          <a:p>
            <a:pPr marL="457200" indent="-457200">
              <a:buFont typeface="+mj-lt"/>
              <a:buAutoNum type="arabicPeriod" startAt="4"/>
            </a:pPr>
            <a:r>
              <a:rPr lang="en-GB" dirty="0"/>
              <a:t>Reporting &amp; comparing models</a:t>
            </a:r>
          </a:p>
          <a:p>
            <a:pPr marL="457200" indent="-457200">
              <a:buFont typeface="+mj-lt"/>
              <a:buAutoNum type="arabicPeriod" startAt="4"/>
            </a:pPr>
            <a:endParaRPr lang="en-GB" dirty="0"/>
          </a:p>
          <a:p>
            <a:pPr marL="457200" indent="-457200">
              <a:spcAft>
                <a:spcPts val="600"/>
              </a:spcAft>
              <a:buFont typeface="+mj-lt"/>
              <a:buAutoNum type="arabicPeriod" startAt="4"/>
            </a:pPr>
            <a:r>
              <a:rPr lang="en-GB" sz="2200" noProof="0" dirty="0"/>
              <a:t>Time-varying predictors?</a:t>
            </a:r>
          </a:p>
          <a:p>
            <a:pPr marL="457200" indent="-457200">
              <a:spcAft>
                <a:spcPts val="600"/>
              </a:spcAft>
              <a:buFont typeface="+mj-lt"/>
              <a:buAutoNum type="arabicPeriod" startAt="4"/>
            </a:pPr>
            <a:r>
              <a:rPr lang="en-GB" sz="2200" noProof="0" dirty="0"/>
              <a:t>Centring/transforming variables?</a:t>
            </a:r>
          </a:p>
        </p:txBody>
      </p:sp>
      <p:sp>
        <p:nvSpPr>
          <p:cNvPr id="5" name="Title 4">
            <a:extLst>
              <a:ext uri="{FF2B5EF4-FFF2-40B4-BE49-F238E27FC236}">
                <a16:creationId xmlns:a16="http://schemas.microsoft.com/office/drawing/2014/main" id="{9C1AC324-9A68-E155-F48F-4F7F8D841856}"/>
              </a:ext>
            </a:extLst>
          </p:cNvPr>
          <p:cNvSpPr>
            <a:spLocks noGrp="1"/>
          </p:cNvSpPr>
          <p:nvPr>
            <p:ph type="title"/>
          </p:nvPr>
        </p:nvSpPr>
        <p:spPr/>
        <p:txBody>
          <a:bodyPr/>
          <a:lstStyle/>
          <a:p>
            <a:r>
              <a:rPr lang="en-GB" noProof="0" dirty="0"/>
              <a:t>Session 2</a:t>
            </a:r>
          </a:p>
        </p:txBody>
      </p:sp>
      <p:sp>
        <p:nvSpPr>
          <p:cNvPr id="4" name="Slide Number Placeholder 3">
            <a:extLst>
              <a:ext uri="{FF2B5EF4-FFF2-40B4-BE49-F238E27FC236}">
                <a16:creationId xmlns:a16="http://schemas.microsoft.com/office/drawing/2014/main" id="{A7E0E19E-58CB-CDF5-D34B-6B676D43E2D3}"/>
              </a:ext>
            </a:extLst>
          </p:cNvPr>
          <p:cNvSpPr>
            <a:spLocks noGrp="1"/>
          </p:cNvSpPr>
          <p:nvPr>
            <p:ph type="sldNum" sz="quarter" idx="10"/>
          </p:nvPr>
        </p:nvSpPr>
        <p:spPr/>
        <p:txBody>
          <a:bodyPr/>
          <a:lstStyle/>
          <a:p>
            <a:pPr>
              <a:defRPr/>
            </a:pPr>
            <a:fld id="{E5717E7F-5007-4559-A9EA-6621C16865F0}" type="slidenum">
              <a:rPr lang="en-GB" noProof="0" smtClean="0"/>
              <a:pPr>
                <a:defRPr/>
              </a:pPr>
              <a:t>4</a:t>
            </a:fld>
            <a:endParaRPr lang="en-GB" noProof="0" dirty="0"/>
          </a:p>
        </p:txBody>
      </p:sp>
    </p:spTree>
    <p:extLst>
      <p:ext uri="{BB962C8B-B14F-4D97-AF65-F5344CB8AC3E}">
        <p14:creationId xmlns:p14="http://schemas.microsoft.com/office/powerpoint/2010/main" val="2296256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763EF-D6C6-0098-F8AA-DD8957BD7F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5612F39-9323-B39C-553C-4E51B4AA6F8D}"/>
              </a:ext>
            </a:extLst>
          </p:cNvPr>
          <p:cNvSpPr>
            <a:spLocks noGrp="1"/>
          </p:cNvSpPr>
          <p:nvPr>
            <p:ph type="body" sz="quarter" idx="12"/>
          </p:nvPr>
        </p:nvSpPr>
        <p:spPr/>
        <p:txBody>
          <a:bodyPr/>
          <a:lstStyle/>
          <a:p>
            <a:r>
              <a:rPr lang="en-GB" noProof="0" dirty="0"/>
              <a:t>Why do we need unique analysis methods?</a:t>
            </a:r>
          </a:p>
        </p:txBody>
      </p:sp>
      <p:sp>
        <p:nvSpPr>
          <p:cNvPr id="5" name="Text Placeholder 4">
            <a:extLst>
              <a:ext uri="{FF2B5EF4-FFF2-40B4-BE49-F238E27FC236}">
                <a16:creationId xmlns:a16="http://schemas.microsoft.com/office/drawing/2014/main" id="{54505864-7027-3FD3-5660-EB303BA5BD84}"/>
              </a:ext>
            </a:extLst>
          </p:cNvPr>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1. Survival (time-to-event) data</a:t>
            </a:r>
          </a:p>
        </p:txBody>
      </p:sp>
      <p:sp>
        <p:nvSpPr>
          <p:cNvPr id="3" name="Slide Number Placeholder 2">
            <a:extLst>
              <a:ext uri="{FF2B5EF4-FFF2-40B4-BE49-F238E27FC236}">
                <a16:creationId xmlns:a16="http://schemas.microsoft.com/office/drawing/2014/main" id="{3BDCF5F5-E1D0-81DC-2FC7-F7D9FE7D484E}"/>
              </a:ext>
            </a:extLst>
          </p:cNvPr>
          <p:cNvSpPr>
            <a:spLocks noGrp="1"/>
          </p:cNvSpPr>
          <p:nvPr>
            <p:ph type="sldNum" sz="quarter" idx="10"/>
          </p:nvPr>
        </p:nvSpPr>
        <p:spPr/>
        <p:txBody>
          <a:bodyPr/>
          <a:lstStyle/>
          <a:p>
            <a:pPr>
              <a:defRPr/>
            </a:pPr>
            <a:fld id="{062FE7C6-874C-4E62-8759-08C2AB2543BB}" type="slidenum">
              <a:rPr lang="en-GB" noProof="0" smtClean="0"/>
              <a:pPr>
                <a:defRPr/>
              </a:pPr>
              <a:t>5</a:t>
            </a:fld>
            <a:endParaRPr lang="en-GB" noProof="0" dirty="0"/>
          </a:p>
        </p:txBody>
      </p:sp>
    </p:spTree>
    <p:extLst>
      <p:ext uri="{BB962C8B-B14F-4D97-AF65-F5344CB8AC3E}">
        <p14:creationId xmlns:p14="http://schemas.microsoft.com/office/powerpoint/2010/main" val="31497696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CDE68D-E69F-C39C-D2C4-BD4C1554733E}"/>
              </a:ext>
            </a:extLst>
          </p:cNvPr>
          <p:cNvSpPr>
            <a:spLocks noGrp="1"/>
          </p:cNvSpPr>
          <p:nvPr>
            <p:ph type="title"/>
          </p:nvPr>
        </p:nvSpPr>
        <p:spPr/>
        <p:txBody>
          <a:bodyPr/>
          <a:lstStyle/>
          <a:p>
            <a:r>
              <a:rPr lang="en-GB" dirty="0"/>
              <a:t>Survival data</a:t>
            </a:r>
          </a:p>
        </p:txBody>
      </p:sp>
      <p:sp>
        <p:nvSpPr>
          <p:cNvPr id="4" name="Slide Number Placeholder 3">
            <a:extLst>
              <a:ext uri="{FF2B5EF4-FFF2-40B4-BE49-F238E27FC236}">
                <a16:creationId xmlns:a16="http://schemas.microsoft.com/office/drawing/2014/main" id="{927D1330-7776-69A3-BB7F-F448F7E8885B}"/>
              </a:ext>
            </a:extLst>
          </p:cNvPr>
          <p:cNvSpPr>
            <a:spLocks noGrp="1"/>
          </p:cNvSpPr>
          <p:nvPr>
            <p:ph type="sldNum" sz="quarter" idx="10"/>
          </p:nvPr>
        </p:nvSpPr>
        <p:spPr/>
        <p:txBody>
          <a:bodyPr/>
          <a:lstStyle/>
          <a:p>
            <a:pPr>
              <a:defRPr/>
            </a:pPr>
            <a:fld id="{CD3FC0C4-D681-4CE5-B41E-BCE48B80373A}" type="slidenum">
              <a:rPr lang="en-GB" smtClean="0"/>
              <a:pPr>
                <a:defRPr/>
              </a:pPr>
              <a:t>6</a:t>
            </a:fld>
            <a:endParaRPr lang="en-GB"/>
          </a:p>
        </p:txBody>
      </p:sp>
      <p:grpSp>
        <p:nvGrpSpPr>
          <p:cNvPr id="6" name="Group 5">
            <a:extLst>
              <a:ext uri="{FF2B5EF4-FFF2-40B4-BE49-F238E27FC236}">
                <a16:creationId xmlns:a16="http://schemas.microsoft.com/office/drawing/2014/main" id="{442E8C84-3283-6AEA-421E-22343FF41737}"/>
              </a:ext>
            </a:extLst>
          </p:cNvPr>
          <p:cNvGrpSpPr/>
          <p:nvPr/>
        </p:nvGrpSpPr>
        <p:grpSpPr>
          <a:xfrm>
            <a:off x="1786417" y="2132856"/>
            <a:ext cx="5207260" cy="2354312"/>
            <a:chOff x="2447764" y="2967831"/>
            <a:chExt cx="5207260" cy="2354312"/>
          </a:xfrm>
        </p:grpSpPr>
        <p:sp>
          <p:nvSpPr>
            <p:cNvPr id="7" name="Arrow: Right 6">
              <a:extLst>
                <a:ext uri="{FF2B5EF4-FFF2-40B4-BE49-F238E27FC236}">
                  <a16:creationId xmlns:a16="http://schemas.microsoft.com/office/drawing/2014/main" id="{C6D21EA5-DF46-CE9F-7123-697141E1F1ED}"/>
                </a:ext>
              </a:extLst>
            </p:cNvPr>
            <p:cNvSpPr/>
            <p:nvPr/>
          </p:nvSpPr>
          <p:spPr>
            <a:xfrm>
              <a:off x="2447764" y="3213100"/>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Race Flag with solid fill">
              <a:extLst>
                <a:ext uri="{FF2B5EF4-FFF2-40B4-BE49-F238E27FC236}">
                  <a16:creationId xmlns:a16="http://schemas.microsoft.com/office/drawing/2014/main" id="{E4F92C7D-3C2A-5C3E-5F98-23220CFFF4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3824" y="2967831"/>
              <a:ext cx="914400" cy="914400"/>
            </a:xfrm>
            <a:prstGeom prst="rect">
              <a:avLst/>
            </a:prstGeom>
          </p:spPr>
        </p:pic>
        <p:sp>
          <p:nvSpPr>
            <p:cNvPr id="9" name="Arrow: Right 8">
              <a:extLst>
                <a:ext uri="{FF2B5EF4-FFF2-40B4-BE49-F238E27FC236}">
                  <a16:creationId xmlns:a16="http://schemas.microsoft.com/office/drawing/2014/main" id="{5450430C-FCB0-BEEB-9A90-DE14B5935B26}"/>
                </a:ext>
              </a:extLst>
            </p:cNvPr>
            <p:cNvSpPr/>
            <p:nvPr/>
          </p:nvSpPr>
          <p:spPr>
            <a:xfrm>
              <a:off x="2447764" y="3933056"/>
              <a:ext cx="2124236"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Arrow: Right 9">
              <a:extLst>
                <a:ext uri="{FF2B5EF4-FFF2-40B4-BE49-F238E27FC236}">
                  <a16:creationId xmlns:a16="http://schemas.microsoft.com/office/drawing/2014/main" id="{B7D52C68-7672-7CC8-75A8-F6A368992776}"/>
                </a:ext>
              </a:extLst>
            </p:cNvPr>
            <p:cNvSpPr/>
            <p:nvPr/>
          </p:nvSpPr>
          <p:spPr>
            <a:xfrm>
              <a:off x="2447764" y="4653012"/>
              <a:ext cx="421246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descr="Race Flag with solid fill">
              <a:extLst>
                <a:ext uri="{FF2B5EF4-FFF2-40B4-BE49-F238E27FC236}">
                  <a16:creationId xmlns:a16="http://schemas.microsoft.com/office/drawing/2014/main" id="{1DA1139E-2C1C-1277-0B65-39D6591F3D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65712" y="3687787"/>
              <a:ext cx="914400" cy="914400"/>
            </a:xfrm>
            <a:prstGeom prst="rect">
              <a:avLst/>
            </a:prstGeom>
          </p:spPr>
        </p:pic>
        <p:pic>
          <p:nvPicPr>
            <p:cNvPr id="12" name="Graphic 11" descr="Race Flag with solid fill">
              <a:extLst>
                <a:ext uri="{FF2B5EF4-FFF2-40B4-BE49-F238E27FC236}">
                  <a16:creationId xmlns:a16="http://schemas.microsoft.com/office/drawing/2014/main" id="{F3934037-D178-5681-1E17-9CA0E529CF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40624" y="4407743"/>
              <a:ext cx="914400" cy="914400"/>
            </a:xfrm>
            <a:prstGeom prst="rect">
              <a:avLst/>
            </a:prstGeom>
          </p:spPr>
        </p:pic>
        <p:cxnSp>
          <p:nvCxnSpPr>
            <p:cNvPr id="13" name="Straight Connector 12">
              <a:extLst>
                <a:ext uri="{FF2B5EF4-FFF2-40B4-BE49-F238E27FC236}">
                  <a16:creationId xmlns:a16="http://schemas.microsoft.com/office/drawing/2014/main" id="{24AE4815-9ACA-DF40-2E9D-50EF58CBD451}"/>
                </a:ext>
              </a:extLst>
            </p:cNvPr>
            <p:cNvCxnSpPr>
              <a:cxnSpLocks/>
            </p:cNvCxnSpPr>
            <p:nvPr/>
          </p:nvCxnSpPr>
          <p:spPr>
            <a:xfrm>
              <a:off x="2447764" y="3034807"/>
              <a:ext cx="0" cy="2287336"/>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2A716DC7-F69D-A60A-8E3D-3E8AACCD8938}"/>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5" name="Right Brace 14">
            <a:extLst>
              <a:ext uri="{FF2B5EF4-FFF2-40B4-BE49-F238E27FC236}">
                <a16:creationId xmlns:a16="http://schemas.microsoft.com/office/drawing/2014/main" id="{03DDCCB3-FE60-4806-C81D-3A917D852949}"/>
              </a:ext>
            </a:extLst>
          </p:cNvPr>
          <p:cNvSpPr/>
          <p:nvPr/>
        </p:nvSpPr>
        <p:spPr>
          <a:xfrm rot="5400000">
            <a:off x="4216479" y="2244545"/>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6" name="Group 15">
            <a:extLst>
              <a:ext uri="{FF2B5EF4-FFF2-40B4-BE49-F238E27FC236}">
                <a16:creationId xmlns:a16="http://schemas.microsoft.com/office/drawing/2014/main" id="{9030D6AD-1710-DD7C-2966-E4CFFEFBA256}"/>
              </a:ext>
            </a:extLst>
          </p:cNvPr>
          <p:cNvGrpSpPr/>
          <p:nvPr/>
        </p:nvGrpSpPr>
        <p:grpSpPr>
          <a:xfrm>
            <a:off x="3766813" y="5012680"/>
            <a:ext cx="1187365" cy="545931"/>
            <a:chOff x="4004365" y="4967625"/>
            <a:chExt cx="1187365" cy="545931"/>
          </a:xfrm>
        </p:grpSpPr>
        <p:sp>
          <p:nvSpPr>
            <p:cNvPr id="17" name="TextBox 16">
              <a:extLst>
                <a:ext uri="{FF2B5EF4-FFF2-40B4-BE49-F238E27FC236}">
                  <a16:creationId xmlns:a16="http://schemas.microsoft.com/office/drawing/2014/main" id="{32A8BE0B-490A-F0A8-F9E0-BC3BF72B42B9}"/>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8" name="Graphic 17" descr="Stopwatch 75% with solid fill">
              <a:extLst>
                <a:ext uri="{FF2B5EF4-FFF2-40B4-BE49-F238E27FC236}">
                  <a16:creationId xmlns:a16="http://schemas.microsoft.com/office/drawing/2014/main" id="{2D5D5BF9-B75D-793C-AECA-94E05D290D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45799" y="4967625"/>
              <a:ext cx="545931" cy="545931"/>
            </a:xfrm>
            <a:prstGeom prst="rect">
              <a:avLst/>
            </a:prstGeom>
          </p:spPr>
        </p:pic>
      </p:grpSp>
    </p:spTree>
    <p:extLst>
      <p:ext uri="{BB962C8B-B14F-4D97-AF65-F5344CB8AC3E}">
        <p14:creationId xmlns:p14="http://schemas.microsoft.com/office/powerpoint/2010/main" val="8685874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B7804-0CCE-6928-CA28-B3D1FBD02581}"/>
              </a:ext>
            </a:extLst>
          </p:cNvPr>
          <p:cNvSpPr>
            <a:spLocks noGrp="1"/>
          </p:cNvSpPr>
          <p:nvPr>
            <p:ph type="title"/>
          </p:nvPr>
        </p:nvSpPr>
        <p:spPr/>
        <p:txBody>
          <a:bodyPr/>
          <a:lstStyle/>
          <a:p>
            <a:r>
              <a:rPr lang="en-GB" dirty="0"/>
              <a:t>“Time to event”</a:t>
            </a:r>
            <a:br>
              <a:rPr lang="en-GB" dirty="0"/>
            </a:br>
            <a:endParaRPr lang="en-GB" dirty="0"/>
          </a:p>
        </p:txBody>
      </p:sp>
      <p:sp>
        <p:nvSpPr>
          <p:cNvPr id="3" name="Slide Number Placeholder 2">
            <a:extLst>
              <a:ext uri="{FF2B5EF4-FFF2-40B4-BE49-F238E27FC236}">
                <a16:creationId xmlns:a16="http://schemas.microsoft.com/office/drawing/2014/main" id="{129AD31A-0C52-8DBE-55EE-50E8843C5B9A}"/>
              </a:ext>
            </a:extLst>
          </p:cNvPr>
          <p:cNvSpPr>
            <a:spLocks noGrp="1"/>
          </p:cNvSpPr>
          <p:nvPr>
            <p:ph type="sldNum" sz="quarter" idx="10"/>
          </p:nvPr>
        </p:nvSpPr>
        <p:spPr/>
        <p:txBody>
          <a:bodyPr/>
          <a:lstStyle/>
          <a:p>
            <a:pPr>
              <a:defRPr/>
            </a:pPr>
            <a:fld id="{062FE7C6-874C-4E62-8759-08C2AB2543BB}" type="slidenum">
              <a:rPr lang="en-GB" smtClean="0"/>
              <a:pPr>
                <a:defRPr/>
              </a:pPr>
              <a:t>7</a:t>
            </a:fld>
            <a:endParaRPr lang="en-GB"/>
          </a:p>
        </p:txBody>
      </p:sp>
      <p:pic>
        <p:nvPicPr>
          <p:cNvPr id="4" name="Graphic 3" descr="Diploma roll outline">
            <a:extLst>
              <a:ext uri="{FF2B5EF4-FFF2-40B4-BE49-F238E27FC236}">
                <a16:creationId xmlns:a16="http://schemas.microsoft.com/office/drawing/2014/main" id="{D727CE9D-FFF1-0FDA-51F7-A8757E57FCD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810165" y="4530824"/>
            <a:ext cx="914400" cy="914400"/>
          </a:xfrm>
          <a:prstGeom prst="rect">
            <a:avLst/>
          </a:prstGeom>
        </p:spPr>
      </p:pic>
      <p:pic>
        <p:nvPicPr>
          <p:cNvPr id="5" name="Graphic 4" descr="Skull outline">
            <a:extLst>
              <a:ext uri="{FF2B5EF4-FFF2-40B4-BE49-F238E27FC236}">
                <a16:creationId xmlns:a16="http://schemas.microsoft.com/office/drawing/2014/main" id="{7887EA20-6723-C154-AFF8-4B8B59F0D49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2477" y="2132856"/>
            <a:ext cx="914400" cy="914400"/>
          </a:xfrm>
          <a:prstGeom prst="rect">
            <a:avLst/>
          </a:prstGeom>
        </p:spPr>
      </p:pic>
      <p:pic>
        <p:nvPicPr>
          <p:cNvPr id="6" name="Graphic 5" descr="Bus outline">
            <a:extLst>
              <a:ext uri="{FF2B5EF4-FFF2-40B4-BE49-F238E27FC236}">
                <a16:creationId xmlns:a16="http://schemas.microsoft.com/office/drawing/2014/main" id="{2B5B87FD-261D-5661-F8B9-D321C02260D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2095670" y="4530824"/>
            <a:ext cx="914400" cy="914400"/>
          </a:xfrm>
          <a:prstGeom prst="rect">
            <a:avLst/>
          </a:prstGeom>
        </p:spPr>
      </p:pic>
      <p:sp>
        <p:nvSpPr>
          <p:cNvPr id="7" name="Arrow: Right 6">
            <a:extLst>
              <a:ext uri="{FF2B5EF4-FFF2-40B4-BE49-F238E27FC236}">
                <a16:creationId xmlns:a16="http://schemas.microsoft.com/office/drawing/2014/main" id="{3D3CF99E-26D9-3394-BA9B-8921808B58DA}"/>
              </a:ext>
            </a:extLst>
          </p:cNvPr>
          <p:cNvSpPr/>
          <p:nvPr/>
        </p:nvSpPr>
        <p:spPr>
          <a:xfrm>
            <a:off x="1786417" y="2378125"/>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Gears outline">
            <a:extLst>
              <a:ext uri="{FF2B5EF4-FFF2-40B4-BE49-F238E27FC236}">
                <a16:creationId xmlns:a16="http://schemas.microsoft.com/office/drawing/2014/main" id="{B1B45C0D-4EB2-19F1-6E3D-C0D0D77E135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72000" y="4530824"/>
            <a:ext cx="914400" cy="914400"/>
          </a:xfrm>
          <a:prstGeom prst="rect">
            <a:avLst/>
          </a:prstGeom>
        </p:spPr>
      </p:pic>
      <p:cxnSp>
        <p:nvCxnSpPr>
          <p:cNvPr id="9" name="Straight Connector 8">
            <a:extLst>
              <a:ext uri="{FF2B5EF4-FFF2-40B4-BE49-F238E27FC236}">
                <a16:creationId xmlns:a16="http://schemas.microsoft.com/office/drawing/2014/main" id="{EC693184-5FA5-96A9-125C-3F2758FBCE46}"/>
              </a:ext>
            </a:extLst>
          </p:cNvPr>
          <p:cNvCxnSpPr>
            <a:cxnSpLocks/>
          </p:cNvCxnSpPr>
          <p:nvPr/>
        </p:nvCxnSpPr>
        <p:spPr>
          <a:xfrm>
            <a:off x="1786417" y="2199832"/>
            <a:ext cx="0" cy="79712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963D85A-F992-7153-1388-43BBBEA6B171}"/>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1" name="Right Brace 10">
            <a:extLst>
              <a:ext uri="{FF2B5EF4-FFF2-40B4-BE49-F238E27FC236}">
                <a16:creationId xmlns:a16="http://schemas.microsoft.com/office/drawing/2014/main" id="{8B60AAD0-1D5F-5FFA-A2A3-3CDC5EEF6FB3}"/>
              </a:ext>
            </a:extLst>
          </p:cNvPr>
          <p:cNvSpPr/>
          <p:nvPr/>
        </p:nvSpPr>
        <p:spPr>
          <a:xfrm rot="5400000">
            <a:off x="4216479" y="723811"/>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2" name="Group 11">
            <a:extLst>
              <a:ext uri="{FF2B5EF4-FFF2-40B4-BE49-F238E27FC236}">
                <a16:creationId xmlns:a16="http://schemas.microsoft.com/office/drawing/2014/main" id="{5EFD6853-B27C-8CAA-3A19-1CE02AF982D5}"/>
              </a:ext>
            </a:extLst>
          </p:cNvPr>
          <p:cNvGrpSpPr/>
          <p:nvPr/>
        </p:nvGrpSpPr>
        <p:grpSpPr>
          <a:xfrm>
            <a:off x="3766813" y="3491946"/>
            <a:ext cx="1187365" cy="545931"/>
            <a:chOff x="4004365" y="4967625"/>
            <a:chExt cx="1187365" cy="545931"/>
          </a:xfrm>
        </p:grpSpPr>
        <p:sp>
          <p:nvSpPr>
            <p:cNvPr id="13" name="TextBox 12">
              <a:extLst>
                <a:ext uri="{FF2B5EF4-FFF2-40B4-BE49-F238E27FC236}">
                  <a16:creationId xmlns:a16="http://schemas.microsoft.com/office/drawing/2014/main" id="{46C42839-0C4A-37B8-83B7-7D9BCB55B48A}"/>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4" name="Graphic 13" descr="Stopwatch 75% with solid fill">
              <a:extLst>
                <a:ext uri="{FF2B5EF4-FFF2-40B4-BE49-F238E27FC236}">
                  <a16:creationId xmlns:a16="http://schemas.microsoft.com/office/drawing/2014/main" id="{68C03EAB-630D-CF96-C5BA-BC2C3D36B2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45799" y="4967625"/>
              <a:ext cx="545931" cy="545931"/>
            </a:xfrm>
            <a:prstGeom prst="rect">
              <a:avLst/>
            </a:prstGeom>
          </p:spPr>
        </p:pic>
      </p:grpSp>
      <p:pic>
        <p:nvPicPr>
          <p:cNvPr id="15" name="Graphic 14" descr="Fishing outline">
            <a:extLst>
              <a:ext uri="{FF2B5EF4-FFF2-40B4-BE49-F238E27FC236}">
                <a16:creationId xmlns:a16="http://schemas.microsoft.com/office/drawing/2014/main" id="{083236EE-F235-ACE5-0089-EA8E0B669EF9}"/>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3333835" y="4530824"/>
            <a:ext cx="914400" cy="914400"/>
          </a:xfrm>
          <a:prstGeom prst="rect">
            <a:avLst/>
          </a:prstGeom>
        </p:spPr>
      </p:pic>
    </p:spTree>
    <p:extLst>
      <p:ext uri="{BB962C8B-B14F-4D97-AF65-F5344CB8AC3E}">
        <p14:creationId xmlns:p14="http://schemas.microsoft.com/office/powerpoint/2010/main" val="340104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A4E9B4-EF53-4517-4FB3-A6A3369D996F}"/>
              </a:ext>
            </a:extLst>
          </p:cNvPr>
          <p:cNvSpPr>
            <a:spLocks noGrp="1"/>
          </p:cNvSpPr>
          <p:nvPr>
            <p:ph type="body" sz="quarter" idx="11"/>
          </p:nvPr>
        </p:nvSpPr>
        <p:spPr/>
        <p:txBody>
          <a:bodyPr/>
          <a:lstStyle/>
          <a:p>
            <a:pPr marL="0" indent="0">
              <a:buNone/>
            </a:pPr>
            <a:r>
              <a:rPr lang="en-US" dirty="0"/>
              <a:t>Why can’t we use “regular” linear models?</a:t>
            </a:r>
          </a:p>
          <a:p>
            <a:endParaRPr lang="en-US" dirty="0"/>
          </a:p>
          <a:p>
            <a:pPr marL="0" indent="0">
              <a:buNone/>
            </a:pPr>
            <a:r>
              <a:rPr lang="en-US" b="1" dirty="0"/>
              <a:t>Quirks of survival data:</a:t>
            </a:r>
            <a:br>
              <a:rPr lang="en-US" b="1" dirty="0"/>
            </a:br>
            <a:endParaRPr lang="en-US" b="1" dirty="0"/>
          </a:p>
          <a:p>
            <a:r>
              <a:rPr lang="en-US" dirty="0"/>
              <a:t>Often (very) </a:t>
            </a:r>
            <a:r>
              <a:rPr lang="en-US" dirty="0">
                <a:solidFill>
                  <a:schemeClr val="accent6"/>
                </a:solidFill>
              </a:rPr>
              <a:t>skewed</a:t>
            </a:r>
          </a:p>
          <a:p>
            <a:r>
              <a:rPr lang="en-US" dirty="0"/>
              <a:t>Values are </a:t>
            </a:r>
            <a:r>
              <a:rPr lang="en-US" dirty="0">
                <a:solidFill>
                  <a:schemeClr val="accent6"/>
                </a:solidFill>
              </a:rPr>
              <a:t>≥0</a:t>
            </a:r>
            <a:br>
              <a:rPr lang="en-US" dirty="0"/>
            </a:br>
            <a:endParaRPr lang="en-US" dirty="0"/>
          </a:p>
          <a:p>
            <a:r>
              <a:rPr lang="en-US" b="1" dirty="0">
                <a:solidFill>
                  <a:schemeClr val="accent2"/>
                </a:solidFill>
              </a:rPr>
              <a:t>Censoring</a:t>
            </a:r>
            <a:r>
              <a:rPr lang="en-US" dirty="0"/>
              <a:t> </a:t>
            </a:r>
            <a:br>
              <a:rPr lang="en-US" dirty="0"/>
            </a:br>
            <a:r>
              <a:rPr lang="en-US" dirty="0"/>
              <a:t>(missing data)</a:t>
            </a:r>
          </a:p>
          <a:p>
            <a:endParaRPr lang="en-US" dirty="0"/>
          </a:p>
        </p:txBody>
      </p:sp>
      <p:sp>
        <p:nvSpPr>
          <p:cNvPr id="4" name="Title 3">
            <a:extLst>
              <a:ext uri="{FF2B5EF4-FFF2-40B4-BE49-F238E27FC236}">
                <a16:creationId xmlns:a16="http://schemas.microsoft.com/office/drawing/2014/main" id="{225BAF11-6BAF-FDC6-B5A2-F1E438E568B6}"/>
              </a:ext>
            </a:extLst>
          </p:cNvPr>
          <p:cNvSpPr>
            <a:spLocks noGrp="1"/>
          </p:cNvSpPr>
          <p:nvPr>
            <p:ph type="title"/>
          </p:nvPr>
        </p:nvSpPr>
        <p:spPr/>
        <p:txBody>
          <a:bodyPr/>
          <a:lstStyle/>
          <a:p>
            <a:r>
              <a:rPr lang="en-GB" dirty="0"/>
              <a:t>Properties of survival data</a:t>
            </a:r>
          </a:p>
        </p:txBody>
      </p:sp>
      <p:sp>
        <p:nvSpPr>
          <p:cNvPr id="3" name="Slide Number Placeholder 2">
            <a:extLst>
              <a:ext uri="{FF2B5EF4-FFF2-40B4-BE49-F238E27FC236}">
                <a16:creationId xmlns:a16="http://schemas.microsoft.com/office/drawing/2014/main" id="{5CD246F3-6095-FE98-A031-3E6C9DF4E54D}"/>
              </a:ext>
            </a:extLst>
          </p:cNvPr>
          <p:cNvSpPr>
            <a:spLocks noGrp="1"/>
          </p:cNvSpPr>
          <p:nvPr>
            <p:ph type="sldNum" sz="quarter" idx="10"/>
          </p:nvPr>
        </p:nvSpPr>
        <p:spPr/>
        <p:txBody>
          <a:bodyPr/>
          <a:lstStyle/>
          <a:p>
            <a:pPr>
              <a:defRPr/>
            </a:pPr>
            <a:fld id="{062FE7C6-874C-4E62-8759-08C2AB2543BB}" type="slidenum">
              <a:rPr lang="en-GB" smtClean="0"/>
              <a:pPr>
                <a:defRPr/>
              </a:pPr>
              <a:t>8</a:t>
            </a:fld>
            <a:endParaRPr lang="en-GB"/>
          </a:p>
        </p:txBody>
      </p:sp>
      <p:pic>
        <p:nvPicPr>
          <p:cNvPr id="8" name="Picture 7">
            <a:extLst>
              <a:ext uri="{FF2B5EF4-FFF2-40B4-BE49-F238E27FC236}">
                <a16:creationId xmlns:a16="http://schemas.microsoft.com/office/drawing/2014/main" id="{B1BA7FB6-FD87-4D72-E015-F441795775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56342" y="2564904"/>
            <a:ext cx="4572009" cy="2743206"/>
          </a:xfrm>
          <a:prstGeom prst="rect">
            <a:avLst/>
          </a:prstGeom>
        </p:spPr>
      </p:pic>
    </p:spTree>
    <p:extLst>
      <p:ext uri="{BB962C8B-B14F-4D97-AF65-F5344CB8AC3E}">
        <p14:creationId xmlns:p14="http://schemas.microsoft.com/office/powerpoint/2010/main" val="3891956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FD13-6DED-9E0E-27F3-3918B5F25AAF}"/>
              </a:ext>
            </a:extLst>
          </p:cNvPr>
          <p:cNvSpPr>
            <a:spLocks noGrp="1"/>
          </p:cNvSpPr>
          <p:nvPr>
            <p:ph type="title"/>
          </p:nvPr>
        </p:nvSpPr>
        <p:spPr/>
        <p:txBody>
          <a:bodyPr/>
          <a:lstStyle/>
          <a:p>
            <a:r>
              <a:rPr lang="en-GB" dirty="0"/>
              <a:t>Censoring</a:t>
            </a:r>
          </a:p>
        </p:txBody>
      </p:sp>
      <p:sp>
        <p:nvSpPr>
          <p:cNvPr id="3" name="Slide Number Placeholder 2">
            <a:extLst>
              <a:ext uri="{FF2B5EF4-FFF2-40B4-BE49-F238E27FC236}">
                <a16:creationId xmlns:a16="http://schemas.microsoft.com/office/drawing/2014/main" id="{7C3E3ADD-630C-A649-FE7A-7D258101F130}"/>
              </a:ext>
            </a:extLst>
          </p:cNvPr>
          <p:cNvSpPr>
            <a:spLocks noGrp="1"/>
          </p:cNvSpPr>
          <p:nvPr>
            <p:ph type="sldNum" sz="quarter" idx="10"/>
          </p:nvPr>
        </p:nvSpPr>
        <p:spPr/>
        <p:txBody>
          <a:bodyPr/>
          <a:lstStyle/>
          <a:p>
            <a:pPr>
              <a:defRPr/>
            </a:pPr>
            <a:fld id="{062FE7C6-874C-4E62-8759-08C2AB2543BB}" type="slidenum">
              <a:rPr lang="en-GB" smtClean="0"/>
              <a:pPr>
                <a:defRPr/>
              </a:pPr>
              <a:t>9</a:t>
            </a:fld>
            <a:endParaRPr lang="en-GB"/>
          </a:p>
        </p:txBody>
      </p:sp>
      <p:sp>
        <p:nvSpPr>
          <p:cNvPr id="4" name="TextBox 3">
            <a:extLst>
              <a:ext uri="{FF2B5EF4-FFF2-40B4-BE49-F238E27FC236}">
                <a16:creationId xmlns:a16="http://schemas.microsoft.com/office/drawing/2014/main" id="{0DFC7B7D-C2BF-F8DF-8376-44C1647F2DA4}"/>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3476769-1F19-79BD-8211-5CE4ACB7D8C8}"/>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6" name="Group 5">
            <a:extLst>
              <a:ext uri="{FF2B5EF4-FFF2-40B4-BE49-F238E27FC236}">
                <a16:creationId xmlns:a16="http://schemas.microsoft.com/office/drawing/2014/main" id="{011493ED-510D-05AB-6555-D3C15A2C706A}"/>
              </a:ext>
            </a:extLst>
          </p:cNvPr>
          <p:cNvGrpSpPr/>
          <p:nvPr/>
        </p:nvGrpSpPr>
        <p:grpSpPr>
          <a:xfrm>
            <a:off x="1522072" y="2305156"/>
            <a:ext cx="3456970" cy="691796"/>
            <a:chOff x="1522072" y="2448595"/>
            <a:chExt cx="3456970" cy="691796"/>
          </a:xfrm>
        </p:grpSpPr>
        <p:pic>
          <p:nvPicPr>
            <p:cNvPr id="7" name="Graphic 6" descr="Race Flag with solid fill">
              <a:extLst>
                <a:ext uri="{FF2B5EF4-FFF2-40B4-BE49-F238E27FC236}">
                  <a16:creationId xmlns:a16="http://schemas.microsoft.com/office/drawing/2014/main" id="{4D05B554-E279-617F-23C3-FAD39FB646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 name="TextBox 7">
              <a:extLst>
                <a:ext uri="{FF2B5EF4-FFF2-40B4-BE49-F238E27FC236}">
                  <a16:creationId xmlns:a16="http://schemas.microsoft.com/office/drawing/2014/main" id="{85C38CE9-9E29-A5C0-D0BF-A1581BFF3EA3}"/>
                </a:ext>
              </a:extLst>
            </p:cNvPr>
            <p:cNvSpPr txBox="1"/>
            <p:nvPr/>
          </p:nvSpPr>
          <p:spPr>
            <a:xfrm>
              <a:off x="2291264" y="2448595"/>
              <a:ext cx="1589684" cy="400110"/>
            </a:xfrm>
            <a:prstGeom prst="rect">
              <a:avLst/>
            </a:prstGeom>
            <a:noFill/>
          </p:spPr>
          <p:txBody>
            <a:bodyPr wrap="square" rtlCol="0">
              <a:spAutoFit/>
            </a:bodyPr>
            <a:lstStyle/>
            <a:p>
              <a:pPr algn="ctr"/>
              <a:r>
                <a:rPr lang="en-GB" sz="2000" dirty="0"/>
                <a:t>Uncensored</a:t>
              </a:r>
            </a:p>
          </p:txBody>
        </p:sp>
        <p:cxnSp>
          <p:nvCxnSpPr>
            <p:cNvPr id="9" name="Straight Arrow Connector 8">
              <a:extLst>
                <a:ext uri="{FF2B5EF4-FFF2-40B4-BE49-F238E27FC236}">
                  <a16:creationId xmlns:a16="http://schemas.microsoft.com/office/drawing/2014/main" id="{C8FC2C8C-703E-0602-E7FD-4237563ADAC7}"/>
                </a:ext>
              </a:extLst>
            </p:cNvPr>
            <p:cNvCxnSpPr>
              <a:cxnSpLocks/>
            </p:cNvCxnSpPr>
            <p:nvPr/>
          </p:nvCxnSpPr>
          <p:spPr>
            <a:xfrm>
              <a:off x="1522072" y="2924818"/>
              <a:ext cx="2977920"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C876974A-0A17-2548-BF92-DF15794F6E23}"/>
              </a:ext>
            </a:extLst>
          </p:cNvPr>
          <p:cNvGrpSpPr/>
          <p:nvPr/>
        </p:nvGrpSpPr>
        <p:grpSpPr>
          <a:xfrm>
            <a:off x="1503852" y="3284984"/>
            <a:ext cx="6553348" cy="994519"/>
            <a:chOff x="1508042" y="2718889"/>
            <a:chExt cx="6553348" cy="994519"/>
          </a:xfrm>
        </p:grpSpPr>
        <p:grpSp>
          <p:nvGrpSpPr>
            <p:cNvPr id="14" name="Group 13">
              <a:extLst>
                <a:ext uri="{FF2B5EF4-FFF2-40B4-BE49-F238E27FC236}">
                  <a16:creationId xmlns:a16="http://schemas.microsoft.com/office/drawing/2014/main" id="{CC136332-5BE9-39F7-603F-A422D7EC7CF0}"/>
                </a:ext>
              </a:extLst>
            </p:cNvPr>
            <p:cNvGrpSpPr/>
            <p:nvPr/>
          </p:nvGrpSpPr>
          <p:grpSpPr>
            <a:xfrm>
              <a:off x="1508042" y="2718889"/>
              <a:ext cx="6553348" cy="732390"/>
              <a:chOff x="1509899" y="3498476"/>
              <a:chExt cx="6553348" cy="732390"/>
            </a:xfrm>
          </p:grpSpPr>
          <p:cxnSp>
            <p:nvCxnSpPr>
              <p:cNvPr id="15" name="Straight Arrow Connector 14">
                <a:extLst>
                  <a:ext uri="{FF2B5EF4-FFF2-40B4-BE49-F238E27FC236}">
                    <a16:creationId xmlns:a16="http://schemas.microsoft.com/office/drawing/2014/main" id="{E337FA1C-FF87-19B9-3625-6EB5EDE7DAB8}"/>
                  </a:ext>
                </a:extLst>
              </p:cNvPr>
              <p:cNvCxnSpPr>
                <a:cxnSpLocks/>
              </p:cNvCxnSpPr>
              <p:nvPr/>
            </p:nvCxnSpPr>
            <p:spPr>
              <a:xfrm>
                <a:off x="6720199" y="4022090"/>
                <a:ext cx="943280" cy="0"/>
              </a:xfrm>
              <a:prstGeom prst="straightConnector1">
                <a:avLst/>
              </a:prstGeom>
              <a:ln w="57150">
                <a:solidFill>
                  <a:srgbClr val="00B1C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C8C7F-E56B-5E50-1F10-0099F3FD589D}"/>
                  </a:ext>
                </a:extLst>
              </p:cNvPr>
              <p:cNvCxnSpPr>
                <a:cxnSpLocks/>
              </p:cNvCxnSpPr>
              <p:nvPr/>
            </p:nvCxnSpPr>
            <p:spPr>
              <a:xfrm flipH="1">
                <a:off x="1509899" y="4022090"/>
                <a:ext cx="5210300"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17" name="Graphic 16" descr="Question Mark with solid fill">
                <a:extLst>
                  <a:ext uri="{FF2B5EF4-FFF2-40B4-BE49-F238E27FC236}">
                    <a16:creationId xmlns:a16="http://schemas.microsoft.com/office/drawing/2014/main" id="{99233526-D63D-5075-CD1A-699AC08243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8447" y="3806066"/>
                <a:ext cx="424800" cy="424800"/>
              </a:xfrm>
              <a:prstGeom prst="rect">
                <a:avLst/>
              </a:prstGeom>
            </p:spPr>
          </p:pic>
          <p:sp>
            <p:nvSpPr>
              <p:cNvPr id="18" name="TextBox 17">
                <a:extLst>
                  <a:ext uri="{FF2B5EF4-FFF2-40B4-BE49-F238E27FC236}">
                    <a16:creationId xmlns:a16="http://schemas.microsoft.com/office/drawing/2014/main" id="{A7AC0228-9866-3C30-C66B-04969CFEA9AF}"/>
                  </a:ext>
                </a:extLst>
              </p:cNvPr>
              <p:cNvSpPr txBox="1"/>
              <p:nvPr/>
            </p:nvSpPr>
            <p:spPr>
              <a:xfrm>
                <a:off x="4647479" y="3498476"/>
                <a:ext cx="2088232" cy="400110"/>
              </a:xfrm>
              <a:prstGeom prst="rect">
                <a:avLst/>
              </a:prstGeom>
              <a:noFill/>
            </p:spPr>
            <p:txBody>
              <a:bodyPr wrap="square" rtlCol="0">
                <a:spAutoFit/>
              </a:bodyPr>
              <a:lstStyle/>
              <a:p>
                <a:pPr algn="ctr"/>
                <a:r>
                  <a:rPr lang="en-GB" sz="2000" dirty="0"/>
                  <a:t>Right-censored</a:t>
                </a:r>
              </a:p>
            </p:txBody>
          </p:sp>
        </p:grpSp>
        <p:grpSp>
          <p:nvGrpSpPr>
            <p:cNvPr id="37" name="Group 36">
              <a:extLst>
                <a:ext uri="{FF2B5EF4-FFF2-40B4-BE49-F238E27FC236}">
                  <a16:creationId xmlns:a16="http://schemas.microsoft.com/office/drawing/2014/main" id="{2C9AD139-01A8-3DE5-7C4A-0E812BD72B77}"/>
                </a:ext>
              </a:extLst>
            </p:cNvPr>
            <p:cNvGrpSpPr/>
            <p:nvPr/>
          </p:nvGrpSpPr>
          <p:grpSpPr>
            <a:xfrm>
              <a:off x="1508042" y="3288608"/>
              <a:ext cx="3647719" cy="424800"/>
              <a:chOff x="1508042" y="3814010"/>
              <a:chExt cx="3647719" cy="424800"/>
            </a:xfrm>
          </p:grpSpPr>
          <p:cxnSp>
            <p:nvCxnSpPr>
              <p:cNvPr id="41" name="Straight Connector 40">
                <a:extLst>
                  <a:ext uri="{FF2B5EF4-FFF2-40B4-BE49-F238E27FC236}">
                    <a16:creationId xmlns:a16="http://schemas.microsoft.com/office/drawing/2014/main" id="{71C12650-B299-3ED0-9054-A3B8A315764E}"/>
                  </a:ext>
                </a:extLst>
              </p:cNvPr>
              <p:cNvCxnSpPr>
                <a:cxnSpLocks/>
              </p:cNvCxnSpPr>
              <p:nvPr/>
            </p:nvCxnSpPr>
            <p:spPr>
              <a:xfrm flipH="1">
                <a:off x="1508042" y="4022786"/>
                <a:ext cx="3423998" cy="3624"/>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39" name="Graphic 38" descr="Close with solid fill">
                <a:extLst>
                  <a:ext uri="{FF2B5EF4-FFF2-40B4-BE49-F238E27FC236}">
                    <a16:creationId xmlns:a16="http://schemas.microsoft.com/office/drawing/2014/main" id="{1666C825-05E2-8440-AA18-7A02F4761C8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0961" y="3814010"/>
                <a:ext cx="424800" cy="424800"/>
              </a:xfrm>
              <a:prstGeom prst="rect">
                <a:avLst/>
              </a:prstGeom>
            </p:spPr>
          </p:pic>
        </p:grpSp>
      </p:grpSp>
      <p:grpSp>
        <p:nvGrpSpPr>
          <p:cNvPr id="49" name="Group 48">
            <a:extLst>
              <a:ext uri="{FF2B5EF4-FFF2-40B4-BE49-F238E27FC236}">
                <a16:creationId xmlns:a16="http://schemas.microsoft.com/office/drawing/2014/main" id="{796E887C-C1D1-C41F-9357-B1583D105B07}"/>
              </a:ext>
            </a:extLst>
          </p:cNvPr>
          <p:cNvGrpSpPr/>
          <p:nvPr/>
        </p:nvGrpSpPr>
        <p:grpSpPr>
          <a:xfrm>
            <a:off x="1497581" y="4662401"/>
            <a:ext cx="3839016" cy="854831"/>
            <a:chOff x="1497581" y="4754610"/>
            <a:chExt cx="3839016" cy="854831"/>
          </a:xfrm>
        </p:grpSpPr>
        <p:cxnSp>
          <p:nvCxnSpPr>
            <p:cNvPr id="20" name="Straight Connector 19">
              <a:extLst>
                <a:ext uri="{FF2B5EF4-FFF2-40B4-BE49-F238E27FC236}">
                  <a16:creationId xmlns:a16="http://schemas.microsoft.com/office/drawing/2014/main" id="{026F762D-97D9-B372-AA09-1999E6C8E11B}"/>
                </a:ext>
              </a:extLst>
            </p:cNvPr>
            <p:cNvCxnSpPr>
              <a:cxnSpLocks/>
            </p:cNvCxnSpPr>
            <p:nvPr/>
          </p:nvCxnSpPr>
          <p:spPr>
            <a:xfrm flipH="1">
              <a:off x="1497581" y="4974752"/>
              <a:ext cx="1809107"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DF988A6-5FB5-3476-62EF-49B9584868A5}"/>
                </a:ext>
              </a:extLst>
            </p:cNvPr>
            <p:cNvSpPr txBox="1"/>
            <p:nvPr/>
          </p:nvSpPr>
          <p:spPr>
            <a:xfrm>
              <a:off x="2885598" y="5209331"/>
              <a:ext cx="2450999" cy="400110"/>
            </a:xfrm>
            <a:prstGeom prst="rect">
              <a:avLst/>
            </a:prstGeom>
            <a:noFill/>
          </p:spPr>
          <p:txBody>
            <a:bodyPr wrap="square" rtlCol="0">
              <a:spAutoFit/>
            </a:bodyPr>
            <a:lstStyle/>
            <a:p>
              <a:pPr algn="ctr"/>
              <a:r>
                <a:rPr lang="en-GB" sz="2000" dirty="0"/>
                <a:t>Interval-censored</a:t>
              </a:r>
            </a:p>
          </p:txBody>
        </p:sp>
        <p:cxnSp>
          <p:nvCxnSpPr>
            <p:cNvPr id="45" name="Straight Connector 44">
              <a:extLst>
                <a:ext uri="{FF2B5EF4-FFF2-40B4-BE49-F238E27FC236}">
                  <a16:creationId xmlns:a16="http://schemas.microsoft.com/office/drawing/2014/main" id="{6D42C855-E4F3-708E-0292-CCF2B2BA84C6}"/>
                </a:ext>
              </a:extLst>
            </p:cNvPr>
            <p:cNvCxnSpPr>
              <a:cxnSpLocks/>
            </p:cNvCxnSpPr>
            <p:nvPr/>
          </p:nvCxnSpPr>
          <p:spPr>
            <a:xfrm flipH="1">
              <a:off x="3306688" y="4974752"/>
              <a:ext cx="1553344"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1B329175-0D62-3EAB-9BF0-643D6FF07516}"/>
                </a:ext>
              </a:extLst>
            </p:cNvPr>
            <p:cNvGrpSpPr/>
            <p:nvPr/>
          </p:nvGrpSpPr>
          <p:grpSpPr>
            <a:xfrm>
              <a:off x="3889949" y="4754610"/>
              <a:ext cx="423862" cy="434634"/>
              <a:chOff x="3889949" y="4754610"/>
              <a:chExt cx="423862" cy="434634"/>
            </a:xfrm>
          </p:grpSpPr>
          <p:sp>
            <p:nvSpPr>
              <p:cNvPr id="47" name="Rectangle 46">
                <a:extLst>
                  <a:ext uri="{FF2B5EF4-FFF2-40B4-BE49-F238E27FC236}">
                    <a16:creationId xmlns:a16="http://schemas.microsoft.com/office/drawing/2014/main" id="{DD97C58A-57D1-802C-630A-CE51249B9018}"/>
                  </a:ext>
                </a:extLst>
              </p:cNvPr>
              <p:cNvSpPr/>
              <p:nvPr/>
            </p:nvSpPr>
            <p:spPr>
              <a:xfrm>
                <a:off x="3889949" y="4754610"/>
                <a:ext cx="423862" cy="4346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Graphic 23" descr="Race Flag with solid fill">
                <a:extLst>
                  <a:ext uri="{FF2B5EF4-FFF2-40B4-BE49-F238E27FC236}">
                    <a16:creationId xmlns:a16="http://schemas.microsoft.com/office/drawing/2014/main" id="{A9B9B525-937A-85CC-9F42-3D2B674F5F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9949" y="4754610"/>
                <a:ext cx="423862" cy="423862"/>
              </a:xfrm>
              <a:prstGeom prst="rect">
                <a:avLst/>
              </a:prstGeom>
            </p:spPr>
          </p:pic>
        </p:grpSp>
        <p:cxnSp>
          <p:nvCxnSpPr>
            <p:cNvPr id="23" name="Straight Connector 22">
              <a:extLst>
                <a:ext uri="{FF2B5EF4-FFF2-40B4-BE49-F238E27FC236}">
                  <a16:creationId xmlns:a16="http://schemas.microsoft.com/office/drawing/2014/main" id="{E01FEF1E-5B38-A33C-F3D5-1BAA4AF02E1C}"/>
                </a:ext>
              </a:extLst>
            </p:cNvPr>
            <p:cNvCxnSpPr>
              <a:cxnSpLocks/>
            </p:cNvCxnSpPr>
            <p:nvPr/>
          </p:nvCxnSpPr>
          <p:spPr>
            <a:xfrm>
              <a:off x="4860032" y="4830736"/>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6A82037-9E07-9004-1B0B-EE211E2153BF}"/>
                </a:ext>
              </a:extLst>
            </p:cNvPr>
            <p:cNvCxnSpPr>
              <a:cxnSpLocks/>
            </p:cNvCxnSpPr>
            <p:nvPr/>
          </p:nvCxnSpPr>
          <p:spPr>
            <a:xfrm>
              <a:off x="3306688" y="4822525"/>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AE9CA08F-AC5B-A1BF-C9AD-3AA1E3D4197D}"/>
              </a:ext>
            </a:extLst>
          </p:cNvPr>
          <p:cNvCxnSpPr>
            <a:cxnSpLocks/>
          </p:cNvCxnSpPr>
          <p:nvPr/>
        </p:nvCxnSpPr>
        <p:spPr>
          <a:xfrm>
            <a:off x="1508042" y="2127739"/>
            <a:ext cx="0"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F85B2D6-8538-19EA-8527-C68AF57EA937}"/>
              </a:ext>
            </a:extLst>
          </p:cNvPr>
          <p:cNvCxnSpPr>
            <a:cxnSpLocks/>
          </p:cNvCxnSpPr>
          <p:nvPr/>
        </p:nvCxnSpPr>
        <p:spPr>
          <a:xfrm flipH="1">
            <a:off x="6729663" y="2127739"/>
            <a:ext cx="1"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0672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3B2F3-28E0-1806-791F-E05CBF8CE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D2F4E-DB28-8D90-F1F4-D58C895ED521}"/>
              </a:ext>
            </a:extLst>
          </p:cNvPr>
          <p:cNvSpPr>
            <a:spLocks noGrp="1"/>
          </p:cNvSpPr>
          <p:nvPr>
            <p:ph type="title"/>
          </p:nvPr>
        </p:nvSpPr>
        <p:spPr/>
        <p:txBody>
          <a:bodyPr/>
          <a:lstStyle/>
          <a:p>
            <a:r>
              <a:rPr lang="en-GB" dirty="0"/>
              <a:t>More censoring (&amp; truncation)</a:t>
            </a:r>
          </a:p>
        </p:txBody>
      </p:sp>
      <p:sp>
        <p:nvSpPr>
          <p:cNvPr id="3" name="Slide Number Placeholder 2">
            <a:extLst>
              <a:ext uri="{FF2B5EF4-FFF2-40B4-BE49-F238E27FC236}">
                <a16:creationId xmlns:a16="http://schemas.microsoft.com/office/drawing/2014/main" id="{4EA8E8E5-71F7-1BB3-BAD8-8952689F801E}"/>
              </a:ext>
            </a:extLst>
          </p:cNvPr>
          <p:cNvSpPr>
            <a:spLocks noGrp="1"/>
          </p:cNvSpPr>
          <p:nvPr>
            <p:ph type="sldNum" sz="quarter" idx="10"/>
          </p:nvPr>
        </p:nvSpPr>
        <p:spPr/>
        <p:txBody>
          <a:bodyPr/>
          <a:lstStyle/>
          <a:p>
            <a:pPr>
              <a:defRPr/>
            </a:pPr>
            <a:fld id="{062FE7C6-874C-4E62-8759-08C2AB2543BB}" type="slidenum">
              <a:rPr lang="en-GB" smtClean="0"/>
              <a:pPr>
                <a:defRPr/>
              </a:pPr>
              <a:t>10</a:t>
            </a:fld>
            <a:endParaRPr lang="en-GB"/>
          </a:p>
        </p:txBody>
      </p:sp>
      <p:sp>
        <p:nvSpPr>
          <p:cNvPr id="4" name="TextBox 3">
            <a:extLst>
              <a:ext uri="{FF2B5EF4-FFF2-40B4-BE49-F238E27FC236}">
                <a16:creationId xmlns:a16="http://schemas.microsoft.com/office/drawing/2014/main" id="{D6844995-E932-2F99-4790-03B46A897658}"/>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0EE3B2E-A15B-A329-7E8D-618B9E531E3C}"/>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52" name="Group 51">
            <a:extLst>
              <a:ext uri="{FF2B5EF4-FFF2-40B4-BE49-F238E27FC236}">
                <a16:creationId xmlns:a16="http://schemas.microsoft.com/office/drawing/2014/main" id="{76C97EE3-48B1-7263-70A6-9DA22EC86369}"/>
              </a:ext>
            </a:extLst>
          </p:cNvPr>
          <p:cNvGrpSpPr/>
          <p:nvPr/>
        </p:nvGrpSpPr>
        <p:grpSpPr>
          <a:xfrm>
            <a:off x="428770" y="3293170"/>
            <a:ext cx="2855427" cy="423862"/>
            <a:chOff x="476056" y="3286305"/>
            <a:chExt cx="2855427" cy="423862"/>
          </a:xfrm>
        </p:grpSpPr>
        <p:sp>
          <p:nvSpPr>
            <p:cNvPr id="53" name="TextBox 52">
              <a:extLst>
                <a:ext uri="{FF2B5EF4-FFF2-40B4-BE49-F238E27FC236}">
                  <a16:creationId xmlns:a16="http://schemas.microsoft.com/office/drawing/2014/main" id="{73BBA16B-5C08-34AB-3EEE-DFA897EBC349}"/>
                </a:ext>
              </a:extLst>
            </p:cNvPr>
            <p:cNvSpPr txBox="1"/>
            <p:nvPr/>
          </p:nvSpPr>
          <p:spPr>
            <a:xfrm>
              <a:off x="1629622" y="3299532"/>
              <a:ext cx="1701861" cy="369332"/>
            </a:xfrm>
            <a:prstGeom prst="rect">
              <a:avLst/>
            </a:prstGeom>
            <a:noFill/>
          </p:spPr>
          <p:txBody>
            <a:bodyPr wrap="square" rtlCol="0">
              <a:spAutoFit/>
            </a:bodyPr>
            <a:lstStyle/>
            <a:p>
              <a:pPr algn="ctr"/>
              <a:r>
                <a:rPr lang="en-GB" dirty="0"/>
                <a:t>Left-censored</a:t>
              </a:r>
            </a:p>
          </p:txBody>
        </p:sp>
        <p:pic>
          <p:nvPicPr>
            <p:cNvPr id="54" name="Graphic 53" descr="Race Flag with solid fill">
              <a:extLst>
                <a:ext uri="{FF2B5EF4-FFF2-40B4-BE49-F238E27FC236}">
                  <a16:creationId xmlns:a16="http://schemas.microsoft.com/office/drawing/2014/main" id="{8AF55A4A-0612-6348-B7B8-098E9FD81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6056" y="3286305"/>
              <a:ext cx="423862" cy="423862"/>
            </a:xfrm>
            <a:prstGeom prst="rect">
              <a:avLst/>
            </a:prstGeom>
          </p:spPr>
        </p:pic>
        <p:cxnSp>
          <p:nvCxnSpPr>
            <p:cNvPr id="55" name="Straight Connector 54">
              <a:extLst>
                <a:ext uri="{FF2B5EF4-FFF2-40B4-BE49-F238E27FC236}">
                  <a16:creationId xmlns:a16="http://schemas.microsoft.com/office/drawing/2014/main" id="{FF87116F-1743-AFD7-ADC9-09BE14F13EB1}"/>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155535E-E49E-F88A-E098-48EC50F93F7B}"/>
              </a:ext>
            </a:extLst>
          </p:cNvPr>
          <p:cNvGrpSpPr/>
          <p:nvPr/>
        </p:nvGrpSpPr>
        <p:grpSpPr>
          <a:xfrm>
            <a:off x="973622" y="4229274"/>
            <a:ext cx="4966530" cy="423862"/>
            <a:chOff x="980335" y="4589314"/>
            <a:chExt cx="4966530" cy="423862"/>
          </a:xfrm>
        </p:grpSpPr>
        <p:grpSp>
          <p:nvGrpSpPr>
            <p:cNvPr id="56" name="Group 55">
              <a:extLst>
                <a:ext uri="{FF2B5EF4-FFF2-40B4-BE49-F238E27FC236}">
                  <a16:creationId xmlns:a16="http://schemas.microsoft.com/office/drawing/2014/main" id="{F8C79D98-3BBE-2EF3-E699-AB79213DFD7A}"/>
                </a:ext>
              </a:extLst>
            </p:cNvPr>
            <p:cNvGrpSpPr/>
            <p:nvPr/>
          </p:nvGrpSpPr>
          <p:grpSpPr>
            <a:xfrm>
              <a:off x="980335" y="4601190"/>
              <a:ext cx="4966530" cy="369332"/>
              <a:chOff x="1012498" y="3290113"/>
              <a:chExt cx="4966530" cy="369332"/>
            </a:xfrm>
          </p:grpSpPr>
          <p:sp>
            <p:nvSpPr>
              <p:cNvPr id="57" name="TextBox 56">
                <a:extLst>
                  <a:ext uri="{FF2B5EF4-FFF2-40B4-BE49-F238E27FC236}">
                    <a16:creationId xmlns:a16="http://schemas.microsoft.com/office/drawing/2014/main" id="{713A8981-43EA-096F-D7E7-9A356B12DF1B}"/>
                  </a:ext>
                </a:extLst>
              </p:cNvPr>
              <p:cNvSpPr txBox="1"/>
              <p:nvPr/>
            </p:nvSpPr>
            <p:spPr>
              <a:xfrm>
                <a:off x="4379715" y="3290113"/>
                <a:ext cx="1599313" cy="369332"/>
              </a:xfrm>
              <a:prstGeom prst="rect">
                <a:avLst/>
              </a:prstGeom>
              <a:noFill/>
            </p:spPr>
            <p:txBody>
              <a:bodyPr wrap="square" rtlCol="0">
                <a:spAutoFit/>
              </a:bodyPr>
              <a:lstStyle/>
              <a:p>
                <a:pPr algn="ctr"/>
                <a:r>
                  <a:rPr lang="en-GB" dirty="0"/>
                  <a:t>Left-truncated</a:t>
                </a:r>
              </a:p>
            </p:txBody>
          </p:sp>
          <p:cxnSp>
            <p:nvCxnSpPr>
              <p:cNvPr id="59" name="Straight Connector 58">
                <a:extLst>
                  <a:ext uri="{FF2B5EF4-FFF2-40B4-BE49-F238E27FC236}">
                    <a16:creationId xmlns:a16="http://schemas.microsoft.com/office/drawing/2014/main" id="{120959F1-3114-390C-09FA-2393CCDB0719}"/>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pic>
          <p:nvPicPr>
            <p:cNvPr id="60" name="Graphic 59" descr="Race Flag with solid fill">
              <a:extLst>
                <a:ext uri="{FF2B5EF4-FFF2-40B4-BE49-F238E27FC236}">
                  <a16:creationId xmlns:a16="http://schemas.microsoft.com/office/drawing/2014/main" id="{DBD56E2D-B580-D828-3986-28084577F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0948" y="4589314"/>
              <a:ext cx="423862" cy="423862"/>
            </a:xfrm>
            <a:prstGeom prst="rect">
              <a:avLst/>
            </a:prstGeom>
          </p:spPr>
        </p:pic>
        <p:cxnSp>
          <p:nvCxnSpPr>
            <p:cNvPr id="61" name="Straight Arrow Connector 60">
              <a:extLst>
                <a:ext uri="{FF2B5EF4-FFF2-40B4-BE49-F238E27FC236}">
                  <a16:creationId xmlns:a16="http://schemas.microsoft.com/office/drawing/2014/main" id="{EDE889D2-93DF-4349-A7E1-7A1113C76EF5}"/>
                </a:ext>
              </a:extLst>
            </p:cNvPr>
            <p:cNvCxnSpPr>
              <a:cxnSpLocks/>
            </p:cNvCxnSpPr>
            <p:nvPr/>
          </p:nvCxnSpPr>
          <p:spPr>
            <a:xfrm>
              <a:off x="1513019" y="4801245"/>
              <a:ext cx="2321009"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51D62C16-3C3C-CBB7-3715-6059E103A7CE}"/>
              </a:ext>
            </a:extLst>
          </p:cNvPr>
          <p:cNvGrpSpPr/>
          <p:nvPr/>
        </p:nvGrpSpPr>
        <p:grpSpPr>
          <a:xfrm>
            <a:off x="4362101" y="5263448"/>
            <a:ext cx="3696030" cy="423862"/>
            <a:chOff x="4362101" y="3832690"/>
            <a:chExt cx="3696030" cy="423862"/>
          </a:xfrm>
        </p:grpSpPr>
        <p:grpSp>
          <p:nvGrpSpPr>
            <p:cNvPr id="65" name="Group 64">
              <a:extLst>
                <a:ext uri="{FF2B5EF4-FFF2-40B4-BE49-F238E27FC236}">
                  <a16:creationId xmlns:a16="http://schemas.microsoft.com/office/drawing/2014/main" id="{5E39C3C8-D1B7-454E-47F8-6315E2A086AC}"/>
                </a:ext>
              </a:extLst>
            </p:cNvPr>
            <p:cNvGrpSpPr/>
            <p:nvPr/>
          </p:nvGrpSpPr>
          <p:grpSpPr>
            <a:xfrm>
              <a:off x="4362101" y="3832690"/>
              <a:ext cx="3696030" cy="423862"/>
              <a:chOff x="-1357810" y="3277187"/>
              <a:chExt cx="3696030" cy="423862"/>
            </a:xfrm>
          </p:grpSpPr>
          <p:sp>
            <p:nvSpPr>
              <p:cNvPr id="66" name="TextBox 65">
                <a:extLst>
                  <a:ext uri="{FF2B5EF4-FFF2-40B4-BE49-F238E27FC236}">
                    <a16:creationId xmlns:a16="http://schemas.microsoft.com/office/drawing/2014/main" id="{A069BA30-BA18-571F-2034-39608810A45B}"/>
                  </a:ext>
                </a:extLst>
              </p:cNvPr>
              <p:cNvSpPr txBox="1"/>
              <p:nvPr/>
            </p:nvSpPr>
            <p:spPr>
              <a:xfrm>
                <a:off x="-1357810" y="3304452"/>
                <a:ext cx="1773859" cy="369332"/>
              </a:xfrm>
              <a:prstGeom prst="rect">
                <a:avLst/>
              </a:prstGeom>
              <a:noFill/>
            </p:spPr>
            <p:txBody>
              <a:bodyPr wrap="square" rtlCol="0">
                <a:spAutoFit/>
              </a:bodyPr>
              <a:lstStyle/>
              <a:p>
                <a:pPr algn="ctr"/>
                <a:r>
                  <a:rPr lang="en-GB" dirty="0"/>
                  <a:t>Right-truncated</a:t>
                </a:r>
              </a:p>
            </p:txBody>
          </p:sp>
          <p:pic>
            <p:nvPicPr>
              <p:cNvPr id="67" name="Graphic 66" descr="Race Flag with solid fill">
                <a:extLst>
                  <a:ext uri="{FF2B5EF4-FFF2-40B4-BE49-F238E27FC236}">
                    <a16:creationId xmlns:a16="http://schemas.microsoft.com/office/drawing/2014/main" id="{8ACEA82A-3EE5-091A-3EA4-E9E2827ED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14358" y="3277187"/>
                <a:ext cx="423862" cy="423862"/>
              </a:xfrm>
              <a:prstGeom prst="rect">
                <a:avLst/>
              </a:prstGeom>
            </p:spPr>
          </p:pic>
          <p:cxnSp>
            <p:nvCxnSpPr>
              <p:cNvPr id="68" name="Straight Connector 67">
                <a:extLst>
                  <a:ext uri="{FF2B5EF4-FFF2-40B4-BE49-F238E27FC236}">
                    <a16:creationId xmlns:a16="http://schemas.microsoft.com/office/drawing/2014/main" id="{3E547D69-9377-6ACF-46CC-4039E3313EB6}"/>
                  </a:ext>
                </a:extLst>
              </p:cNvPr>
              <p:cNvCxnSpPr>
                <a:cxnSpLocks/>
              </p:cNvCxnSpPr>
              <p:nvPr/>
            </p:nvCxnSpPr>
            <p:spPr>
              <a:xfrm flipH="1" flipV="1">
                <a:off x="477068" y="3480492"/>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cxnSp>
          <p:nvCxnSpPr>
            <p:cNvPr id="69" name="Straight Arrow Connector 68">
              <a:extLst>
                <a:ext uri="{FF2B5EF4-FFF2-40B4-BE49-F238E27FC236}">
                  <a16:creationId xmlns:a16="http://schemas.microsoft.com/office/drawing/2014/main" id="{95A50838-8B3B-E8F2-A866-5AD05D344A28}"/>
                </a:ext>
              </a:extLst>
            </p:cNvPr>
            <p:cNvCxnSpPr>
              <a:cxnSpLocks/>
            </p:cNvCxnSpPr>
            <p:nvPr/>
          </p:nvCxnSpPr>
          <p:spPr>
            <a:xfrm>
              <a:off x="6729664" y="4035995"/>
              <a:ext cx="843586"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E73D3AE9-E16E-8F26-029B-B3FAA50B086C}"/>
              </a:ext>
            </a:extLst>
          </p:cNvPr>
          <p:cNvCxnSpPr>
            <a:cxnSpLocks/>
          </p:cNvCxnSpPr>
          <p:nvPr/>
        </p:nvCxnSpPr>
        <p:spPr>
          <a:xfrm>
            <a:off x="1508042" y="2127739"/>
            <a:ext cx="0"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864CD44-379E-51DE-4BEE-06F215CCBC5C}"/>
              </a:ext>
            </a:extLst>
          </p:cNvPr>
          <p:cNvCxnSpPr>
            <a:cxnSpLocks/>
          </p:cNvCxnSpPr>
          <p:nvPr/>
        </p:nvCxnSpPr>
        <p:spPr>
          <a:xfrm flipH="1">
            <a:off x="6729663" y="2127739"/>
            <a:ext cx="1"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0" name="Group 79">
            <a:extLst>
              <a:ext uri="{FF2B5EF4-FFF2-40B4-BE49-F238E27FC236}">
                <a16:creationId xmlns:a16="http://schemas.microsoft.com/office/drawing/2014/main" id="{C1EB2E91-04C8-D537-6A25-61908A308AA0}"/>
              </a:ext>
            </a:extLst>
          </p:cNvPr>
          <p:cNvGrpSpPr/>
          <p:nvPr/>
        </p:nvGrpSpPr>
        <p:grpSpPr>
          <a:xfrm>
            <a:off x="2357929" y="2205750"/>
            <a:ext cx="3839050" cy="423862"/>
            <a:chOff x="3085794" y="2716529"/>
            <a:chExt cx="3839050" cy="423862"/>
          </a:xfrm>
        </p:grpSpPr>
        <p:pic>
          <p:nvPicPr>
            <p:cNvPr id="81" name="Graphic 80" descr="Race Flag with solid fill">
              <a:extLst>
                <a:ext uri="{FF2B5EF4-FFF2-40B4-BE49-F238E27FC236}">
                  <a16:creationId xmlns:a16="http://schemas.microsoft.com/office/drawing/2014/main" id="{99DB02CB-C2EB-AFC6-A593-0036D461A2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2" name="TextBox 81">
              <a:extLst>
                <a:ext uri="{FF2B5EF4-FFF2-40B4-BE49-F238E27FC236}">
                  <a16:creationId xmlns:a16="http://schemas.microsoft.com/office/drawing/2014/main" id="{8948EF1D-FFF7-2A78-625F-59503EC6ADFB}"/>
                </a:ext>
              </a:extLst>
            </p:cNvPr>
            <p:cNvSpPr txBox="1"/>
            <p:nvPr/>
          </p:nvSpPr>
          <p:spPr>
            <a:xfrm>
              <a:off x="4932039" y="2735303"/>
              <a:ext cx="1992805" cy="369332"/>
            </a:xfrm>
            <a:prstGeom prst="rect">
              <a:avLst/>
            </a:prstGeom>
            <a:noFill/>
          </p:spPr>
          <p:txBody>
            <a:bodyPr wrap="square" rtlCol="0">
              <a:spAutoFit/>
            </a:bodyPr>
            <a:lstStyle/>
            <a:p>
              <a:pPr algn="ctr"/>
              <a:r>
                <a:rPr lang="en-GB" dirty="0"/>
                <a:t>Staggered entry</a:t>
              </a:r>
            </a:p>
          </p:txBody>
        </p:sp>
        <p:cxnSp>
          <p:nvCxnSpPr>
            <p:cNvPr id="83" name="Straight Arrow Connector 82">
              <a:extLst>
                <a:ext uri="{FF2B5EF4-FFF2-40B4-BE49-F238E27FC236}">
                  <a16:creationId xmlns:a16="http://schemas.microsoft.com/office/drawing/2014/main" id="{D34F98C1-07A4-35E4-35AD-8AFB676C862F}"/>
                </a:ext>
              </a:extLst>
            </p:cNvPr>
            <p:cNvCxnSpPr>
              <a:cxnSpLocks/>
            </p:cNvCxnSpPr>
            <p:nvPr/>
          </p:nvCxnSpPr>
          <p:spPr>
            <a:xfrm>
              <a:off x="3085794" y="2924818"/>
              <a:ext cx="1414198"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0" name="Straight Connector 89">
            <a:extLst>
              <a:ext uri="{FF2B5EF4-FFF2-40B4-BE49-F238E27FC236}">
                <a16:creationId xmlns:a16="http://schemas.microsoft.com/office/drawing/2014/main" id="{E8616925-BD4B-8F99-8244-FFF35614E3F8}"/>
              </a:ext>
            </a:extLst>
          </p:cNvPr>
          <p:cNvCxnSpPr>
            <a:cxnSpLocks/>
          </p:cNvCxnSpPr>
          <p:nvPr/>
        </p:nvCxnSpPr>
        <p:spPr>
          <a:xfrm>
            <a:off x="2344850" y="2277183"/>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1430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CC5D6-078A-8262-5ADE-88F4BF1745D1}"/>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A2B068EA-4FF8-633D-129B-FFB5D15F7047}"/>
              </a:ext>
            </a:extLst>
          </p:cNvPr>
          <p:cNvSpPr>
            <a:spLocks noGrp="1"/>
          </p:cNvSpPr>
          <p:nvPr>
            <p:ph type="sldNum" sz="quarter" idx="10"/>
          </p:nvPr>
        </p:nvSpPr>
        <p:spPr/>
        <p:txBody>
          <a:bodyPr/>
          <a:lstStyle/>
          <a:p>
            <a:pPr>
              <a:defRPr/>
            </a:pPr>
            <a:fld id="{062FE7C6-874C-4E62-8759-08C2AB2543BB}" type="slidenum">
              <a:rPr lang="en-GB" smtClean="0"/>
              <a:pPr>
                <a:defRPr/>
              </a:pPr>
              <a:t>11</a:t>
            </a:fld>
            <a:endParaRPr lang="en-GB"/>
          </a:p>
        </p:txBody>
      </p:sp>
      <p:graphicFrame>
        <p:nvGraphicFramePr>
          <p:cNvPr id="4" name="Table 3">
            <a:extLst>
              <a:ext uri="{FF2B5EF4-FFF2-40B4-BE49-F238E27FC236}">
                <a16:creationId xmlns:a16="http://schemas.microsoft.com/office/drawing/2014/main" id="{3C68C8B0-244A-2D2B-597F-CA827ADCA14A}"/>
              </a:ext>
            </a:extLst>
          </p:cNvPr>
          <p:cNvGraphicFramePr>
            <a:graphicFrameLocks noGrp="1"/>
          </p:cNvGraphicFramePr>
          <p:nvPr>
            <p:extLst>
              <p:ext uri="{D42A27DB-BD31-4B8C-83A1-F6EECF244321}">
                <p14:modId xmlns:p14="http://schemas.microsoft.com/office/powerpoint/2010/main" val="187373207"/>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18209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2180C-C6B5-4956-FA66-6A2C9AB77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E8D9BD-C27F-35AE-F7F3-875E5FD63FE7}"/>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7F5C1F24-419B-1D79-1319-97142B85A3AE}"/>
              </a:ext>
            </a:extLst>
          </p:cNvPr>
          <p:cNvSpPr>
            <a:spLocks noGrp="1"/>
          </p:cNvSpPr>
          <p:nvPr>
            <p:ph type="sldNum" sz="quarter" idx="10"/>
          </p:nvPr>
        </p:nvSpPr>
        <p:spPr/>
        <p:txBody>
          <a:bodyPr/>
          <a:lstStyle/>
          <a:p>
            <a:pPr>
              <a:defRPr/>
            </a:pPr>
            <a:fld id="{062FE7C6-874C-4E62-8759-08C2AB2543BB}" type="slidenum">
              <a:rPr lang="en-GB" smtClean="0"/>
              <a:pPr>
                <a:defRPr/>
              </a:pPr>
              <a:t>12</a:t>
            </a:fld>
            <a:endParaRPr lang="en-GB"/>
          </a:p>
        </p:txBody>
      </p:sp>
      <p:graphicFrame>
        <p:nvGraphicFramePr>
          <p:cNvPr id="4" name="Table 3">
            <a:extLst>
              <a:ext uri="{FF2B5EF4-FFF2-40B4-BE49-F238E27FC236}">
                <a16:creationId xmlns:a16="http://schemas.microsoft.com/office/drawing/2014/main" id="{F7D2A763-6477-FDED-DA27-6D43B5D5397E}"/>
              </a:ext>
            </a:extLst>
          </p:cNvPr>
          <p:cNvGraphicFramePr>
            <a:graphicFrameLocks noGrp="1"/>
          </p:cNvGraphicFramePr>
          <p:nvPr>
            <p:extLst>
              <p:ext uri="{D42A27DB-BD31-4B8C-83A1-F6EECF244321}">
                <p14:modId xmlns:p14="http://schemas.microsoft.com/office/powerpoint/2010/main" val="352281006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612501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9BA36-3ACF-AEF8-7862-1FACD2E3A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07C27-005A-2305-9D47-D111BD1147E6}"/>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9F041B88-FF77-A442-071E-F6C21827E252}"/>
              </a:ext>
            </a:extLst>
          </p:cNvPr>
          <p:cNvSpPr>
            <a:spLocks noGrp="1"/>
          </p:cNvSpPr>
          <p:nvPr>
            <p:ph type="sldNum" sz="quarter" idx="10"/>
          </p:nvPr>
        </p:nvSpPr>
        <p:spPr/>
        <p:txBody>
          <a:bodyPr/>
          <a:lstStyle/>
          <a:p>
            <a:pPr>
              <a:defRPr/>
            </a:pPr>
            <a:fld id="{062FE7C6-874C-4E62-8759-08C2AB2543BB}" type="slidenum">
              <a:rPr lang="en-GB" smtClean="0"/>
              <a:pPr>
                <a:defRPr/>
              </a:pPr>
              <a:t>13</a:t>
            </a:fld>
            <a:endParaRPr lang="en-GB"/>
          </a:p>
        </p:txBody>
      </p:sp>
      <p:graphicFrame>
        <p:nvGraphicFramePr>
          <p:cNvPr id="4" name="Table 3">
            <a:extLst>
              <a:ext uri="{FF2B5EF4-FFF2-40B4-BE49-F238E27FC236}">
                <a16:creationId xmlns:a16="http://schemas.microsoft.com/office/drawing/2014/main" id="{EE2364AA-B30B-DC97-AB14-FEF953A58BB8}"/>
              </a:ext>
            </a:extLst>
          </p:cNvPr>
          <p:cNvGraphicFramePr>
            <a:graphicFrameLocks noGrp="1"/>
          </p:cNvGraphicFramePr>
          <p:nvPr>
            <p:extLst>
              <p:ext uri="{D42A27DB-BD31-4B8C-83A1-F6EECF244321}">
                <p14:modId xmlns:p14="http://schemas.microsoft.com/office/powerpoint/2010/main" val="2568028495"/>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2407879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6974-B8EE-8DDB-FC5F-B67669C64F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52DA7-E95C-B83D-D60F-EE72608E89AA}"/>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56DC2EC9-6DF0-FBB7-D200-150CDC10E8B2}"/>
              </a:ext>
            </a:extLst>
          </p:cNvPr>
          <p:cNvSpPr>
            <a:spLocks noGrp="1"/>
          </p:cNvSpPr>
          <p:nvPr>
            <p:ph type="sldNum" sz="quarter" idx="10"/>
          </p:nvPr>
        </p:nvSpPr>
        <p:spPr/>
        <p:txBody>
          <a:bodyPr/>
          <a:lstStyle/>
          <a:p>
            <a:pPr>
              <a:defRPr/>
            </a:pPr>
            <a:fld id="{062FE7C6-874C-4E62-8759-08C2AB2543BB}" type="slidenum">
              <a:rPr lang="en-GB" smtClean="0"/>
              <a:pPr>
                <a:defRPr/>
              </a:pPr>
              <a:t>14</a:t>
            </a:fld>
            <a:endParaRPr lang="en-GB"/>
          </a:p>
        </p:txBody>
      </p:sp>
      <p:graphicFrame>
        <p:nvGraphicFramePr>
          <p:cNvPr id="4" name="Table 3">
            <a:extLst>
              <a:ext uri="{FF2B5EF4-FFF2-40B4-BE49-F238E27FC236}">
                <a16:creationId xmlns:a16="http://schemas.microsoft.com/office/drawing/2014/main" id="{2AE3F687-1545-81A4-6260-B1F633720F3E}"/>
              </a:ext>
            </a:extLst>
          </p:cNvPr>
          <p:cNvGraphicFramePr>
            <a:graphicFrameLocks noGrp="1"/>
          </p:cNvGraphicFramePr>
          <p:nvPr>
            <p:extLst>
              <p:ext uri="{D42A27DB-BD31-4B8C-83A1-F6EECF244321}">
                <p14:modId xmlns:p14="http://schemas.microsoft.com/office/powerpoint/2010/main" val="253318838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18471794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CF00-A2C6-6F10-F51C-79E4B60DC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89F2C-69C4-7395-A10B-3AE6A9BFB4ED}"/>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36D13DF3-9A2D-E0EA-7697-951A7E949F43}"/>
              </a:ext>
            </a:extLst>
          </p:cNvPr>
          <p:cNvSpPr>
            <a:spLocks noGrp="1"/>
          </p:cNvSpPr>
          <p:nvPr>
            <p:ph type="sldNum" sz="quarter" idx="10"/>
          </p:nvPr>
        </p:nvSpPr>
        <p:spPr/>
        <p:txBody>
          <a:bodyPr/>
          <a:lstStyle/>
          <a:p>
            <a:pPr>
              <a:defRPr/>
            </a:pPr>
            <a:fld id="{062FE7C6-874C-4E62-8759-08C2AB2543BB}" type="slidenum">
              <a:rPr lang="en-GB" smtClean="0"/>
              <a:pPr>
                <a:defRPr/>
              </a:pPr>
              <a:t>15</a:t>
            </a:fld>
            <a:endParaRPr lang="en-GB"/>
          </a:p>
        </p:txBody>
      </p:sp>
      <p:graphicFrame>
        <p:nvGraphicFramePr>
          <p:cNvPr id="4" name="Table 3">
            <a:extLst>
              <a:ext uri="{FF2B5EF4-FFF2-40B4-BE49-F238E27FC236}">
                <a16:creationId xmlns:a16="http://schemas.microsoft.com/office/drawing/2014/main" id="{5BCC95C2-0CDA-1DD8-AF46-88DC4330B7E4}"/>
              </a:ext>
            </a:extLst>
          </p:cNvPr>
          <p:cNvGraphicFramePr>
            <a:graphicFrameLocks noGrp="1"/>
          </p:cNvGraphicFramePr>
          <p:nvPr>
            <p:extLst>
              <p:ext uri="{D42A27DB-BD31-4B8C-83A1-F6EECF244321}">
                <p14:modId xmlns:p14="http://schemas.microsoft.com/office/powerpoint/2010/main" val="2372036152"/>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94308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AC63-EC58-21AC-1A7B-3D137EBE19A1}"/>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786C7D00-7303-B5D9-F8D5-13F2C5E44245}"/>
              </a:ext>
            </a:extLst>
          </p:cNvPr>
          <p:cNvSpPr>
            <a:spLocks noGrp="1"/>
          </p:cNvSpPr>
          <p:nvPr>
            <p:ph type="body" sz="quarter" idx="11"/>
          </p:nvPr>
        </p:nvSpPr>
        <p:spPr/>
        <p:txBody>
          <a:bodyPr/>
          <a:lstStyle/>
          <a:p>
            <a:pPr marL="0" indent="0">
              <a:buNone/>
            </a:pPr>
            <a:r>
              <a:rPr lang="en-GB" sz="2400" dirty="0"/>
              <a:t>“How long do patients maintain functional kidney grafts following transplant?”</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9B1448CF-7903-D9E7-2A51-7348137C2261}"/>
              </a:ext>
            </a:extLst>
          </p:cNvPr>
          <p:cNvSpPr>
            <a:spLocks noGrp="1"/>
          </p:cNvSpPr>
          <p:nvPr>
            <p:ph type="title"/>
          </p:nvPr>
        </p:nvSpPr>
        <p:spPr/>
        <p:txBody>
          <a:bodyPr/>
          <a:lstStyle/>
          <a:p>
            <a:r>
              <a:rPr lang="en-GB" dirty="0"/>
              <a:t>Example 1</a:t>
            </a:r>
          </a:p>
        </p:txBody>
      </p:sp>
      <p:sp>
        <p:nvSpPr>
          <p:cNvPr id="3" name="Slide Number Placeholder 2">
            <a:extLst>
              <a:ext uri="{FF2B5EF4-FFF2-40B4-BE49-F238E27FC236}">
                <a16:creationId xmlns:a16="http://schemas.microsoft.com/office/drawing/2014/main" id="{C5BAEB34-1B97-DC8F-46BC-1B22D16420A4}"/>
              </a:ext>
            </a:extLst>
          </p:cNvPr>
          <p:cNvSpPr>
            <a:spLocks noGrp="1"/>
          </p:cNvSpPr>
          <p:nvPr>
            <p:ph type="sldNum" sz="quarter" idx="10"/>
          </p:nvPr>
        </p:nvSpPr>
        <p:spPr/>
        <p:txBody>
          <a:bodyPr/>
          <a:lstStyle/>
          <a:p>
            <a:pPr>
              <a:defRPr/>
            </a:pPr>
            <a:fld id="{062FE7C6-874C-4E62-8759-08C2AB2543BB}" type="slidenum">
              <a:rPr lang="en-GB" smtClean="0"/>
              <a:pPr>
                <a:defRPr/>
              </a:pPr>
              <a:t>16</a:t>
            </a:fld>
            <a:endParaRPr lang="en-GB"/>
          </a:p>
        </p:txBody>
      </p:sp>
      <p:pic>
        <p:nvPicPr>
          <p:cNvPr id="4" name="Graphic 3" descr="Thought bubble with solid fill">
            <a:extLst>
              <a:ext uri="{FF2B5EF4-FFF2-40B4-BE49-F238E27FC236}">
                <a16:creationId xmlns:a16="http://schemas.microsoft.com/office/drawing/2014/main" id="{AA00339C-0358-4CEE-C729-CD49DFF21B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Kidneys with solid fill">
            <a:extLst>
              <a:ext uri="{FF2B5EF4-FFF2-40B4-BE49-F238E27FC236}">
                <a16:creationId xmlns:a16="http://schemas.microsoft.com/office/drawing/2014/main" id="{4717B500-B61B-A1C9-EA42-54FED13FA08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octor female with solid fill">
            <a:extLst>
              <a:ext uri="{FF2B5EF4-FFF2-40B4-BE49-F238E27FC236}">
                <a16:creationId xmlns:a16="http://schemas.microsoft.com/office/drawing/2014/main" id="{5BD57F96-35ED-261E-7435-16CB301F6F8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749508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DE724B-7E1A-FCEE-4374-76C19CD4A4EA}"/>
              </a:ext>
            </a:extLst>
          </p:cNvPr>
          <p:cNvSpPr>
            <a:spLocks noGrp="1"/>
          </p:cNvSpPr>
          <p:nvPr>
            <p:ph type="body" sz="quarter" idx="11"/>
          </p:nvPr>
        </p:nvSpPr>
        <p:spPr/>
        <p:txBody>
          <a:bodyPr/>
          <a:lstStyle/>
          <a:p>
            <a:pPr marL="0" indent="0">
              <a:buNone/>
            </a:pPr>
            <a:r>
              <a:rPr lang="en-GB" sz="2400" dirty="0"/>
              <a:t>“How long do tagged migratory birds remain within a defined geographic area after breeding?”</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89ED21EF-033B-8344-C7EF-98BB149A1BF0}"/>
              </a:ext>
            </a:extLst>
          </p:cNvPr>
          <p:cNvSpPr>
            <a:spLocks noGrp="1"/>
          </p:cNvSpPr>
          <p:nvPr>
            <p:ph type="title"/>
          </p:nvPr>
        </p:nvSpPr>
        <p:spPr/>
        <p:txBody>
          <a:bodyPr/>
          <a:lstStyle/>
          <a:p>
            <a:r>
              <a:rPr lang="en-GB" dirty="0"/>
              <a:t>Example 2</a:t>
            </a:r>
          </a:p>
        </p:txBody>
      </p:sp>
      <p:sp>
        <p:nvSpPr>
          <p:cNvPr id="3" name="Slide Number Placeholder 2">
            <a:extLst>
              <a:ext uri="{FF2B5EF4-FFF2-40B4-BE49-F238E27FC236}">
                <a16:creationId xmlns:a16="http://schemas.microsoft.com/office/drawing/2014/main" id="{47E97604-FA17-FD21-B29E-3A750A1674FD}"/>
              </a:ext>
            </a:extLst>
          </p:cNvPr>
          <p:cNvSpPr>
            <a:spLocks noGrp="1"/>
          </p:cNvSpPr>
          <p:nvPr>
            <p:ph type="sldNum" sz="quarter" idx="10"/>
          </p:nvPr>
        </p:nvSpPr>
        <p:spPr/>
        <p:txBody>
          <a:bodyPr/>
          <a:lstStyle/>
          <a:p>
            <a:pPr>
              <a:defRPr/>
            </a:pPr>
            <a:fld id="{062FE7C6-874C-4E62-8759-08C2AB2543BB}" type="slidenum">
              <a:rPr lang="en-GB" smtClean="0"/>
              <a:pPr>
                <a:defRPr/>
              </a:pPr>
              <a:t>17</a:t>
            </a:fld>
            <a:endParaRPr lang="en-GB"/>
          </a:p>
        </p:txBody>
      </p:sp>
      <p:pic>
        <p:nvPicPr>
          <p:cNvPr id="4" name="Graphic 3" descr="Thought bubble with solid fill">
            <a:extLst>
              <a:ext uri="{FF2B5EF4-FFF2-40B4-BE49-F238E27FC236}">
                <a16:creationId xmlns:a16="http://schemas.microsoft.com/office/drawing/2014/main" id="{442B2954-6B26-1402-29F8-493E730E4F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7" name="Graphic 6" descr="Sparrow with solid fill">
            <a:extLst>
              <a:ext uri="{FF2B5EF4-FFF2-40B4-BE49-F238E27FC236}">
                <a16:creationId xmlns:a16="http://schemas.microsoft.com/office/drawing/2014/main" id="{D5CE016A-0074-7349-E8A7-5C46749FB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31999" y="2780928"/>
            <a:ext cx="1440000" cy="1440000"/>
          </a:xfrm>
          <a:prstGeom prst="rect">
            <a:avLst/>
          </a:prstGeom>
        </p:spPr>
      </p:pic>
      <p:pic>
        <p:nvPicPr>
          <p:cNvPr id="8" name="Graphic 7" descr="Map with pin with solid fill">
            <a:extLst>
              <a:ext uri="{FF2B5EF4-FFF2-40B4-BE49-F238E27FC236}">
                <a16:creationId xmlns:a16="http://schemas.microsoft.com/office/drawing/2014/main" id="{4BFF42DF-E2D5-94DA-5E74-C6F994FEABF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22516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DABBC-1B04-08B2-3524-81D4A7B52F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35A749BC-9424-0BFB-6D09-29EE4A19BADC}"/>
              </a:ext>
            </a:extLst>
          </p:cNvPr>
          <p:cNvSpPr>
            <a:spLocks noGrp="1"/>
          </p:cNvSpPr>
          <p:nvPr>
            <p:ph type="body" sz="quarter" idx="11"/>
          </p:nvPr>
        </p:nvSpPr>
        <p:spPr/>
        <p:txBody>
          <a:bodyPr/>
          <a:lstStyle/>
          <a:p>
            <a:pPr marL="0" indent="0">
              <a:buNone/>
            </a:pPr>
            <a:r>
              <a:rPr lang="en-GB" sz="2400" dirty="0"/>
              <a:t>“How long do customers stay subscribed before cancelling a streaming service?”</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A108EE8C-4F08-C0EA-469E-02F09724DC1F}"/>
              </a:ext>
            </a:extLst>
          </p:cNvPr>
          <p:cNvSpPr>
            <a:spLocks noGrp="1"/>
          </p:cNvSpPr>
          <p:nvPr>
            <p:ph type="title"/>
          </p:nvPr>
        </p:nvSpPr>
        <p:spPr/>
        <p:txBody>
          <a:bodyPr/>
          <a:lstStyle/>
          <a:p>
            <a:r>
              <a:rPr lang="en-GB" dirty="0"/>
              <a:t>Example 3</a:t>
            </a:r>
          </a:p>
        </p:txBody>
      </p:sp>
      <p:sp>
        <p:nvSpPr>
          <p:cNvPr id="3" name="Slide Number Placeholder 2">
            <a:extLst>
              <a:ext uri="{FF2B5EF4-FFF2-40B4-BE49-F238E27FC236}">
                <a16:creationId xmlns:a16="http://schemas.microsoft.com/office/drawing/2014/main" id="{39C47FC8-264A-84DC-B764-1C7619422BCA}"/>
              </a:ext>
            </a:extLst>
          </p:cNvPr>
          <p:cNvSpPr>
            <a:spLocks noGrp="1"/>
          </p:cNvSpPr>
          <p:nvPr>
            <p:ph type="sldNum" sz="quarter" idx="10"/>
          </p:nvPr>
        </p:nvSpPr>
        <p:spPr/>
        <p:txBody>
          <a:bodyPr/>
          <a:lstStyle/>
          <a:p>
            <a:pPr>
              <a:defRPr/>
            </a:pPr>
            <a:fld id="{062FE7C6-874C-4E62-8759-08C2AB2543BB}" type="slidenum">
              <a:rPr lang="en-GB" smtClean="0"/>
              <a:pPr>
                <a:defRPr/>
              </a:pPr>
              <a:t>18</a:t>
            </a:fld>
            <a:endParaRPr lang="en-GB"/>
          </a:p>
        </p:txBody>
      </p:sp>
      <p:pic>
        <p:nvPicPr>
          <p:cNvPr id="4" name="Graphic 3" descr="Thought bubble with solid fill">
            <a:extLst>
              <a:ext uri="{FF2B5EF4-FFF2-40B4-BE49-F238E27FC236}">
                <a16:creationId xmlns:a16="http://schemas.microsoft.com/office/drawing/2014/main" id="{0D796F17-EEDB-412D-84D8-AE3FCCBC3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Television with solid fill">
            <a:extLst>
              <a:ext uri="{FF2B5EF4-FFF2-40B4-BE49-F238E27FC236}">
                <a16:creationId xmlns:a16="http://schemas.microsoft.com/office/drawing/2014/main" id="{7FCF110D-89B2-B764-D80E-7F6EFB4AE8A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ebt with solid fill">
            <a:extLst>
              <a:ext uri="{FF2B5EF4-FFF2-40B4-BE49-F238E27FC236}">
                <a16:creationId xmlns:a16="http://schemas.microsoft.com/office/drawing/2014/main" id="{E0EF3CA8-AD81-0F6B-A7A8-1BB45E97A44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4150502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A38A5-35AF-39A9-A435-258DCE22A327}"/>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47DF4310-F785-D2D5-DF20-C640F495C1E6}"/>
              </a:ext>
            </a:extLst>
          </p:cNvPr>
          <p:cNvSpPr>
            <a:spLocks noGrp="1"/>
          </p:cNvSpPr>
          <p:nvPr>
            <p:ph type="body" sz="quarter" idx="11"/>
          </p:nvPr>
        </p:nvSpPr>
        <p:spPr/>
        <p:txBody>
          <a:bodyPr/>
          <a:lstStyle/>
          <a:p>
            <a:pPr marL="0" indent="0">
              <a:buNone/>
            </a:pPr>
            <a:r>
              <a:rPr lang="en-GB" sz="2400" dirty="0"/>
              <a:t>“When will a volcano next have a major eruption?”</a:t>
            </a:r>
            <a:br>
              <a:rPr lang="en-GB" sz="2400" dirty="0"/>
            </a:b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795FEC7D-B291-8BF4-6368-2DFAB036EA51}"/>
              </a:ext>
            </a:extLst>
          </p:cNvPr>
          <p:cNvSpPr>
            <a:spLocks noGrp="1"/>
          </p:cNvSpPr>
          <p:nvPr>
            <p:ph type="title"/>
          </p:nvPr>
        </p:nvSpPr>
        <p:spPr/>
        <p:txBody>
          <a:bodyPr/>
          <a:lstStyle/>
          <a:p>
            <a:r>
              <a:rPr lang="en-GB" dirty="0"/>
              <a:t>Example 4</a:t>
            </a:r>
          </a:p>
        </p:txBody>
      </p:sp>
      <p:sp>
        <p:nvSpPr>
          <p:cNvPr id="3" name="Slide Number Placeholder 2">
            <a:extLst>
              <a:ext uri="{FF2B5EF4-FFF2-40B4-BE49-F238E27FC236}">
                <a16:creationId xmlns:a16="http://schemas.microsoft.com/office/drawing/2014/main" id="{ED66F9EF-67D4-B81A-38D6-56152053170F}"/>
              </a:ext>
            </a:extLst>
          </p:cNvPr>
          <p:cNvSpPr>
            <a:spLocks noGrp="1"/>
          </p:cNvSpPr>
          <p:nvPr>
            <p:ph type="sldNum" sz="quarter" idx="10"/>
          </p:nvPr>
        </p:nvSpPr>
        <p:spPr/>
        <p:txBody>
          <a:bodyPr/>
          <a:lstStyle/>
          <a:p>
            <a:pPr>
              <a:defRPr/>
            </a:pPr>
            <a:fld id="{062FE7C6-874C-4E62-8759-08C2AB2543BB}" type="slidenum">
              <a:rPr lang="en-GB" smtClean="0"/>
              <a:pPr>
                <a:defRPr/>
              </a:pPr>
              <a:t>19</a:t>
            </a:fld>
            <a:endParaRPr lang="en-GB"/>
          </a:p>
        </p:txBody>
      </p:sp>
      <p:pic>
        <p:nvPicPr>
          <p:cNvPr id="4" name="Graphic 3" descr="Thought bubble with solid fill">
            <a:extLst>
              <a:ext uri="{FF2B5EF4-FFF2-40B4-BE49-F238E27FC236}">
                <a16:creationId xmlns:a16="http://schemas.microsoft.com/office/drawing/2014/main" id="{62E06FE0-C80B-5EB9-4046-EDB1A4845D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Volcano with solid fill">
            <a:extLst>
              <a:ext uri="{FF2B5EF4-FFF2-40B4-BE49-F238E27FC236}">
                <a16:creationId xmlns:a16="http://schemas.microsoft.com/office/drawing/2014/main" id="{FAA0CCF1-F8D6-F575-A637-55DC5C7CD12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846814" y="2780928"/>
            <a:ext cx="1440000" cy="1440000"/>
          </a:xfrm>
          <a:prstGeom prst="rect">
            <a:avLst/>
          </a:prstGeom>
        </p:spPr>
      </p:pic>
    </p:spTree>
    <p:extLst>
      <p:ext uri="{BB962C8B-B14F-4D97-AF65-F5344CB8AC3E}">
        <p14:creationId xmlns:p14="http://schemas.microsoft.com/office/powerpoint/2010/main" val="2120372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026E40F-2631-A3AF-5C2A-2029E4EF011B}"/>
              </a:ext>
            </a:extLst>
          </p:cNvPr>
          <p:cNvSpPr>
            <a:spLocks noGrp="1"/>
          </p:cNvSpPr>
          <p:nvPr>
            <p:ph type="body" sz="quarter" idx="11"/>
          </p:nvPr>
        </p:nvSpPr>
        <p:spPr/>
        <p:txBody>
          <a:bodyPr/>
          <a:lstStyle/>
          <a:p>
            <a:r>
              <a:rPr lang="en-GB" dirty="0"/>
              <a:t>Time-to-event data is </a:t>
            </a:r>
            <a:r>
              <a:rPr lang="en-GB" b="1" dirty="0">
                <a:solidFill>
                  <a:schemeClr val="accent6"/>
                </a:solidFill>
              </a:rPr>
              <a:t>not suitable for linear modelling</a:t>
            </a:r>
          </a:p>
          <a:p>
            <a:r>
              <a:rPr lang="en-GB" dirty="0"/>
              <a:t>It is skewed and always ≥0</a:t>
            </a:r>
          </a:p>
          <a:p>
            <a:r>
              <a:rPr lang="en-GB" dirty="0"/>
              <a:t>It is also regularly </a:t>
            </a:r>
            <a:r>
              <a:rPr lang="en-GB" b="1" dirty="0">
                <a:solidFill>
                  <a:schemeClr val="accent2"/>
                </a:solidFill>
              </a:rPr>
              <a:t>censored</a:t>
            </a:r>
            <a:r>
              <a:rPr lang="en-GB" dirty="0"/>
              <a:t> (missing data)</a:t>
            </a:r>
          </a:p>
          <a:p>
            <a:endParaRPr lang="en-GB" dirty="0"/>
          </a:p>
          <a:p>
            <a:r>
              <a:rPr lang="en-GB" dirty="0">
                <a:solidFill>
                  <a:schemeClr val="accent2"/>
                </a:solidFill>
              </a:rPr>
              <a:t>Right censoring</a:t>
            </a:r>
            <a:r>
              <a:rPr lang="en-GB" dirty="0"/>
              <a:t>: </a:t>
            </a:r>
          </a:p>
          <a:p>
            <a:pPr lvl="1"/>
            <a:r>
              <a:rPr lang="en-GB" dirty="0"/>
              <a:t>An individual </a:t>
            </a:r>
            <a:r>
              <a:rPr lang="en-GB" i="1" dirty="0"/>
              <a:t>may </a:t>
            </a:r>
            <a:r>
              <a:rPr lang="en-GB" dirty="0"/>
              <a:t>experience the event after study end</a:t>
            </a:r>
          </a:p>
          <a:p>
            <a:pPr lvl="1"/>
            <a:r>
              <a:rPr lang="en-GB" dirty="0"/>
              <a:t>The individual experienced a competing event</a:t>
            </a:r>
          </a:p>
          <a:p>
            <a:r>
              <a:rPr lang="en-GB" dirty="0">
                <a:solidFill>
                  <a:schemeClr val="accent2"/>
                </a:solidFill>
              </a:rPr>
              <a:t>Interval censoring</a:t>
            </a:r>
            <a:r>
              <a:rPr lang="en-GB" dirty="0"/>
              <a:t>:</a:t>
            </a:r>
          </a:p>
          <a:p>
            <a:pPr lvl="1"/>
            <a:r>
              <a:rPr lang="en-GB" dirty="0"/>
              <a:t>The exact time of the event is unknown (falls in an interval)</a:t>
            </a:r>
          </a:p>
        </p:txBody>
      </p:sp>
      <p:sp>
        <p:nvSpPr>
          <p:cNvPr id="3" name="Title 2">
            <a:extLst>
              <a:ext uri="{FF2B5EF4-FFF2-40B4-BE49-F238E27FC236}">
                <a16:creationId xmlns:a16="http://schemas.microsoft.com/office/drawing/2014/main" id="{6E029A2C-AF83-47B9-84FE-64BE01100237}"/>
              </a:ext>
            </a:extLst>
          </p:cNvPr>
          <p:cNvSpPr>
            <a:spLocks noGrp="1"/>
          </p:cNvSpPr>
          <p:nvPr>
            <p:ph type="title"/>
          </p:nvPr>
        </p:nvSpPr>
        <p:spPr/>
        <p:txBody>
          <a:bodyPr/>
          <a:lstStyle/>
          <a:p>
            <a:r>
              <a:rPr lang="en-GB" dirty="0"/>
              <a:t>Why do we need unique analysis methods?</a:t>
            </a:r>
          </a:p>
        </p:txBody>
      </p:sp>
      <p:sp>
        <p:nvSpPr>
          <p:cNvPr id="4" name="Slide Number Placeholder 3">
            <a:extLst>
              <a:ext uri="{FF2B5EF4-FFF2-40B4-BE49-F238E27FC236}">
                <a16:creationId xmlns:a16="http://schemas.microsoft.com/office/drawing/2014/main" id="{4235B1EF-C042-B580-5D75-33C30062108F}"/>
              </a:ext>
            </a:extLst>
          </p:cNvPr>
          <p:cNvSpPr>
            <a:spLocks noGrp="1"/>
          </p:cNvSpPr>
          <p:nvPr>
            <p:ph type="sldNum" sz="quarter" idx="10"/>
          </p:nvPr>
        </p:nvSpPr>
        <p:spPr/>
        <p:txBody>
          <a:bodyPr/>
          <a:lstStyle/>
          <a:p>
            <a:pPr>
              <a:defRPr/>
            </a:pPr>
            <a:fld id="{CD3FC0C4-D681-4CE5-B41E-BCE48B80373A}" type="slidenum">
              <a:rPr lang="en-GB" smtClean="0"/>
              <a:pPr>
                <a:defRPr/>
              </a:pPr>
              <a:t>20</a:t>
            </a:fld>
            <a:endParaRPr lang="en-GB"/>
          </a:p>
        </p:txBody>
      </p:sp>
    </p:spTree>
    <p:extLst>
      <p:ext uri="{BB962C8B-B14F-4D97-AF65-F5344CB8AC3E}">
        <p14:creationId xmlns:p14="http://schemas.microsoft.com/office/powerpoint/2010/main" val="288801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4036AB5-B08C-CBBA-B6FD-555B3A51E9FF}"/>
              </a:ext>
            </a:extLst>
          </p:cNvPr>
          <p:cNvSpPr>
            <a:spLocks noGrp="1"/>
          </p:cNvSpPr>
          <p:nvPr>
            <p:ph type="body" sz="quarter" idx="12"/>
          </p:nvPr>
        </p:nvSpPr>
        <p:spPr/>
        <p:txBody>
          <a:bodyPr/>
          <a:lstStyle/>
          <a:p>
            <a:r>
              <a:rPr lang="en-GB" noProof="0" dirty="0"/>
              <a:t>Using the Kaplan-Meier estimator to deal with censoring</a:t>
            </a:r>
          </a:p>
        </p:txBody>
      </p:sp>
      <p:sp>
        <p:nvSpPr>
          <p:cNvPr id="5" name="Text Placeholder 4"/>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2. </a:t>
            </a:r>
            <a:r>
              <a:rPr lang="en-GB" noProof="0" dirty="0">
                <a:latin typeface="Arial" panose="020B0604020202020204" pitchFamily="34" charset="0"/>
                <a:cs typeface="Arial" panose="020B0604020202020204" pitchFamily="34" charset="0"/>
              </a:rPr>
              <a:t>The survival curve</a:t>
            </a:r>
            <a:endParaRPr lang="en-GB" sz="2800" b="1" noProof="0"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10"/>
          </p:nvPr>
        </p:nvSpPr>
        <p:spPr/>
        <p:txBody>
          <a:bodyPr/>
          <a:lstStyle/>
          <a:p>
            <a:pPr>
              <a:defRPr/>
            </a:pPr>
            <a:fld id="{062FE7C6-874C-4E62-8759-08C2AB2543BB}" type="slidenum">
              <a:rPr lang="en-GB" noProof="0" smtClean="0"/>
              <a:pPr>
                <a:defRPr/>
              </a:pPr>
              <a:t>21</a:t>
            </a:fld>
            <a:endParaRPr lang="en-GB" noProof="0" dirty="0"/>
          </a:p>
        </p:txBody>
      </p:sp>
    </p:spTree>
    <p:extLst>
      <p:ext uri="{BB962C8B-B14F-4D97-AF65-F5344CB8AC3E}">
        <p14:creationId xmlns:p14="http://schemas.microsoft.com/office/powerpoint/2010/main" val="1361637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2D1AB-FCC9-9549-E3D1-8CC9A5CCACBA}"/>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C65E9378-2A8D-3E9E-7E20-5BCD8802EF58}"/>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p:txBody>
      </p:sp>
      <p:sp>
        <p:nvSpPr>
          <p:cNvPr id="13" name="Title 12">
            <a:extLst>
              <a:ext uri="{FF2B5EF4-FFF2-40B4-BE49-F238E27FC236}">
                <a16:creationId xmlns:a16="http://schemas.microsoft.com/office/drawing/2014/main" id="{592AAF7E-3F22-F29E-2679-4DF8DEE21358}"/>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2ECB61EA-9241-651F-A6B5-2128F8596E93}"/>
              </a:ext>
            </a:extLst>
          </p:cNvPr>
          <p:cNvSpPr>
            <a:spLocks noGrp="1"/>
          </p:cNvSpPr>
          <p:nvPr>
            <p:ph type="sldNum" sz="quarter" idx="10"/>
          </p:nvPr>
        </p:nvSpPr>
        <p:spPr/>
        <p:txBody>
          <a:bodyPr/>
          <a:lstStyle/>
          <a:p>
            <a:pPr>
              <a:defRPr/>
            </a:pPr>
            <a:fld id="{CD3FC0C4-D681-4CE5-B41E-BCE48B80373A}" type="slidenum">
              <a:rPr lang="en-GB" smtClean="0"/>
              <a:pPr>
                <a:defRPr/>
              </a:pPr>
              <a:t>22</a:t>
            </a:fld>
            <a:endParaRPr lang="en-GB"/>
          </a:p>
        </p:txBody>
      </p:sp>
      <p:pic>
        <p:nvPicPr>
          <p:cNvPr id="12" name="Picture 11">
            <a:extLst>
              <a:ext uri="{FF2B5EF4-FFF2-40B4-BE49-F238E27FC236}">
                <a16:creationId xmlns:a16="http://schemas.microsoft.com/office/drawing/2014/main" id="{815A725D-52B8-DFA9-A869-7E7A4173D4A3}"/>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spTree>
    <p:extLst>
      <p:ext uri="{BB962C8B-B14F-4D97-AF65-F5344CB8AC3E}">
        <p14:creationId xmlns:p14="http://schemas.microsoft.com/office/powerpoint/2010/main" val="3557780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7149-4D36-5DB1-DEC1-7FAB2453B4F6}"/>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16B82AC5-5E04-F1E6-BEEF-4C9BB7C1FA85}"/>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a:p>
            <a:r>
              <a:rPr lang="en-GB" dirty="0"/>
              <a:t>We want to know what this curve looks like</a:t>
            </a:r>
          </a:p>
          <a:p>
            <a:r>
              <a:rPr lang="en-GB" dirty="0"/>
              <a:t>But we </a:t>
            </a:r>
            <a:r>
              <a:rPr lang="en-GB" dirty="0">
                <a:solidFill>
                  <a:schemeClr val="accent6"/>
                </a:solidFill>
              </a:rPr>
              <a:t>cannot measure the whole population</a:t>
            </a:r>
          </a:p>
        </p:txBody>
      </p:sp>
      <p:sp>
        <p:nvSpPr>
          <p:cNvPr id="13" name="Title 12">
            <a:extLst>
              <a:ext uri="{FF2B5EF4-FFF2-40B4-BE49-F238E27FC236}">
                <a16:creationId xmlns:a16="http://schemas.microsoft.com/office/drawing/2014/main" id="{7780127D-AB4C-6578-815B-139AA0295170}"/>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F9EE8EAF-4DEB-8562-F43B-BF0DABEDE166}"/>
              </a:ext>
            </a:extLst>
          </p:cNvPr>
          <p:cNvSpPr>
            <a:spLocks noGrp="1"/>
          </p:cNvSpPr>
          <p:nvPr>
            <p:ph type="sldNum" sz="quarter" idx="10"/>
          </p:nvPr>
        </p:nvSpPr>
        <p:spPr/>
        <p:txBody>
          <a:bodyPr/>
          <a:lstStyle/>
          <a:p>
            <a:pPr>
              <a:defRPr/>
            </a:pPr>
            <a:fld id="{CD3FC0C4-D681-4CE5-B41E-BCE48B80373A}" type="slidenum">
              <a:rPr lang="en-GB" smtClean="0"/>
              <a:pPr>
                <a:defRPr/>
              </a:pPr>
              <a:t>23</a:t>
            </a:fld>
            <a:endParaRPr lang="en-GB"/>
          </a:p>
        </p:txBody>
      </p:sp>
      <p:pic>
        <p:nvPicPr>
          <p:cNvPr id="12" name="Picture 11">
            <a:extLst>
              <a:ext uri="{FF2B5EF4-FFF2-40B4-BE49-F238E27FC236}">
                <a16:creationId xmlns:a16="http://schemas.microsoft.com/office/drawing/2014/main" id="{04385DBA-D25A-246C-C253-FC74B7D41CF6}"/>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pic>
        <p:nvPicPr>
          <p:cNvPr id="5" name="Graphic 4" descr="Question Mark with solid fill">
            <a:extLst>
              <a:ext uri="{FF2B5EF4-FFF2-40B4-BE49-F238E27FC236}">
                <a16:creationId xmlns:a16="http://schemas.microsoft.com/office/drawing/2014/main" id="{CAD29710-FE0C-5BB8-0C7C-08CDC9368C6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704" y="3074136"/>
            <a:ext cx="1393304" cy="1393304"/>
          </a:xfrm>
          <a:prstGeom prst="rect">
            <a:avLst/>
          </a:prstGeom>
        </p:spPr>
      </p:pic>
    </p:spTree>
    <p:extLst>
      <p:ext uri="{BB962C8B-B14F-4D97-AF65-F5344CB8AC3E}">
        <p14:creationId xmlns:p14="http://schemas.microsoft.com/office/powerpoint/2010/main" val="2995759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F6106-50B1-8A18-C4E2-9373BBB420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8709123-EBD5-9FAD-4450-C9253427098A}"/>
              </a:ext>
            </a:extLst>
          </p:cNvPr>
          <p:cNvSpPr>
            <a:spLocks noGrp="1"/>
          </p:cNvSpPr>
          <p:nvPr>
            <p:ph type="title"/>
          </p:nvPr>
        </p:nvSpPr>
        <p:spPr/>
        <p:txBody>
          <a:bodyPr/>
          <a:lstStyle/>
          <a:p>
            <a:r>
              <a:rPr lang="en-GB" dirty="0"/>
              <a:t>The goal: estimating the survival curve</a:t>
            </a:r>
          </a:p>
        </p:txBody>
      </p:sp>
      <p:sp>
        <p:nvSpPr>
          <p:cNvPr id="4" name="Slide Number Placeholder 3">
            <a:extLst>
              <a:ext uri="{FF2B5EF4-FFF2-40B4-BE49-F238E27FC236}">
                <a16:creationId xmlns:a16="http://schemas.microsoft.com/office/drawing/2014/main" id="{43FAAB77-D04D-6770-3982-72F7DEE2C96F}"/>
              </a:ext>
            </a:extLst>
          </p:cNvPr>
          <p:cNvSpPr>
            <a:spLocks noGrp="1"/>
          </p:cNvSpPr>
          <p:nvPr>
            <p:ph type="sldNum" sz="quarter" idx="10"/>
          </p:nvPr>
        </p:nvSpPr>
        <p:spPr/>
        <p:txBody>
          <a:bodyPr/>
          <a:lstStyle/>
          <a:p>
            <a:pPr>
              <a:defRPr/>
            </a:pPr>
            <a:fld id="{CD3FC0C4-D681-4CE5-B41E-BCE48B80373A}" type="slidenum">
              <a:rPr lang="en-GB" smtClean="0"/>
              <a:pPr>
                <a:defRPr/>
              </a:pPr>
              <a:t>24</a:t>
            </a:fld>
            <a:endParaRPr lang="en-GB"/>
          </a:p>
        </p:txBody>
      </p:sp>
      <p:pic>
        <p:nvPicPr>
          <p:cNvPr id="12" name="Picture 11">
            <a:extLst>
              <a:ext uri="{FF2B5EF4-FFF2-40B4-BE49-F238E27FC236}">
                <a16:creationId xmlns:a16="http://schemas.microsoft.com/office/drawing/2014/main" id="{A294434D-23C0-B9F6-E978-626BDAB96F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28591" y="1484784"/>
            <a:ext cx="8686818" cy="4572009"/>
          </a:xfrm>
          <a:prstGeom prst="rect">
            <a:avLst/>
          </a:prstGeom>
        </p:spPr>
      </p:pic>
    </p:spTree>
    <p:extLst>
      <p:ext uri="{BB962C8B-B14F-4D97-AF65-F5344CB8AC3E}">
        <p14:creationId xmlns:p14="http://schemas.microsoft.com/office/powerpoint/2010/main" val="1847886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0191C-A0C0-9316-3965-904D5FE7AF9A}"/>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E8BA3B77-727B-0CF7-2F2A-56D733F060EC}"/>
              </a:ext>
            </a:extLst>
          </p:cNvPr>
          <p:cNvSpPr>
            <a:spLocks noGrp="1"/>
          </p:cNvSpPr>
          <p:nvPr>
            <p:ph type="body" sz="quarter" idx="11"/>
          </p:nvPr>
        </p:nvSpPr>
        <p:spPr/>
        <p:txBody>
          <a:bodyPr/>
          <a:lstStyle/>
          <a:p>
            <a:pPr marL="0" indent="0">
              <a:buNone/>
            </a:pPr>
            <a:r>
              <a:rPr lang="en-GB" sz="2400" dirty="0"/>
              <a:t>“How long do dragon eggs take to hatch?”</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r>
              <a:rPr lang="en-GB" sz="2400" b="1" dirty="0">
                <a:solidFill>
                  <a:schemeClr val="accent4"/>
                </a:solidFill>
              </a:rPr>
              <a:t>Event: </a:t>
            </a:r>
            <a:r>
              <a:rPr lang="en-GB" sz="2400" dirty="0"/>
              <a:t>Egg hatches</a:t>
            </a:r>
          </a:p>
          <a:p>
            <a:pPr marL="0" indent="0">
              <a:buNone/>
            </a:pPr>
            <a:r>
              <a:rPr lang="en-GB" sz="2400" b="1" dirty="0">
                <a:solidFill>
                  <a:schemeClr val="accent2"/>
                </a:solidFill>
              </a:rPr>
              <a:t>Censoring: </a:t>
            </a:r>
            <a:r>
              <a:rPr lang="en-GB" sz="2400" dirty="0"/>
              <a:t>Egg is unhatched, damaged/removed, etc.</a:t>
            </a:r>
          </a:p>
        </p:txBody>
      </p:sp>
      <p:sp>
        <p:nvSpPr>
          <p:cNvPr id="2" name="Title 1">
            <a:extLst>
              <a:ext uri="{FF2B5EF4-FFF2-40B4-BE49-F238E27FC236}">
                <a16:creationId xmlns:a16="http://schemas.microsoft.com/office/drawing/2014/main" id="{02A54DAF-A5E6-5ED6-15FE-F9F1DDCE5D2B}"/>
              </a:ext>
            </a:extLst>
          </p:cNvPr>
          <p:cNvSpPr>
            <a:spLocks noGrp="1"/>
          </p:cNvSpPr>
          <p:nvPr>
            <p:ph type="title"/>
          </p:nvPr>
        </p:nvSpPr>
        <p:spPr/>
        <p:txBody>
          <a:bodyPr/>
          <a:lstStyle/>
          <a:p>
            <a:r>
              <a:rPr lang="en-GB" dirty="0"/>
              <a:t>An example</a:t>
            </a:r>
          </a:p>
        </p:txBody>
      </p:sp>
      <p:sp>
        <p:nvSpPr>
          <p:cNvPr id="3" name="Slide Number Placeholder 2">
            <a:extLst>
              <a:ext uri="{FF2B5EF4-FFF2-40B4-BE49-F238E27FC236}">
                <a16:creationId xmlns:a16="http://schemas.microsoft.com/office/drawing/2014/main" id="{B9D89534-3FFB-DF0D-0F50-BC3AA86E1539}"/>
              </a:ext>
            </a:extLst>
          </p:cNvPr>
          <p:cNvSpPr>
            <a:spLocks noGrp="1"/>
          </p:cNvSpPr>
          <p:nvPr>
            <p:ph type="sldNum" sz="quarter" idx="10"/>
          </p:nvPr>
        </p:nvSpPr>
        <p:spPr/>
        <p:txBody>
          <a:bodyPr/>
          <a:lstStyle/>
          <a:p>
            <a:pPr>
              <a:defRPr/>
            </a:pPr>
            <a:fld id="{062FE7C6-874C-4E62-8759-08C2AB2543BB}" type="slidenum">
              <a:rPr lang="en-GB" smtClean="0"/>
              <a:pPr>
                <a:defRPr/>
              </a:pPr>
              <a:t>25</a:t>
            </a:fld>
            <a:endParaRPr lang="en-GB"/>
          </a:p>
        </p:txBody>
      </p:sp>
      <p:pic>
        <p:nvPicPr>
          <p:cNvPr id="6" name="Graphic 5" descr="Dragon with solid fill">
            <a:extLst>
              <a:ext uri="{FF2B5EF4-FFF2-40B4-BE49-F238E27FC236}">
                <a16:creationId xmlns:a16="http://schemas.microsoft.com/office/drawing/2014/main" id="{FBA17C9C-4C7E-81CB-122E-BA9CB3F18E8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131999" y="2492896"/>
            <a:ext cx="1440000" cy="1440000"/>
          </a:xfrm>
          <a:prstGeom prst="rect">
            <a:avLst/>
          </a:prstGeom>
        </p:spPr>
      </p:pic>
      <p:pic>
        <p:nvPicPr>
          <p:cNvPr id="7" name="Graphic 6" descr="Dinosaur Egg with solid fill">
            <a:extLst>
              <a:ext uri="{FF2B5EF4-FFF2-40B4-BE49-F238E27FC236}">
                <a16:creationId xmlns:a16="http://schemas.microsoft.com/office/drawing/2014/main" id="{BB95E26F-E63B-C79F-372A-7929D3B7FE4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71999" y="2492896"/>
            <a:ext cx="1440000" cy="1440000"/>
          </a:xfrm>
          <a:prstGeom prst="rect">
            <a:avLst/>
          </a:prstGeom>
        </p:spPr>
      </p:pic>
    </p:spTree>
    <p:extLst>
      <p:ext uri="{BB962C8B-B14F-4D97-AF65-F5344CB8AC3E}">
        <p14:creationId xmlns:p14="http://schemas.microsoft.com/office/powerpoint/2010/main" val="1880261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B968C2-3534-15F5-9F8B-D2590174F38C}"/>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54AAE838-C583-289A-4FA5-2A7850F01294}"/>
              </a:ext>
            </a:extLst>
          </p:cNvPr>
          <p:cNvSpPr>
            <a:spLocks noGrp="1"/>
          </p:cNvSpPr>
          <p:nvPr>
            <p:ph type="sldNum" sz="quarter" idx="10"/>
          </p:nvPr>
        </p:nvSpPr>
        <p:spPr/>
        <p:txBody>
          <a:bodyPr/>
          <a:lstStyle/>
          <a:p>
            <a:pPr>
              <a:defRPr/>
            </a:pPr>
            <a:fld id="{CD3FC0C4-D681-4CE5-B41E-BCE48B80373A}" type="slidenum">
              <a:rPr lang="en-GB" smtClean="0"/>
              <a:pPr>
                <a:defRPr/>
              </a:pPr>
              <a:t>26</a:t>
            </a:fld>
            <a:endParaRPr lang="en-GB"/>
          </a:p>
        </p:txBody>
      </p:sp>
      <p:graphicFrame>
        <p:nvGraphicFramePr>
          <p:cNvPr id="5" name="Table 4">
            <a:extLst>
              <a:ext uri="{FF2B5EF4-FFF2-40B4-BE49-F238E27FC236}">
                <a16:creationId xmlns:a16="http://schemas.microsoft.com/office/drawing/2014/main" id="{71B42672-F6D2-8376-2C5E-1E0807E43013}"/>
              </a:ext>
            </a:extLst>
          </p:cNvPr>
          <p:cNvGraphicFramePr>
            <a:graphicFrameLocks noGrp="1"/>
          </p:cNvGraphicFramePr>
          <p:nvPr>
            <p:extLst>
              <p:ext uri="{D42A27DB-BD31-4B8C-83A1-F6EECF244321}">
                <p14:modId xmlns:p14="http://schemas.microsoft.com/office/powerpoint/2010/main" val="678351946"/>
              </p:ext>
            </p:extLst>
          </p:nvPr>
        </p:nvGraphicFramePr>
        <p:xfrm>
          <a:off x="1990452" y="2060848"/>
          <a:ext cx="5163096" cy="2951076"/>
        </p:xfrm>
        <a:graphic>
          <a:graphicData uri="http://schemas.openxmlformats.org/drawingml/2006/table">
            <a:tbl>
              <a:tblPr firstRow="1" bandRow="1">
                <a:tableStyleId>{5940675A-B579-460E-94D1-54222C63F5DA}</a:tableStyleId>
              </a:tblPr>
              <a:tblGrid>
                <a:gridCol w="1191483">
                  <a:extLst>
                    <a:ext uri="{9D8B030D-6E8A-4147-A177-3AD203B41FA5}">
                      <a16:colId xmlns:a16="http://schemas.microsoft.com/office/drawing/2014/main" val="2389350183"/>
                    </a:ext>
                  </a:extLst>
                </a:gridCol>
                <a:gridCol w="2680840">
                  <a:extLst>
                    <a:ext uri="{9D8B030D-6E8A-4147-A177-3AD203B41FA5}">
                      <a16:colId xmlns:a16="http://schemas.microsoft.com/office/drawing/2014/main" val="1763596876"/>
                    </a:ext>
                  </a:extLst>
                </a:gridCol>
                <a:gridCol w="1290773">
                  <a:extLst>
                    <a:ext uri="{9D8B030D-6E8A-4147-A177-3AD203B41FA5}">
                      <a16:colId xmlns:a16="http://schemas.microsoft.com/office/drawing/2014/main" val="3913547588"/>
                    </a:ext>
                  </a:extLst>
                </a:gridCol>
              </a:tblGrid>
              <a:tr h="491846">
                <a:tc>
                  <a:txBody>
                    <a:bodyPr/>
                    <a:lstStyle/>
                    <a:p>
                      <a:pPr algn="ctr"/>
                      <a:r>
                        <a:rPr lang="en-GB" sz="2400" b="1" dirty="0">
                          <a:solidFill>
                            <a:schemeClr val="tx1"/>
                          </a:solidFill>
                        </a:rPr>
                        <a:t>Egg</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Time followed</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Event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491846">
                <a:tc>
                  <a:txBody>
                    <a:bodyPr/>
                    <a:lstStyle/>
                    <a:p>
                      <a:pPr algn="ctr">
                        <a:buNone/>
                      </a:pPr>
                      <a:r>
                        <a:rPr lang="en-GB" sz="2400" dirty="0">
                          <a:solidFill>
                            <a:schemeClr val="tx1"/>
                          </a:solidFill>
                          <a:effectLst/>
                        </a:rPr>
                        <a:t>1</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49</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0</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491846">
                <a:tc>
                  <a:txBody>
                    <a:bodyPr/>
                    <a:lstStyle/>
                    <a:p>
                      <a:pPr algn="ctr">
                        <a:buNone/>
                      </a:pPr>
                      <a:r>
                        <a:rPr lang="en-GB" sz="2400" b="0" dirty="0">
                          <a:solidFill>
                            <a:schemeClr val="tx1"/>
                          </a:solidFill>
                          <a:effectLst/>
                        </a:rPr>
                        <a:t>2</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491846">
                <a:tc>
                  <a:txBody>
                    <a:bodyPr/>
                    <a:lstStyle/>
                    <a:p>
                      <a:pPr algn="ctr">
                        <a:buNone/>
                      </a:pPr>
                      <a:r>
                        <a:rPr lang="en-GB" sz="2400" b="0" dirty="0">
                          <a:solidFill>
                            <a:schemeClr val="tx1"/>
                          </a:solidFill>
                          <a:effectLst/>
                        </a:rPr>
                        <a:t>3</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30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491846">
                <a:tc>
                  <a:txBody>
                    <a:bodyPr/>
                    <a:lstStyle/>
                    <a:p>
                      <a:pPr algn="ctr">
                        <a:buNone/>
                      </a:pPr>
                      <a:r>
                        <a:rPr lang="en-GB" sz="2400" b="0" dirty="0">
                          <a:solidFill>
                            <a:schemeClr val="tx1"/>
                          </a:solidFill>
                          <a:effectLst/>
                        </a:rPr>
                        <a:t>4</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22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491846">
                <a:tc>
                  <a:txBody>
                    <a:bodyPr/>
                    <a:lstStyle/>
                    <a:p>
                      <a:pPr algn="ctr"/>
                      <a:r>
                        <a:rPr lang="en-GB" sz="2400" dirty="0">
                          <a:solidFill>
                            <a:schemeClr val="tx1"/>
                          </a:solidFill>
                        </a:rPr>
                        <a:t>..</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2077756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E6F7B889-B215-F44C-8350-5E4C627D0B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BD5B2D4D-932A-5241-5D91-4925846F4BE6}"/>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AE5BF1BA-C3CC-264E-1996-AA98DA4B4A31}"/>
              </a:ext>
            </a:extLst>
          </p:cNvPr>
          <p:cNvSpPr>
            <a:spLocks noGrp="1"/>
          </p:cNvSpPr>
          <p:nvPr>
            <p:ph type="sldNum" sz="quarter" idx="10"/>
          </p:nvPr>
        </p:nvSpPr>
        <p:spPr/>
        <p:txBody>
          <a:bodyPr/>
          <a:lstStyle/>
          <a:p>
            <a:pPr>
              <a:defRPr/>
            </a:pPr>
            <a:fld id="{CD3FC0C4-D681-4CE5-B41E-BCE48B80373A}" type="slidenum">
              <a:rPr lang="en-GB" smtClean="0"/>
              <a:pPr>
                <a:defRPr/>
              </a:pPr>
              <a:t>27</a:t>
            </a:fld>
            <a:endParaRPr lang="en-GB"/>
          </a:p>
        </p:txBody>
      </p:sp>
      <p:pic>
        <p:nvPicPr>
          <p:cNvPr id="27" name="Picture 26">
            <a:extLst>
              <a:ext uri="{FF2B5EF4-FFF2-40B4-BE49-F238E27FC236}">
                <a16:creationId xmlns:a16="http://schemas.microsoft.com/office/drawing/2014/main" id="{88E98F99-F4D2-352B-D9AC-B09ED7B7586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pic>
        <p:nvPicPr>
          <p:cNvPr id="2" name="Graphic 1" descr="Dragon with solid fill">
            <a:extLst>
              <a:ext uri="{FF2B5EF4-FFF2-40B4-BE49-F238E27FC236}">
                <a16:creationId xmlns:a16="http://schemas.microsoft.com/office/drawing/2014/main" id="{59F346D2-8A94-2115-E416-9B5ED86C8E6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75412" y="2160878"/>
            <a:ext cx="1440000" cy="1440000"/>
          </a:xfrm>
          <a:prstGeom prst="rect">
            <a:avLst/>
          </a:prstGeom>
        </p:spPr>
      </p:pic>
      <p:pic>
        <p:nvPicPr>
          <p:cNvPr id="3" name="Graphic 2" descr="Dinosaur Egg with solid fill">
            <a:extLst>
              <a:ext uri="{FF2B5EF4-FFF2-40B4-BE49-F238E27FC236}">
                <a16:creationId xmlns:a16="http://schemas.microsoft.com/office/drawing/2014/main" id="{E64B64CD-20E2-63FC-78D2-B10519105F5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971600" y="3673046"/>
            <a:ext cx="1440000" cy="1440000"/>
          </a:xfrm>
          <a:prstGeom prst="rect">
            <a:avLst/>
          </a:prstGeom>
        </p:spPr>
      </p:pic>
      <p:cxnSp>
        <p:nvCxnSpPr>
          <p:cNvPr id="7" name="Straight Arrow Connector 6">
            <a:extLst>
              <a:ext uri="{FF2B5EF4-FFF2-40B4-BE49-F238E27FC236}">
                <a16:creationId xmlns:a16="http://schemas.microsoft.com/office/drawing/2014/main" id="{9C17CA59-ACE9-EAB8-92E3-2F59C2B465B4}"/>
              </a:ext>
            </a:extLst>
          </p:cNvPr>
          <p:cNvCxnSpPr>
            <a:cxnSpLocks/>
          </p:cNvCxnSpPr>
          <p:nvPr/>
        </p:nvCxnSpPr>
        <p:spPr>
          <a:xfrm>
            <a:off x="2411600" y="3694296"/>
            <a:ext cx="2736464" cy="0"/>
          </a:xfrm>
          <a:prstGeom prst="straightConnector1">
            <a:avLst/>
          </a:prstGeom>
          <a:ln w="762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8633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FA1C0-F3B7-D01A-7DC8-AEDFD7016C0E}"/>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C2F8BD59-D2BD-C78A-AFE1-35CE1F1242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D38898C0-B218-793F-6D2D-2B1F2E56E5FA}"/>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A67DFD4C-81EF-5FB1-1299-EE6257C2F343}"/>
              </a:ext>
            </a:extLst>
          </p:cNvPr>
          <p:cNvSpPr>
            <a:spLocks noGrp="1"/>
          </p:cNvSpPr>
          <p:nvPr>
            <p:ph type="sldNum" sz="quarter" idx="10"/>
          </p:nvPr>
        </p:nvSpPr>
        <p:spPr/>
        <p:txBody>
          <a:bodyPr/>
          <a:lstStyle/>
          <a:p>
            <a:pPr>
              <a:defRPr/>
            </a:pPr>
            <a:fld id="{CD3FC0C4-D681-4CE5-B41E-BCE48B80373A}" type="slidenum">
              <a:rPr lang="en-GB" smtClean="0"/>
              <a:pPr>
                <a:defRPr/>
              </a:pPr>
              <a:t>28</a:t>
            </a:fld>
            <a:endParaRPr lang="en-GB"/>
          </a:p>
        </p:txBody>
      </p:sp>
      <p:sp>
        <p:nvSpPr>
          <p:cNvPr id="23" name="Text Placeholder 5">
            <a:extLst>
              <a:ext uri="{FF2B5EF4-FFF2-40B4-BE49-F238E27FC236}">
                <a16:creationId xmlns:a16="http://schemas.microsoft.com/office/drawing/2014/main" id="{E50F9235-25BE-3B12-D48E-A5CB2B19B74A}"/>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endParaRPr lang="en-US" kern="0" dirty="0"/>
          </a:p>
          <a:p>
            <a:endParaRPr lang="en-GB" kern="0" dirty="0"/>
          </a:p>
        </p:txBody>
      </p:sp>
      <p:pic>
        <p:nvPicPr>
          <p:cNvPr id="27" name="Picture 26">
            <a:extLst>
              <a:ext uri="{FF2B5EF4-FFF2-40B4-BE49-F238E27FC236}">
                <a16:creationId xmlns:a16="http://schemas.microsoft.com/office/drawing/2014/main" id="{8B0C126A-1354-BFD0-18EE-A76B82D7C9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3" name="TextBox 2">
            <a:extLst>
              <a:ext uri="{FF2B5EF4-FFF2-40B4-BE49-F238E27FC236}">
                <a16:creationId xmlns:a16="http://schemas.microsoft.com/office/drawing/2014/main" id="{94E92F6A-D0FB-7076-77D3-A0A5A2A0CDD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299506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9433E-1746-8840-4908-804CE6483BF7}"/>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7539871E-24B5-5A38-FB2B-68F0996CBCA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55016A8A-EA9F-5D12-44E6-AECEE136BCA4}"/>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81E04A3-ABA5-940A-9882-5592FA755087}"/>
              </a:ext>
            </a:extLst>
          </p:cNvPr>
          <p:cNvSpPr>
            <a:spLocks noGrp="1"/>
          </p:cNvSpPr>
          <p:nvPr>
            <p:ph type="sldNum" sz="quarter" idx="10"/>
          </p:nvPr>
        </p:nvSpPr>
        <p:spPr/>
        <p:txBody>
          <a:bodyPr/>
          <a:lstStyle/>
          <a:p>
            <a:pPr>
              <a:defRPr/>
            </a:pPr>
            <a:fld id="{CD3FC0C4-D681-4CE5-B41E-BCE48B80373A}" type="slidenum">
              <a:rPr lang="en-GB" smtClean="0"/>
              <a:pPr>
                <a:defRPr/>
              </a:pPr>
              <a:t>29</a:t>
            </a:fld>
            <a:endParaRPr lang="en-GB"/>
          </a:p>
        </p:txBody>
      </p:sp>
      <p:sp>
        <p:nvSpPr>
          <p:cNvPr id="23" name="Text Placeholder 5">
            <a:extLst>
              <a:ext uri="{FF2B5EF4-FFF2-40B4-BE49-F238E27FC236}">
                <a16:creationId xmlns:a16="http://schemas.microsoft.com/office/drawing/2014/main" id="{3AA4615F-542D-22AC-3808-D45EADAC5A53}"/>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GB" kern="0" dirty="0"/>
          </a:p>
        </p:txBody>
      </p:sp>
      <p:pic>
        <p:nvPicPr>
          <p:cNvPr id="2" name="Picture 1">
            <a:extLst>
              <a:ext uri="{FF2B5EF4-FFF2-40B4-BE49-F238E27FC236}">
                <a16:creationId xmlns:a16="http://schemas.microsoft.com/office/drawing/2014/main" id="{AFB1DEF2-5775-790A-34B4-A76269858ED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6" name="TextBox 5">
            <a:extLst>
              <a:ext uri="{FF2B5EF4-FFF2-40B4-BE49-F238E27FC236}">
                <a16:creationId xmlns:a16="http://schemas.microsoft.com/office/drawing/2014/main" id="{91FAD59A-3EEC-0A4B-067C-5E39B99DEEE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32762282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C3955-679E-73B1-070C-14A55C5D708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D545552-C563-6424-C8BE-F0C8C495DA8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4D68AB37-53DB-40F4-50F0-D29ECE37F3AE}"/>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C089C69-CBA0-711D-AC24-D3786B0A8AF6}"/>
              </a:ext>
            </a:extLst>
          </p:cNvPr>
          <p:cNvSpPr>
            <a:spLocks noGrp="1"/>
          </p:cNvSpPr>
          <p:nvPr>
            <p:ph type="sldNum" sz="quarter" idx="10"/>
          </p:nvPr>
        </p:nvSpPr>
        <p:spPr/>
        <p:txBody>
          <a:bodyPr/>
          <a:lstStyle/>
          <a:p>
            <a:pPr>
              <a:defRPr/>
            </a:pPr>
            <a:fld id="{CD3FC0C4-D681-4CE5-B41E-BCE48B80373A}" type="slidenum">
              <a:rPr lang="en-GB" smtClean="0"/>
              <a:pPr>
                <a:defRPr/>
              </a:pPr>
              <a:t>30</a:t>
            </a:fld>
            <a:endParaRPr lang="en-GB"/>
          </a:p>
        </p:txBody>
      </p:sp>
      <p:sp>
        <p:nvSpPr>
          <p:cNvPr id="23" name="Text Placeholder 5">
            <a:extLst>
              <a:ext uri="{FF2B5EF4-FFF2-40B4-BE49-F238E27FC236}">
                <a16:creationId xmlns:a16="http://schemas.microsoft.com/office/drawing/2014/main" id="{69B3C2E4-5C89-F717-9617-5F9BB02FF5CB}"/>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20854663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80E85-9D0C-F79B-8A79-8A6D78F28E1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ABD8EC-9303-4CAF-9CD8-EA0E7E757E8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82D409A9-E4DC-0D32-1B5C-5D2D0D840366}"/>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75AF4871-A3D0-72C9-04E4-C66D6F52A29B}"/>
              </a:ext>
            </a:extLst>
          </p:cNvPr>
          <p:cNvSpPr>
            <a:spLocks noGrp="1"/>
          </p:cNvSpPr>
          <p:nvPr>
            <p:ph type="sldNum" sz="quarter" idx="10"/>
          </p:nvPr>
        </p:nvSpPr>
        <p:spPr/>
        <p:txBody>
          <a:bodyPr/>
          <a:lstStyle/>
          <a:p>
            <a:pPr>
              <a:defRPr/>
            </a:pPr>
            <a:fld id="{CD3FC0C4-D681-4CE5-B41E-BCE48B80373A}" type="slidenum">
              <a:rPr lang="en-GB" smtClean="0"/>
              <a:pPr>
                <a:defRPr/>
              </a:pPr>
              <a:t>31</a:t>
            </a:fld>
            <a:endParaRPr lang="en-GB"/>
          </a:p>
        </p:txBody>
      </p:sp>
      <p:sp>
        <p:nvSpPr>
          <p:cNvPr id="23" name="Text Placeholder 5">
            <a:extLst>
              <a:ext uri="{FF2B5EF4-FFF2-40B4-BE49-F238E27FC236}">
                <a16:creationId xmlns:a16="http://schemas.microsoft.com/office/drawing/2014/main" id="{71383239-2613-569C-443C-6DD03433BF6F}"/>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7253347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ABACEB3-CD4C-7938-B3DA-780FFD7ED284}"/>
              </a:ext>
            </a:extLst>
          </p:cNvPr>
          <p:cNvSpPr>
            <a:spLocks noGrp="1"/>
          </p:cNvSpPr>
          <p:nvPr>
            <p:ph type="body" sz="quarter" idx="11"/>
          </p:nvPr>
        </p:nvSpPr>
        <p:spPr/>
        <p:txBody>
          <a:bodyPr/>
          <a:lstStyle/>
          <a:p>
            <a:pPr marL="0" indent="0">
              <a:buNone/>
            </a:pPr>
            <a:r>
              <a:rPr lang="en-GB" dirty="0"/>
              <a:t>Constructed using the </a:t>
            </a:r>
            <a:r>
              <a:rPr lang="en-GB" b="1" dirty="0"/>
              <a:t>Kaplan-Meier estimator</a:t>
            </a:r>
          </a:p>
          <a:p>
            <a:pPr marL="0" indent="0">
              <a:buNone/>
            </a:pPr>
            <a:endParaRPr lang="en-GB" b="1" dirty="0"/>
          </a:p>
          <a:p>
            <a:pPr marL="0" indent="0">
              <a:buNone/>
            </a:pPr>
            <a:r>
              <a:rPr lang="en-GB" dirty="0"/>
              <a:t>Original data		 </a:t>
            </a:r>
            <a:r>
              <a:rPr lang="en-GB" dirty="0">
                <a:sym typeface="Wingdings" panose="05000000000000000000" pitchFamily="2" charset="2"/>
              </a:rPr>
              <a:t> 		survival object</a:t>
            </a:r>
            <a:endParaRPr lang="en-GB" dirty="0"/>
          </a:p>
        </p:txBody>
      </p:sp>
      <p:sp>
        <p:nvSpPr>
          <p:cNvPr id="2" name="Title 1">
            <a:extLst>
              <a:ext uri="{FF2B5EF4-FFF2-40B4-BE49-F238E27FC236}">
                <a16:creationId xmlns:a16="http://schemas.microsoft.com/office/drawing/2014/main" id="{B0A0E3FE-5A2C-C528-D0C9-139D8F8FAB1C}"/>
              </a:ext>
            </a:extLst>
          </p:cNvPr>
          <p:cNvSpPr>
            <a:spLocks noGrp="1"/>
          </p:cNvSpPr>
          <p:nvPr>
            <p:ph type="title"/>
          </p:nvPr>
        </p:nvSpPr>
        <p:spPr/>
        <p:txBody>
          <a:bodyPr/>
          <a:lstStyle/>
          <a:p>
            <a:r>
              <a:rPr lang="en-GB" dirty="0"/>
              <a:t>How is the curve constructed?</a:t>
            </a:r>
          </a:p>
        </p:txBody>
      </p:sp>
      <p:sp>
        <p:nvSpPr>
          <p:cNvPr id="3" name="Slide Number Placeholder 2">
            <a:extLst>
              <a:ext uri="{FF2B5EF4-FFF2-40B4-BE49-F238E27FC236}">
                <a16:creationId xmlns:a16="http://schemas.microsoft.com/office/drawing/2014/main" id="{DEA09227-4851-07EA-5499-911B6C99FB99}"/>
              </a:ext>
            </a:extLst>
          </p:cNvPr>
          <p:cNvSpPr>
            <a:spLocks noGrp="1"/>
          </p:cNvSpPr>
          <p:nvPr>
            <p:ph type="sldNum" sz="quarter" idx="10"/>
          </p:nvPr>
        </p:nvSpPr>
        <p:spPr/>
        <p:txBody>
          <a:bodyPr/>
          <a:lstStyle/>
          <a:p>
            <a:pPr>
              <a:defRPr/>
            </a:pPr>
            <a:fld id="{062FE7C6-874C-4E62-8759-08C2AB2543BB}" type="slidenum">
              <a:rPr lang="en-GB" smtClean="0"/>
              <a:pPr>
                <a:defRPr/>
              </a:pPr>
              <a:t>32</a:t>
            </a:fld>
            <a:endParaRPr lang="en-GB"/>
          </a:p>
        </p:txBody>
      </p:sp>
      <p:sp>
        <p:nvSpPr>
          <p:cNvPr id="5" name="Arrow: Right 4">
            <a:extLst>
              <a:ext uri="{FF2B5EF4-FFF2-40B4-BE49-F238E27FC236}">
                <a16:creationId xmlns:a16="http://schemas.microsoft.com/office/drawing/2014/main" id="{9CB2D784-0F39-3D09-587E-2E131B49DE0C}"/>
              </a:ext>
            </a:extLst>
          </p:cNvPr>
          <p:cNvSpPr/>
          <p:nvPr/>
        </p:nvSpPr>
        <p:spPr>
          <a:xfrm>
            <a:off x="2267744" y="2414798"/>
            <a:ext cx="2664296" cy="792088"/>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accent3"/>
                </a:solidFill>
              </a:rPr>
              <a:t>transformed into</a:t>
            </a:r>
          </a:p>
        </p:txBody>
      </p:sp>
    </p:spTree>
    <p:extLst>
      <p:ext uri="{BB962C8B-B14F-4D97-AF65-F5344CB8AC3E}">
        <p14:creationId xmlns:p14="http://schemas.microsoft.com/office/powerpoint/2010/main" val="4608096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8A134-3A9E-B39B-23BE-A4FD670596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680C47-B0C0-D29A-3916-4020CA128D0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671E542D-BF00-7412-84D4-F9401ADC4B93}"/>
              </a:ext>
            </a:extLst>
          </p:cNvPr>
          <p:cNvSpPr>
            <a:spLocks noGrp="1"/>
          </p:cNvSpPr>
          <p:nvPr>
            <p:ph type="sldNum" sz="quarter" idx="10"/>
          </p:nvPr>
        </p:nvSpPr>
        <p:spPr/>
        <p:txBody>
          <a:bodyPr/>
          <a:lstStyle/>
          <a:p>
            <a:pPr>
              <a:defRPr/>
            </a:pPr>
            <a:fld id="{062FE7C6-874C-4E62-8759-08C2AB2543BB}" type="slidenum">
              <a:rPr lang="en-GB" smtClean="0"/>
              <a:pPr>
                <a:defRPr/>
              </a:pPr>
              <a:t>33</a:t>
            </a:fld>
            <a:endParaRPr lang="en-GB"/>
          </a:p>
        </p:txBody>
      </p:sp>
      <p:graphicFrame>
        <p:nvGraphicFramePr>
          <p:cNvPr id="4" name="Table 3">
            <a:extLst>
              <a:ext uri="{FF2B5EF4-FFF2-40B4-BE49-F238E27FC236}">
                <a16:creationId xmlns:a16="http://schemas.microsoft.com/office/drawing/2014/main" id="{8C5891A1-06E0-18F3-9320-61E7B9F924E7}"/>
              </a:ext>
            </a:extLst>
          </p:cNvPr>
          <p:cNvGraphicFramePr>
            <a:graphicFrameLocks noGrp="1"/>
          </p:cNvGraphicFramePr>
          <p:nvPr>
            <p:extLst>
              <p:ext uri="{D42A27DB-BD31-4B8C-83A1-F6EECF244321}">
                <p14:modId xmlns:p14="http://schemas.microsoft.com/office/powerpoint/2010/main" val="3714519916"/>
              </p:ext>
            </p:extLst>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
        <p:nvSpPr>
          <p:cNvPr id="7" name="TextBox 6">
            <a:extLst>
              <a:ext uri="{FF2B5EF4-FFF2-40B4-BE49-F238E27FC236}">
                <a16:creationId xmlns:a16="http://schemas.microsoft.com/office/drawing/2014/main" id="{5D4F92BD-D49D-813E-42C8-9A31DEED64C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Tree>
    <p:extLst>
      <p:ext uri="{BB962C8B-B14F-4D97-AF65-F5344CB8AC3E}">
        <p14:creationId xmlns:p14="http://schemas.microsoft.com/office/powerpoint/2010/main" val="2568393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647D5-62ED-8BEA-AF18-1BDBBBF23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A7A45-6EC5-A0F8-DA82-98E434404F1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CB760EA2-035C-6500-5374-676B693E5C43}"/>
              </a:ext>
            </a:extLst>
          </p:cNvPr>
          <p:cNvSpPr>
            <a:spLocks noGrp="1"/>
          </p:cNvSpPr>
          <p:nvPr>
            <p:ph type="sldNum" sz="quarter" idx="10"/>
          </p:nvPr>
        </p:nvSpPr>
        <p:spPr/>
        <p:txBody>
          <a:bodyPr/>
          <a:lstStyle/>
          <a:p>
            <a:pPr>
              <a:defRPr/>
            </a:pPr>
            <a:fld id="{062FE7C6-874C-4E62-8759-08C2AB2543BB}" type="slidenum">
              <a:rPr lang="en-GB" smtClean="0"/>
              <a:pPr>
                <a:defRPr/>
              </a:pPr>
              <a:t>34</a:t>
            </a:fld>
            <a:endParaRPr lang="en-GB"/>
          </a:p>
        </p:txBody>
      </p:sp>
      <p:graphicFrame>
        <p:nvGraphicFramePr>
          <p:cNvPr id="4" name="Table 3">
            <a:extLst>
              <a:ext uri="{FF2B5EF4-FFF2-40B4-BE49-F238E27FC236}">
                <a16:creationId xmlns:a16="http://schemas.microsoft.com/office/drawing/2014/main" id="{D7BC1F51-0CB8-5B84-C12E-10434AF3FA01}"/>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08DA3317-E62D-8BC3-C32D-553E6E71E4B3}"/>
              </a:ext>
            </a:extLst>
          </p:cNvPr>
          <p:cNvGraphicFramePr>
            <a:graphicFrameLocks noGrp="1"/>
          </p:cNvGraphicFramePr>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0076716E-A592-553B-17D8-1DB3C032CD22}"/>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7FE8587E-2C06-F136-9B13-040DA21B160D}"/>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5412CDC1-89DD-9C97-BDEC-FAF52BFC7B25}"/>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237076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F4EEC-69AC-A897-5867-D4C6BCA5F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DB8CE-6CCD-AD4E-CDD4-75B18126A32C}"/>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8EC533E3-4CF7-B9EA-1EC0-39FA59DC2D8D}"/>
              </a:ext>
            </a:extLst>
          </p:cNvPr>
          <p:cNvSpPr>
            <a:spLocks noGrp="1"/>
          </p:cNvSpPr>
          <p:nvPr>
            <p:ph type="sldNum" sz="quarter" idx="10"/>
          </p:nvPr>
        </p:nvSpPr>
        <p:spPr/>
        <p:txBody>
          <a:bodyPr/>
          <a:lstStyle/>
          <a:p>
            <a:pPr>
              <a:defRPr/>
            </a:pPr>
            <a:fld id="{062FE7C6-874C-4E62-8759-08C2AB2543BB}" type="slidenum">
              <a:rPr lang="en-GB" smtClean="0"/>
              <a:pPr>
                <a:defRPr/>
              </a:pPr>
              <a:t>35</a:t>
            </a:fld>
            <a:endParaRPr lang="en-GB"/>
          </a:p>
        </p:txBody>
      </p:sp>
      <p:graphicFrame>
        <p:nvGraphicFramePr>
          <p:cNvPr id="4" name="Table 3">
            <a:extLst>
              <a:ext uri="{FF2B5EF4-FFF2-40B4-BE49-F238E27FC236}">
                <a16:creationId xmlns:a16="http://schemas.microsoft.com/office/drawing/2014/main" id="{2423B7EC-23D0-14F7-D9D2-EC613954EBFE}"/>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38D6E111-46FB-2941-CECE-5F8EDB29A022}"/>
              </a:ext>
            </a:extLst>
          </p:cNvPr>
          <p:cNvGraphicFramePr>
            <a:graphicFrameLocks noGrp="1"/>
          </p:cNvGraphicFramePr>
          <p:nvPr>
            <p:extLst>
              <p:ext uri="{D42A27DB-BD31-4B8C-83A1-F6EECF244321}">
                <p14:modId xmlns:p14="http://schemas.microsoft.com/office/powerpoint/2010/main" val="2646767754"/>
              </p:ext>
            </p:extLst>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525FD8EA-B9F6-4E9C-5539-E6F2089A089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3AB66028-65CE-C66E-C67E-32B7D8AA3A43}"/>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DF927D74-D82C-9F1E-AC3F-785CFD2A3042}"/>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034478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ABDF2-454E-240B-1860-1A956A15720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42A9E6-23BF-9B0B-B9C1-D34F355B2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3244" y="1556792"/>
            <a:ext cx="7397511" cy="4572009"/>
          </a:xfrm>
          <a:prstGeom prst="rect">
            <a:avLst/>
          </a:prstGeom>
        </p:spPr>
      </p:pic>
      <p:sp>
        <p:nvSpPr>
          <p:cNvPr id="5" name="Title 4">
            <a:extLst>
              <a:ext uri="{FF2B5EF4-FFF2-40B4-BE49-F238E27FC236}">
                <a16:creationId xmlns:a16="http://schemas.microsoft.com/office/drawing/2014/main" id="{FC6AB7C3-419F-414B-3EF1-2D927CD106BE}"/>
              </a:ext>
            </a:extLst>
          </p:cNvPr>
          <p:cNvSpPr>
            <a:spLocks noGrp="1"/>
          </p:cNvSpPr>
          <p:nvPr>
            <p:ph type="title"/>
          </p:nvPr>
        </p:nvSpPr>
        <p:spPr/>
        <p:txBody>
          <a:bodyPr/>
          <a:lstStyle/>
          <a:p>
            <a:r>
              <a:rPr lang="en-GB" dirty="0"/>
              <a:t>Dragon egg dataset</a:t>
            </a:r>
          </a:p>
        </p:txBody>
      </p:sp>
      <p:sp>
        <p:nvSpPr>
          <p:cNvPr id="4" name="Slide Number Placeholder 3">
            <a:extLst>
              <a:ext uri="{FF2B5EF4-FFF2-40B4-BE49-F238E27FC236}">
                <a16:creationId xmlns:a16="http://schemas.microsoft.com/office/drawing/2014/main" id="{945374FA-062E-B846-94EE-3576201B2C4F}"/>
              </a:ext>
            </a:extLst>
          </p:cNvPr>
          <p:cNvSpPr>
            <a:spLocks noGrp="1"/>
          </p:cNvSpPr>
          <p:nvPr>
            <p:ph type="sldNum" sz="quarter" idx="10"/>
          </p:nvPr>
        </p:nvSpPr>
        <p:spPr/>
        <p:txBody>
          <a:bodyPr/>
          <a:lstStyle/>
          <a:p>
            <a:pPr>
              <a:defRPr/>
            </a:pPr>
            <a:fld id="{CD3FC0C4-D681-4CE5-B41E-BCE48B80373A}" type="slidenum">
              <a:rPr lang="en-GB" smtClean="0"/>
              <a:pPr>
                <a:defRPr/>
              </a:pPr>
              <a:t>36</a:t>
            </a:fld>
            <a:endParaRPr lang="en-GB"/>
          </a:p>
        </p:txBody>
      </p:sp>
      <p:sp>
        <p:nvSpPr>
          <p:cNvPr id="6" name="Arrow: Right 5">
            <a:extLst>
              <a:ext uri="{FF2B5EF4-FFF2-40B4-BE49-F238E27FC236}">
                <a16:creationId xmlns:a16="http://schemas.microsoft.com/office/drawing/2014/main" id="{5A3D4923-4EB9-B5F3-4554-8A946B594361}"/>
              </a:ext>
            </a:extLst>
          </p:cNvPr>
          <p:cNvSpPr/>
          <p:nvPr/>
        </p:nvSpPr>
        <p:spPr>
          <a:xfrm>
            <a:off x="3960127" y="5805264"/>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Arrow: Right 7">
            <a:extLst>
              <a:ext uri="{FF2B5EF4-FFF2-40B4-BE49-F238E27FC236}">
                <a16:creationId xmlns:a16="http://schemas.microsoft.com/office/drawing/2014/main" id="{CDF8C523-DC56-DD71-429A-768EFF13BD19}"/>
              </a:ext>
            </a:extLst>
          </p:cNvPr>
          <p:cNvSpPr/>
          <p:nvPr/>
        </p:nvSpPr>
        <p:spPr>
          <a:xfrm>
            <a:off x="251520" y="4221088"/>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69726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B3D2F76-E8D8-3D41-A169-3AF6D2A6618E}"/>
              </a:ext>
            </a:extLst>
          </p:cNvPr>
          <p:cNvSpPr>
            <a:spLocks noGrp="1"/>
          </p:cNvSpPr>
          <p:nvPr>
            <p:ph type="body" sz="quarter" idx="11"/>
          </p:nvPr>
        </p:nvSpPr>
        <p:spPr/>
        <p:txBody>
          <a:bodyPr/>
          <a:lstStyle/>
          <a:p>
            <a:r>
              <a:rPr lang="en-GB" dirty="0"/>
              <a:t>In the population, a true survival curve exists</a:t>
            </a:r>
          </a:p>
          <a:p>
            <a:r>
              <a:rPr lang="en-GB" dirty="0"/>
              <a:t>We want to </a:t>
            </a:r>
            <a:r>
              <a:rPr lang="en-GB" b="1" dirty="0"/>
              <a:t>estimate</a:t>
            </a:r>
            <a:r>
              <a:rPr lang="en-GB" dirty="0"/>
              <a:t> that survival curve using our data</a:t>
            </a:r>
          </a:p>
          <a:p>
            <a:endParaRPr lang="en-GB" dirty="0"/>
          </a:p>
          <a:p>
            <a:r>
              <a:rPr lang="en-GB" dirty="0"/>
              <a:t>The curve shows </a:t>
            </a:r>
            <a:r>
              <a:rPr lang="en-GB" b="1" dirty="0">
                <a:solidFill>
                  <a:schemeClr val="accent1"/>
                </a:solidFill>
              </a:rPr>
              <a:t>time against probability </a:t>
            </a:r>
            <a:br>
              <a:rPr lang="en-GB" dirty="0"/>
            </a:br>
            <a:r>
              <a:rPr lang="en-GB" dirty="0"/>
              <a:t>(of not experiencing the event)</a:t>
            </a:r>
          </a:p>
          <a:p>
            <a:r>
              <a:rPr lang="en-GB" dirty="0"/>
              <a:t>We can use the Kaplan-Meier estimator to calculate those probabilities</a:t>
            </a:r>
          </a:p>
          <a:p>
            <a:endParaRPr lang="en-GB" dirty="0"/>
          </a:p>
          <a:p>
            <a:r>
              <a:rPr lang="en-GB" dirty="0"/>
              <a:t>When presenting survival curves, we can provide additional info via </a:t>
            </a:r>
            <a:r>
              <a:rPr lang="en-GB" b="1" dirty="0"/>
              <a:t>risk and/or cumulative events tables</a:t>
            </a:r>
          </a:p>
          <a:p>
            <a:pPr marL="0" indent="0">
              <a:buNone/>
            </a:pPr>
            <a:endParaRPr lang="en-GB" dirty="0"/>
          </a:p>
        </p:txBody>
      </p:sp>
      <p:sp>
        <p:nvSpPr>
          <p:cNvPr id="2" name="Title 1">
            <a:extLst>
              <a:ext uri="{FF2B5EF4-FFF2-40B4-BE49-F238E27FC236}">
                <a16:creationId xmlns:a16="http://schemas.microsoft.com/office/drawing/2014/main" id="{45BDAB9B-0835-8A88-9188-8D127F7256B2}"/>
              </a:ext>
            </a:extLst>
          </p:cNvPr>
          <p:cNvSpPr>
            <a:spLocks noGrp="1"/>
          </p:cNvSpPr>
          <p:nvPr>
            <p:ph type="title"/>
          </p:nvPr>
        </p:nvSpPr>
        <p:spPr/>
        <p:txBody>
          <a:bodyPr/>
          <a:lstStyle/>
          <a:p>
            <a:r>
              <a:rPr lang="en-GB" dirty="0"/>
              <a:t>Survival curves</a:t>
            </a:r>
          </a:p>
        </p:txBody>
      </p:sp>
      <p:sp>
        <p:nvSpPr>
          <p:cNvPr id="3" name="Slide Number Placeholder 2">
            <a:extLst>
              <a:ext uri="{FF2B5EF4-FFF2-40B4-BE49-F238E27FC236}">
                <a16:creationId xmlns:a16="http://schemas.microsoft.com/office/drawing/2014/main" id="{B40DE11A-8A2B-D093-7AEE-EB67FBD60643}"/>
              </a:ext>
            </a:extLst>
          </p:cNvPr>
          <p:cNvSpPr>
            <a:spLocks noGrp="1"/>
          </p:cNvSpPr>
          <p:nvPr>
            <p:ph type="sldNum" sz="quarter" idx="10"/>
          </p:nvPr>
        </p:nvSpPr>
        <p:spPr/>
        <p:txBody>
          <a:bodyPr/>
          <a:lstStyle/>
          <a:p>
            <a:pPr>
              <a:defRPr/>
            </a:pPr>
            <a:fld id="{062FE7C6-874C-4E62-8759-08C2AB2543BB}" type="slidenum">
              <a:rPr lang="en-GB" smtClean="0"/>
              <a:pPr>
                <a:defRPr/>
              </a:pPr>
              <a:t>37</a:t>
            </a:fld>
            <a:endParaRPr lang="en-GB"/>
          </a:p>
        </p:txBody>
      </p:sp>
    </p:spTree>
    <p:extLst>
      <p:ext uri="{BB962C8B-B14F-4D97-AF65-F5344CB8AC3E}">
        <p14:creationId xmlns:p14="http://schemas.microsoft.com/office/powerpoint/2010/main" val="1145795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037D105-E86C-8C0F-1075-CCDE5C53F044}"/>
              </a:ext>
            </a:extLst>
          </p:cNvPr>
          <p:cNvSpPr>
            <a:spLocks noGrp="1"/>
          </p:cNvSpPr>
          <p:nvPr>
            <p:ph type="body" sz="quarter" idx="12"/>
          </p:nvPr>
        </p:nvSpPr>
        <p:spPr/>
        <p:txBody>
          <a:bodyPr/>
          <a:lstStyle/>
          <a:p>
            <a:r>
              <a:rPr lang="en-GB" noProof="0" dirty="0"/>
              <a:t>The log-rank test for a single categorical predictor</a:t>
            </a:r>
          </a:p>
        </p:txBody>
      </p:sp>
      <p:sp>
        <p:nvSpPr>
          <p:cNvPr id="5" name="Text Placeholder 4">
            <a:extLst>
              <a:ext uri="{FF2B5EF4-FFF2-40B4-BE49-F238E27FC236}">
                <a16:creationId xmlns:a16="http://schemas.microsoft.com/office/drawing/2014/main" id="{805CC983-E981-4A2A-4AD7-7EDB9A85389E}"/>
              </a:ext>
            </a:extLst>
          </p:cNvPr>
          <p:cNvSpPr>
            <a:spLocks noGrp="1"/>
          </p:cNvSpPr>
          <p:nvPr>
            <p:ph type="body" sz="quarter" idx="11"/>
          </p:nvPr>
        </p:nvSpPr>
        <p:spPr/>
        <p:txBody>
          <a:bodyPr/>
          <a:lstStyle/>
          <a:p>
            <a:r>
              <a:rPr lang="en-GB" noProof="0" dirty="0"/>
              <a:t>3. Comparing </a:t>
            </a:r>
            <a:r>
              <a:rPr lang="en-GB" dirty="0"/>
              <a:t>curves</a:t>
            </a:r>
            <a:endParaRPr lang="en-GB" noProof="0" dirty="0"/>
          </a:p>
        </p:txBody>
      </p:sp>
      <p:sp>
        <p:nvSpPr>
          <p:cNvPr id="4" name="Slide Number Placeholder 3">
            <a:extLst>
              <a:ext uri="{FF2B5EF4-FFF2-40B4-BE49-F238E27FC236}">
                <a16:creationId xmlns:a16="http://schemas.microsoft.com/office/drawing/2014/main" id="{C617D5B8-738E-0D71-E3FF-7689C1E80009}"/>
              </a:ext>
            </a:extLst>
          </p:cNvPr>
          <p:cNvSpPr>
            <a:spLocks noGrp="1"/>
          </p:cNvSpPr>
          <p:nvPr>
            <p:ph type="sldNum" sz="quarter" idx="10"/>
          </p:nvPr>
        </p:nvSpPr>
        <p:spPr/>
        <p:txBody>
          <a:bodyPr/>
          <a:lstStyle/>
          <a:p>
            <a:pPr>
              <a:defRPr/>
            </a:pPr>
            <a:fld id="{CD3FC0C4-D681-4CE5-B41E-BCE48B80373A}" type="slidenum">
              <a:rPr lang="en-GB" noProof="0" smtClean="0"/>
              <a:pPr>
                <a:defRPr/>
              </a:pPr>
              <a:t>38</a:t>
            </a:fld>
            <a:endParaRPr lang="en-GB" noProof="0" dirty="0"/>
          </a:p>
        </p:txBody>
      </p:sp>
    </p:spTree>
    <p:extLst>
      <p:ext uri="{BB962C8B-B14F-4D97-AF65-F5344CB8AC3E}">
        <p14:creationId xmlns:p14="http://schemas.microsoft.com/office/powerpoint/2010/main" val="14473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25C15A-6669-B5D2-741A-BC8E342C23B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457191" y="1556792"/>
            <a:ext cx="8229617" cy="4572009"/>
          </a:xfrm>
          <a:prstGeom prst="rect">
            <a:avLst/>
          </a:prstGeom>
        </p:spPr>
      </p:pic>
      <p:sp>
        <p:nvSpPr>
          <p:cNvPr id="7" name="Title 6">
            <a:extLst>
              <a:ext uri="{FF2B5EF4-FFF2-40B4-BE49-F238E27FC236}">
                <a16:creationId xmlns:a16="http://schemas.microsoft.com/office/drawing/2014/main" id="{A3058581-847F-5CDC-270F-8C6D8A84CA66}"/>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498F43E8-4E65-719B-CA92-E5F1E63A4A26}"/>
              </a:ext>
            </a:extLst>
          </p:cNvPr>
          <p:cNvSpPr>
            <a:spLocks noGrp="1"/>
          </p:cNvSpPr>
          <p:nvPr>
            <p:ph type="sldNum" sz="quarter" idx="10"/>
          </p:nvPr>
        </p:nvSpPr>
        <p:spPr/>
        <p:txBody>
          <a:bodyPr/>
          <a:lstStyle/>
          <a:p>
            <a:pPr>
              <a:defRPr/>
            </a:pPr>
            <a:fld id="{E5717E7F-5007-4559-A9EA-6621C16865F0}" type="slidenum">
              <a:rPr lang="en-GB" smtClean="0"/>
              <a:pPr>
                <a:defRPr/>
              </a:pPr>
              <a:t>39</a:t>
            </a:fld>
            <a:endParaRPr lang="en-GB"/>
          </a:p>
        </p:txBody>
      </p:sp>
    </p:spTree>
    <p:extLst>
      <p:ext uri="{BB962C8B-B14F-4D97-AF65-F5344CB8AC3E}">
        <p14:creationId xmlns:p14="http://schemas.microsoft.com/office/powerpoint/2010/main" val="28359762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123D6-B845-3934-48E7-F17B1D1090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B5EE78E-A367-3B55-2AD5-4DFE2584329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1556792"/>
            <a:ext cx="8229617" cy="4572009"/>
          </a:xfrm>
          <a:prstGeom prst="rect">
            <a:avLst/>
          </a:prstGeom>
        </p:spPr>
      </p:pic>
      <p:sp>
        <p:nvSpPr>
          <p:cNvPr id="7" name="Title 6">
            <a:extLst>
              <a:ext uri="{FF2B5EF4-FFF2-40B4-BE49-F238E27FC236}">
                <a16:creationId xmlns:a16="http://schemas.microsoft.com/office/drawing/2014/main" id="{015A4A12-DAFF-F117-88CE-01E92069227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3584CEC7-DC7C-8D31-6671-5A1815D2766F}"/>
              </a:ext>
            </a:extLst>
          </p:cNvPr>
          <p:cNvSpPr>
            <a:spLocks noGrp="1"/>
          </p:cNvSpPr>
          <p:nvPr>
            <p:ph type="sldNum" sz="quarter" idx="10"/>
          </p:nvPr>
        </p:nvSpPr>
        <p:spPr/>
        <p:txBody>
          <a:bodyPr/>
          <a:lstStyle/>
          <a:p>
            <a:pPr>
              <a:defRPr/>
            </a:pPr>
            <a:fld id="{E5717E7F-5007-4559-A9EA-6621C16865F0}" type="slidenum">
              <a:rPr lang="en-GB" smtClean="0"/>
              <a:pPr>
                <a:defRPr/>
              </a:pPr>
              <a:t>40</a:t>
            </a:fld>
            <a:endParaRPr lang="en-GB"/>
          </a:p>
        </p:txBody>
      </p:sp>
      <p:sp>
        <p:nvSpPr>
          <p:cNvPr id="2" name="Text Placeholder 5">
            <a:extLst>
              <a:ext uri="{FF2B5EF4-FFF2-40B4-BE49-F238E27FC236}">
                <a16:creationId xmlns:a16="http://schemas.microsoft.com/office/drawing/2014/main" id="{32C7BD90-CA9E-5ED0-F925-C712E810E5D9}"/>
              </a:ext>
            </a:extLst>
          </p:cNvPr>
          <p:cNvSpPr txBox="1">
            <a:spLocks/>
          </p:cNvSpPr>
          <p:nvPr/>
        </p:nvSpPr>
        <p:spPr>
          <a:xfrm>
            <a:off x="5508104" y="1772918"/>
            <a:ext cx="312024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lgn="ctr">
              <a:buFontTx/>
              <a:buNone/>
            </a:pPr>
            <a:r>
              <a:rPr lang="en-US" b="1" kern="0" dirty="0"/>
              <a:t>Log-rank test:</a:t>
            </a:r>
          </a:p>
          <a:p>
            <a:pPr marL="0" indent="0" algn="ctr">
              <a:buFontTx/>
              <a:buNone/>
            </a:pPr>
            <a:r>
              <a:rPr lang="en-US" kern="0" dirty="0"/>
              <a:t>Used to compare two or more survival curves</a:t>
            </a:r>
          </a:p>
        </p:txBody>
      </p:sp>
      <p:cxnSp>
        <p:nvCxnSpPr>
          <p:cNvPr id="6" name="Straight Arrow Connector 5">
            <a:extLst>
              <a:ext uri="{FF2B5EF4-FFF2-40B4-BE49-F238E27FC236}">
                <a16:creationId xmlns:a16="http://schemas.microsoft.com/office/drawing/2014/main" id="{F4F7AEA2-B5AD-AFB5-332E-559371C46175}"/>
              </a:ext>
            </a:extLst>
          </p:cNvPr>
          <p:cNvCxnSpPr>
            <a:cxnSpLocks/>
          </p:cNvCxnSpPr>
          <p:nvPr/>
        </p:nvCxnSpPr>
        <p:spPr>
          <a:xfrm flipH="1">
            <a:off x="2339752" y="2492896"/>
            <a:ext cx="3168352" cy="216024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28441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7BFA6-53CB-B791-71D0-FFB11E537EB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0D7248C-5554-16EA-5909-8A49C64C9D3C}"/>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3FF9CB28-4AE1-15C5-52E1-13A20044BAFE}"/>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0B7775F8-E93D-9A16-83A9-A9BB28C4C6DA}"/>
              </a:ext>
            </a:extLst>
          </p:cNvPr>
          <p:cNvSpPr>
            <a:spLocks noGrp="1"/>
          </p:cNvSpPr>
          <p:nvPr>
            <p:ph type="sldNum" sz="quarter" idx="10"/>
          </p:nvPr>
        </p:nvSpPr>
        <p:spPr/>
        <p:txBody>
          <a:bodyPr/>
          <a:lstStyle/>
          <a:p>
            <a:pPr>
              <a:defRPr/>
            </a:pPr>
            <a:fld id="{CD3FC0C4-D681-4CE5-B41E-BCE48B80373A}" type="slidenum">
              <a:rPr lang="en-GB" smtClean="0"/>
              <a:pPr>
                <a:defRPr/>
              </a:pPr>
              <a:t>41</a:t>
            </a:fld>
            <a:endParaRPr lang="en-GB"/>
          </a:p>
        </p:txBody>
      </p:sp>
      <p:pic>
        <p:nvPicPr>
          <p:cNvPr id="11" name="Picture 10">
            <a:extLst>
              <a:ext uri="{FF2B5EF4-FFF2-40B4-BE49-F238E27FC236}">
                <a16:creationId xmlns:a16="http://schemas.microsoft.com/office/drawing/2014/main" id="{91A00F20-1439-2733-0712-8CB79BC9C2B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18989296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704133-C640-4D33-AE61-4C2177AC2426}"/>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5D47ECD1-308B-9807-3CC6-260F65204646}"/>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23EA44F2-AE63-630B-2092-4E7E23C6301E}"/>
              </a:ext>
            </a:extLst>
          </p:cNvPr>
          <p:cNvSpPr>
            <a:spLocks noGrp="1"/>
          </p:cNvSpPr>
          <p:nvPr>
            <p:ph type="sldNum" sz="quarter" idx="10"/>
          </p:nvPr>
        </p:nvSpPr>
        <p:spPr/>
        <p:txBody>
          <a:bodyPr/>
          <a:lstStyle/>
          <a:p>
            <a:pPr>
              <a:defRPr/>
            </a:pPr>
            <a:fld id="{CD3FC0C4-D681-4CE5-B41E-BCE48B80373A}" type="slidenum">
              <a:rPr lang="en-GB" smtClean="0"/>
              <a:pPr>
                <a:defRPr/>
              </a:pPr>
              <a:t>42</a:t>
            </a:fld>
            <a:endParaRPr lang="en-GB"/>
          </a:p>
        </p:txBody>
      </p:sp>
      <p:pic>
        <p:nvPicPr>
          <p:cNvPr id="11" name="Picture 10">
            <a:extLst>
              <a:ext uri="{FF2B5EF4-FFF2-40B4-BE49-F238E27FC236}">
                <a16:creationId xmlns:a16="http://schemas.microsoft.com/office/drawing/2014/main" id="{ED350EA8-1403-D6E2-6306-CE80AF8F5FF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542500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5E2131-C654-181D-2B8C-9A0DA02F85A0}"/>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E4C66D8-4C68-7C80-140C-F40B9CC9A0C1}"/>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E9C5F55D-B653-C9ED-A824-6E0444CF99B8}"/>
              </a:ext>
            </a:extLst>
          </p:cNvPr>
          <p:cNvSpPr>
            <a:spLocks noGrp="1"/>
          </p:cNvSpPr>
          <p:nvPr>
            <p:ph type="sldNum" sz="quarter" idx="10"/>
          </p:nvPr>
        </p:nvSpPr>
        <p:spPr/>
        <p:txBody>
          <a:bodyPr/>
          <a:lstStyle/>
          <a:p>
            <a:pPr>
              <a:defRPr/>
            </a:pPr>
            <a:fld id="{CD3FC0C4-D681-4CE5-B41E-BCE48B80373A}" type="slidenum">
              <a:rPr lang="en-GB" smtClean="0"/>
              <a:pPr>
                <a:defRPr/>
              </a:pPr>
              <a:t>43</a:t>
            </a:fld>
            <a:endParaRPr lang="en-GB"/>
          </a:p>
        </p:txBody>
      </p:sp>
    </p:spTree>
    <p:extLst>
      <p:ext uri="{BB962C8B-B14F-4D97-AF65-F5344CB8AC3E}">
        <p14:creationId xmlns:p14="http://schemas.microsoft.com/office/powerpoint/2010/main" val="17719409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3C9DE-29D9-C276-01E9-38626177E12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51E68F-0948-FDCC-AC30-B958F82D2CF9}"/>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0EEDDA55-562A-DC2F-DBE3-81DB1E4175D9}"/>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D58C7F16-E0D5-364D-C9A6-8CED982524B6}"/>
              </a:ext>
            </a:extLst>
          </p:cNvPr>
          <p:cNvSpPr>
            <a:spLocks noGrp="1"/>
          </p:cNvSpPr>
          <p:nvPr>
            <p:ph type="sldNum" sz="quarter" idx="10"/>
          </p:nvPr>
        </p:nvSpPr>
        <p:spPr/>
        <p:txBody>
          <a:bodyPr/>
          <a:lstStyle/>
          <a:p>
            <a:pPr>
              <a:defRPr/>
            </a:pPr>
            <a:fld id="{CD3FC0C4-D681-4CE5-B41E-BCE48B80373A}" type="slidenum">
              <a:rPr lang="en-GB" smtClean="0"/>
              <a:pPr>
                <a:defRPr/>
              </a:pPr>
              <a:t>44</a:t>
            </a:fld>
            <a:endParaRPr lang="en-GB"/>
          </a:p>
        </p:txBody>
      </p:sp>
      <p:sp>
        <p:nvSpPr>
          <p:cNvPr id="6" name="Rectangle 5">
            <a:extLst>
              <a:ext uri="{FF2B5EF4-FFF2-40B4-BE49-F238E27FC236}">
                <a16:creationId xmlns:a16="http://schemas.microsoft.com/office/drawing/2014/main" id="{34F3D1B0-5568-0010-37C5-11F12F9B802C}"/>
              </a:ext>
            </a:extLst>
          </p:cNvPr>
          <p:cNvSpPr/>
          <p:nvPr/>
        </p:nvSpPr>
        <p:spPr>
          <a:xfrm>
            <a:off x="467544" y="2996952"/>
            <a:ext cx="3888432" cy="851941"/>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55451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A6D967-8558-40E1-0F6D-68B4036D6515}"/>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E4E6BA8-5316-7A92-2021-A6C0269CA37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AE306CDD-43F5-5FA1-163A-908B9D5C6A9B}"/>
              </a:ext>
            </a:extLst>
          </p:cNvPr>
          <p:cNvSpPr>
            <a:spLocks noGrp="1"/>
          </p:cNvSpPr>
          <p:nvPr>
            <p:ph type="sldNum" sz="quarter" idx="10"/>
          </p:nvPr>
        </p:nvSpPr>
        <p:spPr/>
        <p:txBody>
          <a:bodyPr/>
          <a:lstStyle/>
          <a:p>
            <a:pPr>
              <a:defRPr/>
            </a:pPr>
            <a:fld id="{CD3FC0C4-D681-4CE5-B41E-BCE48B80373A}" type="slidenum">
              <a:rPr lang="en-GB" smtClean="0"/>
              <a:pPr>
                <a:defRPr/>
              </a:pPr>
              <a:t>45</a:t>
            </a:fld>
            <a:endParaRPr lang="en-GB"/>
          </a:p>
        </p:txBody>
      </p:sp>
      <p:grpSp>
        <p:nvGrpSpPr>
          <p:cNvPr id="28" name="Group 27">
            <a:extLst>
              <a:ext uri="{FF2B5EF4-FFF2-40B4-BE49-F238E27FC236}">
                <a16:creationId xmlns:a16="http://schemas.microsoft.com/office/drawing/2014/main" id="{BE8F59B1-87AE-E8B3-DDBB-674B8E19F4EA}"/>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F0CC65B3-D7D4-A106-69C8-B572B44C9E4B}"/>
                </a:ext>
              </a:extLst>
            </p:cNvPr>
            <p:cNvSpPr/>
            <p:nvPr/>
          </p:nvSpPr>
          <p:spPr>
            <a:xfrm>
              <a:off x="1786417" y="3344858"/>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13A8BDF9-B057-167D-88BA-DB7FDA58279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1A556A5D-58E6-0FA2-106E-CE7A35F92BA4}"/>
                </a:ext>
              </a:extLst>
            </p:cNvPr>
            <p:cNvSpPr/>
            <p:nvPr/>
          </p:nvSpPr>
          <p:spPr>
            <a:xfrm>
              <a:off x="1786417" y="3933501"/>
              <a:ext cx="1769518"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71D488E-2C43-14EF-CBD8-F8CC95BB5B73}"/>
                </a:ext>
              </a:extLst>
            </p:cNvPr>
            <p:cNvSpPr/>
            <p:nvPr/>
          </p:nvSpPr>
          <p:spPr>
            <a:xfrm>
              <a:off x="1786417" y="4562234"/>
              <a:ext cx="3509045"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7DB9FF6F-82E5-BEDD-08D4-483371B8FC0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FA3E413E-3600-BA41-883F-5435ABD8DF8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35BD454E-4CD1-755A-BDDA-8C8E521E95B3}"/>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B9C22B83-F181-F2A4-FB07-7ED73F535A98}"/>
                </a:ext>
              </a:extLst>
            </p:cNvPr>
            <p:cNvSpPr/>
            <p:nvPr/>
          </p:nvSpPr>
          <p:spPr>
            <a:xfrm>
              <a:off x="1780171" y="5183729"/>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DAA2E0A9-0FF6-99F3-22A3-AC321AD5684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779B0C70-4FD2-510D-1B07-C6D070D1362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30" name="Graphic 29" descr="Checkmark with solid fill">
            <a:extLst>
              <a:ext uri="{FF2B5EF4-FFF2-40B4-BE49-F238E27FC236}">
                <a16:creationId xmlns:a16="http://schemas.microsoft.com/office/drawing/2014/main" id="{505C68FB-AB3C-64BF-7F75-8D2DD0281F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6220176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E4B2E-05D9-99B8-083B-E27F2E389BF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17744A-EC64-49FC-FAFD-14C41BCC1352}"/>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14187F19-4882-89E3-2DD7-3EA1726A5449}"/>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DA41C766-2A02-0DE0-BB07-643AAD824097}"/>
              </a:ext>
            </a:extLst>
          </p:cNvPr>
          <p:cNvSpPr>
            <a:spLocks noGrp="1"/>
          </p:cNvSpPr>
          <p:nvPr>
            <p:ph type="sldNum" sz="quarter" idx="10"/>
          </p:nvPr>
        </p:nvSpPr>
        <p:spPr/>
        <p:txBody>
          <a:bodyPr/>
          <a:lstStyle/>
          <a:p>
            <a:pPr>
              <a:defRPr/>
            </a:pPr>
            <a:fld id="{CD3FC0C4-D681-4CE5-B41E-BCE48B80373A}" type="slidenum">
              <a:rPr lang="en-GB" smtClean="0"/>
              <a:pPr>
                <a:defRPr/>
              </a:pPr>
              <a:t>46</a:t>
            </a:fld>
            <a:endParaRPr lang="en-GB"/>
          </a:p>
        </p:txBody>
      </p:sp>
      <p:grpSp>
        <p:nvGrpSpPr>
          <p:cNvPr id="28" name="Group 27">
            <a:extLst>
              <a:ext uri="{FF2B5EF4-FFF2-40B4-BE49-F238E27FC236}">
                <a16:creationId xmlns:a16="http://schemas.microsoft.com/office/drawing/2014/main" id="{8919CF88-AAC3-A1EB-C5E7-3887AA62A10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C4AE7BBB-B0D8-93F4-A964-0C848EE13CF0}"/>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33ABB599-9A53-D6AD-20DB-E7B322DD71A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67056C1A-3AFC-1112-ECFE-B096FF884D02}"/>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8A98CD7E-C855-D116-73A7-A19274ECF620}"/>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F9421C21-2132-3BEA-E7A8-744284F263E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EF2B26B4-87CE-E817-E0BA-80EC7111871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2C1E9C9C-C67C-66F3-D7FB-777D552D09F2}"/>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82058EAD-8825-0BA5-F227-7EB505BD3B6A}"/>
                </a:ext>
              </a:extLst>
            </p:cNvPr>
            <p:cNvSpPr/>
            <p:nvPr/>
          </p:nvSpPr>
          <p:spPr>
            <a:xfrm>
              <a:off x="1786417"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07073F7B-62F7-1874-2CB0-62E833A7912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BA6332BD-8FBB-78E9-0A29-C78DAE658992}"/>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Hospital with solid fill">
            <a:extLst>
              <a:ext uri="{FF2B5EF4-FFF2-40B4-BE49-F238E27FC236}">
                <a16:creationId xmlns:a16="http://schemas.microsoft.com/office/drawing/2014/main" id="{90A99701-FB76-28E1-3AFE-10065383A8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78591" y="3313403"/>
            <a:ext cx="914400" cy="914400"/>
          </a:xfrm>
          <a:prstGeom prst="rect">
            <a:avLst/>
          </a:prstGeom>
        </p:spPr>
      </p:pic>
      <p:pic>
        <p:nvPicPr>
          <p:cNvPr id="7" name="Graphic 6" descr="Hospital with solid fill">
            <a:extLst>
              <a:ext uri="{FF2B5EF4-FFF2-40B4-BE49-F238E27FC236}">
                <a16:creationId xmlns:a16="http://schemas.microsoft.com/office/drawing/2014/main" id="{FC9D09D2-311B-4B77-A802-CFF5DC95831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CC52D523-D425-83F1-7030-350653564F2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18512574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F495E-F70F-0C04-B49E-6DE0E6C56B2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45A9117-2FC3-8B42-EA7A-FF60EDA57498}"/>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C5E7104-81DC-DD6F-F12E-0FC9A3FC9DED}"/>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5B845EFF-1DAA-DC35-B33B-110FA4BCC7CF}"/>
              </a:ext>
            </a:extLst>
          </p:cNvPr>
          <p:cNvSpPr>
            <a:spLocks noGrp="1"/>
          </p:cNvSpPr>
          <p:nvPr>
            <p:ph type="sldNum" sz="quarter" idx="10"/>
          </p:nvPr>
        </p:nvSpPr>
        <p:spPr/>
        <p:txBody>
          <a:bodyPr/>
          <a:lstStyle/>
          <a:p>
            <a:pPr>
              <a:defRPr/>
            </a:pPr>
            <a:fld id="{CD3FC0C4-D681-4CE5-B41E-BCE48B80373A}" type="slidenum">
              <a:rPr lang="en-GB" smtClean="0"/>
              <a:pPr>
                <a:defRPr/>
              </a:pPr>
              <a:t>47</a:t>
            </a:fld>
            <a:endParaRPr lang="en-GB"/>
          </a:p>
        </p:txBody>
      </p:sp>
      <p:grpSp>
        <p:nvGrpSpPr>
          <p:cNvPr id="28" name="Group 27">
            <a:extLst>
              <a:ext uri="{FF2B5EF4-FFF2-40B4-BE49-F238E27FC236}">
                <a16:creationId xmlns:a16="http://schemas.microsoft.com/office/drawing/2014/main" id="{BF8D67B1-A08E-2030-B8CD-29F98CD0650F}"/>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6ED0407B-3837-6322-AC94-FE44BD3353EC}"/>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Dental Care with solid fill">
              <a:extLst>
                <a:ext uri="{FF2B5EF4-FFF2-40B4-BE49-F238E27FC236}">
                  <a16:creationId xmlns:a16="http://schemas.microsoft.com/office/drawing/2014/main" id="{F9A8BC0D-65CC-0173-7F0F-5E50D74A895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3AAF70CB-7997-CD03-05F3-367C9E963266}"/>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1D6B50D-00B9-DB94-6A06-0315C09A8885}"/>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Dental Care with solid fill">
              <a:extLst>
                <a:ext uri="{FF2B5EF4-FFF2-40B4-BE49-F238E27FC236}">
                  <a16:creationId xmlns:a16="http://schemas.microsoft.com/office/drawing/2014/main" id="{49D01568-9BE1-9505-67DA-F43B4F44FB3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Dental Care with solid fill">
              <a:extLst>
                <a:ext uri="{FF2B5EF4-FFF2-40B4-BE49-F238E27FC236}">
                  <a16:creationId xmlns:a16="http://schemas.microsoft.com/office/drawing/2014/main" id="{85AA50B2-3890-F73D-428A-1F03B544C59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5F307099-5F16-A610-2AAE-708FDBB072F6}"/>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BB1BBE8-B8B4-1E83-35A6-8DF57BAB9BF7}"/>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ental Care with solid fill">
              <a:extLst>
                <a:ext uri="{FF2B5EF4-FFF2-40B4-BE49-F238E27FC236}">
                  <a16:creationId xmlns:a16="http://schemas.microsoft.com/office/drawing/2014/main" id="{13E10264-CADF-5AF0-5010-8A5303ADD69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C69CDB28-72CC-6580-8B65-42F4F27B641E}"/>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Lips with solid fill">
            <a:extLst>
              <a:ext uri="{FF2B5EF4-FFF2-40B4-BE49-F238E27FC236}">
                <a16:creationId xmlns:a16="http://schemas.microsoft.com/office/drawing/2014/main" id="{7ED71FCA-0D1D-9CCA-2E0E-2DA9979D61E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478591" y="3313403"/>
            <a:ext cx="914400" cy="914400"/>
          </a:xfrm>
          <a:prstGeom prst="rect">
            <a:avLst/>
          </a:prstGeom>
        </p:spPr>
      </p:pic>
      <p:pic>
        <p:nvPicPr>
          <p:cNvPr id="7" name="Graphic 6" descr="Lips with solid fill">
            <a:extLst>
              <a:ext uri="{FF2B5EF4-FFF2-40B4-BE49-F238E27FC236}">
                <a16:creationId xmlns:a16="http://schemas.microsoft.com/office/drawing/2014/main" id="{18E3BFBA-CC01-362C-DAFB-754AB5DB0B6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E4E10583-B45E-49E2-8304-2CF554C888B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3005651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3319-1C2B-2F50-5E40-2F44594605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A8582BB-3835-E77F-CED8-B710380588C3}"/>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E12B1192-0CEE-12BC-4702-8DDFF1981E70}"/>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B36DE279-C7E1-9E88-5F9A-E512DC6C777D}"/>
              </a:ext>
            </a:extLst>
          </p:cNvPr>
          <p:cNvSpPr>
            <a:spLocks noGrp="1"/>
          </p:cNvSpPr>
          <p:nvPr>
            <p:ph type="sldNum" sz="quarter" idx="10"/>
          </p:nvPr>
        </p:nvSpPr>
        <p:spPr/>
        <p:txBody>
          <a:bodyPr/>
          <a:lstStyle/>
          <a:p>
            <a:pPr>
              <a:defRPr/>
            </a:pPr>
            <a:fld id="{CD3FC0C4-D681-4CE5-B41E-BCE48B80373A}" type="slidenum">
              <a:rPr lang="en-GB" smtClean="0"/>
              <a:pPr>
                <a:defRPr/>
              </a:pPr>
              <a:t>48</a:t>
            </a:fld>
            <a:endParaRPr lang="en-GB"/>
          </a:p>
        </p:txBody>
      </p:sp>
      <p:grpSp>
        <p:nvGrpSpPr>
          <p:cNvPr id="28" name="Group 27">
            <a:extLst>
              <a:ext uri="{FF2B5EF4-FFF2-40B4-BE49-F238E27FC236}">
                <a16:creationId xmlns:a16="http://schemas.microsoft.com/office/drawing/2014/main" id="{801690D2-0001-B30E-9CF9-EB7BEA2B16C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476C2CE5-AFE2-2BF2-C34F-AC5668834A08}"/>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1632A66E-46B7-DDF3-EEC0-FE01C90CCFB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DAC9607D-E5DF-EA9A-8BDB-4C2836A54DDD}"/>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5C16816F-CA1C-6220-53CB-ADD399040040}"/>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CE4A441A-74BB-3810-8F51-5BDAD1155FA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12B0869A-D3DA-48E6-148E-5915C339D45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04572FC-A19A-CBE8-9639-8541E8B107FD}"/>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904C8547-5DA0-05A3-5882-1A12ECB65402}"/>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8C3E6956-7B77-2926-A1F5-4877AC0D067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475FCA9B-4BAD-A046-6014-604F8817D900}"/>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F37FCBF8-AB9D-616A-23DD-FA78445F06D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12B73679-A7EA-3176-E585-96312F6A223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4962606"/>
            <a:ext cx="767238" cy="767238"/>
          </a:xfrm>
          <a:prstGeom prst="rect">
            <a:avLst/>
          </a:prstGeom>
        </p:spPr>
      </p:pic>
      <p:pic>
        <p:nvPicPr>
          <p:cNvPr id="16" name="Graphic 15" descr="Close with solid fill">
            <a:extLst>
              <a:ext uri="{FF2B5EF4-FFF2-40B4-BE49-F238E27FC236}">
                <a16:creationId xmlns:a16="http://schemas.microsoft.com/office/drawing/2014/main" id="{755BA707-D5A1-A6F3-3C76-5B6BBE76DE6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6899224" y="2761407"/>
            <a:ext cx="914400" cy="914400"/>
          </a:xfrm>
          <a:prstGeom prst="rect">
            <a:avLst/>
          </a:prstGeom>
        </p:spPr>
      </p:pic>
      <p:pic>
        <p:nvPicPr>
          <p:cNvPr id="5" name="Graphic 4" descr="Office worker female with solid fill">
            <a:extLst>
              <a:ext uri="{FF2B5EF4-FFF2-40B4-BE49-F238E27FC236}">
                <a16:creationId xmlns:a16="http://schemas.microsoft.com/office/drawing/2014/main" id="{AB4A06CE-C385-AA83-6F4E-2B0D7C61F10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spTree>
    <p:extLst>
      <p:ext uri="{BB962C8B-B14F-4D97-AF65-F5344CB8AC3E}">
        <p14:creationId xmlns:p14="http://schemas.microsoft.com/office/powerpoint/2010/main" val="1653329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310-0355-0089-054F-C20D4CB7CD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CFC22AA-DEAC-1341-C744-94610CB12831}"/>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CCACF026-A530-281D-B3D0-4995D491C5A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0D632F43-5801-5936-F980-8727A0B493B6}"/>
              </a:ext>
            </a:extLst>
          </p:cNvPr>
          <p:cNvSpPr>
            <a:spLocks noGrp="1"/>
          </p:cNvSpPr>
          <p:nvPr>
            <p:ph type="sldNum" sz="quarter" idx="10"/>
          </p:nvPr>
        </p:nvSpPr>
        <p:spPr/>
        <p:txBody>
          <a:bodyPr/>
          <a:lstStyle/>
          <a:p>
            <a:pPr>
              <a:defRPr/>
            </a:pPr>
            <a:fld id="{CD3FC0C4-D681-4CE5-B41E-BCE48B80373A}" type="slidenum">
              <a:rPr lang="en-GB" smtClean="0"/>
              <a:pPr>
                <a:defRPr/>
              </a:pPr>
              <a:t>49</a:t>
            </a:fld>
            <a:endParaRPr lang="en-GB"/>
          </a:p>
        </p:txBody>
      </p:sp>
      <p:grpSp>
        <p:nvGrpSpPr>
          <p:cNvPr id="28" name="Group 27">
            <a:extLst>
              <a:ext uri="{FF2B5EF4-FFF2-40B4-BE49-F238E27FC236}">
                <a16:creationId xmlns:a16="http://schemas.microsoft.com/office/drawing/2014/main" id="{BE4D240A-2176-399E-38F1-B6AD2344FE78}"/>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DFEFDF68-FAB4-67FB-7B16-F693A44B9134}"/>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57160445-1BF4-0C22-AFCB-C1C15221C82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C54C1DEA-C38D-398A-22A4-1E331C58F6F2}"/>
                </a:ext>
              </a:extLst>
            </p:cNvPr>
            <p:cNvSpPr/>
            <p:nvPr/>
          </p:nvSpPr>
          <p:spPr>
            <a:xfrm>
              <a:off x="1786417" y="3933501"/>
              <a:ext cx="1769518" cy="353083"/>
            </a:xfrm>
            <a:prstGeom prst="rightArrow">
              <a:avLst/>
            </a:prstGeom>
            <a:solidFill>
              <a:schemeClr val="bg1">
                <a:lumMod val="8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90B9B25D-57B4-9259-9C0D-ACC07BAA08A2}"/>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63AA7244-7FA6-50DB-82A8-BA5F51A895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B301A5EF-3F4E-2108-5076-4319D91412A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F03FE97-04A2-CD5F-6355-2EDEC59683DC}"/>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4DD5CE54-6A7A-5665-CE15-6E4C52AB1E08}"/>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15EFEC19-CEF9-AF57-F45D-C8ED8D2C7B0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F8E2E8D0-9A47-CB5C-FD89-4C77178DD86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812DCDFF-092A-C8F5-D54E-65C03C13B37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78DD3747-05CC-80E3-FAC2-835AFC905FD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575632" y="4962606"/>
            <a:ext cx="767238" cy="767238"/>
          </a:xfrm>
          <a:prstGeom prst="rect">
            <a:avLst/>
          </a:prstGeom>
        </p:spPr>
      </p:pic>
      <p:pic>
        <p:nvPicPr>
          <p:cNvPr id="5" name="Graphic 4" descr="Office worker female with solid fill">
            <a:extLst>
              <a:ext uri="{FF2B5EF4-FFF2-40B4-BE49-F238E27FC236}">
                <a16:creationId xmlns:a16="http://schemas.microsoft.com/office/drawing/2014/main" id="{62F90522-598D-543E-ADE1-F2BE37AF0B40}"/>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pic>
        <p:nvPicPr>
          <p:cNvPr id="17" name="Graphic 16" descr="Checkmark with solid fill">
            <a:extLst>
              <a:ext uri="{FF2B5EF4-FFF2-40B4-BE49-F238E27FC236}">
                <a16:creationId xmlns:a16="http://schemas.microsoft.com/office/drawing/2014/main" id="{F3D4CFA9-9928-41BF-69BA-FF2335D6DE2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2651851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2A1B-BF37-10B6-B36B-016FE766E7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E1A5783-DBF2-DDDD-C485-BE76CB0D1EFF}"/>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F11FE0E8-BCF4-6492-8B82-B91731D1A6C4}"/>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927EE8CE-AB60-A63D-E98D-9F9E03C63570}"/>
              </a:ext>
            </a:extLst>
          </p:cNvPr>
          <p:cNvSpPr>
            <a:spLocks noGrp="1"/>
          </p:cNvSpPr>
          <p:nvPr>
            <p:ph type="sldNum" sz="quarter" idx="10"/>
          </p:nvPr>
        </p:nvSpPr>
        <p:spPr/>
        <p:txBody>
          <a:bodyPr/>
          <a:lstStyle/>
          <a:p>
            <a:pPr>
              <a:defRPr/>
            </a:pPr>
            <a:fld id="{CD3FC0C4-D681-4CE5-B41E-BCE48B80373A}" type="slidenum">
              <a:rPr lang="en-GB" smtClean="0"/>
              <a:pPr>
                <a:defRPr/>
              </a:pPr>
              <a:t>50</a:t>
            </a:fld>
            <a:endParaRPr lang="en-GB"/>
          </a:p>
        </p:txBody>
      </p:sp>
      <p:sp>
        <p:nvSpPr>
          <p:cNvPr id="5" name="Rectangle 4">
            <a:extLst>
              <a:ext uri="{FF2B5EF4-FFF2-40B4-BE49-F238E27FC236}">
                <a16:creationId xmlns:a16="http://schemas.microsoft.com/office/drawing/2014/main" id="{41708DEB-EE77-3246-6CB1-9E123E0D78FA}"/>
              </a:ext>
            </a:extLst>
          </p:cNvPr>
          <p:cNvSpPr/>
          <p:nvPr/>
        </p:nvSpPr>
        <p:spPr>
          <a:xfrm>
            <a:off x="384175" y="2564904"/>
            <a:ext cx="2747665"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625A96AE-D238-F1A4-3B47-2842AA1284FB}"/>
              </a:ext>
            </a:extLst>
          </p:cNvPr>
          <p:cNvSpPr/>
          <p:nvPr/>
        </p:nvSpPr>
        <p:spPr>
          <a:xfrm>
            <a:off x="467544" y="3425031"/>
            <a:ext cx="3240360"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881028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3F24-C8A1-BF65-1B41-EB653879A283}"/>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F8C98214-8611-ED68-7F21-BDC619DB41D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41232A02-CD90-3A72-C55D-22E84EDCECEC}"/>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EE1E884D-9A86-43EE-E4FB-251F7A90FB1B}"/>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4931E6CC-5319-F5B8-8CE9-3305DFD9031C}"/>
              </a:ext>
            </a:extLst>
          </p:cNvPr>
          <p:cNvSpPr>
            <a:spLocks noGrp="1"/>
          </p:cNvSpPr>
          <p:nvPr>
            <p:ph type="sldNum" sz="quarter" idx="10"/>
          </p:nvPr>
        </p:nvSpPr>
        <p:spPr/>
        <p:txBody>
          <a:bodyPr/>
          <a:lstStyle/>
          <a:p>
            <a:pPr>
              <a:defRPr/>
            </a:pPr>
            <a:fld id="{CD3FC0C4-D681-4CE5-B41E-BCE48B80373A}" type="slidenum">
              <a:rPr lang="en-GB" smtClean="0"/>
              <a:pPr>
                <a:defRPr/>
              </a:pPr>
              <a:t>51</a:t>
            </a:fld>
            <a:endParaRPr lang="en-GB"/>
          </a:p>
        </p:txBody>
      </p:sp>
      <p:sp>
        <p:nvSpPr>
          <p:cNvPr id="15" name="TextBox 14">
            <a:extLst>
              <a:ext uri="{FF2B5EF4-FFF2-40B4-BE49-F238E27FC236}">
                <a16:creationId xmlns:a16="http://schemas.microsoft.com/office/drawing/2014/main" id="{6F4BABAC-2B3E-D076-D297-C1C49CD21B93}"/>
              </a:ext>
            </a:extLst>
          </p:cNvPr>
          <p:cNvSpPr txBox="1"/>
          <p:nvPr/>
        </p:nvSpPr>
        <p:spPr>
          <a:xfrm>
            <a:off x="2051720" y="2636912"/>
            <a:ext cx="724878" cy="400110"/>
          </a:xfrm>
          <a:prstGeom prst="rect">
            <a:avLst/>
          </a:prstGeom>
          <a:noFill/>
        </p:spPr>
        <p:txBody>
          <a:bodyPr wrap="none" rtlCol="0">
            <a:spAutoFit/>
          </a:bodyPr>
          <a:lstStyle/>
          <a:p>
            <a:r>
              <a:rPr lang="en-GB" sz="2000" dirty="0"/>
              <a:t>Start</a:t>
            </a:r>
          </a:p>
        </p:txBody>
      </p:sp>
      <p:sp>
        <p:nvSpPr>
          <p:cNvPr id="5" name="Rectangle 4">
            <a:extLst>
              <a:ext uri="{FF2B5EF4-FFF2-40B4-BE49-F238E27FC236}">
                <a16:creationId xmlns:a16="http://schemas.microsoft.com/office/drawing/2014/main" id="{6D55D597-CB52-3D06-B14F-2EB59351194F}"/>
              </a:ext>
            </a:extLst>
          </p:cNvPr>
          <p:cNvSpPr/>
          <p:nvPr/>
        </p:nvSpPr>
        <p:spPr>
          <a:xfrm>
            <a:off x="2425608" y="3556141"/>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31A354F1-4096-1A3D-BF95-9A717FDF3B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367271" y="3364025"/>
            <a:ext cx="504000" cy="504000"/>
          </a:xfrm>
          <a:prstGeom prst="rect">
            <a:avLst/>
          </a:prstGeom>
        </p:spPr>
      </p:pic>
      <p:pic>
        <p:nvPicPr>
          <p:cNvPr id="17" name="Graphic 16" descr="Inpatient with solid fill">
            <a:extLst>
              <a:ext uri="{FF2B5EF4-FFF2-40B4-BE49-F238E27FC236}">
                <a16:creationId xmlns:a16="http://schemas.microsoft.com/office/drawing/2014/main" id="{BB584774-C921-86E9-3A15-0FEB5B2157A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302207" y="3148739"/>
            <a:ext cx="914400" cy="914400"/>
          </a:xfrm>
          <a:prstGeom prst="rect">
            <a:avLst/>
          </a:prstGeom>
        </p:spPr>
      </p:pic>
      <p:pic>
        <p:nvPicPr>
          <p:cNvPr id="18" name="Graphic 17" descr="Man with solid fill">
            <a:extLst>
              <a:ext uri="{FF2B5EF4-FFF2-40B4-BE49-F238E27FC236}">
                <a16:creationId xmlns:a16="http://schemas.microsoft.com/office/drawing/2014/main" id="{283C9B70-2BC5-4BD0-8F20-8D74C1404D4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307152" y="4858653"/>
            <a:ext cx="914400" cy="914400"/>
          </a:xfrm>
          <a:prstGeom prst="rect">
            <a:avLst/>
          </a:prstGeom>
        </p:spPr>
      </p:pic>
      <p:sp>
        <p:nvSpPr>
          <p:cNvPr id="10" name="Arrow: Right 9">
            <a:extLst>
              <a:ext uri="{FF2B5EF4-FFF2-40B4-BE49-F238E27FC236}">
                <a16:creationId xmlns:a16="http://schemas.microsoft.com/office/drawing/2014/main" id="{956F6F30-81D3-FAB3-C586-29E1572DF7A1}"/>
              </a:ext>
            </a:extLst>
          </p:cNvPr>
          <p:cNvSpPr/>
          <p:nvPr/>
        </p:nvSpPr>
        <p:spPr>
          <a:xfrm>
            <a:off x="2425608" y="3841143"/>
            <a:ext cx="1385922"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Kidneys with solid fill">
            <a:extLst>
              <a:ext uri="{FF2B5EF4-FFF2-40B4-BE49-F238E27FC236}">
                <a16:creationId xmlns:a16="http://schemas.microsoft.com/office/drawing/2014/main" id="{D77A4796-62F6-D093-9FA7-711D7A0C328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16" name="Rectangle 15">
            <a:extLst>
              <a:ext uri="{FF2B5EF4-FFF2-40B4-BE49-F238E27FC236}">
                <a16:creationId xmlns:a16="http://schemas.microsoft.com/office/drawing/2014/main" id="{8FD9588E-A9DA-DD52-0E69-F6937A851404}"/>
              </a:ext>
            </a:extLst>
          </p:cNvPr>
          <p:cNvSpPr/>
          <p:nvPr/>
        </p:nvSpPr>
        <p:spPr>
          <a:xfrm>
            <a:off x="2419931" y="4215096"/>
            <a:ext cx="2495371"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Graphic 18" descr="Close with solid fill">
            <a:extLst>
              <a:ext uri="{FF2B5EF4-FFF2-40B4-BE49-F238E27FC236}">
                <a16:creationId xmlns:a16="http://schemas.microsoft.com/office/drawing/2014/main" id="{E56CB2FE-5F3D-CB35-DE0E-4B274EAEDDC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60965" y="4022980"/>
            <a:ext cx="504000" cy="504000"/>
          </a:xfrm>
          <a:prstGeom prst="rect">
            <a:avLst/>
          </a:prstGeom>
        </p:spPr>
      </p:pic>
      <p:sp>
        <p:nvSpPr>
          <p:cNvPr id="20" name="Arrow: Right 19">
            <a:extLst>
              <a:ext uri="{FF2B5EF4-FFF2-40B4-BE49-F238E27FC236}">
                <a16:creationId xmlns:a16="http://schemas.microsoft.com/office/drawing/2014/main" id="{80E80534-561C-C5E2-8F3B-6CC27E5FC873}"/>
              </a:ext>
            </a:extLst>
          </p:cNvPr>
          <p:cNvSpPr/>
          <p:nvPr/>
        </p:nvSpPr>
        <p:spPr>
          <a:xfrm>
            <a:off x="2425608" y="4499805"/>
            <a:ext cx="3442536"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1" name="Graphic 20" descr="Kidneys with solid fill">
            <a:extLst>
              <a:ext uri="{FF2B5EF4-FFF2-40B4-BE49-F238E27FC236}">
                <a16:creationId xmlns:a16="http://schemas.microsoft.com/office/drawing/2014/main" id="{37874B23-D81A-9A86-5B01-CFC104AF00B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879593" y="4333603"/>
            <a:ext cx="576000" cy="576000"/>
          </a:xfrm>
          <a:prstGeom prst="rect">
            <a:avLst/>
          </a:prstGeom>
        </p:spPr>
      </p:pic>
      <p:sp>
        <p:nvSpPr>
          <p:cNvPr id="22" name="Arrow: Right 21">
            <a:extLst>
              <a:ext uri="{FF2B5EF4-FFF2-40B4-BE49-F238E27FC236}">
                <a16:creationId xmlns:a16="http://schemas.microsoft.com/office/drawing/2014/main" id="{14298C7A-9315-9FB5-CD6D-87620C01BBEE}"/>
              </a:ext>
            </a:extLst>
          </p:cNvPr>
          <p:cNvSpPr/>
          <p:nvPr/>
        </p:nvSpPr>
        <p:spPr>
          <a:xfrm>
            <a:off x="2425608" y="4826876"/>
            <a:ext cx="158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3" name="Graphic 22" descr="Kidneys with solid fill">
            <a:extLst>
              <a:ext uri="{FF2B5EF4-FFF2-40B4-BE49-F238E27FC236}">
                <a16:creationId xmlns:a16="http://schemas.microsoft.com/office/drawing/2014/main" id="{BD7CA047-6831-8ADD-3759-7D93C3ABCDC1}"/>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4021057" y="4660674"/>
            <a:ext cx="576000" cy="576000"/>
          </a:xfrm>
          <a:prstGeom prst="rect">
            <a:avLst/>
          </a:prstGeom>
        </p:spPr>
      </p:pic>
      <p:sp>
        <p:nvSpPr>
          <p:cNvPr id="26" name="Rectangle 25">
            <a:extLst>
              <a:ext uri="{FF2B5EF4-FFF2-40B4-BE49-F238E27FC236}">
                <a16:creationId xmlns:a16="http://schemas.microsoft.com/office/drawing/2014/main" id="{CDB3497F-9309-1C39-7421-62709218D9B3}"/>
              </a:ext>
            </a:extLst>
          </p:cNvPr>
          <p:cNvSpPr/>
          <p:nvPr/>
        </p:nvSpPr>
        <p:spPr>
          <a:xfrm>
            <a:off x="2419932" y="5198528"/>
            <a:ext cx="2654912"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Graphic 26" descr="Close with solid fill">
            <a:extLst>
              <a:ext uri="{FF2B5EF4-FFF2-40B4-BE49-F238E27FC236}">
                <a16:creationId xmlns:a16="http://schemas.microsoft.com/office/drawing/2014/main" id="{D378F023-B33A-12D8-717C-2F633065D4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20506" y="5006412"/>
            <a:ext cx="504000" cy="504000"/>
          </a:xfrm>
          <a:prstGeom prst="rect">
            <a:avLst/>
          </a:prstGeom>
        </p:spPr>
      </p:pic>
      <p:sp>
        <p:nvSpPr>
          <p:cNvPr id="28" name="Arrow: Right 27">
            <a:extLst>
              <a:ext uri="{FF2B5EF4-FFF2-40B4-BE49-F238E27FC236}">
                <a16:creationId xmlns:a16="http://schemas.microsoft.com/office/drawing/2014/main" id="{7E2A4C63-9B83-49FF-7EC0-E49E9FCB6047}"/>
              </a:ext>
            </a:extLst>
          </p:cNvPr>
          <p:cNvSpPr/>
          <p:nvPr/>
        </p:nvSpPr>
        <p:spPr>
          <a:xfrm>
            <a:off x="2414159" y="5468785"/>
            <a:ext cx="3485818"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Graphic 28" descr="Kidneys with solid fill">
            <a:extLst>
              <a:ext uri="{FF2B5EF4-FFF2-40B4-BE49-F238E27FC236}">
                <a16:creationId xmlns:a16="http://schemas.microsoft.com/office/drawing/2014/main" id="{7A31BBA5-761C-FE8C-9FBE-1E9BBDB99EC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911426" y="5302583"/>
            <a:ext cx="576000" cy="576000"/>
          </a:xfrm>
          <a:prstGeom prst="rect">
            <a:avLst/>
          </a:prstGeom>
        </p:spPr>
      </p:pic>
      <p:sp>
        <p:nvSpPr>
          <p:cNvPr id="32" name="Rectangle 31">
            <a:extLst>
              <a:ext uri="{FF2B5EF4-FFF2-40B4-BE49-F238E27FC236}">
                <a16:creationId xmlns:a16="http://schemas.microsoft.com/office/drawing/2014/main" id="{70ACB9B2-5CCB-039E-0C42-89AAC6BAB88E}"/>
              </a:ext>
            </a:extLst>
          </p:cNvPr>
          <p:cNvSpPr/>
          <p:nvPr/>
        </p:nvSpPr>
        <p:spPr>
          <a:xfrm>
            <a:off x="2419931" y="3234925"/>
            <a:ext cx="2713396"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3" name="Graphic 32" descr="Close with solid fill">
            <a:extLst>
              <a:ext uri="{FF2B5EF4-FFF2-40B4-BE49-F238E27FC236}">
                <a16:creationId xmlns:a16="http://schemas.microsoft.com/office/drawing/2014/main" id="{3730F6F4-2CF9-313B-9336-D9B9A8B2CE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78990" y="3042809"/>
            <a:ext cx="504000" cy="504000"/>
          </a:xfrm>
          <a:prstGeom prst="rect">
            <a:avLst/>
          </a:prstGeom>
        </p:spPr>
      </p:pic>
      <p:cxnSp>
        <p:nvCxnSpPr>
          <p:cNvPr id="14" name="Straight Connector 13">
            <a:extLst>
              <a:ext uri="{FF2B5EF4-FFF2-40B4-BE49-F238E27FC236}">
                <a16:creationId xmlns:a16="http://schemas.microsoft.com/office/drawing/2014/main" id="{FDB19232-1EBE-3191-0011-F6B711C9CFC7}"/>
              </a:ext>
            </a:extLst>
          </p:cNvPr>
          <p:cNvCxnSpPr>
            <a:cxnSpLocks/>
          </p:cNvCxnSpPr>
          <p:nvPr/>
        </p:nvCxnSpPr>
        <p:spPr>
          <a:xfrm flipH="1">
            <a:off x="2411760" y="3133061"/>
            <a:ext cx="2399" cy="2628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7C384A3-B2E9-7B20-725D-E6B2D774F38E}"/>
              </a:ext>
            </a:extLst>
          </p:cNvPr>
          <p:cNvCxnSpPr/>
          <p:nvPr/>
        </p:nvCxnSpPr>
        <p:spPr>
          <a:xfrm>
            <a:off x="1763688" y="4063139"/>
            <a:ext cx="0" cy="662005"/>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915165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45F66-5402-80EE-316A-3ABF73965C40}"/>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A7F924C1-25AF-1137-2220-C0C9897A9FE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0A7E7FBD-CB8C-286F-C221-A6A55CCE4931}"/>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4B0928F6-B6CA-E86E-87BB-C995CCB1FF36}"/>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05442904-91B5-711C-3EE8-751BF99E79A2}"/>
              </a:ext>
            </a:extLst>
          </p:cNvPr>
          <p:cNvSpPr>
            <a:spLocks noGrp="1"/>
          </p:cNvSpPr>
          <p:nvPr>
            <p:ph type="sldNum" sz="quarter" idx="10"/>
          </p:nvPr>
        </p:nvSpPr>
        <p:spPr/>
        <p:txBody>
          <a:bodyPr/>
          <a:lstStyle/>
          <a:p>
            <a:pPr>
              <a:defRPr/>
            </a:pPr>
            <a:fld id="{CD3FC0C4-D681-4CE5-B41E-BCE48B80373A}" type="slidenum">
              <a:rPr lang="en-GB" smtClean="0"/>
              <a:pPr>
                <a:defRPr/>
              </a:pPr>
              <a:t>52</a:t>
            </a:fld>
            <a:endParaRPr lang="en-GB"/>
          </a:p>
        </p:txBody>
      </p:sp>
      <p:sp>
        <p:nvSpPr>
          <p:cNvPr id="8" name="Arrow: Right 7">
            <a:extLst>
              <a:ext uri="{FF2B5EF4-FFF2-40B4-BE49-F238E27FC236}">
                <a16:creationId xmlns:a16="http://schemas.microsoft.com/office/drawing/2014/main" id="{7CEBAF8D-E801-4733-AC9D-65D10447CEF6}"/>
              </a:ext>
            </a:extLst>
          </p:cNvPr>
          <p:cNvSpPr/>
          <p:nvPr/>
        </p:nvSpPr>
        <p:spPr>
          <a:xfrm>
            <a:off x="2414159" y="3383363"/>
            <a:ext cx="260929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2B282C1F-9676-E7CF-AEDF-CE2702539C11}"/>
              </a:ext>
            </a:extLst>
          </p:cNvPr>
          <p:cNvSpPr/>
          <p:nvPr/>
        </p:nvSpPr>
        <p:spPr>
          <a:xfrm>
            <a:off x="2414159" y="4322290"/>
            <a:ext cx="3509045"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9FE9333F-52DD-D670-C668-7D4E3C8D25AD}"/>
              </a:ext>
            </a:extLst>
          </p:cNvPr>
          <p:cNvSpPr txBox="1"/>
          <p:nvPr/>
        </p:nvSpPr>
        <p:spPr>
          <a:xfrm>
            <a:off x="2051720" y="2708920"/>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077F0AC-4D83-8CE2-F687-977B356719B7}"/>
              </a:ext>
            </a:extLst>
          </p:cNvPr>
          <p:cNvSpPr/>
          <p:nvPr/>
        </p:nvSpPr>
        <p:spPr>
          <a:xfrm>
            <a:off x="2407913" y="5268451"/>
            <a:ext cx="284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Lights On with solid fill">
            <a:extLst>
              <a:ext uri="{FF2B5EF4-FFF2-40B4-BE49-F238E27FC236}">
                <a16:creationId xmlns:a16="http://schemas.microsoft.com/office/drawing/2014/main" id="{7B8D5626-F1D6-92DA-8D18-6971699EAAA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319632" y="3933153"/>
            <a:ext cx="864000" cy="864000"/>
          </a:xfrm>
          <a:prstGeom prst="rect">
            <a:avLst/>
          </a:prstGeom>
        </p:spPr>
      </p:pic>
      <p:sp>
        <p:nvSpPr>
          <p:cNvPr id="5" name="Rectangle 4">
            <a:extLst>
              <a:ext uri="{FF2B5EF4-FFF2-40B4-BE49-F238E27FC236}">
                <a16:creationId xmlns:a16="http://schemas.microsoft.com/office/drawing/2014/main" id="{2DE3EF52-15A8-FDE6-70A8-B145A9FC5A26}"/>
              </a:ext>
            </a:extLst>
          </p:cNvPr>
          <p:cNvSpPr/>
          <p:nvPr/>
        </p:nvSpPr>
        <p:spPr>
          <a:xfrm>
            <a:off x="2407913" y="3878727"/>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22DFFAD0-30ED-8008-AB94-E6D5FA26481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287738" y="3645024"/>
            <a:ext cx="584727" cy="584727"/>
          </a:xfrm>
          <a:prstGeom prst="rect">
            <a:avLst/>
          </a:prstGeom>
        </p:spPr>
      </p:pic>
      <p:sp>
        <p:nvSpPr>
          <p:cNvPr id="10" name="Rectangle 9">
            <a:extLst>
              <a:ext uri="{FF2B5EF4-FFF2-40B4-BE49-F238E27FC236}">
                <a16:creationId xmlns:a16="http://schemas.microsoft.com/office/drawing/2014/main" id="{4109C8C0-48D1-2A42-6085-3552C6499FBA}"/>
              </a:ext>
            </a:extLst>
          </p:cNvPr>
          <p:cNvSpPr/>
          <p:nvPr/>
        </p:nvSpPr>
        <p:spPr>
          <a:xfrm>
            <a:off x="2428542" y="4854651"/>
            <a:ext cx="2448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Close with solid fill">
            <a:extLst>
              <a:ext uri="{FF2B5EF4-FFF2-40B4-BE49-F238E27FC236}">
                <a16:creationId xmlns:a16="http://schemas.microsoft.com/office/drawing/2014/main" id="{B9E94518-D013-8D2F-8A20-E1A40ED2ED6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600730" y="4611045"/>
            <a:ext cx="584727" cy="584727"/>
          </a:xfrm>
          <a:prstGeom prst="rect">
            <a:avLst/>
          </a:prstGeom>
        </p:spPr>
      </p:pic>
      <p:cxnSp>
        <p:nvCxnSpPr>
          <p:cNvPr id="14" name="Straight Connector 13">
            <a:extLst>
              <a:ext uri="{FF2B5EF4-FFF2-40B4-BE49-F238E27FC236}">
                <a16:creationId xmlns:a16="http://schemas.microsoft.com/office/drawing/2014/main" id="{40FA6BE7-8B0A-7733-756D-A32EC1F053AF}"/>
              </a:ext>
            </a:extLst>
          </p:cNvPr>
          <p:cNvCxnSpPr>
            <a:cxnSpLocks/>
          </p:cNvCxnSpPr>
          <p:nvPr/>
        </p:nvCxnSpPr>
        <p:spPr>
          <a:xfrm>
            <a:off x="2414159" y="3205069"/>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180E227-3B0A-3FDA-7B28-A937F5A8277F}"/>
              </a:ext>
            </a:extLst>
          </p:cNvPr>
          <p:cNvGrpSpPr/>
          <p:nvPr/>
        </p:nvGrpSpPr>
        <p:grpSpPr>
          <a:xfrm>
            <a:off x="5133329" y="3195255"/>
            <a:ext cx="474651" cy="572629"/>
            <a:chOff x="5187978" y="3208259"/>
            <a:chExt cx="474651" cy="572629"/>
          </a:xfrm>
        </p:grpSpPr>
        <p:sp>
          <p:nvSpPr>
            <p:cNvPr id="19" name="Freeform: Shape 18">
              <a:extLst>
                <a:ext uri="{FF2B5EF4-FFF2-40B4-BE49-F238E27FC236}">
                  <a16:creationId xmlns:a16="http://schemas.microsoft.com/office/drawing/2014/main" id="{0E050F07-378D-6CA6-0F90-43AB1257046F}"/>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20" name="Freeform: Shape 19">
              <a:extLst>
                <a:ext uri="{FF2B5EF4-FFF2-40B4-BE49-F238E27FC236}">
                  <a16:creationId xmlns:a16="http://schemas.microsoft.com/office/drawing/2014/main" id="{DA2FB4B5-F669-BEBC-16B1-9A57EC024667}"/>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21" name="Freeform: Shape 20">
              <a:extLst>
                <a:ext uri="{FF2B5EF4-FFF2-40B4-BE49-F238E27FC236}">
                  <a16:creationId xmlns:a16="http://schemas.microsoft.com/office/drawing/2014/main" id="{0F534B56-638D-279C-FB04-CA03130EB0E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1" name="Graphic 30" descr="Close with solid fill">
              <a:extLst>
                <a:ext uri="{FF2B5EF4-FFF2-40B4-BE49-F238E27FC236}">
                  <a16:creationId xmlns:a16="http://schemas.microsoft.com/office/drawing/2014/main" id="{9A69FEFF-F166-C8BD-EB36-FBBEF27CCDCB}"/>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187978" y="3208259"/>
              <a:ext cx="474651" cy="474651"/>
            </a:xfrm>
            <a:prstGeom prst="rect">
              <a:avLst/>
            </a:prstGeom>
          </p:spPr>
        </p:pic>
      </p:grpSp>
      <p:grpSp>
        <p:nvGrpSpPr>
          <p:cNvPr id="33" name="Group 32">
            <a:extLst>
              <a:ext uri="{FF2B5EF4-FFF2-40B4-BE49-F238E27FC236}">
                <a16:creationId xmlns:a16="http://schemas.microsoft.com/office/drawing/2014/main" id="{7C5EFF27-619A-032E-3B73-33B3DC8AAFDC}"/>
              </a:ext>
            </a:extLst>
          </p:cNvPr>
          <p:cNvGrpSpPr/>
          <p:nvPr/>
        </p:nvGrpSpPr>
        <p:grpSpPr>
          <a:xfrm>
            <a:off x="6028117" y="4134182"/>
            <a:ext cx="474651" cy="572629"/>
            <a:chOff x="5187978" y="3208259"/>
            <a:chExt cx="474651" cy="572629"/>
          </a:xfrm>
        </p:grpSpPr>
        <p:sp>
          <p:nvSpPr>
            <p:cNvPr id="34" name="Freeform: Shape 33">
              <a:extLst>
                <a:ext uri="{FF2B5EF4-FFF2-40B4-BE49-F238E27FC236}">
                  <a16:creationId xmlns:a16="http://schemas.microsoft.com/office/drawing/2014/main" id="{BA3536DF-3C35-7EDE-9CA5-BD472DFE3688}"/>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35" name="Freeform: Shape 34">
              <a:extLst>
                <a:ext uri="{FF2B5EF4-FFF2-40B4-BE49-F238E27FC236}">
                  <a16:creationId xmlns:a16="http://schemas.microsoft.com/office/drawing/2014/main" id="{ECF117D2-05D0-D579-7D30-87494C902B4A}"/>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36" name="Freeform: Shape 35">
              <a:extLst>
                <a:ext uri="{FF2B5EF4-FFF2-40B4-BE49-F238E27FC236}">
                  <a16:creationId xmlns:a16="http://schemas.microsoft.com/office/drawing/2014/main" id="{4D53F863-E033-A107-352D-EF1C0EE8962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7" name="Graphic 36" descr="Close with solid fill">
              <a:extLst>
                <a:ext uri="{FF2B5EF4-FFF2-40B4-BE49-F238E27FC236}">
                  <a16:creationId xmlns:a16="http://schemas.microsoft.com/office/drawing/2014/main" id="{A157E7D3-D9C6-3E0B-6A73-C28F35881D1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grpSp>
        <p:nvGrpSpPr>
          <p:cNvPr id="38" name="Group 37">
            <a:extLst>
              <a:ext uri="{FF2B5EF4-FFF2-40B4-BE49-F238E27FC236}">
                <a16:creationId xmlns:a16="http://schemas.microsoft.com/office/drawing/2014/main" id="{A138B6D5-D810-3D8D-E52E-7D219342B50F}"/>
              </a:ext>
            </a:extLst>
          </p:cNvPr>
          <p:cNvGrpSpPr/>
          <p:nvPr/>
        </p:nvGrpSpPr>
        <p:grpSpPr>
          <a:xfrm>
            <a:off x="5372918" y="5092243"/>
            <a:ext cx="474651" cy="572629"/>
            <a:chOff x="5187978" y="3208259"/>
            <a:chExt cx="474651" cy="572629"/>
          </a:xfrm>
        </p:grpSpPr>
        <p:sp>
          <p:nvSpPr>
            <p:cNvPr id="39" name="Freeform: Shape 38">
              <a:extLst>
                <a:ext uri="{FF2B5EF4-FFF2-40B4-BE49-F238E27FC236}">
                  <a16:creationId xmlns:a16="http://schemas.microsoft.com/office/drawing/2014/main" id="{CFB17186-B31D-ED86-D8AB-8EAFB17C9811}"/>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40" name="Freeform: Shape 39">
              <a:extLst>
                <a:ext uri="{FF2B5EF4-FFF2-40B4-BE49-F238E27FC236}">
                  <a16:creationId xmlns:a16="http://schemas.microsoft.com/office/drawing/2014/main" id="{30BB6EC6-4850-3E9D-8612-82DF5D1514FB}"/>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41" name="Freeform: Shape 40">
              <a:extLst>
                <a:ext uri="{FF2B5EF4-FFF2-40B4-BE49-F238E27FC236}">
                  <a16:creationId xmlns:a16="http://schemas.microsoft.com/office/drawing/2014/main" id="{70F9BC4F-FBFA-F9A4-EEC9-1827A010C4E3}"/>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42" name="Graphic 41" descr="Close with solid fill">
              <a:extLst>
                <a:ext uri="{FF2B5EF4-FFF2-40B4-BE49-F238E27FC236}">
                  <a16:creationId xmlns:a16="http://schemas.microsoft.com/office/drawing/2014/main" id="{8F10CDF6-D686-CFF2-7677-4C40F552AE0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spTree>
    <p:extLst>
      <p:ext uri="{BB962C8B-B14F-4D97-AF65-F5344CB8AC3E}">
        <p14:creationId xmlns:p14="http://schemas.microsoft.com/office/powerpoint/2010/main" val="20141370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8B0D0F6-0D93-5DE9-2556-CC238D47F2FA}"/>
              </a:ext>
            </a:extLst>
          </p:cNvPr>
          <p:cNvSpPr>
            <a:spLocks noGrp="1"/>
          </p:cNvSpPr>
          <p:nvPr>
            <p:ph type="body" sz="quarter" idx="11"/>
          </p:nvPr>
        </p:nvSpPr>
        <p:spPr/>
        <p:txBody>
          <a:bodyPr/>
          <a:lstStyle/>
          <a:p>
            <a:r>
              <a:rPr lang="en-GB" dirty="0"/>
              <a:t>Probability of being censored is equal for all individuals</a:t>
            </a:r>
          </a:p>
          <a:p>
            <a:endParaRPr lang="en-GB" dirty="0"/>
          </a:p>
          <a:p>
            <a:r>
              <a:rPr lang="en-GB" dirty="0"/>
              <a:t>E.g., not influenced by group membership</a:t>
            </a:r>
          </a:p>
          <a:p>
            <a:endParaRPr lang="en-GB" dirty="0"/>
          </a:p>
          <a:p>
            <a:r>
              <a:rPr lang="en-GB" dirty="0"/>
              <a:t>So: probability of an egg being damaged (right-censored) should be equal for both dragon types</a:t>
            </a:r>
          </a:p>
          <a:p>
            <a:endParaRPr lang="en-GB" dirty="0"/>
          </a:p>
        </p:txBody>
      </p:sp>
      <p:sp>
        <p:nvSpPr>
          <p:cNvPr id="3" name="Title 2">
            <a:extLst>
              <a:ext uri="{FF2B5EF4-FFF2-40B4-BE49-F238E27FC236}">
                <a16:creationId xmlns:a16="http://schemas.microsoft.com/office/drawing/2014/main" id="{D6B77CB6-DD97-F562-309F-D82698379E57}"/>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A94B18FD-0DDA-B023-F6A1-11E35D44FCA3}"/>
              </a:ext>
            </a:extLst>
          </p:cNvPr>
          <p:cNvSpPr>
            <a:spLocks noGrp="1"/>
          </p:cNvSpPr>
          <p:nvPr>
            <p:ph type="sldNum" sz="quarter" idx="10"/>
          </p:nvPr>
        </p:nvSpPr>
        <p:spPr/>
        <p:txBody>
          <a:bodyPr/>
          <a:lstStyle/>
          <a:p>
            <a:pPr>
              <a:defRPr/>
            </a:pPr>
            <a:fld id="{CD3FC0C4-D681-4CE5-B41E-BCE48B80373A}" type="slidenum">
              <a:rPr lang="en-GB" smtClean="0"/>
              <a:pPr>
                <a:defRPr/>
              </a:pPr>
              <a:t>53</a:t>
            </a:fld>
            <a:endParaRPr lang="en-GB"/>
          </a:p>
        </p:txBody>
      </p:sp>
    </p:spTree>
    <p:extLst>
      <p:ext uri="{BB962C8B-B14F-4D97-AF65-F5344CB8AC3E}">
        <p14:creationId xmlns:p14="http://schemas.microsoft.com/office/powerpoint/2010/main" val="23891544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F2251-3183-544B-630C-9344CBF1F1E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3EED56C-1697-765D-5F3F-C8A4CA7EA0BB}"/>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2A13BEE-969D-D9BE-E1E3-7E6500F08E63}"/>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3DFFE061-D61B-1E40-7D2D-7A0F2CA3F91E}"/>
              </a:ext>
            </a:extLst>
          </p:cNvPr>
          <p:cNvSpPr>
            <a:spLocks noGrp="1"/>
          </p:cNvSpPr>
          <p:nvPr>
            <p:ph type="sldNum" sz="quarter" idx="10"/>
          </p:nvPr>
        </p:nvSpPr>
        <p:spPr/>
        <p:txBody>
          <a:bodyPr/>
          <a:lstStyle/>
          <a:p>
            <a:pPr>
              <a:defRPr/>
            </a:pPr>
            <a:fld id="{CD3FC0C4-D681-4CE5-B41E-BCE48B80373A}" type="slidenum">
              <a:rPr lang="en-GB" smtClean="0"/>
              <a:pPr>
                <a:defRPr/>
              </a:pPr>
              <a:t>54</a:t>
            </a:fld>
            <a:endParaRPr lang="en-GB"/>
          </a:p>
        </p:txBody>
      </p:sp>
      <p:sp>
        <p:nvSpPr>
          <p:cNvPr id="5" name="Rectangle 4">
            <a:extLst>
              <a:ext uri="{FF2B5EF4-FFF2-40B4-BE49-F238E27FC236}">
                <a16:creationId xmlns:a16="http://schemas.microsoft.com/office/drawing/2014/main" id="{1C7FC337-433A-1B03-2E82-ADFC876C57BD}"/>
              </a:ext>
            </a:extLst>
          </p:cNvPr>
          <p:cNvSpPr/>
          <p:nvPr/>
        </p:nvSpPr>
        <p:spPr>
          <a:xfrm>
            <a:off x="384175" y="2564904"/>
            <a:ext cx="4043809" cy="792088"/>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42936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027A3D-5E02-99B2-3A7C-9C95C28F5EAD}"/>
              </a:ext>
            </a:extLst>
          </p:cNvPr>
          <p:cNvSpPr>
            <a:spLocks noGrp="1"/>
          </p:cNvSpPr>
          <p:nvPr>
            <p:ph type="body" sz="quarter" idx="11"/>
          </p:nvPr>
        </p:nvSpPr>
        <p:spPr/>
        <p:txBody>
          <a:bodyPr/>
          <a:lstStyle/>
          <a:p>
            <a:r>
              <a:rPr lang="en-GB" dirty="0"/>
              <a:t>Risk of event occurring (aka: hazard ratio) should be consistent over time</a:t>
            </a:r>
          </a:p>
          <a:p>
            <a:endParaRPr lang="en-GB" dirty="0"/>
          </a:p>
          <a:p>
            <a:r>
              <a:rPr lang="en-GB" dirty="0"/>
              <a:t>So: if chromatic dragon eggs have twice the likelihood of hatching at time 1 compared to metallic dragons, they also have twice the likelihood at time 10</a:t>
            </a:r>
          </a:p>
        </p:txBody>
      </p:sp>
      <p:sp>
        <p:nvSpPr>
          <p:cNvPr id="3" name="Title 2">
            <a:extLst>
              <a:ext uri="{FF2B5EF4-FFF2-40B4-BE49-F238E27FC236}">
                <a16:creationId xmlns:a16="http://schemas.microsoft.com/office/drawing/2014/main" id="{9416B10C-9356-57EA-9527-D37F03696AE2}"/>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55899FED-122D-EBEE-2EBB-7CFA13E0DBD9}"/>
              </a:ext>
            </a:extLst>
          </p:cNvPr>
          <p:cNvSpPr>
            <a:spLocks noGrp="1"/>
          </p:cNvSpPr>
          <p:nvPr>
            <p:ph type="sldNum" sz="quarter" idx="10"/>
          </p:nvPr>
        </p:nvSpPr>
        <p:spPr/>
        <p:txBody>
          <a:bodyPr/>
          <a:lstStyle/>
          <a:p>
            <a:pPr>
              <a:defRPr/>
            </a:pPr>
            <a:fld id="{CD3FC0C4-D681-4CE5-B41E-BCE48B80373A}" type="slidenum">
              <a:rPr lang="en-GB" smtClean="0"/>
              <a:pPr>
                <a:defRPr/>
              </a:pPr>
              <a:t>55</a:t>
            </a:fld>
            <a:endParaRPr lang="en-GB"/>
          </a:p>
        </p:txBody>
      </p:sp>
    </p:spTree>
    <p:extLst>
      <p:ext uri="{BB962C8B-B14F-4D97-AF65-F5344CB8AC3E}">
        <p14:creationId xmlns:p14="http://schemas.microsoft.com/office/powerpoint/2010/main" val="40847397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7520B9-E77B-DC86-59EC-D98F2A53AA42}"/>
              </a:ext>
            </a:extLst>
          </p:cNvPr>
          <p:cNvSpPr>
            <a:spLocks noGrp="1"/>
          </p:cNvSpPr>
          <p:nvPr>
            <p:ph type="body" sz="quarter" idx="11"/>
          </p:nvPr>
        </p:nvSpPr>
        <p:spPr/>
        <p:txBody>
          <a:bodyPr/>
          <a:lstStyle/>
          <a:p>
            <a:pPr marL="0" indent="0">
              <a:buNone/>
            </a:pPr>
            <a:r>
              <a:rPr lang="en-GB" b="1" dirty="0"/>
              <a:t>Is time to hatch predicted by dragon scale colour?</a:t>
            </a:r>
          </a:p>
          <a:p>
            <a:pPr marL="0" indent="0">
              <a:buNone/>
            </a:pPr>
            <a:endParaRPr lang="en-GB" dirty="0"/>
          </a:p>
          <a:p>
            <a:pPr marL="0" indent="0">
              <a:buNone/>
            </a:pPr>
            <a:r>
              <a:rPr lang="en-GB" dirty="0"/>
              <a:t>Based on the description, are assumptions met?</a:t>
            </a:r>
          </a:p>
          <a:p>
            <a:pPr marL="457200" indent="-457200">
              <a:buAutoNum type="arabicPeriod"/>
            </a:pPr>
            <a:r>
              <a:rPr lang="en-GB" dirty="0"/>
              <a:t>Independence</a:t>
            </a:r>
          </a:p>
          <a:p>
            <a:pPr marL="457200" indent="-457200">
              <a:buAutoNum type="arabicPeriod"/>
            </a:pPr>
            <a:r>
              <a:rPr lang="en-GB" dirty="0"/>
              <a:t>Non-informative censoring</a:t>
            </a:r>
          </a:p>
          <a:p>
            <a:pPr marL="457200" indent="-457200">
              <a:buAutoNum type="arabicPeriod"/>
            </a:pPr>
            <a:r>
              <a:rPr lang="en-GB" dirty="0"/>
              <a:t>Proportional hazards</a:t>
            </a:r>
          </a:p>
          <a:p>
            <a:pPr marL="457200" indent="-457200">
              <a:buAutoNum type="arabicPeriod"/>
            </a:pPr>
            <a:endParaRPr lang="en-GB" dirty="0"/>
          </a:p>
          <a:p>
            <a:pPr marL="0" indent="0">
              <a:buNone/>
            </a:pPr>
            <a:r>
              <a:rPr lang="en-GB" dirty="0"/>
              <a:t>If yes, what could be changed to make them fail?</a:t>
            </a:r>
          </a:p>
          <a:p>
            <a:pPr marL="0" indent="0">
              <a:buNone/>
            </a:pPr>
            <a:endParaRPr lang="en-GB" dirty="0"/>
          </a:p>
        </p:txBody>
      </p:sp>
      <p:sp>
        <p:nvSpPr>
          <p:cNvPr id="3" name="Title 2">
            <a:extLst>
              <a:ext uri="{FF2B5EF4-FFF2-40B4-BE49-F238E27FC236}">
                <a16:creationId xmlns:a16="http://schemas.microsoft.com/office/drawing/2014/main" id="{45394A3B-15C5-BDDE-9E0B-145462AFFC59}"/>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71D17F03-D9B0-0CCC-FA34-1CA0D4FF0A6B}"/>
              </a:ext>
            </a:extLst>
          </p:cNvPr>
          <p:cNvSpPr>
            <a:spLocks noGrp="1"/>
          </p:cNvSpPr>
          <p:nvPr>
            <p:ph type="sldNum" sz="quarter" idx="10"/>
          </p:nvPr>
        </p:nvSpPr>
        <p:spPr/>
        <p:txBody>
          <a:bodyPr/>
          <a:lstStyle/>
          <a:p>
            <a:pPr>
              <a:defRPr/>
            </a:pPr>
            <a:fld id="{CD3FC0C4-D681-4CE5-B41E-BCE48B80373A}" type="slidenum">
              <a:rPr lang="en-GB" smtClean="0"/>
              <a:pPr>
                <a:defRPr/>
              </a:pPr>
              <a:t>56</a:t>
            </a:fld>
            <a:endParaRPr lang="en-GB"/>
          </a:p>
        </p:txBody>
      </p:sp>
      <p:pic>
        <p:nvPicPr>
          <p:cNvPr id="5" name="Graphic 4" descr="Dragon with solid fill">
            <a:extLst>
              <a:ext uri="{FF2B5EF4-FFF2-40B4-BE49-F238E27FC236}">
                <a16:creationId xmlns:a16="http://schemas.microsoft.com/office/drawing/2014/main" id="{5B69FB61-298A-6FC7-5AE8-7D5F47503F29}"/>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9F874B1A-1C9C-CB9C-ADB3-F6A6D155B50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0114749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48FCF-244C-33AF-799A-2F6BE493851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9EBD8F1-1777-E8FF-4DCD-5FB970FD6B0B}"/>
              </a:ext>
            </a:extLst>
          </p:cNvPr>
          <p:cNvSpPr>
            <a:spLocks noGrp="1"/>
          </p:cNvSpPr>
          <p:nvPr>
            <p:ph type="body" sz="quarter" idx="11"/>
          </p:nvPr>
        </p:nvSpPr>
        <p:spPr/>
        <p:txBody>
          <a:bodyPr/>
          <a:lstStyle/>
          <a:p>
            <a:pPr marL="0" indent="0">
              <a:buNone/>
            </a:pPr>
            <a:r>
              <a:rPr lang="en-GB" dirty="0"/>
              <a:t>Independence:</a:t>
            </a:r>
          </a:p>
          <a:p>
            <a:r>
              <a:rPr lang="en-GB" dirty="0"/>
              <a:t>Can eggs “affect” each other?</a:t>
            </a:r>
          </a:p>
          <a:p>
            <a:r>
              <a:rPr lang="en-GB" dirty="0"/>
              <a:t>Are eggs grouped into nests/clutches?</a:t>
            </a:r>
          </a:p>
          <a:p>
            <a:endParaRPr lang="en-GB" dirty="0"/>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6EA424FF-A1F9-CA5B-1384-298C85C5D07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ECDC0003-B16A-51D2-6790-3B4BCE580C6A}"/>
              </a:ext>
            </a:extLst>
          </p:cNvPr>
          <p:cNvSpPr>
            <a:spLocks noGrp="1"/>
          </p:cNvSpPr>
          <p:nvPr>
            <p:ph type="sldNum" sz="quarter" idx="10"/>
          </p:nvPr>
        </p:nvSpPr>
        <p:spPr/>
        <p:txBody>
          <a:bodyPr/>
          <a:lstStyle/>
          <a:p>
            <a:pPr>
              <a:defRPr/>
            </a:pPr>
            <a:fld id="{CD3FC0C4-D681-4CE5-B41E-BCE48B80373A}" type="slidenum">
              <a:rPr lang="en-GB" smtClean="0"/>
              <a:pPr>
                <a:defRPr/>
              </a:pPr>
              <a:t>57</a:t>
            </a:fld>
            <a:endParaRPr lang="en-GB"/>
          </a:p>
        </p:txBody>
      </p:sp>
      <p:pic>
        <p:nvPicPr>
          <p:cNvPr id="5" name="Graphic 4" descr="Dragon with solid fill">
            <a:extLst>
              <a:ext uri="{FF2B5EF4-FFF2-40B4-BE49-F238E27FC236}">
                <a16:creationId xmlns:a16="http://schemas.microsoft.com/office/drawing/2014/main" id="{00D85DFA-D91D-C438-819C-0BF45286FF5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AA80CBF-E87B-9E8D-CF14-36E04C74CFF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3038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BA2E-E4A3-ABCA-D0DE-FF28157909D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CA4BB1-748F-C0F6-D50C-AB4090784AE3}"/>
              </a:ext>
            </a:extLst>
          </p:cNvPr>
          <p:cNvSpPr>
            <a:spLocks noGrp="1"/>
          </p:cNvSpPr>
          <p:nvPr>
            <p:ph type="body" sz="quarter" idx="11"/>
          </p:nvPr>
        </p:nvSpPr>
        <p:spPr>
          <a:xfrm>
            <a:off x="515649" y="1772918"/>
            <a:ext cx="6216592" cy="4002407"/>
          </a:xfrm>
        </p:spPr>
        <p:txBody>
          <a:bodyPr/>
          <a:lstStyle/>
          <a:p>
            <a:pPr marL="0" indent="0">
              <a:buNone/>
            </a:pPr>
            <a:r>
              <a:rPr lang="en-GB" dirty="0"/>
              <a:t>Non-informative censoring:</a:t>
            </a:r>
          </a:p>
          <a:p>
            <a:r>
              <a:rPr lang="en-GB" dirty="0"/>
              <a:t>Are eggs are “removed” from the study if they look unhealthy or slow to hatch?</a:t>
            </a:r>
          </a:p>
          <a:p>
            <a:r>
              <a:rPr lang="en-GB" dirty="0"/>
              <a:t>Are there any over-protective dragon parents who hide/move eggs while also incubating better?</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2BA53CC4-D6CA-40BE-8FF4-2BCF982C97C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73CA018-F96C-80DA-F9F1-7B56A0320823}"/>
              </a:ext>
            </a:extLst>
          </p:cNvPr>
          <p:cNvSpPr>
            <a:spLocks noGrp="1"/>
          </p:cNvSpPr>
          <p:nvPr>
            <p:ph type="sldNum" sz="quarter" idx="10"/>
          </p:nvPr>
        </p:nvSpPr>
        <p:spPr/>
        <p:txBody>
          <a:bodyPr/>
          <a:lstStyle/>
          <a:p>
            <a:pPr>
              <a:defRPr/>
            </a:pPr>
            <a:fld id="{CD3FC0C4-D681-4CE5-B41E-BCE48B80373A}" type="slidenum">
              <a:rPr lang="en-GB" smtClean="0"/>
              <a:pPr>
                <a:defRPr/>
              </a:pPr>
              <a:t>58</a:t>
            </a:fld>
            <a:endParaRPr lang="en-GB"/>
          </a:p>
        </p:txBody>
      </p:sp>
      <p:pic>
        <p:nvPicPr>
          <p:cNvPr id="5" name="Graphic 4" descr="Dragon with solid fill">
            <a:extLst>
              <a:ext uri="{FF2B5EF4-FFF2-40B4-BE49-F238E27FC236}">
                <a16:creationId xmlns:a16="http://schemas.microsoft.com/office/drawing/2014/main" id="{C28A87FC-BD13-0D1F-1E89-4F047BF6E71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A45C5AE3-68F4-D420-1205-0719167EFE0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3254723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F724-2343-836F-1A9A-3BF34E10D3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BB6C7-7C2C-C1E5-9694-11357230A72F}"/>
              </a:ext>
            </a:extLst>
          </p:cNvPr>
          <p:cNvSpPr>
            <a:spLocks noGrp="1"/>
          </p:cNvSpPr>
          <p:nvPr>
            <p:ph type="body" sz="quarter" idx="11"/>
          </p:nvPr>
        </p:nvSpPr>
        <p:spPr>
          <a:xfrm>
            <a:off x="515649" y="1772918"/>
            <a:ext cx="6216592" cy="4002407"/>
          </a:xfrm>
        </p:spPr>
        <p:txBody>
          <a:bodyPr/>
          <a:lstStyle/>
          <a:p>
            <a:pPr marL="0" indent="0">
              <a:buNone/>
            </a:pPr>
            <a:r>
              <a:rPr lang="en-GB" dirty="0"/>
              <a:t>Proportional hazards:</a:t>
            </a:r>
          </a:p>
          <a:p>
            <a:r>
              <a:rPr lang="en-GB" dirty="0"/>
              <a:t>Is the chromatic vs metallic (scale colour) effect consistent at all times?</a:t>
            </a:r>
          </a:p>
          <a:p>
            <a:r>
              <a:rPr lang="en-GB" dirty="0"/>
              <a:t>What if metallic dragon eggs hatch slowly but steadily, while chromatic dragon eggs hatch quickly but with more late-stage complications?</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3AF5D4DB-F2B9-3155-3EAA-A0A7336DCF1A}"/>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20F6852-201E-FDEB-B8EB-3DB9B0B91C0A}"/>
              </a:ext>
            </a:extLst>
          </p:cNvPr>
          <p:cNvSpPr>
            <a:spLocks noGrp="1"/>
          </p:cNvSpPr>
          <p:nvPr>
            <p:ph type="sldNum" sz="quarter" idx="10"/>
          </p:nvPr>
        </p:nvSpPr>
        <p:spPr/>
        <p:txBody>
          <a:bodyPr/>
          <a:lstStyle/>
          <a:p>
            <a:pPr>
              <a:defRPr/>
            </a:pPr>
            <a:fld id="{CD3FC0C4-D681-4CE5-B41E-BCE48B80373A}" type="slidenum">
              <a:rPr lang="en-GB" smtClean="0"/>
              <a:pPr>
                <a:defRPr/>
              </a:pPr>
              <a:t>59</a:t>
            </a:fld>
            <a:endParaRPr lang="en-GB"/>
          </a:p>
        </p:txBody>
      </p:sp>
      <p:pic>
        <p:nvPicPr>
          <p:cNvPr id="5" name="Graphic 4" descr="Dragon with solid fill">
            <a:extLst>
              <a:ext uri="{FF2B5EF4-FFF2-40B4-BE49-F238E27FC236}">
                <a16:creationId xmlns:a16="http://schemas.microsoft.com/office/drawing/2014/main" id="{A02D4431-CA18-CAF0-1146-C1F8BA783C1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FCB7728-9A04-F574-432F-11DCA2F4AB4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5906715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7B1FA-FDEE-D7F1-444A-C17CF23E51FD}"/>
              </a:ext>
            </a:extLst>
          </p:cNvPr>
          <p:cNvSpPr>
            <a:spLocks noGrp="1"/>
          </p:cNvSpPr>
          <p:nvPr>
            <p:ph type="title"/>
          </p:nvPr>
        </p:nvSpPr>
        <p:spPr/>
        <p:txBody>
          <a:bodyPr/>
          <a:lstStyle/>
          <a:p>
            <a:r>
              <a:rPr lang="en-GB" dirty="0"/>
              <a:t>Two dragon populations</a:t>
            </a:r>
          </a:p>
        </p:txBody>
      </p:sp>
      <p:sp>
        <p:nvSpPr>
          <p:cNvPr id="3" name="Slide Number Placeholder 2">
            <a:extLst>
              <a:ext uri="{FF2B5EF4-FFF2-40B4-BE49-F238E27FC236}">
                <a16:creationId xmlns:a16="http://schemas.microsoft.com/office/drawing/2014/main" id="{2AECBC10-D4AC-4630-1A27-727CF96A7F1A}"/>
              </a:ext>
            </a:extLst>
          </p:cNvPr>
          <p:cNvSpPr>
            <a:spLocks noGrp="1"/>
          </p:cNvSpPr>
          <p:nvPr>
            <p:ph type="sldNum" sz="quarter" idx="10"/>
          </p:nvPr>
        </p:nvSpPr>
        <p:spPr/>
        <p:txBody>
          <a:bodyPr/>
          <a:lstStyle/>
          <a:p>
            <a:pPr>
              <a:defRPr/>
            </a:pPr>
            <a:fld id="{062FE7C6-874C-4E62-8759-08C2AB2543BB}" type="slidenum">
              <a:rPr lang="en-GB" smtClean="0"/>
              <a:pPr>
                <a:defRPr/>
              </a:pPr>
              <a:t>60</a:t>
            </a:fld>
            <a:endParaRPr lang="en-GB"/>
          </a:p>
        </p:txBody>
      </p:sp>
      <p:sp>
        <p:nvSpPr>
          <p:cNvPr id="4" name="Rectangle 1">
            <a:extLst>
              <a:ext uri="{FF2B5EF4-FFF2-40B4-BE49-F238E27FC236}">
                <a16:creationId xmlns:a16="http://schemas.microsoft.com/office/drawing/2014/main" id="{FC674180-A21D-7213-BE04-AA5DE7ABA90E}"/>
              </a:ext>
            </a:extLst>
          </p:cNvPr>
          <p:cNvSpPr>
            <a:spLocks noChangeArrowheads="1"/>
          </p:cNvSpPr>
          <p:nvPr/>
        </p:nvSpPr>
        <p:spPr bwMode="auto">
          <a:xfrm>
            <a:off x="0" y="1408086"/>
            <a:ext cx="8879706" cy="1538883"/>
          </a:xfrm>
          <a:prstGeom prst="rect">
            <a:avLst/>
          </a:prstGeom>
          <a:noFill/>
          <a:ln>
            <a:noFill/>
          </a:ln>
          <a:effectLst/>
        </p:spPr>
        <p:txBody>
          <a:bodyPr vert="horz" wrap="squar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Lucida Console" panose="020B060904050402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rgbClr val="000000"/>
              </a:solidFill>
              <a:effectLst/>
              <a:latin typeface="Lucida Console" panose="020B060904050402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Lucida Console" panose="020B060904050402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Lucida Console" panose="020B060904050402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2000" dirty="0">
              <a:solidFill>
                <a:srgbClr val="000000"/>
              </a:solidFill>
              <a:latin typeface="Lucida Console" panose="020B0609040504020204" pitchFamily="49" charset="0"/>
            </a:endParaRPr>
          </a:p>
        </p:txBody>
      </p:sp>
      <p:graphicFrame>
        <p:nvGraphicFramePr>
          <p:cNvPr id="5" name="Table 4">
            <a:extLst>
              <a:ext uri="{FF2B5EF4-FFF2-40B4-BE49-F238E27FC236}">
                <a16:creationId xmlns:a16="http://schemas.microsoft.com/office/drawing/2014/main" id="{BA81FDF8-FE87-7C0E-408E-2337E26540BF}"/>
              </a:ext>
            </a:extLst>
          </p:cNvPr>
          <p:cNvGraphicFramePr>
            <a:graphicFrameLocks noGrp="1"/>
          </p:cNvGraphicFramePr>
          <p:nvPr>
            <p:extLst>
              <p:ext uri="{D42A27DB-BD31-4B8C-83A1-F6EECF244321}">
                <p14:modId xmlns:p14="http://schemas.microsoft.com/office/powerpoint/2010/main" val="1960598103"/>
              </p:ext>
            </p:extLst>
          </p:nvPr>
        </p:nvGraphicFramePr>
        <p:xfrm>
          <a:off x="324000" y="1787592"/>
          <a:ext cx="8496000" cy="2123440"/>
        </p:xfrm>
        <a:graphic>
          <a:graphicData uri="http://schemas.openxmlformats.org/drawingml/2006/table">
            <a:tbl>
              <a:tblPr firstRow="1" bandRow="1">
                <a:tableStyleId>{2D5ABB26-0587-4C30-8999-92F81FD0307C}</a:tableStyleId>
              </a:tblPr>
              <a:tblGrid>
                <a:gridCol w="2484000">
                  <a:extLst>
                    <a:ext uri="{9D8B030D-6E8A-4147-A177-3AD203B41FA5}">
                      <a16:colId xmlns:a16="http://schemas.microsoft.com/office/drawing/2014/main" val="4173988851"/>
                    </a:ext>
                  </a:extLst>
                </a:gridCol>
                <a:gridCol w="468000">
                  <a:extLst>
                    <a:ext uri="{9D8B030D-6E8A-4147-A177-3AD203B41FA5}">
                      <a16:colId xmlns:a16="http://schemas.microsoft.com/office/drawing/2014/main" val="3626656785"/>
                    </a:ext>
                  </a:extLst>
                </a:gridCol>
                <a:gridCol w="1296000">
                  <a:extLst>
                    <a:ext uri="{9D8B030D-6E8A-4147-A177-3AD203B41FA5}">
                      <a16:colId xmlns:a16="http://schemas.microsoft.com/office/drawing/2014/main" val="95306554"/>
                    </a:ext>
                  </a:extLst>
                </a:gridCol>
                <a:gridCol w="1296000">
                  <a:extLst>
                    <a:ext uri="{9D8B030D-6E8A-4147-A177-3AD203B41FA5}">
                      <a16:colId xmlns:a16="http://schemas.microsoft.com/office/drawing/2014/main" val="3869660928"/>
                    </a:ext>
                  </a:extLst>
                </a:gridCol>
                <a:gridCol w="1476000">
                  <a:extLst>
                    <a:ext uri="{9D8B030D-6E8A-4147-A177-3AD203B41FA5}">
                      <a16:colId xmlns:a16="http://schemas.microsoft.com/office/drawing/2014/main" val="1609592865"/>
                    </a:ext>
                  </a:extLst>
                </a:gridCol>
                <a:gridCol w="1476000">
                  <a:extLst>
                    <a:ext uri="{9D8B030D-6E8A-4147-A177-3AD203B41FA5}">
                      <a16:colId xmlns:a16="http://schemas.microsoft.com/office/drawing/2014/main" val="2090787689"/>
                    </a:ext>
                  </a:extLst>
                </a:gridCol>
              </a:tblGrid>
              <a:tr h="370840">
                <a:tc>
                  <a:txBody>
                    <a:bodyPr/>
                    <a:lstStyle/>
                    <a:p>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N</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Observed</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Expected</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(O-E)^2/E </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(O-E)^2/V </a:t>
                      </a:r>
                      <a:endParaRPr lang="en-GB" dirty="0"/>
                    </a:p>
                  </a:txBody>
                  <a:tcPr/>
                </a:tc>
                <a:extLst>
                  <a:ext uri="{0D108BD9-81ED-4DB2-BD59-A6C34878D82A}">
                    <a16:rowId xmlns:a16="http://schemas.microsoft.com/office/drawing/2014/main" val="2180891256"/>
                  </a:ext>
                </a:extLst>
              </a:tr>
              <a:tr h="370840">
                <a:tc>
                  <a:txBody>
                    <a:bodyPr/>
                    <a:lstStyle/>
                    <a:p>
                      <a:r>
                        <a:rPr kumimoji="0" lang="en-US" altLang="en-US" sz="1800" b="0" i="0" u="none" strike="noStrike" cap="none" normalizeH="0" baseline="0" dirty="0">
                          <a:ln>
                            <a:noFill/>
                          </a:ln>
                          <a:solidFill>
                            <a:srgbClr val="000000"/>
                          </a:solidFill>
                          <a:effectLst/>
                          <a:latin typeface="Lucida Console" panose="020B0609040504020204" pitchFamily="49" charset="0"/>
                        </a:rPr>
                        <a:t>scales=chromatic </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25</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15</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11.8</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0.851</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1.41</a:t>
                      </a:r>
                      <a:endParaRPr lang="en-GB" dirty="0"/>
                    </a:p>
                  </a:txBody>
                  <a:tcPr/>
                </a:tc>
                <a:extLst>
                  <a:ext uri="{0D108BD9-81ED-4DB2-BD59-A6C34878D82A}">
                    <a16:rowId xmlns:a16="http://schemas.microsoft.com/office/drawing/2014/main" val="2940608784"/>
                  </a:ext>
                </a:extLst>
              </a:tr>
              <a:tr h="370840">
                <a:tc>
                  <a:txBody>
                    <a:bodyPr/>
                    <a:lstStyle/>
                    <a:p>
                      <a:r>
                        <a:rPr kumimoji="0" lang="en-US" altLang="en-US" sz="1800" b="0" i="0" u="none" strike="noStrike" cap="none" normalizeH="0" baseline="0" dirty="0">
                          <a:ln>
                            <a:noFill/>
                          </a:ln>
                          <a:solidFill>
                            <a:srgbClr val="000000"/>
                          </a:solidFill>
                          <a:effectLst/>
                          <a:latin typeface="Lucida Console" panose="020B0609040504020204" pitchFamily="49" charset="0"/>
                        </a:rPr>
                        <a:t>scales=metallic </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35</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16</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19.2</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0.525</a:t>
                      </a:r>
                      <a:endParaRPr lang="en-GB" dirty="0"/>
                    </a:p>
                  </a:txBody>
                  <a:tcPr/>
                </a:tc>
                <a:tc>
                  <a:txBody>
                    <a:bodyPr/>
                    <a:lstStyle/>
                    <a:p>
                      <a:pPr algn="r"/>
                      <a:r>
                        <a:rPr kumimoji="0" lang="en-US" altLang="en-US" sz="1800" b="0" i="0" u="none" strike="noStrike" cap="none" normalizeH="0" baseline="0" dirty="0">
                          <a:ln>
                            <a:noFill/>
                          </a:ln>
                          <a:solidFill>
                            <a:srgbClr val="000000"/>
                          </a:solidFill>
                          <a:effectLst/>
                          <a:latin typeface="Lucida Console" panose="020B0609040504020204" pitchFamily="49" charset="0"/>
                        </a:rPr>
                        <a:t>1.41</a:t>
                      </a:r>
                      <a:endParaRPr lang="en-GB" dirty="0"/>
                    </a:p>
                  </a:txBody>
                  <a:tcPr/>
                </a:tc>
                <a:extLst>
                  <a:ext uri="{0D108BD9-81ED-4DB2-BD59-A6C34878D82A}">
                    <a16:rowId xmlns:a16="http://schemas.microsoft.com/office/drawing/2014/main" val="4044097515"/>
                  </a:ext>
                </a:extLst>
              </a:tr>
              <a:tr h="370840">
                <a:tc>
                  <a:txBody>
                    <a:bodyPr/>
                    <a:lstStyle/>
                    <a:p>
                      <a:endParaRPr lang="en-GB" dirty="0"/>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137699552"/>
                  </a:ext>
                </a:extLst>
              </a:tr>
              <a:tr h="370840">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cap="none" normalizeH="0" baseline="0" dirty="0" err="1">
                          <a:ln>
                            <a:noFill/>
                          </a:ln>
                          <a:solidFill>
                            <a:srgbClr val="000000"/>
                          </a:solidFill>
                          <a:effectLst/>
                          <a:latin typeface="Lucida Console" panose="020B0609040504020204" pitchFamily="49" charset="0"/>
                        </a:rPr>
                        <a:t>Chisq</a:t>
                      </a:r>
                      <a:r>
                        <a:rPr kumimoji="0" lang="en-US" altLang="en-US" sz="1800" b="0" i="0" u="none" strike="noStrike" cap="none" normalizeH="0" baseline="0" dirty="0">
                          <a:ln>
                            <a:noFill/>
                          </a:ln>
                          <a:solidFill>
                            <a:srgbClr val="000000"/>
                          </a:solidFill>
                          <a:effectLst/>
                          <a:latin typeface="Lucida Console" panose="020B0609040504020204" pitchFamily="49" charset="0"/>
                        </a:rPr>
                        <a:t>= 1.4 on 1 degrees of freedom, p= 0.2 </a:t>
                      </a:r>
                      <a:endParaRPr kumimoji="0" lang="en-US" altLang="en-US" sz="4400" b="0" i="0" u="none" strike="noStrike" cap="none" normalizeH="0" baseline="0" dirty="0">
                        <a:ln>
                          <a:noFill/>
                        </a:ln>
                        <a:solidFill>
                          <a:srgbClr val="000000"/>
                        </a:solidFill>
                        <a:effectLst/>
                        <a:latin typeface="Arial" panose="020B0604020202020204" pitchFamily="34" charset="0"/>
                      </a:endParaRPr>
                    </a:p>
                    <a:p>
                      <a:endParaRPr lang="en-GB" dirty="0"/>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dirty="0"/>
                    </a:p>
                  </a:txBody>
                  <a:tcPr/>
                </a:tc>
                <a:extLst>
                  <a:ext uri="{0D108BD9-81ED-4DB2-BD59-A6C34878D82A}">
                    <a16:rowId xmlns:a16="http://schemas.microsoft.com/office/drawing/2014/main" val="2208394358"/>
                  </a:ext>
                </a:extLst>
              </a:tr>
            </a:tbl>
          </a:graphicData>
        </a:graphic>
      </p:graphicFrame>
    </p:spTree>
    <p:extLst>
      <p:ext uri="{BB962C8B-B14F-4D97-AF65-F5344CB8AC3E}">
        <p14:creationId xmlns:p14="http://schemas.microsoft.com/office/powerpoint/2010/main" val="8572538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C43F3-897F-5E5F-7094-F65C54F652A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5CFB6F-241F-CCE9-6673-B45530CFA2B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2DB0F16E-20FC-A222-B511-D0B584F344B3}"/>
              </a:ext>
            </a:extLst>
          </p:cNvPr>
          <p:cNvSpPr>
            <a:spLocks noGrp="1"/>
          </p:cNvSpPr>
          <p:nvPr>
            <p:ph type="sldNum" sz="quarter" idx="10"/>
          </p:nvPr>
        </p:nvSpPr>
        <p:spPr/>
        <p:txBody>
          <a:bodyPr/>
          <a:lstStyle/>
          <a:p>
            <a:pPr>
              <a:defRPr/>
            </a:pPr>
            <a:fld id="{E5717E7F-5007-4559-A9EA-6621C16865F0}" type="slidenum">
              <a:rPr lang="en-GB" smtClean="0"/>
              <a:pPr>
                <a:defRPr/>
              </a:pPr>
              <a:t>61</a:t>
            </a:fld>
            <a:endParaRPr lang="en-GB"/>
          </a:p>
        </p:txBody>
      </p:sp>
      <p:pic>
        <p:nvPicPr>
          <p:cNvPr id="8" name="Picture 7">
            <a:extLst>
              <a:ext uri="{FF2B5EF4-FFF2-40B4-BE49-F238E27FC236}">
                <a16:creationId xmlns:a16="http://schemas.microsoft.com/office/drawing/2014/main" id="{F72A5F0B-0F05-FBF2-48F4-5EDB3BBC3F22}"/>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873244" y="1412776"/>
            <a:ext cx="7397511" cy="4572009"/>
          </a:xfrm>
          <a:prstGeom prst="rect">
            <a:avLst/>
          </a:prstGeom>
        </p:spPr>
      </p:pic>
    </p:spTree>
    <p:extLst>
      <p:ext uri="{BB962C8B-B14F-4D97-AF65-F5344CB8AC3E}">
        <p14:creationId xmlns:p14="http://schemas.microsoft.com/office/powerpoint/2010/main" val="6376698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8754E-9B26-1468-0018-4FD82C1A1FB8}"/>
              </a:ext>
            </a:extLst>
          </p:cNvPr>
          <p:cNvSpPr>
            <a:spLocks noGrp="1"/>
          </p:cNvSpPr>
          <p:nvPr>
            <p:ph type="title"/>
          </p:nvPr>
        </p:nvSpPr>
        <p:spPr/>
        <p:txBody>
          <a:bodyPr/>
          <a:lstStyle/>
          <a:p>
            <a:endParaRPr lang="en-GB"/>
          </a:p>
        </p:txBody>
      </p:sp>
      <p:sp>
        <p:nvSpPr>
          <p:cNvPr id="3" name="Slide Number Placeholder 2">
            <a:extLst>
              <a:ext uri="{FF2B5EF4-FFF2-40B4-BE49-F238E27FC236}">
                <a16:creationId xmlns:a16="http://schemas.microsoft.com/office/drawing/2014/main" id="{F28E167C-8829-CA92-083A-06C1FA91AD9D}"/>
              </a:ext>
            </a:extLst>
          </p:cNvPr>
          <p:cNvSpPr>
            <a:spLocks noGrp="1"/>
          </p:cNvSpPr>
          <p:nvPr>
            <p:ph type="sldNum" sz="quarter" idx="10"/>
          </p:nvPr>
        </p:nvSpPr>
        <p:spPr/>
        <p:txBody>
          <a:bodyPr/>
          <a:lstStyle/>
          <a:p>
            <a:pPr>
              <a:defRPr/>
            </a:pPr>
            <a:fld id="{062FE7C6-874C-4E62-8759-08C2AB2543BB}" type="slidenum">
              <a:rPr lang="en-GB" smtClean="0"/>
              <a:pPr>
                <a:defRPr/>
              </a:pPr>
              <a:t>62</a:t>
            </a:fld>
            <a:endParaRPr lang="en-GB"/>
          </a:p>
        </p:txBody>
      </p:sp>
      <p:pic>
        <p:nvPicPr>
          <p:cNvPr id="4" name="Picture 3">
            <a:extLst>
              <a:ext uri="{FF2B5EF4-FFF2-40B4-BE49-F238E27FC236}">
                <a16:creationId xmlns:a16="http://schemas.microsoft.com/office/drawing/2014/main" id="{EB368C6A-55DC-6012-EDB2-7D7E02F3B1AA}"/>
              </a:ext>
            </a:extLst>
          </p:cNvPr>
          <p:cNvPicPr>
            <a:picLocks noChangeAspect="1"/>
          </p:cNvPicPr>
          <p:nvPr/>
        </p:nvPicPr>
        <p:blipFill>
          <a:blip r:embed="rId2"/>
          <a:stretch>
            <a:fillRect/>
          </a:stretch>
        </p:blipFill>
        <p:spPr>
          <a:xfrm>
            <a:off x="904875" y="1412776"/>
            <a:ext cx="7334250" cy="4524375"/>
          </a:xfrm>
          <a:prstGeom prst="rect">
            <a:avLst/>
          </a:prstGeom>
        </p:spPr>
      </p:pic>
    </p:spTree>
    <p:extLst>
      <p:ext uri="{BB962C8B-B14F-4D97-AF65-F5344CB8AC3E}">
        <p14:creationId xmlns:p14="http://schemas.microsoft.com/office/powerpoint/2010/main" val="41223665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293BA-9FF4-D4C7-08F4-258BF9BF3654}"/>
              </a:ext>
            </a:extLst>
          </p:cNvPr>
          <p:cNvSpPr>
            <a:spLocks noGrp="1"/>
          </p:cNvSpPr>
          <p:nvPr>
            <p:ph type="title"/>
          </p:nvPr>
        </p:nvSpPr>
        <p:spPr/>
        <p:txBody>
          <a:bodyPr/>
          <a:lstStyle/>
          <a:p>
            <a:r>
              <a:rPr lang="en-GB" dirty="0"/>
              <a:t>An interesting note</a:t>
            </a:r>
          </a:p>
        </p:txBody>
      </p:sp>
      <p:sp>
        <p:nvSpPr>
          <p:cNvPr id="3" name="Slide Number Placeholder 2">
            <a:extLst>
              <a:ext uri="{FF2B5EF4-FFF2-40B4-BE49-F238E27FC236}">
                <a16:creationId xmlns:a16="http://schemas.microsoft.com/office/drawing/2014/main" id="{C6A45F53-0C59-879E-969F-9F39D2959C12}"/>
              </a:ext>
            </a:extLst>
          </p:cNvPr>
          <p:cNvSpPr>
            <a:spLocks noGrp="1"/>
          </p:cNvSpPr>
          <p:nvPr>
            <p:ph type="sldNum" sz="quarter" idx="10"/>
          </p:nvPr>
        </p:nvSpPr>
        <p:spPr/>
        <p:txBody>
          <a:bodyPr/>
          <a:lstStyle/>
          <a:p>
            <a:pPr>
              <a:defRPr/>
            </a:pPr>
            <a:fld id="{062FE7C6-874C-4E62-8759-08C2AB2543BB}" type="slidenum">
              <a:rPr lang="en-GB" smtClean="0"/>
              <a:pPr>
                <a:defRPr/>
              </a:pPr>
              <a:t>63</a:t>
            </a:fld>
            <a:endParaRPr lang="en-GB"/>
          </a:p>
        </p:txBody>
      </p:sp>
      <p:pic>
        <p:nvPicPr>
          <p:cNvPr id="6" name="Picture 5">
            <a:extLst>
              <a:ext uri="{FF2B5EF4-FFF2-40B4-BE49-F238E27FC236}">
                <a16:creationId xmlns:a16="http://schemas.microsoft.com/office/drawing/2014/main" id="{AF3D8EE5-FD88-4632-6880-045F239C7EEE}"/>
              </a:ext>
            </a:extLst>
          </p:cNvPr>
          <p:cNvPicPr>
            <a:picLocks noChangeAspect="1"/>
          </p:cNvPicPr>
          <p:nvPr/>
        </p:nvPicPr>
        <p:blipFill>
          <a:blip r:embed="rId2"/>
          <a:stretch>
            <a:fillRect/>
          </a:stretch>
        </p:blipFill>
        <p:spPr>
          <a:xfrm>
            <a:off x="895866" y="1412776"/>
            <a:ext cx="7334250" cy="4524375"/>
          </a:xfrm>
          <a:prstGeom prst="rect">
            <a:avLst/>
          </a:prstGeom>
        </p:spPr>
      </p:pic>
    </p:spTree>
    <p:extLst>
      <p:ext uri="{BB962C8B-B14F-4D97-AF65-F5344CB8AC3E}">
        <p14:creationId xmlns:p14="http://schemas.microsoft.com/office/powerpoint/2010/main" val="427567698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87DA8-688B-FBE6-751D-1A94AA186735}"/>
              </a:ext>
            </a:extLst>
          </p:cNvPr>
          <p:cNvSpPr>
            <a:spLocks noGrp="1"/>
          </p:cNvSpPr>
          <p:nvPr>
            <p:ph type="title"/>
          </p:nvPr>
        </p:nvSpPr>
        <p:spPr/>
        <p:txBody>
          <a:bodyPr/>
          <a:lstStyle/>
          <a:p>
            <a:endParaRPr lang="en-GB"/>
          </a:p>
        </p:txBody>
      </p:sp>
      <p:sp>
        <p:nvSpPr>
          <p:cNvPr id="3" name="Slide Number Placeholder 2">
            <a:extLst>
              <a:ext uri="{FF2B5EF4-FFF2-40B4-BE49-F238E27FC236}">
                <a16:creationId xmlns:a16="http://schemas.microsoft.com/office/drawing/2014/main" id="{ED278FFB-3897-9A36-2D5C-DE274F5915A8}"/>
              </a:ext>
            </a:extLst>
          </p:cNvPr>
          <p:cNvSpPr>
            <a:spLocks noGrp="1"/>
          </p:cNvSpPr>
          <p:nvPr>
            <p:ph type="sldNum" sz="quarter" idx="10"/>
          </p:nvPr>
        </p:nvSpPr>
        <p:spPr/>
        <p:txBody>
          <a:bodyPr/>
          <a:lstStyle/>
          <a:p>
            <a:pPr>
              <a:defRPr/>
            </a:pPr>
            <a:fld id="{062FE7C6-874C-4E62-8759-08C2AB2543BB}" type="slidenum">
              <a:rPr lang="en-GB" smtClean="0"/>
              <a:pPr>
                <a:defRPr/>
              </a:pPr>
              <a:t>64</a:t>
            </a:fld>
            <a:endParaRPr lang="en-GB"/>
          </a:p>
        </p:txBody>
      </p:sp>
      <p:pic>
        <p:nvPicPr>
          <p:cNvPr id="4" name="Picture 3">
            <a:extLst>
              <a:ext uri="{FF2B5EF4-FFF2-40B4-BE49-F238E27FC236}">
                <a16:creationId xmlns:a16="http://schemas.microsoft.com/office/drawing/2014/main" id="{2BBB399F-2E7D-9857-AAF5-387A3EFCC94C}"/>
              </a:ext>
            </a:extLst>
          </p:cNvPr>
          <p:cNvPicPr>
            <a:picLocks noChangeAspect="1"/>
          </p:cNvPicPr>
          <p:nvPr/>
        </p:nvPicPr>
        <p:blipFill>
          <a:blip r:embed="rId2"/>
          <a:stretch>
            <a:fillRect/>
          </a:stretch>
        </p:blipFill>
        <p:spPr>
          <a:xfrm>
            <a:off x="887361" y="1628800"/>
            <a:ext cx="7334250" cy="4524375"/>
          </a:xfrm>
          <a:prstGeom prst="rect">
            <a:avLst/>
          </a:prstGeom>
        </p:spPr>
      </p:pic>
    </p:spTree>
    <p:extLst>
      <p:ext uri="{BB962C8B-B14F-4D97-AF65-F5344CB8AC3E}">
        <p14:creationId xmlns:p14="http://schemas.microsoft.com/office/powerpoint/2010/main" val="8888311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B0298-79C2-65EF-C716-B0AB6D2FC39C}"/>
              </a:ext>
            </a:extLst>
          </p:cNvPr>
          <p:cNvSpPr>
            <a:spLocks noGrp="1"/>
          </p:cNvSpPr>
          <p:nvPr>
            <p:ph type="title"/>
          </p:nvPr>
        </p:nvSpPr>
        <p:spPr/>
        <p:txBody>
          <a:bodyPr/>
          <a:lstStyle/>
          <a:p>
            <a:endParaRPr lang="en-GB"/>
          </a:p>
        </p:txBody>
      </p:sp>
      <p:sp>
        <p:nvSpPr>
          <p:cNvPr id="3" name="Slide Number Placeholder 2">
            <a:extLst>
              <a:ext uri="{FF2B5EF4-FFF2-40B4-BE49-F238E27FC236}">
                <a16:creationId xmlns:a16="http://schemas.microsoft.com/office/drawing/2014/main" id="{CB8BB03F-0E49-4C99-7D9E-3B636B3522EC}"/>
              </a:ext>
            </a:extLst>
          </p:cNvPr>
          <p:cNvSpPr>
            <a:spLocks noGrp="1"/>
          </p:cNvSpPr>
          <p:nvPr>
            <p:ph type="sldNum" sz="quarter" idx="10"/>
          </p:nvPr>
        </p:nvSpPr>
        <p:spPr/>
        <p:txBody>
          <a:bodyPr/>
          <a:lstStyle/>
          <a:p>
            <a:pPr>
              <a:defRPr/>
            </a:pPr>
            <a:fld id="{062FE7C6-874C-4E62-8759-08C2AB2543BB}" type="slidenum">
              <a:rPr lang="en-GB" smtClean="0"/>
              <a:pPr>
                <a:defRPr/>
              </a:pPr>
              <a:t>65</a:t>
            </a:fld>
            <a:endParaRPr lang="en-GB"/>
          </a:p>
        </p:txBody>
      </p:sp>
      <p:pic>
        <p:nvPicPr>
          <p:cNvPr id="4" name="Picture 3">
            <a:extLst>
              <a:ext uri="{FF2B5EF4-FFF2-40B4-BE49-F238E27FC236}">
                <a16:creationId xmlns:a16="http://schemas.microsoft.com/office/drawing/2014/main" id="{B0661F40-65ED-9B53-439A-9960F6612561}"/>
              </a:ext>
            </a:extLst>
          </p:cNvPr>
          <p:cNvPicPr>
            <a:picLocks noChangeAspect="1"/>
          </p:cNvPicPr>
          <p:nvPr/>
        </p:nvPicPr>
        <p:blipFill>
          <a:blip r:embed="rId2"/>
          <a:stretch>
            <a:fillRect/>
          </a:stretch>
        </p:blipFill>
        <p:spPr>
          <a:xfrm>
            <a:off x="1863054" y="1412776"/>
            <a:ext cx="5417891" cy="4731279"/>
          </a:xfrm>
          <a:prstGeom prst="rect">
            <a:avLst/>
          </a:prstGeom>
        </p:spPr>
      </p:pic>
    </p:spTree>
    <p:extLst>
      <p:ext uri="{BB962C8B-B14F-4D97-AF65-F5344CB8AC3E}">
        <p14:creationId xmlns:p14="http://schemas.microsoft.com/office/powerpoint/2010/main" val="30434508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CF99B-DED4-9DAF-D140-B506D2B2239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6ABD0B8-B0A3-4E1B-A33A-5E9522029E85}"/>
              </a:ext>
            </a:extLst>
          </p:cNvPr>
          <p:cNvSpPr>
            <a:spLocks noGrp="1"/>
          </p:cNvSpPr>
          <p:nvPr>
            <p:ph type="body" sz="quarter" idx="12"/>
          </p:nvPr>
        </p:nvSpPr>
        <p:spPr/>
        <p:txBody>
          <a:bodyPr/>
          <a:lstStyle/>
          <a:p>
            <a:r>
              <a:rPr lang="en-GB" noProof="0" dirty="0"/>
              <a:t>Cox proportional hazards regression</a:t>
            </a:r>
          </a:p>
        </p:txBody>
      </p:sp>
      <p:sp>
        <p:nvSpPr>
          <p:cNvPr id="5" name="Text Placeholder 4">
            <a:extLst>
              <a:ext uri="{FF2B5EF4-FFF2-40B4-BE49-F238E27FC236}">
                <a16:creationId xmlns:a16="http://schemas.microsoft.com/office/drawing/2014/main" id="{11CF2F2B-D7CC-6171-4126-9AB86160B78D}"/>
              </a:ext>
            </a:extLst>
          </p:cNvPr>
          <p:cNvSpPr>
            <a:spLocks noGrp="1"/>
          </p:cNvSpPr>
          <p:nvPr>
            <p:ph type="body" sz="quarter" idx="11"/>
          </p:nvPr>
        </p:nvSpPr>
        <p:spPr/>
        <p:txBody>
          <a:bodyPr/>
          <a:lstStyle/>
          <a:p>
            <a:r>
              <a:rPr lang="en-GB" noProof="0" dirty="0"/>
              <a:t>4. Continuous &amp; multiple predictors</a:t>
            </a:r>
          </a:p>
        </p:txBody>
      </p:sp>
      <p:sp>
        <p:nvSpPr>
          <p:cNvPr id="4" name="Slide Number Placeholder 3">
            <a:extLst>
              <a:ext uri="{FF2B5EF4-FFF2-40B4-BE49-F238E27FC236}">
                <a16:creationId xmlns:a16="http://schemas.microsoft.com/office/drawing/2014/main" id="{C029C296-32B6-9A02-7A98-0F4434431C47}"/>
              </a:ext>
            </a:extLst>
          </p:cNvPr>
          <p:cNvSpPr>
            <a:spLocks noGrp="1"/>
          </p:cNvSpPr>
          <p:nvPr>
            <p:ph type="sldNum" sz="quarter" idx="10"/>
          </p:nvPr>
        </p:nvSpPr>
        <p:spPr/>
        <p:txBody>
          <a:bodyPr/>
          <a:lstStyle/>
          <a:p>
            <a:pPr>
              <a:defRPr/>
            </a:pPr>
            <a:fld id="{CD3FC0C4-D681-4CE5-B41E-BCE48B80373A}" type="slidenum">
              <a:rPr lang="en-GB" noProof="0" smtClean="0"/>
              <a:pPr>
                <a:defRPr/>
              </a:pPr>
              <a:t>66</a:t>
            </a:fld>
            <a:endParaRPr lang="en-GB" noProof="0" dirty="0"/>
          </a:p>
        </p:txBody>
      </p:sp>
    </p:spTree>
    <p:extLst>
      <p:ext uri="{BB962C8B-B14F-4D97-AF65-F5344CB8AC3E}">
        <p14:creationId xmlns:p14="http://schemas.microsoft.com/office/powerpoint/2010/main" val="320488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36063-367B-F91F-AF09-B2D615B998D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BC54054-B052-0E88-69DD-8E7E2EEDD09D}"/>
              </a:ext>
            </a:extLst>
          </p:cNvPr>
          <p:cNvSpPr>
            <a:spLocks noGrp="1"/>
          </p:cNvSpPr>
          <p:nvPr>
            <p:ph type="body" sz="quarter" idx="11"/>
          </p:nvPr>
        </p:nvSpPr>
        <p:spPr/>
        <p:txBody>
          <a:bodyPr/>
          <a:lstStyle/>
          <a:p>
            <a:pPr marL="0" indent="0" algn="ctr">
              <a:buNone/>
            </a:pPr>
            <a:r>
              <a:rPr lang="en-GB" sz="3200" b="0" i="0" u="none" strike="noStrike" dirty="0">
                <a:solidFill>
                  <a:schemeClr val="accent2"/>
                </a:solidFill>
                <a:effectLst/>
                <a:latin typeface="Arial" panose="020B0604020202020204" pitchFamily="34" charset="0"/>
              </a:rPr>
              <a:t>h(t) </a:t>
            </a:r>
            <a:r>
              <a:rPr lang="en-GB" sz="3200" b="0" i="0" u="none" strike="noStrike" dirty="0">
                <a:effectLst/>
                <a:latin typeface="Arial" panose="020B0604020202020204" pitchFamily="34" charset="0"/>
              </a:rPr>
              <a:t>=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x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b="1" dirty="0">
                <a:latin typeface="+mn-lt"/>
              </a:rPr>
              <a:t>Hazard function</a:t>
            </a:r>
          </a:p>
          <a:p>
            <a:pPr marL="0" indent="0">
              <a:buNone/>
            </a:pPr>
            <a:r>
              <a:rPr lang="en-US" sz="2400" dirty="0">
                <a:latin typeface="+mn-lt"/>
              </a:rPr>
              <a:t>= the likelihood of experiencing an event </a:t>
            </a:r>
            <a:r>
              <a:rPr lang="en-US" sz="2400" i="1" dirty="0">
                <a:latin typeface="+mn-lt"/>
              </a:rPr>
              <a:t>right now</a:t>
            </a:r>
            <a:r>
              <a:rPr lang="en-US" sz="2400" dirty="0">
                <a:latin typeface="+mn-lt"/>
              </a:rPr>
              <a:t> (instantaneous likelihood), given survival to time </a:t>
            </a:r>
            <a:r>
              <a:rPr lang="en-US" sz="2400" i="1" dirty="0">
                <a:latin typeface="+mn-lt"/>
              </a:rPr>
              <a:t>t</a:t>
            </a:r>
            <a:endParaRPr lang="en-US" sz="2400" dirty="0">
              <a:latin typeface="+mn-lt"/>
            </a:endParaRPr>
          </a:p>
          <a:p>
            <a:pPr marL="0" indent="0">
              <a:buNone/>
            </a:pPr>
            <a:r>
              <a:rPr lang="en-US" sz="2400" dirty="0">
                <a:latin typeface="+mn-lt"/>
              </a:rPr>
              <a:t>= a function of time, that may take different shapes</a:t>
            </a:r>
            <a:endParaRPr lang="en-GB" sz="2400" dirty="0">
              <a:latin typeface="+mn-lt"/>
            </a:endParaRPr>
          </a:p>
          <a:p>
            <a:endParaRPr lang="en-GB" sz="2400" dirty="0"/>
          </a:p>
        </p:txBody>
      </p:sp>
      <p:sp>
        <p:nvSpPr>
          <p:cNvPr id="5" name="Title 4">
            <a:extLst>
              <a:ext uri="{FF2B5EF4-FFF2-40B4-BE49-F238E27FC236}">
                <a16:creationId xmlns:a16="http://schemas.microsoft.com/office/drawing/2014/main" id="{BB66C9BA-62DE-4196-066B-7FC2067C1D1D}"/>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3690B85B-143B-4CBF-4FAE-D2E0AF4AC13E}"/>
              </a:ext>
            </a:extLst>
          </p:cNvPr>
          <p:cNvSpPr>
            <a:spLocks noGrp="1"/>
          </p:cNvSpPr>
          <p:nvPr>
            <p:ph type="sldNum" sz="quarter" idx="10"/>
          </p:nvPr>
        </p:nvSpPr>
        <p:spPr/>
        <p:txBody>
          <a:bodyPr/>
          <a:lstStyle/>
          <a:p>
            <a:pPr>
              <a:defRPr/>
            </a:pPr>
            <a:fld id="{E5717E7F-5007-4559-A9EA-6621C16865F0}" type="slidenum">
              <a:rPr lang="en-GB" smtClean="0"/>
              <a:pPr>
                <a:defRPr/>
              </a:pPr>
              <a:t>67</a:t>
            </a:fld>
            <a:endParaRPr lang="en-GB"/>
          </a:p>
        </p:txBody>
      </p:sp>
    </p:spTree>
    <p:extLst>
      <p:ext uri="{BB962C8B-B14F-4D97-AF65-F5344CB8AC3E}">
        <p14:creationId xmlns:p14="http://schemas.microsoft.com/office/powerpoint/2010/main" val="22154161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D06D95A-AA7E-3A6C-94CC-A9F59C42238B}"/>
              </a:ext>
            </a:extLst>
          </p:cNvPr>
          <p:cNvSpPr>
            <a:spLocks noGrp="1"/>
          </p:cNvSpPr>
          <p:nvPr>
            <p:ph type="title"/>
          </p:nvPr>
        </p:nvSpPr>
        <p:spPr/>
        <p:txBody>
          <a:bodyPr/>
          <a:lstStyle/>
          <a:p>
            <a:r>
              <a:rPr lang="en-GB" dirty="0"/>
              <a:t>Hazard function shapes</a:t>
            </a:r>
          </a:p>
        </p:txBody>
      </p:sp>
      <p:sp>
        <p:nvSpPr>
          <p:cNvPr id="4" name="Slide Number Placeholder 3">
            <a:extLst>
              <a:ext uri="{FF2B5EF4-FFF2-40B4-BE49-F238E27FC236}">
                <a16:creationId xmlns:a16="http://schemas.microsoft.com/office/drawing/2014/main" id="{07C870FA-D19B-DD3B-66A1-E383B884DBAA}"/>
              </a:ext>
            </a:extLst>
          </p:cNvPr>
          <p:cNvSpPr>
            <a:spLocks noGrp="1"/>
          </p:cNvSpPr>
          <p:nvPr>
            <p:ph type="sldNum" sz="quarter" idx="10"/>
          </p:nvPr>
        </p:nvSpPr>
        <p:spPr/>
        <p:txBody>
          <a:bodyPr/>
          <a:lstStyle/>
          <a:p>
            <a:pPr>
              <a:defRPr/>
            </a:pPr>
            <a:fld id="{CD3FC0C4-D681-4CE5-B41E-BCE48B80373A}" type="slidenum">
              <a:rPr lang="en-GB" smtClean="0"/>
              <a:pPr>
                <a:defRPr/>
              </a:pPr>
              <a:t>68</a:t>
            </a:fld>
            <a:endParaRPr lang="en-GB"/>
          </a:p>
        </p:txBody>
      </p:sp>
      <p:pic>
        <p:nvPicPr>
          <p:cNvPr id="6" name="Picture 5">
            <a:extLst>
              <a:ext uri="{FF2B5EF4-FFF2-40B4-BE49-F238E27FC236}">
                <a16:creationId xmlns:a16="http://schemas.microsoft.com/office/drawing/2014/main" id="{2B0C96C1-6990-6DF9-1439-96A499F92E08}"/>
              </a:ext>
            </a:extLst>
          </p:cNvPr>
          <p:cNvPicPr>
            <a:picLocks noChangeAspect="1"/>
          </p:cNvPicPr>
          <p:nvPr/>
        </p:nvPicPr>
        <p:blipFill>
          <a:blip r:embed="rId3"/>
          <a:stretch>
            <a:fillRect/>
          </a:stretch>
        </p:blipFill>
        <p:spPr>
          <a:xfrm>
            <a:off x="827584" y="1644107"/>
            <a:ext cx="6856437" cy="4049331"/>
          </a:xfrm>
          <a:prstGeom prst="rect">
            <a:avLst/>
          </a:prstGeom>
        </p:spPr>
      </p:pic>
    </p:spTree>
    <p:extLst>
      <p:ext uri="{BB962C8B-B14F-4D97-AF65-F5344CB8AC3E}">
        <p14:creationId xmlns:p14="http://schemas.microsoft.com/office/powerpoint/2010/main" val="6872711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E45-F413-49AB-9EEE-E9213865338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A6CF015-C2EF-BABD-312B-DA53CC85789A}"/>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a:t>
            </a:r>
            <a:r>
              <a:rPr lang="en-GB" sz="3200" b="0" i="0" u="none" strike="noStrike" dirty="0">
                <a:solidFill>
                  <a:schemeClr val="accent2"/>
                </a:solidFill>
                <a:effectLst/>
                <a:latin typeface="Arial" panose="020B0604020202020204" pitchFamily="34" charset="0"/>
              </a:rPr>
              <a:t>h</a:t>
            </a:r>
            <a:r>
              <a:rPr lang="en-GB" sz="3200" b="0" i="0" u="none" strike="noStrike" baseline="-25000" dirty="0">
                <a:solidFill>
                  <a:schemeClr val="accent2"/>
                </a:solidFill>
                <a:effectLst/>
                <a:latin typeface="Arial" panose="020B0604020202020204" pitchFamily="34" charset="0"/>
              </a:rPr>
              <a:t>0</a:t>
            </a:r>
            <a:r>
              <a:rPr lang="en-GB" sz="3200" b="0" i="0" u="none" strike="noStrike" dirty="0">
                <a:solidFill>
                  <a:schemeClr val="accent2"/>
                </a:solidFill>
                <a:effectLst/>
                <a:latin typeface="Arial" panose="020B0604020202020204" pitchFamily="34" charset="0"/>
              </a:rPr>
              <a:t>(t)</a:t>
            </a:r>
            <a:r>
              <a:rPr lang="en-GB" sz="3200" b="0" i="0" u="none" strike="noStrike" dirty="0">
                <a:effectLst/>
                <a:latin typeface="Arial" panose="020B0604020202020204" pitchFamily="34" charset="0"/>
              </a:rPr>
              <a:t> x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b="1" dirty="0">
                <a:latin typeface="+mn-lt"/>
              </a:rPr>
              <a:t>Baseline hazard function</a:t>
            </a:r>
          </a:p>
          <a:p>
            <a:pPr marL="0" indent="0">
              <a:buNone/>
            </a:pPr>
            <a:r>
              <a:rPr lang="en-US" sz="2400" dirty="0">
                <a:latin typeface="+mn-lt"/>
              </a:rPr>
              <a:t>= the likelihood of the event, when all predictors are set to 0</a:t>
            </a:r>
          </a:p>
          <a:p>
            <a:pPr marL="0" indent="0">
              <a:buNone/>
            </a:pPr>
            <a:r>
              <a:rPr lang="en-US" sz="2400" dirty="0">
                <a:latin typeface="+mn-lt"/>
              </a:rPr>
              <a:t>(Acts a bit like a </a:t>
            </a:r>
            <a:r>
              <a:rPr lang="el-GR" sz="2400" b="0" i="0" u="none" strike="noStrike" dirty="0">
                <a:effectLst/>
                <a:latin typeface="Arial" panose="020B0604020202020204" pitchFamily="34" charset="0"/>
              </a:rPr>
              <a:t>β</a:t>
            </a:r>
            <a:r>
              <a:rPr lang="en-US" sz="2400" b="0" i="0" u="none" strike="noStrike" baseline="-25000" dirty="0">
                <a:effectLst/>
                <a:latin typeface="Arial" panose="020B0604020202020204" pitchFamily="34" charset="0"/>
              </a:rPr>
              <a:t>0</a:t>
            </a:r>
            <a:r>
              <a:rPr lang="en-GB" sz="2400" dirty="0"/>
              <a:t>)</a:t>
            </a:r>
          </a:p>
        </p:txBody>
      </p:sp>
      <p:sp>
        <p:nvSpPr>
          <p:cNvPr id="5" name="Title 4">
            <a:extLst>
              <a:ext uri="{FF2B5EF4-FFF2-40B4-BE49-F238E27FC236}">
                <a16:creationId xmlns:a16="http://schemas.microsoft.com/office/drawing/2014/main" id="{4F793880-446C-9DA5-CEBE-484AD1E356B3}"/>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0E574A63-FB39-F6AF-00CD-0C07E3D67EE7}"/>
              </a:ext>
            </a:extLst>
          </p:cNvPr>
          <p:cNvSpPr>
            <a:spLocks noGrp="1"/>
          </p:cNvSpPr>
          <p:nvPr>
            <p:ph type="sldNum" sz="quarter" idx="10"/>
          </p:nvPr>
        </p:nvSpPr>
        <p:spPr/>
        <p:txBody>
          <a:bodyPr/>
          <a:lstStyle/>
          <a:p>
            <a:pPr>
              <a:defRPr/>
            </a:pPr>
            <a:fld id="{E5717E7F-5007-4559-A9EA-6621C16865F0}" type="slidenum">
              <a:rPr lang="en-GB" smtClean="0"/>
              <a:pPr>
                <a:defRPr/>
              </a:pPr>
              <a:t>69</a:t>
            </a:fld>
            <a:endParaRPr lang="en-GB"/>
          </a:p>
        </p:txBody>
      </p:sp>
    </p:spTree>
    <p:extLst>
      <p:ext uri="{BB962C8B-B14F-4D97-AF65-F5344CB8AC3E}">
        <p14:creationId xmlns:p14="http://schemas.microsoft.com/office/powerpoint/2010/main" val="18846983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BE25-4DED-0376-D234-A34CF65A5BF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45EC9DB-17D2-29A3-855A-205A748430D2}"/>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x exp(</a:t>
            </a:r>
            <a:r>
              <a:rPr lang="el-GR" sz="3200" b="0" i="0" u="none" strike="noStrike" dirty="0">
                <a:solidFill>
                  <a:schemeClr val="accent2"/>
                </a:solidFill>
                <a:effectLst/>
                <a:latin typeface="Arial" panose="020B0604020202020204" pitchFamily="34" charset="0"/>
              </a:rPr>
              <a:t>β</a:t>
            </a:r>
            <a:r>
              <a:rPr lang="el-GR" sz="3200" b="0" i="0" u="none" strike="noStrike" baseline="-25000" dirty="0">
                <a:solidFill>
                  <a:schemeClr val="accent2"/>
                </a:solidFill>
                <a:effectLst/>
                <a:latin typeface="Arial" panose="020B0604020202020204" pitchFamily="34" charset="0"/>
              </a:rPr>
              <a:t>1</a:t>
            </a:r>
            <a:r>
              <a:rPr lang="en-GB" sz="3200" b="0" i="0" u="none" strike="noStrike" dirty="0">
                <a:solidFill>
                  <a:schemeClr val="accent2"/>
                </a:solidFill>
                <a:effectLst/>
                <a:latin typeface="Arial" panose="020B0604020202020204" pitchFamily="34" charset="0"/>
              </a:rPr>
              <a:t>x</a:t>
            </a:r>
            <a:r>
              <a:rPr lang="en-GB" sz="3200" b="0" i="0" u="none" strike="noStrike" baseline="-25000" dirty="0">
                <a:solidFill>
                  <a:schemeClr val="accent2"/>
                </a:solidFill>
                <a:effectLst/>
                <a:latin typeface="Arial" panose="020B0604020202020204" pitchFamily="34" charset="0"/>
              </a:rPr>
              <a:t>1</a:t>
            </a:r>
            <a:r>
              <a:rPr lang="en-GB" sz="3200" b="0" i="0" u="none" strike="noStrike" dirty="0">
                <a:solidFill>
                  <a:schemeClr val="accent2"/>
                </a:solidFill>
                <a:effectLst/>
                <a:latin typeface="Arial" panose="020B0604020202020204" pitchFamily="34" charset="0"/>
              </a:rPr>
              <a:t> + </a:t>
            </a:r>
            <a:r>
              <a:rPr lang="el-GR" sz="3200" b="0" i="0" u="none" strike="noStrike" dirty="0">
                <a:solidFill>
                  <a:schemeClr val="accent2"/>
                </a:solidFill>
                <a:effectLst/>
                <a:latin typeface="Arial" panose="020B0604020202020204" pitchFamily="34" charset="0"/>
              </a:rPr>
              <a:t>β</a:t>
            </a:r>
            <a:r>
              <a:rPr lang="el-GR" sz="3200" b="0" i="0" u="none" strike="noStrike" baseline="-25000" dirty="0">
                <a:solidFill>
                  <a:schemeClr val="accent2"/>
                </a:solidFill>
                <a:effectLst/>
                <a:latin typeface="Arial" panose="020B0604020202020204" pitchFamily="34" charset="0"/>
              </a:rPr>
              <a:t>2</a:t>
            </a:r>
            <a:r>
              <a:rPr lang="en-GB" sz="3200" b="0" i="0" u="none" strike="noStrike" dirty="0">
                <a:solidFill>
                  <a:schemeClr val="accent2"/>
                </a:solidFill>
                <a:effectLst/>
                <a:latin typeface="Arial" panose="020B0604020202020204" pitchFamily="34" charset="0"/>
              </a:rPr>
              <a:t>x</a:t>
            </a:r>
            <a:r>
              <a:rPr lang="en-GB" sz="3200" b="0" i="0" u="none" strike="noStrike" baseline="-25000" dirty="0">
                <a:solidFill>
                  <a:schemeClr val="accent2"/>
                </a:solidFill>
                <a:effectLst/>
                <a:latin typeface="Arial" panose="020B0604020202020204" pitchFamily="34" charset="0"/>
              </a:rPr>
              <a:t>2</a:t>
            </a:r>
            <a:r>
              <a:rPr lang="en-GB" sz="3200" b="0" i="0" u="none" strike="noStrike" dirty="0">
                <a:solidFill>
                  <a:schemeClr val="accent2"/>
                </a:solidFill>
                <a:effectLst/>
                <a:latin typeface="Arial" panose="020B0604020202020204" pitchFamily="34" charset="0"/>
              </a:rPr>
              <a:t> … + </a:t>
            </a:r>
            <a:r>
              <a:rPr lang="el-GR" sz="3200" b="0" i="0" u="none" strike="noStrike" dirty="0">
                <a:solidFill>
                  <a:schemeClr val="accent2"/>
                </a:solidFill>
                <a:effectLst/>
                <a:latin typeface="Arial" panose="020B0604020202020204" pitchFamily="34" charset="0"/>
              </a:rPr>
              <a:t>β</a:t>
            </a:r>
            <a:r>
              <a:rPr lang="en-GB" sz="3200" b="0" i="0" u="none" strike="noStrike" baseline="-25000" dirty="0">
                <a:solidFill>
                  <a:schemeClr val="accent2"/>
                </a:solidFill>
                <a:effectLst/>
                <a:latin typeface="Arial" panose="020B0604020202020204" pitchFamily="34" charset="0"/>
              </a:rPr>
              <a:t>n</a:t>
            </a:r>
            <a:r>
              <a:rPr lang="en-GB" sz="3200" b="0" i="0" u="none" strike="noStrike" dirty="0">
                <a:solidFill>
                  <a:schemeClr val="accent2"/>
                </a:solidFill>
                <a:effectLst/>
                <a:latin typeface="Arial" panose="020B0604020202020204" pitchFamily="34" charset="0"/>
              </a:rPr>
              <a:t>x</a:t>
            </a:r>
            <a:r>
              <a:rPr lang="en-GB" sz="3200" b="0" i="0" u="none" strike="noStrike" baseline="-25000" dirty="0">
                <a:solidFill>
                  <a:schemeClr val="accent2"/>
                </a:solidFill>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b="1" dirty="0">
                <a:latin typeface="+mn-lt"/>
              </a:rPr>
              <a:t>Linear equation</a:t>
            </a:r>
          </a:p>
          <a:p>
            <a:pPr marL="0" indent="0">
              <a:buNone/>
            </a:pPr>
            <a:r>
              <a:rPr lang="en-US" sz="2400" dirty="0">
                <a:latin typeface="+mn-lt"/>
              </a:rPr>
              <a:t>= set of predictors and their beta coefficients</a:t>
            </a:r>
          </a:p>
          <a:p>
            <a:pPr marL="0" indent="0">
              <a:buNone/>
            </a:pPr>
            <a:endParaRPr lang="en-US" sz="2400" dirty="0">
              <a:latin typeface="+mn-lt"/>
            </a:endParaRPr>
          </a:p>
          <a:p>
            <a:pPr marL="0" indent="0">
              <a:buNone/>
            </a:pPr>
            <a:r>
              <a:rPr lang="en-US" sz="2400" dirty="0">
                <a:latin typeface="+mn-lt"/>
              </a:rPr>
              <a:t>We use the </a:t>
            </a:r>
            <a:r>
              <a:rPr lang="en-US" sz="2400" i="1" dirty="0">
                <a:latin typeface="+mn-lt"/>
              </a:rPr>
              <a:t>exponential</a:t>
            </a:r>
            <a:r>
              <a:rPr lang="en-US" sz="2400" dirty="0">
                <a:latin typeface="+mn-lt"/>
              </a:rPr>
              <a:t> of this linear equation</a:t>
            </a:r>
          </a:p>
          <a:p>
            <a:pPr marL="0" indent="0">
              <a:buNone/>
            </a:pPr>
            <a:endParaRPr lang="en-GB" sz="2400" dirty="0">
              <a:latin typeface="+mn-lt"/>
            </a:endParaRPr>
          </a:p>
          <a:p>
            <a:endParaRPr lang="en-GB" sz="2400" dirty="0"/>
          </a:p>
        </p:txBody>
      </p:sp>
      <p:sp>
        <p:nvSpPr>
          <p:cNvPr id="5" name="Title 4">
            <a:extLst>
              <a:ext uri="{FF2B5EF4-FFF2-40B4-BE49-F238E27FC236}">
                <a16:creationId xmlns:a16="http://schemas.microsoft.com/office/drawing/2014/main" id="{D21CF1C2-70EE-C4B4-9387-42FCC094F62B}"/>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D3F801D2-5EF2-5D61-B10A-D3388743F96A}"/>
              </a:ext>
            </a:extLst>
          </p:cNvPr>
          <p:cNvSpPr>
            <a:spLocks noGrp="1"/>
          </p:cNvSpPr>
          <p:nvPr>
            <p:ph type="sldNum" sz="quarter" idx="10"/>
          </p:nvPr>
        </p:nvSpPr>
        <p:spPr/>
        <p:txBody>
          <a:bodyPr/>
          <a:lstStyle/>
          <a:p>
            <a:pPr>
              <a:defRPr/>
            </a:pPr>
            <a:fld id="{E5717E7F-5007-4559-A9EA-6621C16865F0}" type="slidenum">
              <a:rPr lang="en-GB" smtClean="0"/>
              <a:pPr>
                <a:defRPr/>
              </a:pPr>
              <a:t>70</a:t>
            </a:fld>
            <a:endParaRPr lang="en-GB"/>
          </a:p>
        </p:txBody>
      </p:sp>
    </p:spTree>
    <p:extLst>
      <p:ext uri="{BB962C8B-B14F-4D97-AF65-F5344CB8AC3E}">
        <p14:creationId xmlns:p14="http://schemas.microsoft.com/office/powerpoint/2010/main" val="13847355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16E41C-9316-ACFB-D5FA-2C5686E1B088}"/>
              </a:ext>
            </a:extLst>
          </p:cNvPr>
          <p:cNvSpPr>
            <a:spLocks noGrp="1"/>
          </p:cNvSpPr>
          <p:nvPr>
            <p:ph type="body" sz="quarter" idx="11"/>
          </p:nvPr>
        </p:nvSpPr>
        <p:spPr/>
        <p:txBody>
          <a:bodyPr/>
          <a:lstStyle/>
          <a:p>
            <a:pPr marL="0" indent="0">
              <a:buNone/>
            </a:pPr>
            <a:r>
              <a:rPr lang="en-US" dirty="0"/>
              <a:t>The point of Cox regression:</a:t>
            </a:r>
          </a:p>
          <a:p>
            <a:pPr marL="0" indent="0">
              <a:buNone/>
            </a:pPr>
            <a:r>
              <a:rPr lang="en-US" dirty="0"/>
              <a:t>To estimate/predict </a:t>
            </a:r>
            <a:r>
              <a:rPr lang="en-US" b="1" dirty="0"/>
              <a:t>how the baseline hazard function changes</a:t>
            </a:r>
            <a:r>
              <a:rPr lang="en-US" dirty="0"/>
              <a:t> when the values of the predictors change</a:t>
            </a:r>
          </a:p>
          <a:p>
            <a:endParaRPr lang="en-GB" dirty="0"/>
          </a:p>
        </p:txBody>
      </p:sp>
      <p:sp>
        <p:nvSpPr>
          <p:cNvPr id="3" name="Title 2">
            <a:extLst>
              <a:ext uri="{FF2B5EF4-FFF2-40B4-BE49-F238E27FC236}">
                <a16:creationId xmlns:a16="http://schemas.microsoft.com/office/drawing/2014/main" id="{6E11FC0F-5D8E-5E48-EB73-0522C72B87A0}"/>
              </a:ext>
            </a:extLst>
          </p:cNvPr>
          <p:cNvSpPr>
            <a:spLocks noGrp="1"/>
          </p:cNvSpPr>
          <p:nvPr>
            <p:ph type="title"/>
          </p:nvPr>
        </p:nvSpPr>
        <p:spPr/>
        <p:txBody>
          <a:bodyPr/>
          <a:lstStyle/>
          <a:p>
            <a:r>
              <a:rPr lang="en-GB" dirty="0"/>
              <a:t>Hazard function</a:t>
            </a:r>
          </a:p>
        </p:txBody>
      </p:sp>
      <p:sp>
        <p:nvSpPr>
          <p:cNvPr id="4" name="Slide Number Placeholder 3">
            <a:extLst>
              <a:ext uri="{FF2B5EF4-FFF2-40B4-BE49-F238E27FC236}">
                <a16:creationId xmlns:a16="http://schemas.microsoft.com/office/drawing/2014/main" id="{81D409CE-68E4-D92A-1B5B-E3638E5572E7}"/>
              </a:ext>
            </a:extLst>
          </p:cNvPr>
          <p:cNvSpPr>
            <a:spLocks noGrp="1"/>
          </p:cNvSpPr>
          <p:nvPr>
            <p:ph type="sldNum" sz="quarter" idx="10"/>
          </p:nvPr>
        </p:nvSpPr>
        <p:spPr/>
        <p:txBody>
          <a:bodyPr/>
          <a:lstStyle/>
          <a:p>
            <a:pPr>
              <a:defRPr/>
            </a:pPr>
            <a:fld id="{CD3FC0C4-D681-4CE5-B41E-BCE48B80373A}" type="slidenum">
              <a:rPr lang="en-GB" smtClean="0"/>
              <a:pPr>
                <a:defRPr/>
              </a:pPr>
              <a:t>71</a:t>
            </a:fld>
            <a:endParaRPr lang="en-GB"/>
          </a:p>
        </p:txBody>
      </p:sp>
      <p:pic>
        <p:nvPicPr>
          <p:cNvPr id="5" name="Picture 2">
            <a:extLst>
              <a:ext uri="{FF2B5EF4-FFF2-40B4-BE49-F238E27FC236}">
                <a16:creationId xmlns:a16="http://schemas.microsoft.com/office/drawing/2014/main" id="{AE9909B7-E3F3-60AD-F546-45215C41691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31047" y="3293354"/>
            <a:ext cx="3481903" cy="244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90979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FC059A7-1055-DAE7-1695-F40BAA991B0B}"/>
              </a:ext>
            </a:extLst>
          </p:cNvPr>
          <p:cNvSpPr>
            <a:spLocks noGrp="1"/>
          </p:cNvSpPr>
          <p:nvPr>
            <p:ph type="body" sz="quarter" idx="11"/>
          </p:nvPr>
        </p:nvSpPr>
        <p:spPr/>
        <p:txBody>
          <a:bodyPr/>
          <a:lstStyle/>
          <a:p>
            <a:pPr marL="0" indent="0">
              <a:buNone/>
            </a:pPr>
            <a:r>
              <a:rPr lang="en-US" dirty="0"/>
              <a:t>What can we predict/extract from a Cox PH regression?</a:t>
            </a:r>
          </a:p>
          <a:p>
            <a:endParaRPr lang="en-US" dirty="0"/>
          </a:p>
          <a:p>
            <a:r>
              <a:rPr lang="en-US" dirty="0"/>
              <a:t>Survival probability at a specific time</a:t>
            </a:r>
          </a:p>
          <a:p>
            <a:r>
              <a:rPr lang="en-US" dirty="0"/>
              <a:t>Hazard ratio for an individual (relative to a reference) based on their values of the predictors</a:t>
            </a:r>
          </a:p>
          <a:p>
            <a:endParaRPr lang="en-GB" dirty="0"/>
          </a:p>
        </p:txBody>
      </p:sp>
      <p:sp>
        <p:nvSpPr>
          <p:cNvPr id="3" name="Title 2">
            <a:extLst>
              <a:ext uri="{FF2B5EF4-FFF2-40B4-BE49-F238E27FC236}">
                <a16:creationId xmlns:a16="http://schemas.microsoft.com/office/drawing/2014/main" id="{5EF7287F-A207-7243-6A8C-977767F0924F}"/>
              </a:ext>
            </a:extLst>
          </p:cNvPr>
          <p:cNvSpPr>
            <a:spLocks noGrp="1"/>
          </p:cNvSpPr>
          <p:nvPr>
            <p:ph type="title"/>
          </p:nvPr>
        </p:nvSpPr>
        <p:spPr/>
        <p:txBody>
          <a:bodyPr/>
          <a:lstStyle/>
          <a:p>
            <a:r>
              <a:rPr lang="en-GB" dirty="0"/>
              <a:t>Interpretation</a:t>
            </a:r>
          </a:p>
        </p:txBody>
      </p:sp>
      <p:sp>
        <p:nvSpPr>
          <p:cNvPr id="4" name="Slide Number Placeholder 3">
            <a:extLst>
              <a:ext uri="{FF2B5EF4-FFF2-40B4-BE49-F238E27FC236}">
                <a16:creationId xmlns:a16="http://schemas.microsoft.com/office/drawing/2014/main" id="{6B8B8B97-44A9-AD7A-1742-D7DCCA8613DA}"/>
              </a:ext>
            </a:extLst>
          </p:cNvPr>
          <p:cNvSpPr>
            <a:spLocks noGrp="1"/>
          </p:cNvSpPr>
          <p:nvPr>
            <p:ph type="sldNum" sz="quarter" idx="10"/>
          </p:nvPr>
        </p:nvSpPr>
        <p:spPr/>
        <p:txBody>
          <a:bodyPr/>
          <a:lstStyle/>
          <a:p>
            <a:pPr>
              <a:defRPr/>
            </a:pPr>
            <a:fld id="{CD3FC0C4-D681-4CE5-B41E-BCE48B80373A}" type="slidenum">
              <a:rPr lang="en-GB" smtClean="0"/>
              <a:pPr>
                <a:defRPr/>
              </a:pPr>
              <a:t>72</a:t>
            </a:fld>
            <a:endParaRPr lang="en-GB"/>
          </a:p>
        </p:txBody>
      </p:sp>
    </p:spTree>
    <p:extLst>
      <p:ext uri="{BB962C8B-B14F-4D97-AF65-F5344CB8AC3E}">
        <p14:creationId xmlns:p14="http://schemas.microsoft.com/office/powerpoint/2010/main" val="16157940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C384-C233-C10C-4C1B-8F20E1A88F72}"/>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4965A3CB-D8BE-9310-F4C8-320576569691}"/>
              </a:ext>
            </a:extLst>
          </p:cNvPr>
          <p:cNvSpPr>
            <a:spLocks noGrp="1"/>
          </p:cNvSpPr>
          <p:nvPr>
            <p:ph type="body" sz="quarter" idx="11"/>
          </p:nvPr>
        </p:nvSpPr>
        <p:spPr/>
        <p:txBody>
          <a:bodyPr/>
          <a:lstStyle/>
          <a:p>
            <a:pPr>
              <a:buClr>
                <a:schemeClr val="tx1"/>
              </a:buClr>
            </a:pPr>
            <a:r>
              <a:rPr lang="en-GB" noProof="0" dirty="0">
                <a:latin typeface="+mj-lt"/>
              </a:rPr>
              <a:t>We’re aiming for </a:t>
            </a:r>
            <a:r>
              <a:rPr lang="en-GB" b="1" noProof="0" dirty="0">
                <a:latin typeface="+mj-lt"/>
              </a:rPr>
              <a:t>consistency </a:t>
            </a:r>
            <a:r>
              <a:rPr lang="en-GB" noProof="0" dirty="0">
                <a:latin typeface="+mj-lt"/>
              </a:rPr>
              <a:t>between courses in both style and structure</a:t>
            </a:r>
          </a:p>
          <a:p>
            <a:pPr>
              <a:buClr>
                <a:schemeClr val="tx1"/>
              </a:buClr>
            </a:pPr>
            <a:endParaRPr lang="en-GB" noProof="0" dirty="0">
              <a:solidFill>
                <a:schemeClr val="tx1"/>
              </a:solidFill>
              <a:latin typeface="+mj-lt"/>
            </a:endParaRPr>
          </a:p>
          <a:p>
            <a:pPr>
              <a:buClr>
                <a:schemeClr val="tx1"/>
              </a:buClr>
            </a:pPr>
            <a:r>
              <a:rPr lang="en-GB" noProof="0" dirty="0">
                <a:solidFill>
                  <a:schemeClr val="tx1"/>
                </a:solidFill>
                <a:latin typeface="+mj-lt"/>
              </a:rPr>
              <a:t>Treat slides as</a:t>
            </a:r>
            <a:r>
              <a:rPr lang="en-GB" b="1" noProof="0" dirty="0">
                <a:solidFill>
                  <a:schemeClr val="tx1"/>
                </a:solidFill>
                <a:latin typeface="+mj-lt"/>
              </a:rPr>
              <a:t> “scaffolding” </a:t>
            </a:r>
            <a:r>
              <a:rPr lang="en-GB" noProof="0" dirty="0">
                <a:solidFill>
                  <a:schemeClr val="tx1"/>
                </a:solidFill>
                <a:latin typeface="+mj-lt"/>
              </a:rPr>
              <a:t>fo</a:t>
            </a:r>
            <a:r>
              <a:rPr lang="en-GB" noProof="0" dirty="0">
                <a:latin typeface="+mj-lt"/>
              </a:rPr>
              <a:t>r the talk</a:t>
            </a:r>
            <a:r>
              <a:rPr lang="en-GB" noProof="0" dirty="0">
                <a:solidFill>
                  <a:schemeClr val="tx1"/>
                </a:solidFill>
                <a:latin typeface="+mj-lt"/>
              </a:rPr>
              <a:t>, with minimal visual clutter and text on each slide</a:t>
            </a:r>
            <a:endParaRPr lang="en-GB" b="1" noProof="0" dirty="0">
              <a:solidFill>
                <a:schemeClr val="tx1"/>
              </a:solidFill>
              <a:latin typeface="+mj-lt"/>
            </a:endParaRPr>
          </a:p>
          <a:p>
            <a:pPr>
              <a:buClr>
                <a:schemeClr val="tx1"/>
              </a:buClr>
            </a:pPr>
            <a:r>
              <a:rPr lang="en-GB" noProof="0" dirty="0">
                <a:solidFill>
                  <a:schemeClr val="tx1"/>
                </a:solidFill>
                <a:latin typeface="+mj-lt"/>
              </a:rPr>
              <a:t>Spread information across more slides if needed</a:t>
            </a:r>
          </a:p>
          <a:p>
            <a:pPr>
              <a:buClr>
                <a:schemeClr val="tx1"/>
              </a:buClr>
            </a:pPr>
            <a:endParaRPr lang="en-GB" noProof="0" dirty="0">
              <a:latin typeface="+mj-lt"/>
            </a:endParaRPr>
          </a:p>
          <a:p>
            <a:pPr>
              <a:buClr>
                <a:schemeClr val="tx1"/>
              </a:buClr>
            </a:pPr>
            <a:r>
              <a:rPr lang="en-GB" noProof="0" dirty="0">
                <a:latin typeface="+mj-lt"/>
              </a:rPr>
              <a:t>Think about</a:t>
            </a:r>
            <a:r>
              <a:rPr lang="en-GB" b="1" noProof="0" dirty="0">
                <a:latin typeface="+mj-lt"/>
              </a:rPr>
              <a:t> visual accessibility</a:t>
            </a:r>
            <a:r>
              <a:rPr lang="en-GB" noProof="0" dirty="0">
                <a:latin typeface="+mj-lt"/>
              </a:rPr>
              <a:t>, e</a:t>
            </a:r>
            <a:r>
              <a:rPr lang="en-GB" noProof="0" dirty="0">
                <a:solidFill>
                  <a:schemeClr val="tx1"/>
                </a:solidFill>
                <a:latin typeface="+mj-lt"/>
              </a:rPr>
              <a:t>.g., for people who are colour-blind, dyslexic, autistic etc. </a:t>
            </a:r>
            <a:endParaRPr lang="en-GB" noProof="0" dirty="0">
              <a:latin typeface="+mj-lt"/>
            </a:endParaRPr>
          </a:p>
          <a:p>
            <a:endParaRPr lang="en-GB" noProof="0" dirty="0"/>
          </a:p>
        </p:txBody>
      </p:sp>
      <p:sp>
        <p:nvSpPr>
          <p:cNvPr id="5" name="Title 4">
            <a:extLst>
              <a:ext uri="{FF2B5EF4-FFF2-40B4-BE49-F238E27FC236}">
                <a16:creationId xmlns:a16="http://schemas.microsoft.com/office/drawing/2014/main" id="{37BC11B1-F8D2-B73A-A6F1-0DAF165431D4}"/>
              </a:ext>
            </a:extLst>
          </p:cNvPr>
          <p:cNvSpPr>
            <a:spLocks noGrp="1"/>
          </p:cNvSpPr>
          <p:nvPr>
            <p:ph type="title"/>
          </p:nvPr>
        </p:nvSpPr>
        <p:spPr/>
        <p:txBody>
          <a:bodyPr/>
          <a:lstStyle/>
          <a:p>
            <a:r>
              <a:rPr lang="en-GB" noProof="0" dirty="0"/>
              <a:t>Summary</a:t>
            </a:r>
          </a:p>
        </p:txBody>
      </p:sp>
      <p:sp>
        <p:nvSpPr>
          <p:cNvPr id="2" name="Slide Number Placeholder 1">
            <a:extLst>
              <a:ext uri="{FF2B5EF4-FFF2-40B4-BE49-F238E27FC236}">
                <a16:creationId xmlns:a16="http://schemas.microsoft.com/office/drawing/2014/main" id="{E7EF63C9-5A2C-DA2B-9EC6-D78500F4DD1A}"/>
              </a:ext>
            </a:extLst>
          </p:cNvPr>
          <p:cNvSpPr>
            <a:spLocks noGrp="1"/>
          </p:cNvSpPr>
          <p:nvPr>
            <p:ph type="sldNum" sz="quarter" idx="10"/>
          </p:nvPr>
        </p:nvSpPr>
        <p:spPr/>
        <p:txBody>
          <a:bodyPr/>
          <a:lstStyle/>
          <a:p>
            <a:pPr>
              <a:defRPr/>
            </a:pPr>
            <a:fld id="{CD3FC0C4-D681-4CE5-B41E-BCE48B80373A}" type="slidenum">
              <a:rPr lang="en-GB" noProof="0" smtClean="0"/>
              <a:pPr>
                <a:defRPr/>
              </a:pPr>
              <a:t>73</a:t>
            </a:fld>
            <a:endParaRPr lang="en-GB" noProof="0" dirty="0"/>
          </a:p>
        </p:txBody>
      </p:sp>
    </p:spTree>
    <p:extLst>
      <p:ext uri="{BB962C8B-B14F-4D97-AF65-F5344CB8AC3E}">
        <p14:creationId xmlns:p14="http://schemas.microsoft.com/office/powerpoint/2010/main" val="268434514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a:extLst>
            <a:ext uri="{FF2B5EF4-FFF2-40B4-BE49-F238E27FC236}">
              <a16:creationId xmlns:a16="http://schemas.microsoft.com/office/drawing/2014/main" id="{578202AB-7E71-9C3C-CB37-D89FA2CB1CED}"/>
            </a:ext>
          </a:extLst>
        </p:cNvPr>
        <p:cNvGrpSpPr/>
        <p:nvPr/>
      </p:nvGrpSpPr>
      <p:grpSpPr>
        <a:xfrm>
          <a:off x="0" y="0"/>
          <a:ext cx="0" cy="0"/>
          <a:chOff x="0" y="0"/>
          <a:chExt cx="0" cy="0"/>
        </a:xfrm>
      </p:grpSpPr>
      <p:sp>
        <p:nvSpPr>
          <p:cNvPr id="6" name="Rectangle 2">
            <a:extLst>
              <a:ext uri="{FF2B5EF4-FFF2-40B4-BE49-F238E27FC236}">
                <a16:creationId xmlns:a16="http://schemas.microsoft.com/office/drawing/2014/main" id="{9363FCEB-6ED0-5778-5D69-50C302986B34}"/>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C0C74C91-0FFA-862A-2CB0-F801808C312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
        <p:nvSpPr>
          <p:cNvPr id="2" name="Slide Number Placeholder 1">
            <a:extLst>
              <a:ext uri="{FF2B5EF4-FFF2-40B4-BE49-F238E27FC236}">
                <a16:creationId xmlns:a16="http://schemas.microsoft.com/office/drawing/2014/main" id="{0B1B6C1C-B441-0DF1-2D50-010A1FB09732}"/>
              </a:ext>
            </a:extLst>
          </p:cNvPr>
          <p:cNvSpPr>
            <a:spLocks noGrp="1"/>
          </p:cNvSpPr>
          <p:nvPr>
            <p:ph type="sldNum" sz="quarter" idx="10"/>
          </p:nvPr>
        </p:nvSpPr>
        <p:spPr/>
        <p:txBody>
          <a:bodyPr/>
          <a:lstStyle/>
          <a:p>
            <a:pPr>
              <a:defRPr/>
            </a:pPr>
            <a:fld id="{E08F0ED0-70FD-4BCE-966F-358F104CE5BB}" type="slidenum">
              <a:rPr lang="en-GB" noProof="0" smtClean="0"/>
              <a:pPr>
                <a:defRPr/>
              </a:pPr>
              <a:t>74</a:t>
            </a:fld>
            <a:endParaRPr lang="en-GB" noProof="0" dirty="0"/>
          </a:p>
        </p:txBody>
      </p:sp>
    </p:spTree>
    <p:extLst>
      <p:ext uri="{BB962C8B-B14F-4D97-AF65-F5344CB8AC3E}">
        <p14:creationId xmlns:p14="http://schemas.microsoft.com/office/powerpoint/2010/main" val="3570503140"/>
      </p:ext>
    </p:extLst>
  </p:cSld>
  <p:clrMapOvr>
    <a:masterClrMapping/>
  </p:clrMapOvr>
</p:sld>
</file>

<file path=ppt/theme/theme1.xml><?xml version="1.0" encoding="utf-8"?>
<a:theme xmlns:a="http://schemas.openxmlformats.org/drawingml/2006/main" name="blank">
  <a:themeElements>
    <a:clrScheme name="Custom 6">
      <a:dk1>
        <a:srgbClr val="003E72"/>
      </a:dk1>
      <a:lt1>
        <a:srgbClr val="FFFFFF"/>
      </a:lt1>
      <a:dk2>
        <a:srgbClr val="FFFFFF"/>
      </a:dk2>
      <a:lt2>
        <a:srgbClr val="68ACE5"/>
      </a:lt2>
      <a:accent1>
        <a:srgbClr val="0072CF"/>
      </a:accent1>
      <a:accent2>
        <a:srgbClr val="EA7125"/>
      </a:accent2>
      <a:accent3>
        <a:srgbClr val="D6083B"/>
      </a:accent3>
      <a:accent4>
        <a:srgbClr val="55A51C"/>
      </a:accent4>
      <a:accent5>
        <a:srgbClr val="8F2BBC"/>
      </a:accent5>
      <a:accent6>
        <a:srgbClr val="00B1C1"/>
      </a:accent6>
      <a:hlink>
        <a:srgbClr val="55A51C"/>
      </a:hlink>
      <a:folHlink>
        <a:srgbClr val="55A51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blank 1">
        <a:dk1>
          <a:srgbClr val="003E72"/>
        </a:dk1>
        <a:lt1>
          <a:srgbClr val="FFFFFF"/>
        </a:lt1>
        <a:dk2>
          <a:srgbClr val="FFFFFF"/>
        </a:dk2>
        <a:lt2>
          <a:srgbClr val="00B3BE"/>
        </a:lt2>
        <a:accent1>
          <a:srgbClr val="0073CF"/>
        </a:accent1>
        <a:accent2>
          <a:srgbClr val="E37222"/>
        </a:accent2>
        <a:accent3>
          <a:srgbClr val="FFFFFF"/>
        </a:accent3>
        <a:accent4>
          <a:srgbClr val="003460"/>
        </a:accent4>
        <a:accent5>
          <a:srgbClr val="AABCE4"/>
        </a:accent5>
        <a:accent6>
          <a:srgbClr val="CE671E"/>
        </a:accent6>
        <a:hlink>
          <a:srgbClr val="58A618"/>
        </a:hlink>
        <a:folHlink>
          <a:srgbClr val="8E258D"/>
        </a:folHlink>
      </a:clrScheme>
      <a:clrMap bg1="lt1" tx1="dk1" bg2="lt2" tx2="dk2" accent1="accent1" accent2="accent2" accent3="accent3" accent4="accent4" accent5="accent5" accent6="accent6" hlink="hlink" folHlink="folHlink"/>
    </a:extraClrScheme>
    <a:extraClrScheme>
      <a:clrScheme name="blank 2">
        <a:dk1>
          <a:srgbClr val="003E72"/>
        </a:dk1>
        <a:lt1>
          <a:srgbClr val="FFFFFF"/>
        </a:lt1>
        <a:dk2>
          <a:srgbClr val="FFFFFF"/>
        </a:dk2>
        <a:lt2>
          <a:srgbClr val="83AFB4"/>
        </a:lt2>
        <a:accent1>
          <a:srgbClr val="6AADE4"/>
        </a:accent1>
        <a:accent2>
          <a:srgbClr val="EFBD47"/>
        </a:accent2>
        <a:accent3>
          <a:srgbClr val="FFFFFF"/>
        </a:accent3>
        <a:accent4>
          <a:srgbClr val="003460"/>
        </a:accent4>
        <a:accent5>
          <a:srgbClr val="B9D3EF"/>
        </a:accent5>
        <a:accent6>
          <a:srgbClr val="D9AB3F"/>
        </a:accent6>
        <a:hlink>
          <a:srgbClr val="A8B400"/>
        </a:hlink>
        <a:folHlink>
          <a:srgbClr val="6A4061"/>
        </a:folHlink>
      </a:clrScheme>
      <a:clrMap bg1="lt1" tx1="dk1" bg2="lt2" tx2="dk2" accent1="accent1" accent2="accent2" accent3="accent3" accent4="accent4" accent5="accent5" accent6="accent6" hlink="hlink" folHlink="folHlink"/>
    </a:extraClrScheme>
    <a:extraClrScheme>
      <a:clrScheme name="blank 3">
        <a:dk1>
          <a:srgbClr val="003E72"/>
        </a:dk1>
        <a:lt1>
          <a:srgbClr val="FFFFFF"/>
        </a:lt1>
        <a:dk2>
          <a:srgbClr val="FFFFFF"/>
        </a:dk2>
        <a:lt2>
          <a:srgbClr val="156570"/>
        </a:lt2>
        <a:accent1>
          <a:srgbClr val="003E72"/>
        </a:accent1>
        <a:accent2>
          <a:srgbClr val="C84E00"/>
        </a:accent2>
        <a:accent3>
          <a:srgbClr val="FFFFFF"/>
        </a:accent3>
        <a:accent4>
          <a:srgbClr val="003460"/>
        </a:accent4>
        <a:accent5>
          <a:srgbClr val="AAAFBC"/>
        </a:accent5>
        <a:accent6>
          <a:srgbClr val="B54600"/>
        </a:accent6>
        <a:hlink>
          <a:srgbClr val="435125"/>
        </a:hlink>
        <a:folHlink>
          <a:srgbClr val="412D5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3692</Words>
  <Application>Microsoft Office PowerPoint</Application>
  <PresentationFormat>On-screen Show (4:3)</PresentationFormat>
  <Paragraphs>932</Paragraphs>
  <Slides>74</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74</vt:i4>
      </vt:variant>
    </vt:vector>
  </HeadingPairs>
  <TitlesOfParts>
    <vt:vector size="78" baseType="lpstr">
      <vt:lpstr>Arial</vt:lpstr>
      <vt:lpstr>Lucida Console</vt:lpstr>
      <vt:lpstr>Wingdings</vt:lpstr>
      <vt:lpstr>blank</vt:lpstr>
      <vt:lpstr>PowerPoint Presentation</vt:lpstr>
      <vt:lpstr>Course aims</vt:lpstr>
      <vt:lpstr>Session 1</vt:lpstr>
      <vt:lpstr>Session 2</vt:lpstr>
      <vt:lpstr>PowerPoint Presentation</vt:lpstr>
      <vt:lpstr>Survival data</vt:lpstr>
      <vt:lpstr>“Time to event” </vt:lpstr>
      <vt:lpstr>Properties of survival data</vt:lpstr>
      <vt:lpstr>Censoring</vt:lpstr>
      <vt:lpstr>More censoring (&amp; truncation)</vt:lpstr>
      <vt:lpstr>A survival dataset</vt:lpstr>
      <vt:lpstr>A survival dataset</vt:lpstr>
      <vt:lpstr>A survival dataset</vt:lpstr>
      <vt:lpstr>A survival dataset</vt:lpstr>
      <vt:lpstr>A survival dataset</vt:lpstr>
      <vt:lpstr>Example 1</vt:lpstr>
      <vt:lpstr>Example 2</vt:lpstr>
      <vt:lpstr>Example 3</vt:lpstr>
      <vt:lpstr>Example 4</vt:lpstr>
      <vt:lpstr>Why do we need unique analysis methods?</vt:lpstr>
      <vt:lpstr>PowerPoint Presentation</vt:lpstr>
      <vt:lpstr>What is a survival curve?</vt:lpstr>
      <vt:lpstr>What is a survival curve?</vt:lpstr>
      <vt:lpstr>The goal: estimating the survival curve</vt:lpstr>
      <vt:lpstr>An example</vt:lpstr>
      <vt:lpstr>An example</vt:lpstr>
      <vt:lpstr>An example</vt:lpstr>
      <vt:lpstr>Kaplan-Meier survival curve</vt:lpstr>
      <vt:lpstr>Kaplan-Meier survival curve</vt:lpstr>
      <vt:lpstr>Kaplan-Meier survival curve</vt:lpstr>
      <vt:lpstr>Kaplan-Meier survival curve</vt:lpstr>
      <vt:lpstr>How is the curve constructed?</vt:lpstr>
      <vt:lpstr>Dragon egg dataset</vt:lpstr>
      <vt:lpstr>Dragon egg dataset</vt:lpstr>
      <vt:lpstr>Dragon egg dataset</vt:lpstr>
      <vt:lpstr>Dragon egg dataset</vt:lpstr>
      <vt:lpstr>Survival curves</vt:lpstr>
      <vt:lpstr>PowerPoint Presentation</vt:lpstr>
      <vt:lpstr>Two dragon populations</vt:lpstr>
      <vt:lpstr>Two dragon populations</vt:lpstr>
      <vt:lpstr>Log-rank test</vt:lpstr>
      <vt:lpstr>Log-rank test</vt:lpstr>
      <vt:lpstr>Assumptions of log-rank test</vt:lpstr>
      <vt:lpstr>Assumptions of log-rank test</vt:lpstr>
      <vt:lpstr>Independence</vt:lpstr>
      <vt:lpstr>Independence</vt:lpstr>
      <vt:lpstr>Independence</vt:lpstr>
      <vt:lpstr>Independence</vt:lpstr>
      <vt:lpstr>Independence</vt:lpstr>
      <vt:lpstr>Assumptions of log-rank test</vt:lpstr>
      <vt:lpstr>Non-informative censoring</vt:lpstr>
      <vt:lpstr>Non-informative censoring</vt:lpstr>
      <vt:lpstr>Non-informative censoring</vt:lpstr>
      <vt:lpstr>Assumptions of log-rank test</vt:lpstr>
      <vt:lpstr>Proportional hazards</vt:lpstr>
      <vt:lpstr>Dragon egg example: are assumptions met?</vt:lpstr>
      <vt:lpstr>Dragon egg example: are assumptions met?</vt:lpstr>
      <vt:lpstr>Dragon egg example: are assumptions met?</vt:lpstr>
      <vt:lpstr>Dragon egg example: are assumptions met?</vt:lpstr>
      <vt:lpstr>Two dragon populations</vt:lpstr>
      <vt:lpstr>Two dragon populations</vt:lpstr>
      <vt:lpstr>PowerPoint Presentation</vt:lpstr>
      <vt:lpstr>An interesting note</vt:lpstr>
      <vt:lpstr>PowerPoint Presentation</vt:lpstr>
      <vt:lpstr>PowerPoint Presentation</vt:lpstr>
      <vt:lpstr>PowerPoint Presentation</vt:lpstr>
      <vt:lpstr>Cox proportional hazards</vt:lpstr>
      <vt:lpstr>Hazard function shapes</vt:lpstr>
      <vt:lpstr>Cox proportional hazards</vt:lpstr>
      <vt:lpstr>Cox proportional hazards</vt:lpstr>
      <vt:lpstr>Hazard function</vt:lpstr>
      <vt:lpstr>Interpretation</vt:lpstr>
      <vt:lpstr>Summary</vt:lpstr>
      <vt:lpstr>PowerPoint Presentation</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c:creator>
  <cp:lastModifiedBy>Vicki Hodgson</cp:lastModifiedBy>
  <cp:revision>443</cp:revision>
  <cp:lastPrinted>1601-01-01T00:00:00Z</cp:lastPrinted>
  <dcterms:created xsi:type="dcterms:W3CDTF">2008-03-27T10:29:55Z</dcterms:created>
  <dcterms:modified xsi:type="dcterms:W3CDTF">2026-06-01T15:06:57Z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