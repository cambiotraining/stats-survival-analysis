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2"/>
  </p:notesMasterIdLst>
  <p:handoutMasterIdLst>
    <p:handoutMasterId r:id="rId103"/>
  </p:handoutMasterIdLst>
  <p:sldIdLst>
    <p:sldId id="696" r:id="rId2"/>
    <p:sldId id="464" r:id="rId3"/>
    <p:sldId id="714" r:id="rId4"/>
    <p:sldId id="1528" r:id="rId5"/>
    <p:sldId id="1404" r:id="rId6"/>
    <p:sldId id="1432" r:id="rId7"/>
    <p:sldId id="1433" r:id="rId8"/>
    <p:sldId id="1434" r:id="rId9"/>
    <p:sldId id="1435" r:id="rId10"/>
    <p:sldId id="1456" r:id="rId11"/>
    <p:sldId id="1436" r:id="rId12"/>
    <p:sldId id="1437" r:id="rId13"/>
    <p:sldId id="1438" r:id="rId14"/>
    <p:sldId id="1439" r:id="rId15"/>
    <p:sldId id="1440" r:id="rId16"/>
    <p:sldId id="1484" r:id="rId17"/>
    <p:sldId id="1483" r:id="rId18"/>
    <p:sldId id="1485" r:id="rId19"/>
    <p:sldId id="1486" r:id="rId20"/>
    <p:sldId id="1492" r:id="rId21"/>
    <p:sldId id="519" r:id="rId22"/>
    <p:sldId id="1481" r:id="rId23"/>
    <p:sldId id="1482" r:id="rId24"/>
    <p:sldId id="1480" r:id="rId25"/>
    <p:sldId id="1487" r:id="rId26"/>
    <p:sldId id="1494" r:id="rId27"/>
    <p:sldId id="1442" r:id="rId28"/>
    <p:sldId id="1508" r:id="rId29"/>
    <p:sldId id="1488" r:id="rId30"/>
    <p:sldId id="1496" r:id="rId31"/>
    <p:sldId id="1497" r:id="rId32"/>
    <p:sldId id="1460" r:id="rId33"/>
    <p:sldId id="1443" r:id="rId34"/>
    <p:sldId id="1461" r:id="rId35"/>
    <p:sldId id="1463" r:id="rId36"/>
    <p:sldId id="1464" r:id="rId37"/>
    <p:sldId id="1493" r:id="rId38"/>
    <p:sldId id="1428" r:id="rId39"/>
    <p:sldId id="1465" r:id="rId40"/>
    <p:sldId id="1491" r:id="rId41"/>
    <p:sldId id="1478" r:id="rId42"/>
    <p:sldId id="1468" r:id="rId43"/>
    <p:sldId id="1469" r:id="rId44"/>
    <p:sldId id="1504" r:id="rId45"/>
    <p:sldId id="1470" r:id="rId46"/>
    <p:sldId id="1498" r:id="rId47"/>
    <p:sldId id="1499" r:id="rId48"/>
    <p:sldId id="1501" r:id="rId49"/>
    <p:sldId id="1502" r:id="rId50"/>
    <p:sldId id="1503" r:id="rId51"/>
    <p:sldId id="1507" r:id="rId52"/>
    <p:sldId id="1506" r:id="rId53"/>
    <p:sldId id="1505" r:id="rId54"/>
    <p:sldId id="1472" r:id="rId55"/>
    <p:sldId id="1517" r:id="rId56"/>
    <p:sldId id="1516" r:id="rId57"/>
    <p:sldId id="1515" r:id="rId58"/>
    <p:sldId id="1521" r:id="rId59"/>
    <p:sldId id="1522" r:id="rId60"/>
    <p:sldId id="1523" r:id="rId61"/>
    <p:sldId id="1509" r:id="rId62"/>
    <p:sldId id="1510" r:id="rId63"/>
    <p:sldId id="1511" r:id="rId64"/>
    <p:sldId id="1512" r:id="rId65"/>
    <p:sldId id="1467" r:id="rId66"/>
    <p:sldId id="1518" r:id="rId67"/>
    <p:sldId id="1553" r:id="rId68"/>
    <p:sldId id="1527" r:id="rId69"/>
    <p:sldId id="1525" r:id="rId70"/>
    <p:sldId id="1526" r:id="rId71"/>
    <p:sldId id="1449" r:id="rId72"/>
    <p:sldId id="1530" r:id="rId73"/>
    <p:sldId id="1533" r:id="rId74"/>
    <p:sldId id="1532" r:id="rId75"/>
    <p:sldId id="1531" r:id="rId76"/>
    <p:sldId id="1534" r:id="rId77"/>
    <p:sldId id="1537" r:id="rId78"/>
    <p:sldId id="1538" r:id="rId79"/>
    <p:sldId id="1539" r:id="rId80"/>
    <p:sldId id="1535" r:id="rId81"/>
    <p:sldId id="1540" r:id="rId82"/>
    <p:sldId id="1541" r:id="rId83"/>
    <p:sldId id="1542" r:id="rId84"/>
    <p:sldId id="1543" r:id="rId85"/>
    <p:sldId id="1545" r:id="rId86"/>
    <p:sldId id="1544" r:id="rId87"/>
    <p:sldId id="1554" r:id="rId88"/>
    <p:sldId id="1451" r:id="rId89"/>
    <p:sldId id="1546" r:id="rId90"/>
    <p:sldId id="1452" r:id="rId91"/>
    <p:sldId id="1450" r:id="rId92"/>
    <p:sldId id="1547" r:id="rId93"/>
    <p:sldId id="1455" r:id="rId94"/>
    <p:sldId id="1548" r:id="rId95"/>
    <p:sldId id="1549" r:id="rId96"/>
    <p:sldId id="1550" r:id="rId97"/>
    <p:sldId id="1551" r:id="rId98"/>
    <p:sldId id="1552" r:id="rId99"/>
    <p:sldId id="1397" r:id="rId100"/>
    <p:sldId id="1410" r:id="rId101"/>
  </p:sldIdLst>
  <p:sldSz cx="9144000" cy="6858000" type="screen4x3"/>
  <p:notesSz cx="6797675" cy="9928225"/>
  <p:defaultTextStyle>
    <a:defPPr>
      <a:defRPr lang="en-GB"/>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521415D9-36F7-43E2-AB2F-B90AF26B5E84}">
      <p14:sectionLst xmlns:p14="http://schemas.microsoft.com/office/powerpoint/2010/main">
        <p14:section name="Session 1 intro" id="{1C78BB04-9DD1-421D-AA96-4BEC2462826F}">
          <p14:sldIdLst>
            <p14:sldId id="696"/>
            <p14:sldId id="464"/>
            <p14:sldId id="714"/>
            <p14:sldId id="1528"/>
          </p14:sldIdLst>
        </p14:section>
        <p14:section name="Survival data" id="{AB2DB496-4FB2-4E64-BDFB-79D648F2EFB3}">
          <p14:sldIdLst>
            <p14:sldId id="1404"/>
            <p14:sldId id="1432"/>
            <p14:sldId id="1433"/>
            <p14:sldId id="1434"/>
            <p14:sldId id="1435"/>
            <p14:sldId id="1456"/>
            <p14:sldId id="1436"/>
            <p14:sldId id="1437"/>
            <p14:sldId id="1438"/>
            <p14:sldId id="1439"/>
            <p14:sldId id="1440"/>
            <p14:sldId id="1484"/>
            <p14:sldId id="1483"/>
            <p14:sldId id="1485"/>
            <p14:sldId id="1486"/>
            <p14:sldId id="1492"/>
          </p14:sldIdLst>
        </p14:section>
        <p14:section name="Survival curves" id="{4901E46B-6DC2-41FE-B748-AE2F67846EA8}">
          <p14:sldIdLst>
            <p14:sldId id="519"/>
            <p14:sldId id="1481"/>
            <p14:sldId id="1482"/>
            <p14:sldId id="1480"/>
            <p14:sldId id="1487"/>
            <p14:sldId id="1494"/>
            <p14:sldId id="1442"/>
            <p14:sldId id="1508"/>
            <p14:sldId id="1488"/>
            <p14:sldId id="1496"/>
            <p14:sldId id="1497"/>
            <p14:sldId id="1460"/>
            <p14:sldId id="1443"/>
            <p14:sldId id="1461"/>
            <p14:sldId id="1463"/>
            <p14:sldId id="1464"/>
            <p14:sldId id="1493"/>
          </p14:sldIdLst>
        </p14:section>
        <p14:section name="Comparing curves" id="{BF05FFF6-9755-4EDF-BEFE-AD79AFA00FEE}">
          <p14:sldIdLst>
            <p14:sldId id="1428"/>
            <p14:sldId id="1465"/>
            <p14:sldId id="1491"/>
            <p14:sldId id="1478"/>
            <p14:sldId id="1468"/>
            <p14:sldId id="1469"/>
            <p14:sldId id="1504"/>
            <p14:sldId id="1470"/>
            <p14:sldId id="1498"/>
            <p14:sldId id="1499"/>
            <p14:sldId id="1501"/>
            <p14:sldId id="1502"/>
            <p14:sldId id="1503"/>
            <p14:sldId id="1507"/>
            <p14:sldId id="1506"/>
            <p14:sldId id="1505"/>
            <p14:sldId id="1472"/>
            <p14:sldId id="1517"/>
            <p14:sldId id="1516"/>
            <p14:sldId id="1515"/>
            <p14:sldId id="1521"/>
            <p14:sldId id="1522"/>
            <p14:sldId id="1523"/>
            <p14:sldId id="1509"/>
            <p14:sldId id="1510"/>
            <p14:sldId id="1511"/>
            <p14:sldId id="1512"/>
            <p14:sldId id="1467"/>
            <p14:sldId id="1518"/>
            <p14:sldId id="1553"/>
          </p14:sldIdLst>
        </p14:section>
        <p14:section name="Session 2 intro" id="{558B42B2-76F7-414A-9174-0146EB90A867}">
          <p14:sldIdLst>
            <p14:sldId id="1527"/>
            <p14:sldId id="1525"/>
            <p14:sldId id="1526"/>
          </p14:sldIdLst>
        </p14:section>
        <p14:section name="Continuous predictors" id="{64341288-D7B7-40CC-8AAE-7919E6B60261}">
          <p14:sldIdLst>
            <p14:sldId id="1449"/>
            <p14:sldId id="1530"/>
            <p14:sldId id="1533"/>
            <p14:sldId id="1532"/>
            <p14:sldId id="1531"/>
            <p14:sldId id="1534"/>
            <p14:sldId id="1537"/>
            <p14:sldId id="1538"/>
            <p14:sldId id="1539"/>
            <p14:sldId id="1535"/>
            <p14:sldId id="1540"/>
            <p14:sldId id="1541"/>
            <p14:sldId id="1542"/>
            <p14:sldId id="1543"/>
            <p14:sldId id="1545"/>
            <p14:sldId id="1544"/>
          </p14:sldIdLst>
        </p14:section>
        <p14:section name="Cox regression" id="{89C5FD30-1938-4D3E-9182-C0D925D04181}">
          <p14:sldIdLst>
            <p14:sldId id="1554"/>
            <p14:sldId id="1451"/>
            <p14:sldId id="1546"/>
            <p14:sldId id="1452"/>
            <p14:sldId id="1450"/>
            <p14:sldId id="1547"/>
            <p14:sldId id="1455"/>
            <p14:sldId id="1548"/>
            <p14:sldId id="1549"/>
            <p14:sldId id="1550"/>
            <p14:sldId id="1551"/>
            <p14:sldId id="1552"/>
            <p14:sldId id="1397"/>
          </p14:sldIdLst>
        </p14:section>
        <p14:section name="Outro" id="{1ECFEA05-F589-4E57-99F2-568CBA5C45A4}">
          <p14:sldIdLst>
            <p14:sldId id="141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27">
          <p15:clr>
            <a:srgbClr val="A4A3A4"/>
          </p15:clr>
        </p15:guide>
        <p15:guide id="2" pos="214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C2E4FF"/>
    <a:srgbClr val="FFFFFF"/>
    <a:srgbClr val="FF6699"/>
    <a:srgbClr val="F8766D"/>
    <a:srgbClr val="AF95A3"/>
    <a:srgbClr val="68ACE5"/>
    <a:srgbClr val="FFC000"/>
    <a:srgbClr val="91B9A4"/>
    <a:srgbClr val="AAB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17" autoAdjust="0"/>
    <p:restoredTop sz="64085" autoAdjust="0"/>
  </p:normalViewPr>
  <p:slideViewPr>
    <p:cSldViewPr snapToObjects="1">
      <p:cViewPr varScale="1">
        <p:scale>
          <a:sx n="103" d="100"/>
          <a:sy n="103" d="100"/>
        </p:scale>
        <p:origin x="420" y="60"/>
      </p:cViewPr>
      <p:guideLst>
        <p:guide orient="horz" pos="2160"/>
        <p:guide pos="2880"/>
      </p:guideLst>
    </p:cSldViewPr>
  </p:slideViewPr>
  <p:outlineViewPr>
    <p:cViewPr>
      <p:scale>
        <a:sx n="33" d="100"/>
        <a:sy n="33" d="100"/>
      </p:scale>
      <p:origin x="0" y="5196"/>
    </p:cViewPr>
  </p:outlineViewPr>
  <p:notesTextViewPr>
    <p:cViewPr>
      <p:scale>
        <a:sx n="100" d="100"/>
        <a:sy n="100" d="100"/>
      </p:scale>
      <p:origin x="0" y="0"/>
    </p:cViewPr>
  </p:notesTextViewPr>
  <p:sorterViewPr>
    <p:cViewPr>
      <p:scale>
        <a:sx n="66" d="100"/>
        <a:sy n="66" d="100"/>
      </p:scale>
      <p:origin x="0" y="0"/>
    </p:cViewPr>
  </p:sorterViewPr>
  <p:notesViewPr>
    <p:cSldViewPr snapToObjects="1">
      <p:cViewPr varScale="1">
        <p:scale>
          <a:sx n="77" d="100"/>
          <a:sy n="77" d="100"/>
        </p:scale>
        <p:origin x="3228" y="84"/>
      </p:cViewPr>
      <p:guideLst>
        <p:guide orient="horz" pos="3127"/>
        <p:guide pos="2141"/>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handoutMaster" Target="handoutMasters/handoutMaster1.xml"/><Relationship Id="rId108"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cki Hodgson" userId="179904206160527c" providerId="LiveId" clId="{A65D6C05-0B12-4742-BA36-3268228148B1}"/>
    <pc:docChg chg="custSel modSld">
      <pc:chgData name="Vicki Hodgson" userId="179904206160527c" providerId="LiveId" clId="{A65D6C05-0B12-4742-BA36-3268228148B1}" dt="2026-04-17T08:47:15.226" v="44" actId="20577"/>
      <pc:docMkLst>
        <pc:docMk/>
      </pc:docMkLst>
      <pc:sldChg chg="modSp mod">
        <pc:chgData name="Vicki Hodgson" userId="179904206160527c" providerId="LiveId" clId="{A65D6C05-0B12-4742-BA36-3268228148B1}" dt="2026-04-17T08:47:15.226" v="44" actId="20577"/>
        <pc:sldMkLst>
          <pc:docMk/>
          <pc:sldMk cId="4024045093" sldId="714"/>
        </pc:sldMkLst>
        <pc:spChg chg="mod">
          <ac:chgData name="Vicki Hodgson" userId="179904206160527c" providerId="LiveId" clId="{A65D6C05-0B12-4742-BA36-3268228148B1}" dt="2026-04-17T08:47:15.226" v="44" actId="20577"/>
          <ac:spMkLst>
            <pc:docMk/>
            <pc:sldMk cId="4024045093" sldId="714"/>
            <ac:spMk id="10" creationId="{927FC6D6-F764-CF4B-3370-8E8C071ABAF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8" name="Rectangle 2"/>
          <p:cNvSpPr>
            <a:spLocks noGrp="1" noChangeArrowheads="1"/>
          </p:cNvSpPr>
          <p:nvPr>
            <p:ph type="hdr" sz="quarter"/>
          </p:nvPr>
        </p:nvSpPr>
        <p:spPr bwMode="auto">
          <a:xfrm>
            <a:off x="0" y="0"/>
            <a:ext cx="2946400" cy="4968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cs typeface="+mn-cs"/>
              </a:defRPr>
            </a:lvl1pPr>
          </a:lstStyle>
          <a:p>
            <a:pPr>
              <a:defRPr/>
            </a:pPr>
            <a:endParaRPr lang="en-GB"/>
          </a:p>
        </p:txBody>
      </p:sp>
      <p:sp>
        <p:nvSpPr>
          <p:cNvPr id="9219" name="Rectangle 3"/>
          <p:cNvSpPr>
            <a:spLocks noGrp="1" noChangeArrowheads="1"/>
          </p:cNvSpPr>
          <p:nvPr>
            <p:ph type="dt" sz="quarter" idx="1"/>
          </p:nvPr>
        </p:nvSpPr>
        <p:spPr bwMode="auto">
          <a:xfrm>
            <a:off x="3849688" y="0"/>
            <a:ext cx="2946400" cy="4968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cs typeface="+mn-cs"/>
              </a:defRPr>
            </a:lvl1pPr>
          </a:lstStyle>
          <a:p>
            <a:pPr>
              <a:defRPr/>
            </a:pPr>
            <a:endParaRPr lang="en-GB"/>
          </a:p>
        </p:txBody>
      </p:sp>
      <p:sp>
        <p:nvSpPr>
          <p:cNvPr id="9220" name="Rectangle 4"/>
          <p:cNvSpPr>
            <a:spLocks noGrp="1" noChangeArrowheads="1"/>
          </p:cNvSpPr>
          <p:nvPr>
            <p:ph type="ftr" sz="quarter" idx="2"/>
          </p:nvPr>
        </p:nvSpPr>
        <p:spPr bwMode="auto">
          <a:xfrm>
            <a:off x="0" y="9429750"/>
            <a:ext cx="2946400" cy="49688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cs typeface="+mn-cs"/>
              </a:defRPr>
            </a:lvl1pPr>
          </a:lstStyle>
          <a:p>
            <a:pPr>
              <a:defRPr/>
            </a:pPr>
            <a:endParaRPr lang="en-GB"/>
          </a:p>
        </p:txBody>
      </p:sp>
      <p:sp>
        <p:nvSpPr>
          <p:cNvPr id="9221" name="Rectangle 5"/>
          <p:cNvSpPr>
            <a:spLocks noGrp="1" noChangeArrowheads="1"/>
          </p:cNvSpPr>
          <p:nvPr>
            <p:ph type="sldNum" sz="quarter" idx="3"/>
          </p:nvPr>
        </p:nvSpPr>
        <p:spPr bwMode="auto">
          <a:xfrm>
            <a:off x="3849688" y="9429750"/>
            <a:ext cx="2946400" cy="49688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cs typeface="+mn-cs"/>
              </a:defRPr>
            </a:lvl1pPr>
          </a:lstStyle>
          <a:p>
            <a:pPr>
              <a:defRPr/>
            </a:pPr>
            <a:fld id="{63AA5FB3-4351-4085-AA63-BE6A6B385718}" type="slidenum">
              <a:rPr lang="en-GB"/>
              <a:pPr>
                <a:defRPr/>
              </a:pPr>
              <a:t>‹#›</a:t>
            </a:fld>
            <a:endParaRPr lang="en-GB"/>
          </a:p>
        </p:txBody>
      </p:sp>
    </p:spTree>
    <p:extLst>
      <p:ext uri="{BB962C8B-B14F-4D97-AF65-F5344CB8AC3E}">
        <p14:creationId xmlns:p14="http://schemas.microsoft.com/office/powerpoint/2010/main" val="16057028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hdr" sz="quarter"/>
          </p:nvPr>
        </p:nvSpPr>
        <p:spPr bwMode="auto">
          <a:xfrm>
            <a:off x="0" y="0"/>
            <a:ext cx="2946400" cy="4968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cs typeface="+mn-cs"/>
              </a:defRPr>
            </a:lvl1pPr>
          </a:lstStyle>
          <a:p>
            <a:pPr>
              <a:defRPr/>
            </a:pPr>
            <a:endParaRPr lang="en-GB"/>
          </a:p>
        </p:txBody>
      </p:sp>
      <p:sp>
        <p:nvSpPr>
          <p:cNvPr id="8195" name="Rectangle 3"/>
          <p:cNvSpPr>
            <a:spLocks noGrp="1" noChangeArrowheads="1"/>
          </p:cNvSpPr>
          <p:nvPr>
            <p:ph type="dt" idx="1"/>
          </p:nvPr>
        </p:nvSpPr>
        <p:spPr bwMode="auto">
          <a:xfrm>
            <a:off x="3849688" y="0"/>
            <a:ext cx="2946400" cy="4968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cs typeface="+mn-cs"/>
              </a:defRPr>
            </a:lvl1pPr>
          </a:lstStyle>
          <a:p>
            <a:pPr>
              <a:defRPr/>
            </a:pPr>
            <a:endParaRPr lang="en-GB"/>
          </a:p>
        </p:txBody>
      </p:sp>
      <p:sp>
        <p:nvSpPr>
          <p:cNvPr id="13316" name="Rectangle 4"/>
          <p:cNvSpPr>
            <a:spLocks noGrp="1" noRot="1" noChangeAspect="1" noChangeArrowheads="1" noTextEdit="1"/>
          </p:cNvSpPr>
          <p:nvPr>
            <p:ph type="sldImg" idx="2"/>
          </p:nvPr>
        </p:nvSpPr>
        <p:spPr bwMode="auto">
          <a:xfrm>
            <a:off x="917575" y="744538"/>
            <a:ext cx="4962525" cy="3722687"/>
          </a:xfrm>
          <a:prstGeom prst="rect">
            <a:avLst/>
          </a:prstGeom>
          <a:noFill/>
          <a:ln w="9525">
            <a:solidFill>
              <a:srgbClr val="000000"/>
            </a:solidFill>
            <a:miter lim="800000"/>
            <a:headEnd/>
            <a:tailEnd/>
          </a:ln>
        </p:spPr>
      </p:sp>
      <p:sp>
        <p:nvSpPr>
          <p:cNvPr id="8197" name="Rectangle 5"/>
          <p:cNvSpPr>
            <a:spLocks noGrp="1" noChangeArrowheads="1"/>
          </p:cNvSpPr>
          <p:nvPr>
            <p:ph type="body" sz="quarter" idx="3"/>
          </p:nvPr>
        </p:nvSpPr>
        <p:spPr bwMode="auto">
          <a:xfrm>
            <a:off x="1133475" y="4716463"/>
            <a:ext cx="4514850" cy="44672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8198" name="Rectangle 6"/>
          <p:cNvSpPr>
            <a:spLocks noGrp="1" noChangeArrowheads="1"/>
          </p:cNvSpPr>
          <p:nvPr>
            <p:ph type="ftr" sz="quarter" idx="4"/>
          </p:nvPr>
        </p:nvSpPr>
        <p:spPr bwMode="auto">
          <a:xfrm>
            <a:off x="0" y="9429750"/>
            <a:ext cx="2946400" cy="49688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cs typeface="+mn-cs"/>
              </a:defRPr>
            </a:lvl1pPr>
          </a:lstStyle>
          <a:p>
            <a:pPr>
              <a:defRPr/>
            </a:pPr>
            <a:endParaRPr lang="en-GB"/>
          </a:p>
        </p:txBody>
      </p:sp>
      <p:sp>
        <p:nvSpPr>
          <p:cNvPr id="8199" name="Rectangle 7"/>
          <p:cNvSpPr>
            <a:spLocks noGrp="1" noChangeArrowheads="1"/>
          </p:cNvSpPr>
          <p:nvPr>
            <p:ph type="sldNum" sz="quarter" idx="5"/>
          </p:nvPr>
        </p:nvSpPr>
        <p:spPr bwMode="auto">
          <a:xfrm>
            <a:off x="3849688" y="9429750"/>
            <a:ext cx="2946400" cy="49688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cs typeface="+mn-cs"/>
              </a:defRPr>
            </a:lvl1pPr>
          </a:lstStyle>
          <a:p>
            <a:pPr>
              <a:defRPr/>
            </a:pPr>
            <a:fld id="{7091D1AB-24F6-48F0-A15B-00F40EB78CCB}" type="slidenum">
              <a:rPr lang="en-GB"/>
              <a:pPr>
                <a:defRPr/>
              </a:pPr>
              <a:t>‹#›</a:t>
            </a:fld>
            <a:endParaRPr lang="en-GB"/>
          </a:p>
        </p:txBody>
      </p:sp>
    </p:spTree>
    <p:extLst>
      <p:ext uri="{BB962C8B-B14F-4D97-AF65-F5344CB8AC3E}">
        <p14:creationId xmlns:p14="http://schemas.microsoft.com/office/powerpoint/2010/main" val="289369727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p:cNvSpPr>
            <a:spLocks noGrp="1" noChangeArrowheads="1"/>
          </p:cNvSpPr>
          <p:nvPr>
            <p:ph type="sldNum" sz="quarter" idx="5"/>
          </p:nvPr>
        </p:nvSpPr>
        <p:spPr>
          <a:noFill/>
        </p:spPr>
        <p:txBody>
          <a:bodyPr/>
          <a:lstStyle/>
          <a:p>
            <a:fld id="{12B26FF2-21A4-4D45-8B69-E1FBC758DB49}" type="slidenum">
              <a:rPr lang="en-GB" smtClean="0">
                <a:cs typeface="Arial" charset="0"/>
              </a:rPr>
              <a:pPr/>
              <a:t>1</a:t>
            </a:fld>
            <a:endParaRPr lang="en-GB">
              <a:cs typeface="Arial" charset="0"/>
            </a:endParaRPr>
          </a:p>
        </p:txBody>
      </p:sp>
      <p:sp>
        <p:nvSpPr>
          <p:cNvPr id="16386" name="Rectangle 2"/>
          <p:cNvSpPr>
            <a:spLocks noGrp="1" noRot="1" noChangeAspect="1" noChangeArrowheads="1" noTextEdit="1"/>
          </p:cNvSpPr>
          <p:nvPr>
            <p:ph type="sldImg"/>
          </p:nvPr>
        </p:nvSpPr>
        <p:spPr>
          <a:ln/>
        </p:spPr>
      </p:sp>
      <p:sp>
        <p:nvSpPr>
          <p:cNvPr id="16387"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35599287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Note: time will always be a number &gt;=0, which makes it different to standard continuous variables</a:t>
            </a:r>
          </a:p>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6</a:t>
            </a:fld>
            <a:endParaRPr lang="en-GB"/>
          </a:p>
        </p:txBody>
      </p:sp>
    </p:spTree>
    <p:extLst>
      <p:ext uri="{BB962C8B-B14F-4D97-AF65-F5344CB8AC3E}">
        <p14:creationId xmlns:p14="http://schemas.microsoft.com/office/powerpoint/2010/main" val="30078142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event does not </a:t>
            </a:r>
            <a:r>
              <a:rPr lang="en-GB" b="1" dirty="0"/>
              <a:t>have </a:t>
            </a:r>
            <a:r>
              <a:rPr lang="en-GB" b="0" i="0" dirty="0"/>
              <a:t>to be death!</a:t>
            </a:r>
          </a:p>
          <a:p>
            <a:endParaRPr lang="en-GB" b="0" i="0" dirty="0"/>
          </a:p>
          <a:p>
            <a:pPr marL="171450" indent="-171450">
              <a:buFont typeface="Arial" panose="020B0604020202020204" pitchFamily="34" charset="0"/>
              <a:buChar char="•"/>
            </a:pPr>
            <a:r>
              <a:rPr lang="en-GB" b="0" i="0" dirty="0"/>
              <a:t>Time until the next bus arrives at different bus stops</a:t>
            </a:r>
          </a:p>
          <a:p>
            <a:pPr marL="171450" indent="-171450">
              <a:buFont typeface="Arial" panose="020B0604020202020204" pitchFamily="34" charset="0"/>
              <a:buChar char="•"/>
            </a:pPr>
            <a:r>
              <a:rPr lang="en-GB" b="0" i="0" dirty="0"/>
              <a:t>Time </a:t>
            </a:r>
            <a:r>
              <a:rPr lang="en-GB" b="0" i="0" dirty="0" err="1"/>
              <a:t>untio</a:t>
            </a:r>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7</a:t>
            </a:fld>
            <a:endParaRPr lang="en-GB"/>
          </a:p>
        </p:txBody>
      </p:sp>
    </p:spTree>
    <p:extLst>
      <p:ext uri="{BB962C8B-B14F-4D97-AF65-F5344CB8AC3E}">
        <p14:creationId xmlns:p14="http://schemas.microsoft.com/office/powerpoint/2010/main" val="40083609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These are the two common issues we need to deal with (and will be the main focus of the course)</a:t>
            </a:r>
          </a:p>
          <a:p>
            <a:endParaRPr lang="en-GB" dirty="0"/>
          </a:p>
          <a:p>
            <a:r>
              <a:rPr lang="en-GB" dirty="0"/>
              <a:t>Right-censored: either they survived to the end of the study without experiencing the event, or something else happened (e.g., dropping out) that meant we can’t follow them any more and we don’t know if they experienced the event</a:t>
            </a:r>
          </a:p>
          <a:p>
            <a:r>
              <a:rPr lang="en-GB" dirty="0"/>
              <a:t>Short version: right-censored if we were following them during the study, but we don’t know if they ever experienced the event because we stopped following them</a:t>
            </a:r>
          </a:p>
          <a:p>
            <a:endParaRPr lang="en-GB" dirty="0"/>
          </a:p>
          <a:p>
            <a:r>
              <a:rPr lang="en-GB" dirty="0"/>
              <a:t>Interval censored: super common; when we don’t know the exact instance the event occurred, but we do know it happened after some set time and before some other set time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9</a:t>
            </a:fld>
            <a:endParaRPr lang="en-GB"/>
          </a:p>
        </p:txBody>
      </p:sp>
    </p:spTree>
    <p:extLst>
      <p:ext uri="{BB962C8B-B14F-4D97-AF65-F5344CB8AC3E}">
        <p14:creationId xmlns:p14="http://schemas.microsoft.com/office/powerpoint/2010/main" val="2098021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BB7FA-A748-CA9C-EF1B-A8552ED7A9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ACEBAC-E7E8-1DC1-96A4-E697B45F07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01F93-7996-2D24-447E-AB23794EAFCE}"/>
              </a:ext>
            </a:extLst>
          </p:cNvPr>
          <p:cNvSpPr>
            <a:spLocks noGrp="1"/>
          </p:cNvSpPr>
          <p:nvPr>
            <p:ph type="body" idx="1"/>
          </p:nvPr>
        </p:nvSpPr>
        <p:spPr/>
        <p:txBody>
          <a:bodyPr/>
          <a:lstStyle/>
          <a:p>
            <a:r>
              <a:rPr lang="en-GB" b="1" dirty="0"/>
              <a:t>These are other things that can occur in survival data, and may or may not need to be accounted for – but won’t be a major focus of this course</a:t>
            </a:r>
          </a:p>
          <a:p>
            <a:endParaRPr lang="en-GB" dirty="0"/>
          </a:p>
          <a:p>
            <a:r>
              <a:rPr lang="en-GB" dirty="0"/>
              <a:t>Staggered entry: when not everyone enters the study at the same time</a:t>
            </a:r>
          </a:p>
          <a:p>
            <a:r>
              <a:rPr lang="en-GB" dirty="0"/>
              <a:t>Left-censored: when the event of interest occurs before the study started (extremely rare!)</a:t>
            </a:r>
          </a:p>
          <a:p>
            <a:endParaRPr lang="en-GB" dirty="0"/>
          </a:p>
          <a:p>
            <a:r>
              <a:rPr lang="en-GB" dirty="0"/>
              <a:t>Truncation is deliberate/due to study design:</a:t>
            </a:r>
          </a:p>
          <a:p>
            <a:r>
              <a:rPr lang="en-GB" dirty="0"/>
              <a:t>Left-truncated: when the individual was at risk before the study started, and we don’t know whether they did or didn’t experience the event</a:t>
            </a:r>
          </a:p>
          <a:p>
            <a:r>
              <a:rPr lang="en-GB" dirty="0"/>
              <a:t>Right-truncated: only happens when membership in the study is determined retrospectively; the individual experienced the event after the date of the study that would’ve made them eligible for inclusion</a:t>
            </a:r>
          </a:p>
        </p:txBody>
      </p:sp>
      <p:sp>
        <p:nvSpPr>
          <p:cNvPr id="4" name="Slide Number Placeholder 3">
            <a:extLst>
              <a:ext uri="{FF2B5EF4-FFF2-40B4-BE49-F238E27FC236}">
                <a16:creationId xmlns:a16="http://schemas.microsoft.com/office/drawing/2014/main" id="{6DA6903D-FD56-473F-7225-20BE9871DB2B}"/>
              </a:ext>
            </a:extLst>
          </p:cNvPr>
          <p:cNvSpPr>
            <a:spLocks noGrp="1"/>
          </p:cNvSpPr>
          <p:nvPr>
            <p:ph type="sldNum" sz="quarter" idx="5"/>
          </p:nvPr>
        </p:nvSpPr>
        <p:spPr/>
        <p:txBody>
          <a:bodyPr/>
          <a:lstStyle/>
          <a:p>
            <a:pPr>
              <a:defRPr/>
            </a:pPr>
            <a:fld id="{7091D1AB-24F6-48F0-A15B-00F40EB78CCB}" type="slidenum">
              <a:rPr lang="en-GB" smtClean="0"/>
              <a:pPr>
                <a:defRPr/>
              </a:pPr>
              <a:t>10</a:t>
            </a:fld>
            <a:endParaRPr lang="en-GB"/>
          </a:p>
        </p:txBody>
      </p:sp>
    </p:spTree>
    <p:extLst>
      <p:ext uri="{BB962C8B-B14F-4D97-AF65-F5344CB8AC3E}">
        <p14:creationId xmlns:p14="http://schemas.microsoft.com/office/powerpoint/2010/main" val="26842161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Event: graft/transplant failure</a:t>
            </a:r>
          </a:p>
          <a:p>
            <a:endParaRPr lang="en-GB" dirty="0"/>
          </a:p>
          <a:p>
            <a:r>
              <a:rPr lang="en-GB" dirty="0"/>
              <a:t>Censoring: </a:t>
            </a:r>
          </a:p>
          <a:p>
            <a:pPr marL="171450" indent="-171450">
              <a:buFont typeface="Arial" panose="020B0604020202020204" pitchFamily="34" charset="0"/>
              <a:buChar char="•"/>
            </a:pPr>
            <a:r>
              <a:rPr lang="en-GB" dirty="0"/>
              <a:t>Patient drops out (RC)</a:t>
            </a:r>
          </a:p>
          <a:p>
            <a:pPr marL="171450" indent="-171450">
              <a:buFont typeface="Arial" panose="020B0604020202020204" pitchFamily="34" charset="0"/>
              <a:buChar char="•"/>
            </a:pPr>
            <a:r>
              <a:rPr lang="en-GB" dirty="0"/>
              <a:t>Graft never fails by the end of the study (RC)</a:t>
            </a:r>
          </a:p>
          <a:p>
            <a:pPr marL="171450" indent="-171450">
              <a:buFont typeface="Arial" panose="020B0604020202020204" pitchFamily="34" charset="0"/>
              <a:buChar char="•"/>
            </a:pPr>
            <a:r>
              <a:rPr lang="en-GB" dirty="0"/>
              <a:t>Death from unrelated causes (competing risk)</a:t>
            </a:r>
          </a:p>
          <a:p>
            <a:pPr marL="171450" indent="-171450">
              <a:buFont typeface="Arial" panose="020B0604020202020204" pitchFamily="34" charset="0"/>
              <a:buChar char="•"/>
            </a:pPr>
            <a:r>
              <a:rPr lang="en-GB" dirty="0"/>
              <a:t>Graft fails between clinical visits (IC)</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Broad conceptual ideas: structured follow-up + competing risks</a:t>
            </a:r>
          </a:p>
          <a:p>
            <a:pPr marL="171450" indent="-171450">
              <a:buFont typeface="Arial" panose="020B0604020202020204" pitchFamily="34" charset="0"/>
              <a:buChar char="•"/>
            </a:pPr>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16</a:t>
            </a:fld>
            <a:endParaRPr lang="en-GB"/>
          </a:p>
        </p:txBody>
      </p:sp>
    </p:spTree>
    <p:extLst>
      <p:ext uri="{BB962C8B-B14F-4D97-AF65-F5344CB8AC3E}">
        <p14:creationId xmlns:p14="http://schemas.microsoft.com/office/powerpoint/2010/main" val="1919317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Event: animal leaves area</a:t>
            </a:r>
          </a:p>
          <a:p>
            <a:endParaRPr lang="en-GB" dirty="0"/>
          </a:p>
          <a:p>
            <a:r>
              <a:rPr lang="en-GB" dirty="0"/>
              <a:t>Censoring: </a:t>
            </a:r>
          </a:p>
          <a:p>
            <a:pPr marL="171450" indent="-171450">
              <a:buFont typeface="Arial" panose="020B0604020202020204" pitchFamily="34" charset="0"/>
              <a:buChar char="•"/>
            </a:pPr>
            <a:r>
              <a:rPr lang="en-GB" dirty="0"/>
              <a:t>Animal dies (RC)</a:t>
            </a:r>
          </a:p>
          <a:p>
            <a:pPr marL="171450" indent="-171450">
              <a:buFont typeface="Arial" panose="020B0604020202020204" pitchFamily="34" charset="0"/>
              <a:buChar char="•"/>
            </a:pPr>
            <a:r>
              <a:rPr lang="en-GB" dirty="0"/>
              <a:t>Study ends before bird leaves (RC)</a:t>
            </a:r>
          </a:p>
          <a:p>
            <a:pPr marL="171450" indent="-171450">
              <a:buFont typeface="Arial" panose="020B0604020202020204" pitchFamily="34" charset="0"/>
              <a:buChar char="•"/>
            </a:pPr>
            <a:r>
              <a:rPr lang="en-GB" dirty="0"/>
              <a:t>Tagging device fails (RC)</a:t>
            </a:r>
          </a:p>
          <a:p>
            <a:pPr marL="171450" indent="-171450">
              <a:buFont typeface="Arial" panose="020B0604020202020204" pitchFamily="34" charset="0"/>
              <a:buChar char="•"/>
            </a:pPr>
            <a:r>
              <a:rPr lang="en-GB" dirty="0"/>
              <a:t>Tagging device only reports location once per day/week (IC)</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Broad conceptual ideas: loss + intermittent observation</a:t>
            </a:r>
          </a:p>
          <a:p>
            <a:pPr marL="0" indent="0">
              <a:buFont typeface="Arial" panose="020B0604020202020204" pitchFamily="34" charset="0"/>
              <a:buNone/>
            </a:pPr>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17</a:t>
            </a:fld>
            <a:endParaRPr lang="en-GB"/>
          </a:p>
        </p:txBody>
      </p:sp>
    </p:spTree>
    <p:extLst>
      <p:ext uri="{BB962C8B-B14F-4D97-AF65-F5344CB8AC3E}">
        <p14:creationId xmlns:p14="http://schemas.microsoft.com/office/powerpoint/2010/main" val="19124652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95CC3-8C9C-7FBC-D8D9-33813C537B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5532B7-EDA0-ACA6-670D-20D618553E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C07685-554F-5650-7D62-37A4EC5554D4}"/>
              </a:ext>
            </a:extLst>
          </p:cNvPr>
          <p:cNvSpPr>
            <a:spLocks noGrp="1"/>
          </p:cNvSpPr>
          <p:nvPr>
            <p:ph type="body" idx="1"/>
          </p:nvPr>
        </p:nvSpPr>
        <p:spPr/>
        <p:txBody>
          <a:bodyPr/>
          <a:lstStyle/>
          <a:p>
            <a:r>
              <a:rPr lang="en-GB" dirty="0"/>
              <a:t>Event: cancellation</a:t>
            </a:r>
          </a:p>
          <a:p>
            <a:endParaRPr lang="en-GB" dirty="0"/>
          </a:p>
          <a:p>
            <a:r>
              <a:rPr lang="en-GB" dirty="0"/>
              <a:t>Censoring:</a:t>
            </a:r>
          </a:p>
          <a:p>
            <a:pPr marL="171450" indent="-171450">
              <a:buFont typeface="Arial" panose="020B0604020202020204" pitchFamily="34" charset="0"/>
              <a:buChar char="•"/>
            </a:pPr>
            <a:r>
              <a:rPr lang="en-GB" dirty="0"/>
              <a:t>Customer never cancels before end of study period (RC)</a:t>
            </a:r>
          </a:p>
          <a:p>
            <a:pPr marL="171450" indent="-171450">
              <a:buFont typeface="Arial" panose="020B0604020202020204" pitchFamily="34" charset="0"/>
              <a:buChar char="•"/>
            </a:pPr>
            <a:r>
              <a:rPr lang="en-GB" dirty="0"/>
              <a:t>Customer becomes inactive, e.g., data loss, subscription status unknown (RC)</a:t>
            </a:r>
          </a:p>
          <a:p>
            <a:pPr marL="171450" indent="-171450">
              <a:buFont typeface="Arial" panose="020B0604020202020204" pitchFamily="34" charset="0"/>
              <a:buChar char="•"/>
            </a:pPr>
            <a:r>
              <a:rPr lang="en-GB" dirty="0"/>
              <a:t>Cancellation occurs between billing cycles, e.g., monthly (IC)</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Broad conceptual ideas: periodic observation</a:t>
            </a:r>
          </a:p>
          <a:p>
            <a:pPr marL="0" indent="0">
              <a:buFont typeface="Arial" panose="020B0604020202020204" pitchFamily="34" charset="0"/>
              <a:buNone/>
            </a:pPr>
            <a:endParaRPr lang="en-GB" dirty="0"/>
          </a:p>
        </p:txBody>
      </p:sp>
      <p:sp>
        <p:nvSpPr>
          <p:cNvPr id="4" name="Slide Number Placeholder 3">
            <a:extLst>
              <a:ext uri="{FF2B5EF4-FFF2-40B4-BE49-F238E27FC236}">
                <a16:creationId xmlns:a16="http://schemas.microsoft.com/office/drawing/2014/main" id="{E0594EDE-39CD-AE1B-5325-2A0D867DE058}"/>
              </a:ext>
            </a:extLst>
          </p:cNvPr>
          <p:cNvSpPr>
            <a:spLocks noGrp="1"/>
          </p:cNvSpPr>
          <p:nvPr>
            <p:ph type="sldNum" sz="quarter" idx="5"/>
          </p:nvPr>
        </p:nvSpPr>
        <p:spPr/>
        <p:txBody>
          <a:bodyPr/>
          <a:lstStyle/>
          <a:p>
            <a:pPr>
              <a:defRPr/>
            </a:pPr>
            <a:fld id="{7091D1AB-24F6-48F0-A15B-00F40EB78CCB}" type="slidenum">
              <a:rPr lang="en-GB" smtClean="0"/>
              <a:pPr>
                <a:defRPr/>
              </a:pPr>
              <a:t>18</a:t>
            </a:fld>
            <a:endParaRPr lang="en-GB"/>
          </a:p>
        </p:txBody>
      </p:sp>
    </p:spTree>
    <p:extLst>
      <p:ext uri="{BB962C8B-B14F-4D97-AF65-F5344CB8AC3E}">
        <p14:creationId xmlns:p14="http://schemas.microsoft.com/office/powerpoint/2010/main" val="35801237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26125-D800-E733-3F7D-D4F8F9F449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6D4FCA-0044-7200-A381-5C79E0D28D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B25DC-317E-A661-AF91-97AE2A3E21B0}"/>
              </a:ext>
            </a:extLst>
          </p:cNvPr>
          <p:cNvSpPr>
            <a:spLocks noGrp="1"/>
          </p:cNvSpPr>
          <p:nvPr>
            <p:ph type="body" idx="1"/>
          </p:nvPr>
        </p:nvSpPr>
        <p:spPr/>
        <p:txBody>
          <a:bodyPr/>
          <a:lstStyle/>
          <a:p>
            <a:r>
              <a:rPr lang="en-GB" dirty="0"/>
              <a:t>Event: eruption</a:t>
            </a:r>
          </a:p>
          <a:p>
            <a:endParaRPr lang="en-GB" dirty="0"/>
          </a:p>
          <a:p>
            <a:r>
              <a:rPr lang="en-GB" dirty="0"/>
              <a:t>Censoring:</a:t>
            </a:r>
          </a:p>
          <a:p>
            <a:pPr marL="171450" indent="-171450">
              <a:buFont typeface="Arial" panose="020B0604020202020204" pitchFamily="34" charset="0"/>
              <a:buChar char="•"/>
            </a:pPr>
            <a:r>
              <a:rPr lang="en-GB" dirty="0"/>
              <a:t>No eruption before study ends (RC)</a:t>
            </a:r>
          </a:p>
          <a:p>
            <a:pPr marL="171450" indent="-171450">
              <a:buFont typeface="Arial" panose="020B0604020202020204" pitchFamily="34" charset="0"/>
              <a:buChar char="•"/>
            </a:pPr>
            <a:r>
              <a:rPr lang="en-GB" dirty="0"/>
              <a:t>Unknown prior dormancy period (left truncation)</a:t>
            </a:r>
          </a:p>
          <a:p>
            <a:pPr marL="0" indent="0">
              <a:buFont typeface="Arial" panose="020B0604020202020204" pitchFamily="34" charset="0"/>
              <a:buNone/>
            </a:pPr>
            <a:endParaRPr lang="en-GB" dirty="0"/>
          </a:p>
          <a:p>
            <a:pPr marL="0" indent="0">
              <a:buFont typeface="Arial" panose="020B0604020202020204" pitchFamily="34" charset="0"/>
              <a:buNone/>
            </a:pPr>
            <a:r>
              <a:rPr lang="en-GB" dirty="0"/>
              <a:t>Broad conceptual ideas: historical data + left truncation</a:t>
            </a:r>
          </a:p>
          <a:p>
            <a:pPr marL="0" indent="0">
              <a:buFont typeface="Arial" panose="020B0604020202020204" pitchFamily="34" charset="0"/>
              <a:buNone/>
            </a:pPr>
            <a:endParaRPr lang="en-GB" dirty="0"/>
          </a:p>
          <a:p>
            <a:pPr marL="0" indent="0">
              <a:buFont typeface="Arial" panose="020B0604020202020204" pitchFamily="34" charset="0"/>
              <a:buNone/>
            </a:pPr>
            <a:r>
              <a:rPr lang="en-GB" dirty="0"/>
              <a:t>To better understand the left truncation issue, imagine:</a:t>
            </a:r>
          </a:p>
          <a:p>
            <a:pPr marL="171450" indent="-171450">
              <a:buFontTx/>
              <a:buChar char="-"/>
            </a:pPr>
            <a:r>
              <a:rPr lang="en-GB" dirty="0"/>
              <a:t>Volcano erupting sporadically for centuries</a:t>
            </a:r>
          </a:p>
          <a:p>
            <a:pPr marL="171450" indent="-171450">
              <a:buFontTx/>
              <a:buChar char="-"/>
            </a:pPr>
            <a:r>
              <a:rPr lang="en-GB" dirty="0"/>
              <a:t>Monitoring started in earnest in 2000</a:t>
            </a:r>
          </a:p>
          <a:p>
            <a:pPr marL="171450" indent="-171450">
              <a:buFontTx/>
              <a:buChar char="-"/>
            </a:pPr>
            <a:r>
              <a:rPr lang="en-GB" dirty="0"/>
              <a:t>The last eruption prior to that monitoring was 1992</a:t>
            </a:r>
          </a:p>
          <a:p>
            <a:pPr marL="171450" indent="-171450">
              <a:buFontTx/>
              <a:buChar char="-"/>
            </a:pPr>
            <a:r>
              <a:rPr lang="en-GB" dirty="0"/>
              <a:t>Volcano must not have erupted between 1992 and 2000, otherwise we would’ve seen it</a:t>
            </a:r>
          </a:p>
          <a:p>
            <a:pPr marL="171450" indent="-171450">
              <a:buFontTx/>
              <a:buChar char="-"/>
            </a:pPr>
            <a:r>
              <a:rPr lang="en-GB" dirty="0"/>
              <a:t>We’re biased to only include eruption intervals that extend into the 2000+ dataset</a:t>
            </a:r>
          </a:p>
          <a:p>
            <a:pPr marL="171450" indent="-171450">
              <a:buFontTx/>
              <a:buChar char="-"/>
            </a:pPr>
            <a:r>
              <a:rPr lang="en-GB" dirty="0"/>
              <a:t>i.e., we can only study volcano waiting times that are still ongoing when we actually start monitoring; we miss any short waiting times/cycles that occurred before we started watching</a:t>
            </a:r>
          </a:p>
          <a:p>
            <a:pPr marL="171450" indent="-171450">
              <a:buFontTx/>
              <a:buChar char="-"/>
            </a:pPr>
            <a:r>
              <a:rPr lang="en-GB" dirty="0"/>
              <a:t>Leads to an overestimate of average time between eruptions</a:t>
            </a:r>
          </a:p>
          <a:p>
            <a:pPr marL="0" indent="0">
              <a:buFont typeface="Arial" panose="020B0604020202020204" pitchFamily="34" charset="0"/>
              <a:buNone/>
            </a:pPr>
            <a:endParaRPr lang="en-GB" dirty="0"/>
          </a:p>
          <a:p>
            <a:pPr marL="0" indent="0">
              <a:buFont typeface="Arial" panose="020B0604020202020204" pitchFamily="34" charset="0"/>
              <a:buNone/>
            </a:pPr>
            <a:endParaRPr lang="en-GB" dirty="0"/>
          </a:p>
          <a:p>
            <a:pPr marL="0" indent="0">
              <a:buFont typeface="Arial" panose="020B0604020202020204" pitchFamily="34" charset="0"/>
              <a:buNone/>
            </a:pPr>
            <a:endParaRPr lang="en-GB" dirty="0"/>
          </a:p>
          <a:p>
            <a:pPr marL="171450" indent="-171450">
              <a:buFont typeface="Arial" panose="020B0604020202020204" pitchFamily="34" charset="0"/>
              <a:buChar char="•"/>
            </a:pPr>
            <a:endParaRPr lang="en-GB" dirty="0"/>
          </a:p>
        </p:txBody>
      </p:sp>
      <p:sp>
        <p:nvSpPr>
          <p:cNvPr id="4" name="Slide Number Placeholder 3">
            <a:extLst>
              <a:ext uri="{FF2B5EF4-FFF2-40B4-BE49-F238E27FC236}">
                <a16:creationId xmlns:a16="http://schemas.microsoft.com/office/drawing/2014/main" id="{CEC305D2-5638-971B-42BE-6060652D4947}"/>
              </a:ext>
            </a:extLst>
          </p:cNvPr>
          <p:cNvSpPr>
            <a:spLocks noGrp="1"/>
          </p:cNvSpPr>
          <p:nvPr>
            <p:ph type="sldNum" sz="quarter" idx="5"/>
          </p:nvPr>
        </p:nvSpPr>
        <p:spPr/>
        <p:txBody>
          <a:bodyPr/>
          <a:lstStyle/>
          <a:p>
            <a:pPr>
              <a:defRPr/>
            </a:pPr>
            <a:fld id="{7091D1AB-24F6-48F0-A15B-00F40EB78CCB}" type="slidenum">
              <a:rPr lang="en-GB" smtClean="0"/>
              <a:pPr>
                <a:defRPr/>
              </a:pPr>
              <a:t>19</a:t>
            </a:fld>
            <a:endParaRPr lang="en-GB"/>
          </a:p>
        </p:txBody>
      </p:sp>
    </p:spTree>
    <p:extLst>
      <p:ext uri="{BB962C8B-B14F-4D97-AF65-F5344CB8AC3E}">
        <p14:creationId xmlns:p14="http://schemas.microsoft.com/office/powerpoint/2010/main" val="27094189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42571-88C9-B4EC-B640-C967541EBD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17A3D5-29A8-1B15-53B0-D799B68A8B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63F0D3-612D-9BA8-53B3-7980A0C7867A}"/>
              </a:ext>
            </a:extLst>
          </p:cNvPr>
          <p:cNvSpPr>
            <a:spLocks noGrp="1"/>
          </p:cNvSpPr>
          <p:nvPr>
            <p:ph type="body" idx="1"/>
          </p:nvPr>
        </p:nvSpPr>
        <p:spPr/>
        <p:txBody>
          <a:bodyPr/>
          <a:lstStyle/>
          <a:p>
            <a:pPr marL="171450" indent="-171450">
              <a:buFont typeface="Arial" panose="020B0604020202020204" pitchFamily="34" charset="0"/>
              <a:buChar char="•"/>
            </a:pPr>
            <a:endParaRPr lang="en-GB" dirty="0"/>
          </a:p>
        </p:txBody>
      </p:sp>
      <p:sp>
        <p:nvSpPr>
          <p:cNvPr id="4" name="Slide Number Placeholder 3">
            <a:extLst>
              <a:ext uri="{FF2B5EF4-FFF2-40B4-BE49-F238E27FC236}">
                <a16:creationId xmlns:a16="http://schemas.microsoft.com/office/drawing/2014/main" id="{B5AD0E02-28EC-BFD4-06FD-B66BF961BF8F}"/>
              </a:ext>
            </a:extLst>
          </p:cNvPr>
          <p:cNvSpPr>
            <a:spLocks noGrp="1"/>
          </p:cNvSpPr>
          <p:nvPr>
            <p:ph type="sldNum" sz="quarter" idx="5"/>
          </p:nvPr>
        </p:nvSpPr>
        <p:spPr/>
        <p:txBody>
          <a:bodyPr/>
          <a:lstStyle/>
          <a:p>
            <a:pPr>
              <a:defRPr/>
            </a:pPr>
            <a:fld id="{7091D1AB-24F6-48F0-A15B-00F40EB78CCB}" type="slidenum">
              <a:rPr lang="en-GB" smtClean="0"/>
              <a:pPr>
                <a:defRPr/>
              </a:pPr>
              <a:t>25</a:t>
            </a:fld>
            <a:endParaRPr lang="en-GB"/>
          </a:p>
        </p:txBody>
      </p:sp>
    </p:spTree>
    <p:extLst>
      <p:ext uri="{BB962C8B-B14F-4D97-AF65-F5344CB8AC3E}">
        <p14:creationId xmlns:p14="http://schemas.microsoft.com/office/powerpoint/2010/main" val="34723866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27</a:t>
            </a:fld>
            <a:endParaRPr lang="en-GB"/>
          </a:p>
        </p:txBody>
      </p:sp>
    </p:spTree>
    <p:extLst>
      <p:ext uri="{BB962C8B-B14F-4D97-AF65-F5344CB8AC3E}">
        <p14:creationId xmlns:p14="http://schemas.microsoft.com/office/powerpoint/2010/main" val="35233160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671F3-0457-1596-E4AA-89046DEE11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D64532-57FC-237E-3874-8CA3F27E33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D00DD4-EB30-A5E6-9C9C-0C9ECE500F31}"/>
              </a:ext>
            </a:extLst>
          </p:cNvPr>
          <p:cNvSpPr>
            <a:spLocks noGrp="1"/>
          </p:cNvSpPr>
          <p:nvPr>
            <p:ph type="body" idx="1"/>
          </p:nvPr>
        </p:nvSpPr>
        <p:spPr/>
        <p:txBody>
          <a:bodyPr/>
          <a:lstStyle/>
          <a:p>
            <a:r>
              <a:rPr lang="en-GB" dirty="0"/>
              <a:t>Follows a classic “step-staircase” shape</a:t>
            </a:r>
          </a:p>
          <a:p>
            <a:r>
              <a:rPr lang="en-GB" dirty="0"/>
              <a:t>The censoring events are noted with the orange + symbols</a:t>
            </a:r>
          </a:p>
          <a:p>
            <a:r>
              <a:rPr lang="en-GB" dirty="0"/>
              <a:t>All the data have been included in a single curve</a:t>
            </a:r>
          </a:p>
        </p:txBody>
      </p:sp>
      <p:sp>
        <p:nvSpPr>
          <p:cNvPr id="4" name="Slide Number Placeholder 3">
            <a:extLst>
              <a:ext uri="{FF2B5EF4-FFF2-40B4-BE49-F238E27FC236}">
                <a16:creationId xmlns:a16="http://schemas.microsoft.com/office/drawing/2014/main" id="{835A794D-1A1E-9C39-7F6D-996105EB7319}"/>
              </a:ext>
            </a:extLst>
          </p:cNvPr>
          <p:cNvSpPr>
            <a:spLocks noGrp="1"/>
          </p:cNvSpPr>
          <p:nvPr>
            <p:ph type="sldNum" sz="quarter" idx="5"/>
          </p:nvPr>
        </p:nvSpPr>
        <p:spPr/>
        <p:txBody>
          <a:bodyPr/>
          <a:lstStyle/>
          <a:p>
            <a:pPr>
              <a:defRPr/>
            </a:pPr>
            <a:fld id="{7091D1AB-24F6-48F0-A15B-00F40EB78CCB}" type="slidenum">
              <a:rPr lang="en-GB" smtClean="0"/>
              <a:pPr>
                <a:defRPr/>
              </a:pPr>
              <a:t>28</a:t>
            </a:fld>
            <a:endParaRPr lang="en-GB"/>
          </a:p>
        </p:txBody>
      </p:sp>
    </p:spTree>
    <p:extLst>
      <p:ext uri="{BB962C8B-B14F-4D97-AF65-F5344CB8AC3E}">
        <p14:creationId xmlns:p14="http://schemas.microsoft.com/office/powerpoint/2010/main" val="36569728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8231E-3A37-7908-494F-FC3F246725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A87456-9081-DFCF-F5E0-9A28B6E1B9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317457-8223-2D5A-A787-F9BAA5B95D43}"/>
              </a:ext>
            </a:extLst>
          </p:cNvPr>
          <p:cNvSpPr>
            <a:spLocks noGrp="1"/>
          </p:cNvSpPr>
          <p:nvPr>
            <p:ph type="body" idx="1"/>
          </p:nvPr>
        </p:nvSpPr>
        <p:spPr/>
        <p:txBody>
          <a:bodyPr/>
          <a:lstStyle/>
          <a:p>
            <a:r>
              <a:rPr lang="en-GB" dirty="0"/>
              <a:t>Follows a classic “step-staircase” shape</a:t>
            </a:r>
          </a:p>
          <a:p>
            <a:r>
              <a:rPr lang="en-GB" dirty="0"/>
              <a:t>The censoring events are noted with the orange + symbols</a:t>
            </a:r>
          </a:p>
          <a:p>
            <a:r>
              <a:rPr lang="en-GB" dirty="0"/>
              <a:t>All the data have been included in a single curve</a:t>
            </a:r>
          </a:p>
          <a:p>
            <a:endParaRPr lang="en-GB" dirty="0"/>
          </a:p>
          <a:p>
            <a:r>
              <a:rPr lang="en-GB" dirty="0"/>
              <a:t>Median value: time at which you expect 50% of individuals to have experienced the event</a:t>
            </a:r>
          </a:p>
          <a:p>
            <a:r>
              <a:rPr lang="en-GB" dirty="0"/>
              <a:t>(In this case – 26 days)</a:t>
            </a:r>
          </a:p>
        </p:txBody>
      </p:sp>
      <p:sp>
        <p:nvSpPr>
          <p:cNvPr id="4" name="Slide Number Placeholder 3">
            <a:extLst>
              <a:ext uri="{FF2B5EF4-FFF2-40B4-BE49-F238E27FC236}">
                <a16:creationId xmlns:a16="http://schemas.microsoft.com/office/drawing/2014/main" id="{BFC594D1-DB0D-F006-8DD2-58ACC47D5FFE}"/>
              </a:ext>
            </a:extLst>
          </p:cNvPr>
          <p:cNvSpPr>
            <a:spLocks noGrp="1"/>
          </p:cNvSpPr>
          <p:nvPr>
            <p:ph type="sldNum" sz="quarter" idx="5"/>
          </p:nvPr>
        </p:nvSpPr>
        <p:spPr/>
        <p:txBody>
          <a:bodyPr/>
          <a:lstStyle/>
          <a:p>
            <a:pPr>
              <a:defRPr/>
            </a:pPr>
            <a:fld id="{7091D1AB-24F6-48F0-A15B-00F40EB78CCB}" type="slidenum">
              <a:rPr lang="en-GB" smtClean="0"/>
              <a:pPr>
                <a:defRPr/>
              </a:pPr>
              <a:t>29</a:t>
            </a:fld>
            <a:endParaRPr lang="en-GB"/>
          </a:p>
        </p:txBody>
      </p:sp>
    </p:spTree>
    <p:extLst>
      <p:ext uri="{BB962C8B-B14F-4D97-AF65-F5344CB8AC3E}">
        <p14:creationId xmlns:p14="http://schemas.microsoft.com/office/powerpoint/2010/main" val="20935109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D7C9C-4D6E-A53D-D51D-FB62884B7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34AC94-795B-2BE9-1122-8CAB2BD48F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24CE72-8CDF-A78E-9212-2E98E2434CDC}"/>
              </a:ext>
            </a:extLst>
          </p:cNvPr>
          <p:cNvSpPr>
            <a:spLocks noGrp="1"/>
          </p:cNvSpPr>
          <p:nvPr>
            <p:ph type="body" idx="1"/>
          </p:nvPr>
        </p:nvSpPr>
        <p:spPr/>
        <p:txBody>
          <a:bodyPr/>
          <a:lstStyle/>
          <a:p>
            <a:r>
              <a:rPr lang="en-GB" dirty="0"/>
              <a:t>The “number at risk” table – shows you, at specific points in the study, how many individuals were still at risk</a:t>
            </a:r>
          </a:p>
          <a:p>
            <a:r>
              <a:rPr lang="en-GB" dirty="0"/>
              <a:t>Meaning = they were still being followed (weren’t censored) and hadn’t yet experienced the event</a:t>
            </a:r>
          </a:p>
        </p:txBody>
      </p:sp>
      <p:sp>
        <p:nvSpPr>
          <p:cNvPr id="4" name="Slide Number Placeholder 3">
            <a:extLst>
              <a:ext uri="{FF2B5EF4-FFF2-40B4-BE49-F238E27FC236}">
                <a16:creationId xmlns:a16="http://schemas.microsoft.com/office/drawing/2014/main" id="{5FEE0C57-4FF5-4872-DC0B-6FDCA9FFBA8F}"/>
              </a:ext>
            </a:extLst>
          </p:cNvPr>
          <p:cNvSpPr>
            <a:spLocks noGrp="1"/>
          </p:cNvSpPr>
          <p:nvPr>
            <p:ph type="sldNum" sz="quarter" idx="5"/>
          </p:nvPr>
        </p:nvSpPr>
        <p:spPr/>
        <p:txBody>
          <a:bodyPr/>
          <a:lstStyle/>
          <a:p>
            <a:pPr>
              <a:defRPr/>
            </a:pPr>
            <a:fld id="{7091D1AB-24F6-48F0-A15B-00F40EB78CCB}" type="slidenum">
              <a:rPr lang="en-GB" smtClean="0"/>
              <a:pPr>
                <a:defRPr/>
              </a:pPr>
              <a:t>30</a:t>
            </a:fld>
            <a:endParaRPr lang="en-GB"/>
          </a:p>
        </p:txBody>
      </p:sp>
    </p:spTree>
    <p:extLst>
      <p:ext uri="{BB962C8B-B14F-4D97-AF65-F5344CB8AC3E}">
        <p14:creationId xmlns:p14="http://schemas.microsoft.com/office/powerpoint/2010/main" val="264932215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33DE5-A83E-B65E-4854-B963E90BAA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685F32-3A13-EC9B-EE7A-4406E3013D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4F82DE-5696-D5B6-49BD-3952EB3D16AC}"/>
              </a:ext>
            </a:extLst>
          </p:cNvPr>
          <p:cNvSpPr>
            <a:spLocks noGrp="1"/>
          </p:cNvSpPr>
          <p:nvPr>
            <p:ph type="body" idx="1"/>
          </p:nvPr>
        </p:nvSpPr>
        <p:spPr/>
        <p:txBody>
          <a:bodyPr/>
          <a:lstStyle/>
          <a:p>
            <a:r>
              <a:rPr lang="en-GB" dirty="0"/>
              <a:t>Similar information is given in the cumulative events table</a:t>
            </a:r>
          </a:p>
          <a:p>
            <a:r>
              <a:rPr lang="en-GB" dirty="0"/>
              <a:t>This shows how many individuals </a:t>
            </a:r>
            <a:r>
              <a:rPr lang="en-GB" i="1" dirty="0"/>
              <a:t>have </a:t>
            </a:r>
            <a:r>
              <a:rPr lang="en-GB" i="0" dirty="0"/>
              <a:t>experienced the event (doesn’t keep track of dropouts/censored observations, though)</a:t>
            </a:r>
            <a:endParaRPr lang="en-GB" dirty="0"/>
          </a:p>
        </p:txBody>
      </p:sp>
      <p:sp>
        <p:nvSpPr>
          <p:cNvPr id="4" name="Slide Number Placeholder 3">
            <a:extLst>
              <a:ext uri="{FF2B5EF4-FFF2-40B4-BE49-F238E27FC236}">
                <a16:creationId xmlns:a16="http://schemas.microsoft.com/office/drawing/2014/main" id="{A12B9E79-D70C-FAC8-DCF3-0DC85A2640D4}"/>
              </a:ext>
            </a:extLst>
          </p:cNvPr>
          <p:cNvSpPr>
            <a:spLocks noGrp="1"/>
          </p:cNvSpPr>
          <p:nvPr>
            <p:ph type="sldNum" sz="quarter" idx="5"/>
          </p:nvPr>
        </p:nvSpPr>
        <p:spPr/>
        <p:txBody>
          <a:bodyPr/>
          <a:lstStyle/>
          <a:p>
            <a:pPr>
              <a:defRPr/>
            </a:pPr>
            <a:fld id="{7091D1AB-24F6-48F0-A15B-00F40EB78CCB}" type="slidenum">
              <a:rPr lang="en-GB" smtClean="0"/>
              <a:pPr>
                <a:defRPr/>
              </a:pPr>
              <a:t>31</a:t>
            </a:fld>
            <a:endParaRPr lang="en-GB"/>
          </a:p>
        </p:txBody>
      </p:sp>
    </p:spTree>
    <p:extLst>
      <p:ext uri="{BB962C8B-B14F-4D97-AF65-F5344CB8AC3E}">
        <p14:creationId xmlns:p14="http://schemas.microsoft.com/office/powerpoint/2010/main" val="39188015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when we produce a survival curve, what’s actually being plotted?</a:t>
            </a:r>
          </a:p>
          <a:p>
            <a:endParaRPr lang="en-GB" dirty="0"/>
          </a:p>
          <a:p>
            <a:r>
              <a:rPr lang="en-GB" dirty="0"/>
              <a:t>You don’t need to do this manually (but it is possible!)</a:t>
            </a:r>
          </a:p>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32</a:t>
            </a:fld>
            <a:endParaRPr lang="en-GB"/>
          </a:p>
        </p:txBody>
      </p:sp>
    </p:spTree>
    <p:extLst>
      <p:ext uri="{BB962C8B-B14F-4D97-AF65-F5344CB8AC3E}">
        <p14:creationId xmlns:p14="http://schemas.microsoft.com/office/powerpoint/2010/main" val="35047734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33</a:t>
            </a:fld>
            <a:endParaRPr lang="en-GB"/>
          </a:p>
        </p:txBody>
      </p:sp>
    </p:spTree>
    <p:extLst>
      <p:ext uri="{BB962C8B-B14F-4D97-AF65-F5344CB8AC3E}">
        <p14:creationId xmlns:p14="http://schemas.microsoft.com/office/powerpoint/2010/main" val="6904928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We construct (in R/Python) a special “survival object” from the original dataset</a:t>
            </a:r>
          </a:p>
          <a:p>
            <a:r>
              <a:rPr lang="en-GB" dirty="0"/>
              <a:t>Our original dataset has a unique individual (in this case, egg) per row</a:t>
            </a:r>
          </a:p>
          <a:p>
            <a:endParaRPr lang="en-GB" dirty="0"/>
          </a:p>
          <a:p>
            <a:r>
              <a:rPr lang="en-GB" dirty="0"/>
              <a:t>The new object has a unique time point per row, instead</a:t>
            </a:r>
          </a:p>
          <a:p>
            <a:r>
              <a:rPr lang="en-GB" dirty="0"/>
              <a:t>This is a specialist layout for a dataset that we don’t use in other type of models</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34</a:t>
            </a:fld>
            <a:endParaRPr lang="en-GB"/>
          </a:p>
        </p:txBody>
      </p:sp>
    </p:spTree>
    <p:extLst>
      <p:ext uri="{BB962C8B-B14F-4D97-AF65-F5344CB8AC3E}">
        <p14:creationId xmlns:p14="http://schemas.microsoft.com/office/powerpoint/2010/main" val="3499957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two key columns: elapsed time and survival probability</a:t>
            </a:r>
          </a:p>
          <a:p>
            <a:r>
              <a:rPr lang="en-GB" dirty="0"/>
              <a:t>Accounting for censoring, </a:t>
            </a:r>
            <a:r>
              <a:rPr lang="en-GB" b="1" dirty="0"/>
              <a:t>what’s the survival probability at each new time point?</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35</a:t>
            </a:fld>
            <a:endParaRPr lang="en-GB"/>
          </a:p>
        </p:txBody>
      </p:sp>
    </p:spTree>
    <p:extLst>
      <p:ext uri="{BB962C8B-B14F-4D97-AF65-F5344CB8AC3E}">
        <p14:creationId xmlns:p14="http://schemas.microsoft.com/office/powerpoint/2010/main" val="42867823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02DF7-850B-B2F1-F892-4587900BEA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880046-9C8B-BF92-0CAD-8005447B53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E2C09A-A2CE-DE08-8ACC-D2FE2F62B48E}"/>
              </a:ext>
            </a:extLst>
          </p:cNvPr>
          <p:cNvSpPr>
            <a:spLocks noGrp="1"/>
          </p:cNvSpPr>
          <p:nvPr>
            <p:ph type="body" idx="1"/>
          </p:nvPr>
        </p:nvSpPr>
        <p:spPr/>
        <p:txBody>
          <a:bodyPr/>
          <a:lstStyle/>
          <a:p>
            <a:r>
              <a:rPr lang="en-GB" dirty="0"/>
              <a:t>And that’s what we plot when we produce a survival curve!</a:t>
            </a:r>
          </a:p>
          <a:p>
            <a:endParaRPr lang="en-GB" dirty="0"/>
          </a:p>
          <a:p>
            <a:r>
              <a:rPr lang="en-GB" dirty="0"/>
              <a:t>So: the Kaplan-Meier estimator allows us to convert individual-level data, with censoring</a:t>
            </a:r>
          </a:p>
          <a:p>
            <a:r>
              <a:rPr lang="en-GB" dirty="0"/>
              <a:t>Into probability against time</a:t>
            </a:r>
          </a:p>
        </p:txBody>
      </p:sp>
      <p:sp>
        <p:nvSpPr>
          <p:cNvPr id="4" name="Slide Number Placeholder 3">
            <a:extLst>
              <a:ext uri="{FF2B5EF4-FFF2-40B4-BE49-F238E27FC236}">
                <a16:creationId xmlns:a16="http://schemas.microsoft.com/office/drawing/2014/main" id="{4A0167E5-BA09-A75E-87D7-B3F6BF01EF72}"/>
              </a:ext>
            </a:extLst>
          </p:cNvPr>
          <p:cNvSpPr>
            <a:spLocks noGrp="1"/>
          </p:cNvSpPr>
          <p:nvPr>
            <p:ph type="sldNum" sz="quarter" idx="5"/>
          </p:nvPr>
        </p:nvSpPr>
        <p:spPr/>
        <p:txBody>
          <a:bodyPr/>
          <a:lstStyle/>
          <a:p>
            <a:pPr>
              <a:defRPr/>
            </a:pPr>
            <a:fld id="{7091D1AB-24F6-48F0-A15B-00F40EB78CCB}" type="slidenum">
              <a:rPr lang="en-GB" smtClean="0"/>
              <a:pPr>
                <a:defRPr/>
              </a:pPr>
              <a:t>36</a:t>
            </a:fld>
            <a:endParaRPr lang="en-GB"/>
          </a:p>
        </p:txBody>
      </p:sp>
    </p:spTree>
    <p:extLst>
      <p:ext uri="{BB962C8B-B14F-4D97-AF65-F5344CB8AC3E}">
        <p14:creationId xmlns:p14="http://schemas.microsoft.com/office/powerpoint/2010/main" val="3362183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37</a:t>
            </a:fld>
            <a:endParaRPr lang="en-GB"/>
          </a:p>
        </p:txBody>
      </p:sp>
    </p:spTree>
    <p:extLst>
      <p:ext uri="{BB962C8B-B14F-4D97-AF65-F5344CB8AC3E}">
        <p14:creationId xmlns:p14="http://schemas.microsoft.com/office/powerpoint/2010/main" val="201966723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Used to compare two or more survival curves</a:t>
            </a:r>
            <a:br>
              <a:rPr lang="en-US" dirty="0"/>
            </a:br>
            <a:r>
              <a:rPr lang="en-US" dirty="0"/>
              <a:t>(single categorical predictor)</a:t>
            </a:r>
          </a:p>
          <a:p>
            <a:endParaRPr lang="en-US" dirty="0"/>
          </a:p>
          <a:p>
            <a:r>
              <a:rPr lang="en-GB" dirty="0"/>
              <a:t>Is a null hypothesis significance test</a:t>
            </a:r>
          </a:p>
          <a:p>
            <a:pPr marL="171450" indent="-171450">
              <a:buFont typeface="Arial" panose="020B0604020202020204" pitchFamily="34" charset="0"/>
              <a:buChar char="•"/>
            </a:pPr>
            <a:r>
              <a:rPr lang="en-GB" dirty="0"/>
              <a:t>H</a:t>
            </a:r>
            <a:r>
              <a:rPr lang="en-GB" baseline="-25000" dirty="0"/>
              <a:t>0</a:t>
            </a:r>
            <a:r>
              <a:rPr lang="en-GB" dirty="0"/>
              <a:t> = groups have identical curves in the population</a:t>
            </a:r>
          </a:p>
          <a:p>
            <a:pPr marL="171450" indent="-171450">
              <a:buFont typeface="Arial" panose="020B0604020202020204" pitchFamily="34" charset="0"/>
              <a:buChar char="•"/>
            </a:pPr>
            <a:r>
              <a:rPr lang="en-GB" dirty="0"/>
              <a:t>Produces a p-value</a:t>
            </a:r>
          </a:p>
          <a:p>
            <a:pPr marL="171450" indent="-171450">
              <a:buFont typeface="Arial" panose="020B0604020202020204" pitchFamily="34" charset="0"/>
              <a:buChar char="•"/>
            </a:pPr>
            <a:r>
              <a:rPr lang="en-GB" dirty="0"/>
              <a:t>Has assumptions</a:t>
            </a:r>
          </a:p>
          <a:p>
            <a:endParaRPr lang="en-GB" dirty="0"/>
          </a:p>
          <a:p>
            <a:r>
              <a:rPr lang="en-GB" dirty="0"/>
              <a:t>Can think of it as like a t-test, but for survival data</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40</a:t>
            </a:fld>
            <a:endParaRPr lang="en-GB"/>
          </a:p>
        </p:txBody>
      </p:sp>
    </p:spTree>
    <p:extLst>
      <p:ext uri="{BB962C8B-B14F-4D97-AF65-F5344CB8AC3E}">
        <p14:creationId xmlns:p14="http://schemas.microsoft.com/office/powerpoint/2010/main" val="275388660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Like all significance tests, there must be a null hypothesis</a:t>
            </a:r>
          </a:p>
          <a:p>
            <a:r>
              <a:rPr lang="en-GB" dirty="0"/>
              <a:t>Usually some version of “the world is boring”</a:t>
            </a:r>
          </a:p>
          <a:p>
            <a:endParaRPr lang="en-GB" dirty="0"/>
          </a:p>
          <a:p>
            <a:r>
              <a:rPr lang="en-GB" dirty="0"/>
              <a:t>Here are two “versions of reality”</a:t>
            </a:r>
          </a:p>
          <a:p>
            <a:endParaRPr lang="en-GB" dirty="0"/>
          </a:p>
          <a:p>
            <a:r>
              <a:rPr lang="en-GB" dirty="0"/>
              <a:t>(Note: a false null hypothesis could have a steeper curve for blue than red, too; just anything where the curves aren’t the same)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41</a:t>
            </a:fld>
            <a:endParaRPr lang="en-GB"/>
          </a:p>
        </p:txBody>
      </p:sp>
    </p:spTree>
    <p:extLst>
      <p:ext uri="{BB962C8B-B14F-4D97-AF65-F5344CB8AC3E}">
        <p14:creationId xmlns:p14="http://schemas.microsoft.com/office/powerpoint/2010/main" val="22397939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Here’s an example of what the datasets might look like, coming from those two different “versions of reality”</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42</a:t>
            </a:fld>
            <a:endParaRPr lang="en-GB"/>
          </a:p>
        </p:txBody>
      </p:sp>
    </p:spTree>
    <p:extLst>
      <p:ext uri="{BB962C8B-B14F-4D97-AF65-F5344CB8AC3E}">
        <p14:creationId xmlns:p14="http://schemas.microsoft.com/office/powerpoint/2010/main" val="10687123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 row is a single patient</a:t>
            </a:r>
          </a:p>
          <a:p>
            <a:pPr marL="171450" indent="-171450">
              <a:buFont typeface="Arial" panose="020B0604020202020204" pitchFamily="34" charset="0"/>
              <a:buChar char="•"/>
            </a:pPr>
            <a:r>
              <a:rPr lang="en-GB" dirty="0"/>
              <a:t>Not related to each other in any way</a:t>
            </a:r>
          </a:p>
          <a:p>
            <a:pPr marL="171450" indent="-171450">
              <a:buFont typeface="Arial" panose="020B0604020202020204" pitchFamily="34" charset="0"/>
              <a:buChar char="•"/>
            </a:pPr>
            <a:r>
              <a:rPr lang="en-GB" dirty="0"/>
              <a:t>Not measuring the same patient more than once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45</a:t>
            </a:fld>
            <a:endParaRPr lang="en-GB"/>
          </a:p>
        </p:txBody>
      </p:sp>
    </p:spTree>
    <p:extLst>
      <p:ext uri="{BB962C8B-B14F-4D97-AF65-F5344CB8AC3E}">
        <p14:creationId xmlns:p14="http://schemas.microsoft.com/office/powerpoint/2010/main" val="26159270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F7C4B-CF49-78B0-C697-0DB63C75CB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3221F5-3204-3202-65D8-0666C3DD52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D2276E-249F-901E-2AEC-941E48F3065C}"/>
              </a:ext>
            </a:extLst>
          </p:cNvPr>
          <p:cNvSpPr>
            <a:spLocks noGrp="1"/>
          </p:cNvSpPr>
          <p:nvPr>
            <p:ph type="body" idx="1"/>
          </p:nvPr>
        </p:nvSpPr>
        <p:spPr/>
        <p:txBody>
          <a:bodyPr/>
          <a:lstStyle/>
          <a:p>
            <a:r>
              <a:rPr lang="en-GB" dirty="0"/>
              <a:t>BUT – if patients are grouped within hospitals, e.g., a multi-site clinical study</a:t>
            </a:r>
          </a:p>
          <a:p>
            <a:r>
              <a:rPr lang="en-GB" dirty="0"/>
              <a:t>Now they are related/clustered together</a:t>
            </a:r>
          </a:p>
          <a:p>
            <a:endParaRPr lang="en-GB" dirty="0"/>
          </a:p>
          <a:p>
            <a:r>
              <a:rPr lang="en-GB" dirty="0"/>
              <a:t>Patients from a single hospital have more similar outcomes, and perhaps more similar probability of experience the event, than they will to patients in other hospitals</a:t>
            </a:r>
          </a:p>
        </p:txBody>
      </p:sp>
      <p:sp>
        <p:nvSpPr>
          <p:cNvPr id="4" name="Slide Number Placeholder 3">
            <a:extLst>
              <a:ext uri="{FF2B5EF4-FFF2-40B4-BE49-F238E27FC236}">
                <a16:creationId xmlns:a16="http://schemas.microsoft.com/office/drawing/2014/main" id="{90EAA947-F16C-9B50-8674-8815FF2DCAF2}"/>
              </a:ext>
            </a:extLst>
          </p:cNvPr>
          <p:cNvSpPr>
            <a:spLocks noGrp="1"/>
          </p:cNvSpPr>
          <p:nvPr>
            <p:ph type="sldNum" sz="quarter" idx="5"/>
          </p:nvPr>
        </p:nvSpPr>
        <p:spPr/>
        <p:txBody>
          <a:bodyPr/>
          <a:lstStyle/>
          <a:p>
            <a:pPr>
              <a:defRPr/>
            </a:pPr>
            <a:fld id="{7091D1AB-24F6-48F0-A15B-00F40EB78CCB}" type="slidenum">
              <a:rPr lang="en-GB" smtClean="0"/>
              <a:pPr>
                <a:defRPr/>
              </a:pPr>
              <a:t>46</a:t>
            </a:fld>
            <a:endParaRPr lang="en-GB"/>
          </a:p>
        </p:txBody>
      </p:sp>
    </p:spTree>
    <p:extLst>
      <p:ext uri="{BB962C8B-B14F-4D97-AF65-F5344CB8AC3E}">
        <p14:creationId xmlns:p14="http://schemas.microsoft.com/office/powerpoint/2010/main" val="71955798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BAC87-5FA0-71C0-E64D-2FA9069879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67BFA-EF6E-2A58-F452-C104EF2C88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BF5B9-29EE-27BA-B493-CE9B9B58BAC4}"/>
              </a:ext>
            </a:extLst>
          </p:cNvPr>
          <p:cNvSpPr>
            <a:spLocks noGrp="1"/>
          </p:cNvSpPr>
          <p:nvPr>
            <p:ph type="body" idx="1"/>
          </p:nvPr>
        </p:nvSpPr>
        <p:spPr/>
        <p:txBody>
          <a:bodyPr/>
          <a:lstStyle/>
          <a:p>
            <a:r>
              <a:rPr lang="en-GB" dirty="0"/>
              <a:t>Another example</a:t>
            </a:r>
          </a:p>
          <a:p>
            <a:pPr marL="171450" indent="-171450">
              <a:buFont typeface="Arial" panose="020B0604020202020204" pitchFamily="34" charset="0"/>
              <a:buChar char="•"/>
            </a:pPr>
            <a:r>
              <a:rPr lang="en-GB" dirty="0"/>
              <a:t>Event of interest: tooth erupting</a:t>
            </a:r>
          </a:p>
          <a:p>
            <a:pPr marL="171450" indent="-171450">
              <a:buFont typeface="Arial" panose="020B0604020202020204" pitchFamily="34" charset="0"/>
              <a:buChar char="•"/>
            </a:pPr>
            <a:r>
              <a:rPr lang="en-GB" dirty="0"/>
              <a:t>Multiple teeth per child</a:t>
            </a:r>
          </a:p>
          <a:p>
            <a:pPr marL="171450" indent="-171450">
              <a:buFont typeface="Arial" panose="020B0604020202020204" pitchFamily="34" charset="0"/>
              <a:buChar char="•"/>
            </a:pPr>
            <a:r>
              <a:rPr lang="en-GB" dirty="0"/>
              <a:t>Teeth belonging to the same child are not independent of each other</a:t>
            </a:r>
          </a:p>
          <a:p>
            <a:pPr marL="171450" indent="-171450">
              <a:buFont typeface="Arial" panose="020B0604020202020204" pitchFamily="34" charset="0"/>
              <a:buChar char="•"/>
            </a:pPr>
            <a:r>
              <a:rPr lang="en-GB" dirty="0"/>
              <a:t>We know that children tend to go through phases of losing/growing multiple teeth at once</a:t>
            </a:r>
          </a:p>
        </p:txBody>
      </p:sp>
      <p:sp>
        <p:nvSpPr>
          <p:cNvPr id="4" name="Slide Number Placeholder 3">
            <a:extLst>
              <a:ext uri="{FF2B5EF4-FFF2-40B4-BE49-F238E27FC236}">
                <a16:creationId xmlns:a16="http://schemas.microsoft.com/office/drawing/2014/main" id="{8FF589AF-1702-9D19-181B-FAACE802A7A1}"/>
              </a:ext>
            </a:extLst>
          </p:cNvPr>
          <p:cNvSpPr>
            <a:spLocks noGrp="1"/>
          </p:cNvSpPr>
          <p:nvPr>
            <p:ph type="sldNum" sz="quarter" idx="5"/>
          </p:nvPr>
        </p:nvSpPr>
        <p:spPr/>
        <p:txBody>
          <a:bodyPr/>
          <a:lstStyle/>
          <a:p>
            <a:pPr>
              <a:defRPr/>
            </a:pPr>
            <a:fld id="{7091D1AB-24F6-48F0-A15B-00F40EB78CCB}" type="slidenum">
              <a:rPr lang="en-GB" smtClean="0"/>
              <a:pPr>
                <a:defRPr/>
              </a:pPr>
              <a:t>47</a:t>
            </a:fld>
            <a:endParaRPr lang="en-GB"/>
          </a:p>
        </p:txBody>
      </p:sp>
    </p:spTree>
    <p:extLst>
      <p:ext uri="{BB962C8B-B14F-4D97-AF65-F5344CB8AC3E}">
        <p14:creationId xmlns:p14="http://schemas.microsoft.com/office/powerpoint/2010/main" val="12452120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875A8-8EDF-0FB3-70EF-71A0965CB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1F03AF-60AD-EEED-E864-02B445C9CE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B6DE26-28CE-F359-EBE1-D689946C93CB}"/>
              </a:ext>
            </a:extLst>
          </p:cNvPr>
          <p:cNvSpPr>
            <a:spLocks noGrp="1"/>
          </p:cNvSpPr>
          <p:nvPr>
            <p:ph type="body" idx="1"/>
          </p:nvPr>
        </p:nvSpPr>
        <p:spPr/>
        <p:txBody>
          <a:bodyPr/>
          <a:lstStyle/>
          <a:p>
            <a:r>
              <a:rPr lang="en-GB" dirty="0"/>
              <a:t>Another example</a:t>
            </a:r>
          </a:p>
          <a:p>
            <a:pPr marL="171450" indent="-171450">
              <a:buFont typeface="Arial" panose="020B0604020202020204" pitchFamily="34" charset="0"/>
              <a:buChar char="•"/>
            </a:pPr>
            <a:r>
              <a:rPr lang="en-GB" dirty="0"/>
              <a:t>Event: graduation/earning a degree</a:t>
            </a:r>
          </a:p>
          <a:p>
            <a:pPr marL="171450" indent="-171450">
              <a:buFont typeface="Arial" panose="020B0604020202020204" pitchFamily="34" charset="0"/>
              <a:buChar char="•"/>
            </a:pPr>
            <a:r>
              <a:rPr lang="en-GB" dirty="0"/>
              <a:t>If we track the same individual over multiple degrees (some people are overachievers!) then again, not independent</a:t>
            </a:r>
          </a:p>
        </p:txBody>
      </p:sp>
      <p:sp>
        <p:nvSpPr>
          <p:cNvPr id="4" name="Slide Number Placeholder 3">
            <a:extLst>
              <a:ext uri="{FF2B5EF4-FFF2-40B4-BE49-F238E27FC236}">
                <a16:creationId xmlns:a16="http://schemas.microsoft.com/office/drawing/2014/main" id="{E0A33C09-27D1-AEDB-8E5A-B6897D61A128}"/>
              </a:ext>
            </a:extLst>
          </p:cNvPr>
          <p:cNvSpPr>
            <a:spLocks noGrp="1"/>
          </p:cNvSpPr>
          <p:nvPr>
            <p:ph type="sldNum" sz="quarter" idx="5"/>
          </p:nvPr>
        </p:nvSpPr>
        <p:spPr/>
        <p:txBody>
          <a:bodyPr/>
          <a:lstStyle/>
          <a:p>
            <a:pPr>
              <a:defRPr/>
            </a:pPr>
            <a:fld id="{7091D1AB-24F6-48F0-A15B-00F40EB78CCB}" type="slidenum">
              <a:rPr lang="en-GB" smtClean="0"/>
              <a:pPr>
                <a:defRPr/>
              </a:pPr>
              <a:t>48</a:t>
            </a:fld>
            <a:endParaRPr lang="en-GB"/>
          </a:p>
        </p:txBody>
      </p:sp>
    </p:spTree>
    <p:extLst>
      <p:ext uri="{BB962C8B-B14F-4D97-AF65-F5344CB8AC3E}">
        <p14:creationId xmlns:p14="http://schemas.microsoft.com/office/powerpoint/2010/main" val="40314025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4AD36-DE36-4789-3EB3-868725A51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DEEB0D-AE7F-0477-87D1-A5652D6E0A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684FCE-044C-5C46-F5A5-42A270EBF5C7}"/>
              </a:ext>
            </a:extLst>
          </p:cNvPr>
          <p:cNvSpPr>
            <a:spLocks noGrp="1"/>
          </p:cNvSpPr>
          <p:nvPr>
            <p:ph type="body" idx="1"/>
          </p:nvPr>
        </p:nvSpPr>
        <p:spPr/>
        <p:txBody>
          <a:bodyPr/>
          <a:lstStyle/>
          <a:p>
            <a:r>
              <a:rPr lang="en-GB" dirty="0"/>
              <a:t>If you switched to people’s </a:t>
            </a:r>
            <a:r>
              <a:rPr lang="en-GB" i="1" dirty="0"/>
              <a:t>first </a:t>
            </a:r>
            <a:r>
              <a:rPr lang="en-GB" i="0" dirty="0"/>
              <a:t>degrees, it would fix this problem</a:t>
            </a:r>
          </a:p>
          <a:p>
            <a:r>
              <a:rPr lang="en-GB" i="0" dirty="0"/>
              <a:t>Now only one observation per person</a:t>
            </a:r>
            <a:endParaRPr lang="en-GB" dirty="0"/>
          </a:p>
        </p:txBody>
      </p:sp>
      <p:sp>
        <p:nvSpPr>
          <p:cNvPr id="4" name="Slide Number Placeholder 3">
            <a:extLst>
              <a:ext uri="{FF2B5EF4-FFF2-40B4-BE49-F238E27FC236}">
                <a16:creationId xmlns:a16="http://schemas.microsoft.com/office/drawing/2014/main" id="{DAEAC6F9-32DC-8B30-557F-4BFEB9DDB6CD}"/>
              </a:ext>
            </a:extLst>
          </p:cNvPr>
          <p:cNvSpPr>
            <a:spLocks noGrp="1"/>
          </p:cNvSpPr>
          <p:nvPr>
            <p:ph type="sldNum" sz="quarter" idx="5"/>
          </p:nvPr>
        </p:nvSpPr>
        <p:spPr/>
        <p:txBody>
          <a:bodyPr/>
          <a:lstStyle/>
          <a:p>
            <a:pPr>
              <a:defRPr/>
            </a:pPr>
            <a:fld id="{7091D1AB-24F6-48F0-A15B-00F40EB78CCB}" type="slidenum">
              <a:rPr lang="en-GB" smtClean="0"/>
              <a:pPr>
                <a:defRPr/>
              </a:pPr>
              <a:t>49</a:t>
            </a:fld>
            <a:endParaRPr lang="en-GB"/>
          </a:p>
        </p:txBody>
      </p:sp>
    </p:spTree>
    <p:extLst>
      <p:ext uri="{BB962C8B-B14F-4D97-AF65-F5344CB8AC3E}">
        <p14:creationId xmlns:p14="http://schemas.microsoft.com/office/powerpoint/2010/main" val="31552969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first of the two survival-specific assumptions</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50</a:t>
            </a:fld>
            <a:endParaRPr lang="en-GB"/>
          </a:p>
        </p:txBody>
      </p:sp>
    </p:spTree>
    <p:extLst>
      <p:ext uri="{BB962C8B-B14F-4D97-AF65-F5344CB8AC3E}">
        <p14:creationId xmlns:p14="http://schemas.microsoft.com/office/powerpoint/2010/main" val="272380322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F6A6E-C993-66E9-C496-EC1A9DE1B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F083C-6846-B43F-1775-0536947190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419B9E-8094-7739-C2F9-44F9A02EA6C3}"/>
              </a:ext>
            </a:extLst>
          </p:cNvPr>
          <p:cNvSpPr>
            <a:spLocks noGrp="1"/>
          </p:cNvSpPr>
          <p:nvPr>
            <p:ph type="body" idx="1"/>
          </p:nvPr>
        </p:nvSpPr>
        <p:spPr/>
        <p:txBody>
          <a:bodyPr/>
          <a:lstStyle/>
          <a:p>
            <a:r>
              <a:rPr lang="en-GB" dirty="0"/>
              <a:t>Event of interest: lightbulb failure</a:t>
            </a:r>
          </a:p>
          <a:p>
            <a:r>
              <a:rPr lang="en-GB" dirty="0"/>
              <a:t>Building maintenance install 500 bulbs in a new building, and a researcher monitors each of them</a:t>
            </a:r>
          </a:p>
          <a:p>
            <a:endParaRPr lang="en-GB" dirty="0"/>
          </a:p>
          <a:p>
            <a:r>
              <a:rPr lang="en-GB" dirty="0"/>
              <a:t>The informative censoring comes in here:</a:t>
            </a:r>
          </a:p>
          <a:p>
            <a:pPr marL="171450" indent="-171450">
              <a:buFont typeface="Arial" panose="020B0604020202020204" pitchFamily="34" charset="0"/>
              <a:buChar char="•"/>
            </a:pPr>
            <a:r>
              <a:rPr lang="en-GB" dirty="0"/>
              <a:t>Regular/routine checks by building maintenance</a:t>
            </a:r>
          </a:p>
          <a:p>
            <a:pPr marL="171450" indent="-171450">
              <a:buFont typeface="Arial" panose="020B0604020202020204" pitchFamily="34" charset="0"/>
              <a:buChar char="•"/>
            </a:pPr>
            <a:r>
              <a:rPr lang="en-GB" dirty="0"/>
              <a:t>Bulbs are removed if they look close to failure (flickering, dimming), and are therefore lost to researcher follow-up</a:t>
            </a:r>
          </a:p>
          <a:p>
            <a:pPr marL="171450" indent="-171450">
              <a:buFont typeface="Arial" panose="020B0604020202020204" pitchFamily="34" charset="0"/>
              <a:buChar char="•"/>
            </a:pPr>
            <a:r>
              <a:rPr lang="en-GB" dirty="0"/>
              <a:t>So the censoring is directly related to the survival time</a:t>
            </a:r>
          </a:p>
          <a:p>
            <a:pPr marL="171450" indent="-171450">
              <a:buFont typeface="Arial" panose="020B0604020202020204" pitchFamily="34" charset="0"/>
              <a:buChar char="•"/>
            </a:pPr>
            <a:r>
              <a:rPr lang="en-GB" dirty="0"/>
              <a:t>The same process that governs the event (failure) occurring, also governs censoring</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Why is this a problem?</a:t>
            </a:r>
          </a:p>
          <a:p>
            <a:pPr marL="171450" indent="-171450">
              <a:buFont typeface="Arial" panose="020B0604020202020204" pitchFamily="34" charset="0"/>
              <a:buChar char="•"/>
            </a:pPr>
            <a:r>
              <a:rPr lang="en-GB" dirty="0"/>
              <a:t>Your survival analysis will end up overestimating how long bulbs survive</a:t>
            </a:r>
          </a:p>
          <a:p>
            <a:pPr marL="171450" indent="-171450">
              <a:buFont typeface="Arial" panose="020B0604020202020204" pitchFamily="34" charset="0"/>
              <a:buChar char="•"/>
            </a:pPr>
            <a:r>
              <a:rPr lang="en-GB" dirty="0"/>
              <a:t>Because all the ones with shorter survival times, get removed/censored before they can contribute</a:t>
            </a:r>
          </a:p>
        </p:txBody>
      </p:sp>
      <p:sp>
        <p:nvSpPr>
          <p:cNvPr id="4" name="Slide Number Placeholder 3">
            <a:extLst>
              <a:ext uri="{FF2B5EF4-FFF2-40B4-BE49-F238E27FC236}">
                <a16:creationId xmlns:a16="http://schemas.microsoft.com/office/drawing/2014/main" id="{0E0E4D9A-A343-9FA0-1E96-781D27E45222}"/>
              </a:ext>
            </a:extLst>
          </p:cNvPr>
          <p:cNvSpPr>
            <a:spLocks noGrp="1"/>
          </p:cNvSpPr>
          <p:nvPr>
            <p:ph type="sldNum" sz="quarter" idx="5"/>
          </p:nvPr>
        </p:nvSpPr>
        <p:spPr/>
        <p:txBody>
          <a:bodyPr/>
          <a:lstStyle/>
          <a:p>
            <a:pPr>
              <a:defRPr/>
            </a:pPr>
            <a:fld id="{7091D1AB-24F6-48F0-A15B-00F40EB78CCB}" type="slidenum">
              <a:rPr lang="en-GB" smtClean="0"/>
              <a:pPr>
                <a:defRPr/>
              </a:pPr>
              <a:t>51</a:t>
            </a:fld>
            <a:endParaRPr lang="en-GB"/>
          </a:p>
        </p:txBody>
      </p:sp>
    </p:spTree>
    <p:extLst>
      <p:ext uri="{BB962C8B-B14F-4D97-AF65-F5344CB8AC3E}">
        <p14:creationId xmlns:p14="http://schemas.microsoft.com/office/powerpoint/2010/main" val="314998989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BEF34-B8CA-BF57-20EA-ABFEC26B50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98AC4B-7A54-289D-AD49-E3D7EDCB1B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AE7B75-AA42-7E63-3A97-C801AFBAE5AE}"/>
              </a:ext>
            </a:extLst>
          </p:cNvPr>
          <p:cNvSpPr>
            <a:spLocks noGrp="1"/>
          </p:cNvSpPr>
          <p:nvPr>
            <p:ph type="body" idx="1"/>
          </p:nvPr>
        </p:nvSpPr>
        <p:spPr/>
        <p:txBody>
          <a:bodyPr/>
          <a:lstStyle/>
          <a:p>
            <a:r>
              <a:rPr lang="en-GB" dirty="0"/>
              <a:t>A slightly more complex, but probably for many participants more relevant, example</a:t>
            </a:r>
          </a:p>
          <a:p>
            <a:endParaRPr lang="en-GB" dirty="0"/>
          </a:p>
          <a:p>
            <a:r>
              <a:rPr lang="en-GB" dirty="0"/>
              <a:t>Imagine:</a:t>
            </a:r>
          </a:p>
          <a:p>
            <a:pPr marL="171450" indent="-171450">
              <a:buFont typeface="Arial" panose="020B0604020202020204" pitchFamily="34" charset="0"/>
              <a:buChar char="•"/>
            </a:pPr>
            <a:r>
              <a:rPr lang="en-GB" dirty="0"/>
              <a:t>Event of interest is: getting a transplant kidney</a:t>
            </a:r>
          </a:p>
          <a:p>
            <a:pPr marL="171450" indent="-171450">
              <a:buFont typeface="Arial" panose="020B0604020202020204" pitchFamily="34" charset="0"/>
              <a:buChar char="•"/>
            </a:pPr>
            <a:r>
              <a:rPr lang="en-GB" dirty="0"/>
              <a:t>Orange crosses represent censoring – e.g., patient drops out of the study/is lost to follow-up</a:t>
            </a:r>
          </a:p>
          <a:p>
            <a:pPr marL="171450" indent="-171450">
              <a:buFont typeface="Arial" panose="020B0604020202020204" pitchFamily="34" charset="0"/>
              <a:buChar char="•"/>
            </a:pPr>
            <a:r>
              <a:rPr lang="en-GB" dirty="0"/>
              <a:t>Sample is made up of individuals with varying degrees of illness, perhaps different stages of kidney disease</a:t>
            </a:r>
          </a:p>
          <a:p>
            <a:pPr marL="171450" indent="-171450">
              <a:buFont typeface="Arial" panose="020B0604020202020204" pitchFamily="34" charset="0"/>
              <a:buChar char="•"/>
            </a:pPr>
            <a:r>
              <a:rPr lang="en-GB" dirty="0"/>
              <a:t>Followed from the time they join the waiting list</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Here’s the informative censoring:</a:t>
            </a:r>
          </a:p>
          <a:p>
            <a:pPr marL="171450" indent="-171450">
              <a:buFont typeface="Arial" panose="020B0604020202020204" pitchFamily="34" charset="0"/>
              <a:buChar char="•"/>
            </a:pPr>
            <a:r>
              <a:rPr lang="en-GB" dirty="0"/>
              <a:t>Patients who become too ill for transplantation are removed from the waiting list, i.e., censored</a:t>
            </a:r>
          </a:p>
          <a:p>
            <a:pPr marL="171450" indent="-171450">
              <a:buFont typeface="Arial" panose="020B0604020202020204" pitchFamily="34" charset="0"/>
              <a:buChar char="•"/>
            </a:pPr>
            <a:r>
              <a:rPr lang="en-GB" dirty="0"/>
              <a:t>They are </a:t>
            </a:r>
            <a:r>
              <a:rPr lang="en-GB" b="1" dirty="0"/>
              <a:t>not</a:t>
            </a:r>
            <a:r>
              <a:rPr lang="en-GB" b="0" dirty="0"/>
              <a:t> a random subset of that waiting list, so censoring is not happening at random – it’s happening based on how ill they are</a:t>
            </a:r>
          </a:p>
          <a:p>
            <a:pPr marL="171450" indent="-171450">
              <a:buFont typeface="Arial" panose="020B0604020202020204" pitchFamily="34" charset="0"/>
              <a:buChar char="•"/>
            </a:pPr>
            <a:r>
              <a:rPr lang="en-GB" b="0" dirty="0"/>
              <a:t>Once removed, their chance of experiencing the event (transplant) is lowered</a:t>
            </a:r>
          </a:p>
          <a:p>
            <a:pPr marL="171450" indent="-171450">
              <a:buFont typeface="Arial" panose="020B0604020202020204" pitchFamily="34" charset="0"/>
              <a:buChar char="•"/>
            </a:pPr>
            <a:r>
              <a:rPr lang="en-GB" b="0" dirty="0"/>
              <a:t>Meaning the likelihood of getting a kidney, is related to the likelihood of being censored</a:t>
            </a:r>
          </a:p>
          <a:p>
            <a:pPr marL="171450" indent="-171450">
              <a:buFont typeface="Arial" panose="020B0604020202020204" pitchFamily="34" charset="0"/>
              <a:buChar char="•"/>
            </a:pPr>
            <a:endParaRPr lang="en-GB" b="0" dirty="0"/>
          </a:p>
          <a:p>
            <a:pPr marL="0" indent="0">
              <a:buFont typeface="Arial" panose="020B0604020202020204" pitchFamily="34" charset="0"/>
              <a:buNone/>
            </a:pPr>
            <a:r>
              <a:rPr lang="en-GB" b="0" dirty="0"/>
              <a:t>What would non-informative censoring look like?</a:t>
            </a:r>
            <a:endParaRPr lang="en-GB" dirty="0"/>
          </a:p>
          <a:p>
            <a:pPr marL="171450" indent="-171450">
              <a:buFont typeface="Arial" panose="020B0604020202020204" pitchFamily="34" charset="0"/>
              <a:buChar char="•"/>
            </a:pPr>
            <a:r>
              <a:rPr lang="en-GB" dirty="0"/>
              <a:t>Patient moves country</a:t>
            </a:r>
          </a:p>
          <a:p>
            <a:pPr marL="171450" indent="-171450">
              <a:buFont typeface="Arial" panose="020B0604020202020204" pitchFamily="34" charset="0"/>
              <a:buChar char="•"/>
            </a:pPr>
            <a:r>
              <a:rPr lang="en-GB" dirty="0"/>
              <a:t>Patient is transferred to another transplant centre that doesn’t share data with the study</a:t>
            </a:r>
          </a:p>
          <a:p>
            <a:pPr marL="171450" indent="-171450">
              <a:buFont typeface="Arial" panose="020B0604020202020204" pitchFamily="34" charset="0"/>
              <a:buChar char="•"/>
            </a:pPr>
            <a:r>
              <a:rPr lang="en-GB" dirty="0"/>
              <a:t>Study ends while patient is still on the transplant waiting list</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Note: a patient dying is not so much censoring as a “competing event”, but that would also be a potential problem!</a:t>
            </a:r>
          </a:p>
          <a:p>
            <a:pPr marL="0" indent="0">
              <a:buFont typeface="Arial" panose="020B0604020202020204" pitchFamily="34" charset="0"/>
              <a:buNone/>
            </a:pPr>
            <a:endParaRPr lang="en-GB" dirty="0"/>
          </a:p>
          <a:p>
            <a:pPr marL="0" indent="0">
              <a:buFont typeface="Arial" panose="020B0604020202020204" pitchFamily="34" charset="0"/>
              <a:buNone/>
            </a:pPr>
            <a:r>
              <a:rPr lang="en-GB" b="1" u="sng" dirty="0"/>
              <a:t>In general: it’s very common in medical settings that patients with poorer health are more likely to be lost to follow-up!!</a:t>
            </a:r>
          </a:p>
        </p:txBody>
      </p:sp>
      <p:sp>
        <p:nvSpPr>
          <p:cNvPr id="4" name="Slide Number Placeholder 3">
            <a:extLst>
              <a:ext uri="{FF2B5EF4-FFF2-40B4-BE49-F238E27FC236}">
                <a16:creationId xmlns:a16="http://schemas.microsoft.com/office/drawing/2014/main" id="{C5FE1131-4038-BD3A-8DD5-204779DE1F5F}"/>
              </a:ext>
            </a:extLst>
          </p:cNvPr>
          <p:cNvSpPr>
            <a:spLocks noGrp="1"/>
          </p:cNvSpPr>
          <p:nvPr>
            <p:ph type="sldNum" sz="quarter" idx="5"/>
          </p:nvPr>
        </p:nvSpPr>
        <p:spPr/>
        <p:txBody>
          <a:bodyPr/>
          <a:lstStyle/>
          <a:p>
            <a:pPr>
              <a:defRPr/>
            </a:pPr>
            <a:fld id="{7091D1AB-24F6-48F0-A15B-00F40EB78CCB}" type="slidenum">
              <a:rPr lang="en-GB" smtClean="0"/>
              <a:pPr>
                <a:defRPr/>
              </a:pPr>
              <a:t>52</a:t>
            </a:fld>
            <a:endParaRPr lang="en-GB"/>
          </a:p>
        </p:txBody>
      </p:sp>
    </p:spTree>
    <p:extLst>
      <p:ext uri="{BB962C8B-B14F-4D97-AF65-F5344CB8AC3E}">
        <p14:creationId xmlns:p14="http://schemas.microsoft.com/office/powerpoint/2010/main" val="19927490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So: if chromatic dragon eggs have twice the likelihood of hatching at time 1 compared to metallic dragons, they also have twice the likelihood at time 10</a:t>
            </a:r>
          </a:p>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54</a:t>
            </a:fld>
            <a:endParaRPr lang="en-GB"/>
          </a:p>
        </p:txBody>
      </p:sp>
    </p:spTree>
    <p:extLst>
      <p:ext uri="{BB962C8B-B14F-4D97-AF65-F5344CB8AC3E}">
        <p14:creationId xmlns:p14="http://schemas.microsoft.com/office/powerpoint/2010/main" val="362204988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799D2-4ADE-48FE-E71B-156DCDFF02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E139A-FEE9-8789-2437-A66F39AC1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ED3E6C-FC12-90C1-7E3E-1AF1D421A731}"/>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So: if chromatic dragon eggs have twice the likelihood of hatching at time 1 compared to metallic dragons, they also have twice the likelihood at time 10</a:t>
            </a:r>
          </a:p>
          <a:p>
            <a:endParaRPr lang="en-GB" dirty="0"/>
          </a:p>
        </p:txBody>
      </p:sp>
      <p:sp>
        <p:nvSpPr>
          <p:cNvPr id="4" name="Slide Number Placeholder 3">
            <a:extLst>
              <a:ext uri="{FF2B5EF4-FFF2-40B4-BE49-F238E27FC236}">
                <a16:creationId xmlns:a16="http://schemas.microsoft.com/office/drawing/2014/main" id="{9113C8C5-C984-28E2-6D0E-003B74F08634}"/>
              </a:ext>
            </a:extLst>
          </p:cNvPr>
          <p:cNvSpPr>
            <a:spLocks noGrp="1"/>
          </p:cNvSpPr>
          <p:nvPr>
            <p:ph type="sldNum" sz="quarter" idx="5"/>
          </p:nvPr>
        </p:nvSpPr>
        <p:spPr/>
        <p:txBody>
          <a:bodyPr/>
          <a:lstStyle/>
          <a:p>
            <a:pPr>
              <a:defRPr/>
            </a:pPr>
            <a:fld id="{7091D1AB-24F6-48F0-A15B-00F40EB78CCB}" type="slidenum">
              <a:rPr lang="en-GB" smtClean="0"/>
              <a:pPr>
                <a:defRPr/>
              </a:pPr>
              <a:t>55</a:t>
            </a:fld>
            <a:endParaRPr lang="en-GB"/>
          </a:p>
        </p:txBody>
      </p:sp>
    </p:spTree>
    <p:extLst>
      <p:ext uri="{BB962C8B-B14F-4D97-AF65-F5344CB8AC3E}">
        <p14:creationId xmlns:p14="http://schemas.microsoft.com/office/powerpoint/2010/main" val="1292227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FF39B-206C-2EDB-B253-7C39735E1E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2C7A30-2CBA-2494-0D89-E302BFB639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473615-AF01-01AE-B931-97B45BC41230}"/>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So: if chromatic dragon eggs have twice the likelihood of hatching at time 1 compared to metallic dragons, they also have twice the likelihood at time 10</a:t>
            </a:r>
          </a:p>
          <a:p>
            <a:endParaRPr lang="en-GB" dirty="0"/>
          </a:p>
        </p:txBody>
      </p:sp>
      <p:sp>
        <p:nvSpPr>
          <p:cNvPr id="4" name="Slide Number Placeholder 3">
            <a:extLst>
              <a:ext uri="{FF2B5EF4-FFF2-40B4-BE49-F238E27FC236}">
                <a16:creationId xmlns:a16="http://schemas.microsoft.com/office/drawing/2014/main" id="{3EEF1D32-083C-E649-1F7A-D2C163A84478}"/>
              </a:ext>
            </a:extLst>
          </p:cNvPr>
          <p:cNvSpPr>
            <a:spLocks noGrp="1"/>
          </p:cNvSpPr>
          <p:nvPr>
            <p:ph type="sldNum" sz="quarter" idx="5"/>
          </p:nvPr>
        </p:nvSpPr>
        <p:spPr/>
        <p:txBody>
          <a:bodyPr/>
          <a:lstStyle/>
          <a:p>
            <a:pPr>
              <a:defRPr/>
            </a:pPr>
            <a:fld id="{7091D1AB-24F6-48F0-A15B-00F40EB78CCB}" type="slidenum">
              <a:rPr lang="en-GB" smtClean="0"/>
              <a:pPr>
                <a:defRPr/>
              </a:pPr>
              <a:t>56</a:t>
            </a:fld>
            <a:endParaRPr lang="en-GB"/>
          </a:p>
        </p:txBody>
      </p:sp>
    </p:spTree>
    <p:extLst>
      <p:ext uri="{BB962C8B-B14F-4D97-AF65-F5344CB8AC3E}">
        <p14:creationId xmlns:p14="http://schemas.microsoft.com/office/powerpoint/2010/main" val="3248707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2B37E-95CB-915A-B65D-F660B1F2B8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83285F-094A-8828-9A70-A364DB6ABC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14FEE-2D37-7564-EF88-DE59E75AC3A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Crossed – one group starts with a higher hazard/rate of event, and then at some point it flips</a:t>
            </a:r>
          </a:p>
        </p:txBody>
      </p:sp>
      <p:sp>
        <p:nvSpPr>
          <p:cNvPr id="4" name="Slide Number Placeholder 3">
            <a:extLst>
              <a:ext uri="{FF2B5EF4-FFF2-40B4-BE49-F238E27FC236}">
                <a16:creationId xmlns:a16="http://schemas.microsoft.com/office/drawing/2014/main" id="{55AFDB34-BBEE-7B4D-4DC2-D60516A6CF8E}"/>
              </a:ext>
            </a:extLst>
          </p:cNvPr>
          <p:cNvSpPr>
            <a:spLocks noGrp="1"/>
          </p:cNvSpPr>
          <p:nvPr>
            <p:ph type="sldNum" sz="quarter" idx="5"/>
          </p:nvPr>
        </p:nvSpPr>
        <p:spPr/>
        <p:txBody>
          <a:bodyPr/>
          <a:lstStyle/>
          <a:p>
            <a:pPr>
              <a:defRPr/>
            </a:pPr>
            <a:fld id="{7091D1AB-24F6-48F0-A15B-00F40EB78CCB}" type="slidenum">
              <a:rPr lang="en-GB" smtClean="0"/>
              <a:pPr>
                <a:defRPr/>
              </a:pPr>
              <a:t>57</a:t>
            </a:fld>
            <a:endParaRPr lang="en-GB"/>
          </a:p>
        </p:txBody>
      </p:sp>
    </p:spTree>
    <p:extLst>
      <p:ext uri="{BB962C8B-B14F-4D97-AF65-F5344CB8AC3E}">
        <p14:creationId xmlns:p14="http://schemas.microsoft.com/office/powerpoint/2010/main" val="15324417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27601-39A5-9CAB-0383-32A7E7266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FED34C-E59F-985D-16BF-5E1ED8BBEE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87AC73-72A6-9C5C-D68F-AFDB03CBE07A}"/>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When the sample size is smaller, the staircase will look much less smooth</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So generally we have to be a bit more relaxed in those situations (like with checking diagnostic plots in regular linear models)</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78576A2-1A9A-7CF2-BE57-B9CB30B0A07E}"/>
              </a:ext>
            </a:extLst>
          </p:cNvPr>
          <p:cNvSpPr>
            <a:spLocks noGrp="1"/>
          </p:cNvSpPr>
          <p:nvPr>
            <p:ph type="sldNum" sz="quarter" idx="5"/>
          </p:nvPr>
        </p:nvSpPr>
        <p:spPr/>
        <p:txBody>
          <a:bodyPr/>
          <a:lstStyle/>
          <a:p>
            <a:pPr>
              <a:defRPr/>
            </a:pPr>
            <a:fld id="{7091D1AB-24F6-48F0-A15B-00F40EB78CCB}" type="slidenum">
              <a:rPr lang="en-GB" smtClean="0"/>
              <a:pPr>
                <a:defRPr/>
              </a:pPr>
              <a:t>58</a:t>
            </a:fld>
            <a:endParaRPr lang="en-GB"/>
          </a:p>
        </p:txBody>
      </p:sp>
    </p:spTree>
    <p:extLst>
      <p:ext uri="{BB962C8B-B14F-4D97-AF65-F5344CB8AC3E}">
        <p14:creationId xmlns:p14="http://schemas.microsoft.com/office/powerpoint/2010/main" val="102581881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5B20D-393B-59FD-6AB7-0EF675CB15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D49BB8-3D6D-65AD-E74F-036DF64C42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D32985-DE8D-8D9B-2A13-832E3BD2D5B3}"/>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When the sample size is smaller, the staircase will look much less smooth</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So generally we have to be a bit more relaxed in those situations (like with checking diagnostic plots in regular linear models)</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Remember: our assumption about proportional hazards is actually about the </a:t>
            </a:r>
            <a:r>
              <a:rPr lang="en-GB" b="1" dirty="0"/>
              <a:t>underlying survival curves in the population </a:t>
            </a:r>
            <a:r>
              <a:rPr lang="en-GB" b="0" dirty="0"/>
              <a:t>that generated the data</a:t>
            </a:r>
            <a:endParaRPr lang="en-GB" dirty="0"/>
          </a:p>
        </p:txBody>
      </p:sp>
      <p:sp>
        <p:nvSpPr>
          <p:cNvPr id="4" name="Slide Number Placeholder 3">
            <a:extLst>
              <a:ext uri="{FF2B5EF4-FFF2-40B4-BE49-F238E27FC236}">
                <a16:creationId xmlns:a16="http://schemas.microsoft.com/office/drawing/2014/main" id="{44F19963-7FC6-C48E-1B7B-80B783905B12}"/>
              </a:ext>
            </a:extLst>
          </p:cNvPr>
          <p:cNvSpPr>
            <a:spLocks noGrp="1"/>
          </p:cNvSpPr>
          <p:nvPr>
            <p:ph type="sldNum" sz="quarter" idx="5"/>
          </p:nvPr>
        </p:nvSpPr>
        <p:spPr/>
        <p:txBody>
          <a:bodyPr/>
          <a:lstStyle/>
          <a:p>
            <a:pPr>
              <a:defRPr/>
            </a:pPr>
            <a:fld id="{7091D1AB-24F6-48F0-A15B-00F40EB78CCB}" type="slidenum">
              <a:rPr lang="en-GB" smtClean="0"/>
              <a:pPr>
                <a:defRPr/>
              </a:pPr>
              <a:t>59</a:t>
            </a:fld>
            <a:endParaRPr lang="en-GB"/>
          </a:p>
        </p:txBody>
      </p:sp>
    </p:spTree>
    <p:extLst>
      <p:ext uri="{BB962C8B-B14F-4D97-AF65-F5344CB8AC3E}">
        <p14:creationId xmlns:p14="http://schemas.microsoft.com/office/powerpoint/2010/main" val="251292857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19FE0-74C7-12CA-7A9A-F1B9051D57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3A907B-707A-E70B-9568-EAEDD263E3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F78AFD-B691-032D-BD50-55C84FF84E93}"/>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When the sample size is smaller, the staircase will look much less smooth</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So generally we have to be a bit more relaxed in those situations (like with checking diagnostic plots in regular linear models)</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Remember: our assumption about proportional hazards is actually about the </a:t>
            </a:r>
            <a:r>
              <a:rPr lang="en-GB" b="1" dirty="0"/>
              <a:t>underlying survival curves in the population </a:t>
            </a:r>
            <a:r>
              <a:rPr lang="en-GB" b="0" dirty="0"/>
              <a:t>that generated the data</a:t>
            </a:r>
            <a:endParaRPr lang="en-GB" dirty="0"/>
          </a:p>
        </p:txBody>
      </p:sp>
      <p:sp>
        <p:nvSpPr>
          <p:cNvPr id="4" name="Slide Number Placeholder 3">
            <a:extLst>
              <a:ext uri="{FF2B5EF4-FFF2-40B4-BE49-F238E27FC236}">
                <a16:creationId xmlns:a16="http://schemas.microsoft.com/office/drawing/2014/main" id="{BE1A6A8F-0711-301D-08AF-41192EBEEDF7}"/>
              </a:ext>
            </a:extLst>
          </p:cNvPr>
          <p:cNvSpPr>
            <a:spLocks noGrp="1"/>
          </p:cNvSpPr>
          <p:nvPr>
            <p:ph type="sldNum" sz="quarter" idx="5"/>
          </p:nvPr>
        </p:nvSpPr>
        <p:spPr/>
        <p:txBody>
          <a:bodyPr/>
          <a:lstStyle/>
          <a:p>
            <a:pPr>
              <a:defRPr/>
            </a:pPr>
            <a:fld id="{7091D1AB-24F6-48F0-A15B-00F40EB78CCB}" type="slidenum">
              <a:rPr lang="en-GB" smtClean="0"/>
              <a:pPr>
                <a:defRPr/>
              </a:pPr>
              <a:t>60</a:t>
            </a:fld>
            <a:endParaRPr lang="en-GB"/>
          </a:p>
        </p:txBody>
      </p:sp>
    </p:spTree>
    <p:extLst>
      <p:ext uri="{BB962C8B-B14F-4D97-AF65-F5344CB8AC3E}">
        <p14:creationId xmlns:p14="http://schemas.microsoft.com/office/powerpoint/2010/main" val="370438008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Remember, proportional hazards relates to whether the predictor variable(s) have a constant effect on survival</a:t>
            </a:r>
          </a:p>
          <a:p>
            <a:r>
              <a:rPr lang="en-GB" dirty="0"/>
              <a:t>So we need to focus on the scale colour in this instance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64</a:t>
            </a:fld>
            <a:endParaRPr lang="en-GB"/>
          </a:p>
        </p:txBody>
      </p:sp>
    </p:spTree>
    <p:extLst>
      <p:ext uri="{BB962C8B-B14F-4D97-AF65-F5344CB8AC3E}">
        <p14:creationId xmlns:p14="http://schemas.microsoft.com/office/powerpoint/2010/main" val="11820027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the log rank test that we saw earlier</a:t>
            </a:r>
          </a:p>
          <a:p>
            <a:r>
              <a:rPr lang="en-GB" dirty="0"/>
              <a:t>But now we have more a sense of whether it’s appropriate, and how we might want to interpret it</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65</a:t>
            </a:fld>
            <a:endParaRPr lang="en-GB"/>
          </a:p>
        </p:txBody>
      </p:sp>
    </p:spTree>
    <p:extLst>
      <p:ext uri="{BB962C8B-B14F-4D97-AF65-F5344CB8AC3E}">
        <p14:creationId xmlns:p14="http://schemas.microsoft.com/office/powerpoint/2010/main" val="1905881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log-rank test can also be seen as an analogue for a one-way ANOVA</a:t>
            </a:r>
          </a:p>
          <a:p>
            <a:r>
              <a:rPr lang="en-GB" dirty="0"/>
              <a:t>You could have as many different strata/groups as you wanted</a:t>
            </a:r>
          </a:p>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66</a:t>
            </a:fld>
            <a:endParaRPr lang="en-GB"/>
          </a:p>
        </p:txBody>
      </p:sp>
    </p:spTree>
    <p:extLst>
      <p:ext uri="{BB962C8B-B14F-4D97-AF65-F5344CB8AC3E}">
        <p14:creationId xmlns:p14="http://schemas.microsoft.com/office/powerpoint/2010/main" val="605192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F238C-B695-84EB-319F-79A6F77B7B7C}"/>
            </a:ext>
          </a:extLst>
        </p:cNvPr>
        <p:cNvGrpSpPr/>
        <p:nvPr/>
      </p:nvGrpSpPr>
      <p:grpSpPr>
        <a:xfrm>
          <a:off x="0" y="0"/>
          <a:ext cx="0" cy="0"/>
          <a:chOff x="0" y="0"/>
          <a:chExt cx="0" cy="0"/>
        </a:xfrm>
      </p:grpSpPr>
      <p:sp>
        <p:nvSpPr>
          <p:cNvPr id="16385" name="Rectangle 7">
            <a:extLst>
              <a:ext uri="{FF2B5EF4-FFF2-40B4-BE49-F238E27FC236}">
                <a16:creationId xmlns:a16="http://schemas.microsoft.com/office/drawing/2014/main" id="{8082D298-798A-0DD5-8A1F-038215A10251}"/>
              </a:ext>
            </a:extLst>
          </p:cNvPr>
          <p:cNvSpPr>
            <a:spLocks noGrp="1" noChangeArrowheads="1"/>
          </p:cNvSpPr>
          <p:nvPr>
            <p:ph type="sldNum" sz="quarter" idx="5"/>
          </p:nvPr>
        </p:nvSpPr>
        <p:spPr>
          <a:noFill/>
        </p:spPr>
        <p:txBody>
          <a:bodyPr/>
          <a:lstStyle/>
          <a:p>
            <a:fld id="{12B26FF2-21A4-4D45-8B69-E1FBC758DB49}" type="slidenum">
              <a:rPr lang="en-GB" smtClean="0">
                <a:cs typeface="Arial" charset="0"/>
              </a:rPr>
              <a:pPr/>
              <a:t>68</a:t>
            </a:fld>
            <a:endParaRPr lang="en-GB">
              <a:cs typeface="Arial" charset="0"/>
            </a:endParaRPr>
          </a:p>
        </p:txBody>
      </p:sp>
      <p:sp>
        <p:nvSpPr>
          <p:cNvPr id="16386" name="Rectangle 2">
            <a:extLst>
              <a:ext uri="{FF2B5EF4-FFF2-40B4-BE49-F238E27FC236}">
                <a16:creationId xmlns:a16="http://schemas.microsoft.com/office/drawing/2014/main" id="{303DEC80-4869-B000-F976-DCD9C8DEA1F7}"/>
              </a:ext>
            </a:extLst>
          </p:cNvPr>
          <p:cNvSpPr>
            <a:spLocks noGrp="1" noRot="1" noChangeAspect="1" noChangeArrowheads="1" noTextEdit="1"/>
          </p:cNvSpPr>
          <p:nvPr>
            <p:ph type="sldImg"/>
          </p:nvPr>
        </p:nvSpPr>
        <p:spPr>
          <a:ln/>
        </p:spPr>
      </p:sp>
      <p:sp>
        <p:nvSpPr>
          <p:cNvPr id="16387" name="Rectangle 3">
            <a:extLst>
              <a:ext uri="{FF2B5EF4-FFF2-40B4-BE49-F238E27FC236}">
                <a16:creationId xmlns:a16="http://schemas.microsoft.com/office/drawing/2014/main" id="{F1FC89F2-7E42-D78A-9160-C082F5E0AFF4}"/>
              </a:ext>
            </a:extLst>
          </p:cNvPr>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268372436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Say we take a person, at random</a:t>
            </a:r>
          </a:p>
          <a:p>
            <a:r>
              <a:rPr lang="en-GB" dirty="0"/>
              <a:t>And we ask: what’s the risk/hazard of them experiencing the event right now, at a given point in time?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72</a:t>
            </a:fld>
            <a:endParaRPr lang="en-GB"/>
          </a:p>
        </p:txBody>
      </p:sp>
    </p:spTree>
    <p:extLst>
      <p:ext uri="{BB962C8B-B14F-4D97-AF65-F5344CB8AC3E}">
        <p14:creationId xmlns:p14="http://schemas.microsoft.com/office/powerpoint/2010/main" val="125179038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BB208-A890-E281-CCE9-1DF52BC22B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C050EB-859A-2976-D6B9-CF708D45C9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13AED5-9FDF-E196-675F-C575035FF919}"/>
              </a:ext>
            </a:extLst>
          </p:cNvPr>
          <p:cNvSpPr>
            <a:spLocks noGrp="1"/>
          </p:cNvSpPr>
          <p:nvPr>
            <p:ph type="body" idx="1"/>
          </p:nvPr>
        </p:nvSpPr>
        <p:spPr/>
        <p:txBody>
          <a:bodyPr/>
          <a:lstStyle/>
          <a:p>
            <a:r>
              <a:rPr lang="en-GB" dirty="0"/>
              <a:t>Say we take a person, at random</a:t>
            </a:r>
          </a:p>
          <a:p>
            <a:r>
              <a:rPr lang="en-GB" dirty="0"/>
              <a:t>And we ask: what’s the risk/hazard of them experiencing the event right now, at a given point in time?</a:t>
            </a:r>
          </a:p>
        </p:txBody>
      </p:sp>
      <p:sp>
        <p:nvSpPr>
          <p:cNvPr id="4" name="Slide Number Placeholder 3">
            <a:extLst>
              <a:ext uri="{FF2B5EF4-FFF2-40B4-BE49-F238E27FC236}">
                <a16:creationId xmlns:a16="http://schemas.microsoft.com/office/drawing/2014/main" id="{DBABB09A-1EA2-789B-BA73-00ACC101FE8C}"/>
              </a:ext>
            </a:extLst>
          </p:cNvPr>
          <p:cNvSpPr>
            <a:spLocks noGrp="1"/>
          </p:cNvSpPr>
          <p:nvPr>
            <p:ph type="sldNum" sz="quarter" idx="5"/>
          </p:nvPr>
        </p:nvSpPr>
        <p:spPr/>
        <p:txBody>
          <a:bodyPr/>
          <a:lstStyle/>
          <a:p>
            <a:pPr>
              <a:defRPr/>
            </a:pPr>
            <a:fld id="{7091D1AB-24F6-48F0-A15B-00F40EB78CCB}" type="slidenum">
              <a:rPr lang="en-GB" smtClean="0"/>
              <a:pPr>
                <a:defRPr/>
              </a:pPr>
              <a:t>73</a:t>
            </a:fld>
            <a:endParaRPr lang="en-GB"/>
          </a:p>
        </p:txBody>
      </p:sp>
    </p:spTree>
    <p:extLst>
      <p:ext uri="{BB962C8B-B14F-4D97-AF65-F5344CB8AC3E}">
        <p14:creationId xmlns:p14="http://schemas.microsoft.com/office/powerpoint/2010/main" val="3230027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58C0C-A579-AC78-2821-B2E8427734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3B34BD-00EF-9C15-9D14-AB70C86979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34678C-76D5-1862-23A3-3545042C9E6C}"/>
              </a:ext>
            </a:extLst>
          </p:cNvPr>
          <p:cNvSpPr>
            <a:spLocks noGrp="1"/>
          </p:cNvSpPr>
          <p:nvPr>
            <p:ph type="body" idx="1"/>
          </p:nvPr>
        </p:nvSpPr>
        <p:spPr/>
        <p:txBody>
          <a:bodyPr/>
          <a:lstStyle/>
          <a:p>
            <a:r>
              <a:rPr lang="en-GB" dirty="0"/>
              <a:t>Say we take a person, at random</a:t>
            </a:r>
          </a:p>
          <a:p>
            <a:r>
              <a:rPr lang="en-GB" dirty="0"/>
              <a:t>And we ask: what’s the risk/hazard of them experiencing the event right now, at a given point in time?</a:t>
            </a:r>
          </a:p>
        </p:txBody>
      </p:sp>
      <p:sp>
        <p:nvSpPr>
          <p:cNvPr id="4" name="Slide Number Placeholder 3">
            <a:extLst>
              <a:ext uri="{FF2B5EF4-FFF2-40B4-BE49-F238E27FC236}">
                <a16:creationId xmlns:a16="http://schemas.microsoft.com/office/drawing/2014/main" id="{3674E67A-22EC-C1DF-3D21-DDC522C3E63E}"/>
              </a:ext>
            </a:extLst>
          </p:cNvPr>
          <p:cNvSpPr>
            <a:spLocks noGrp="1"/>
          </p:cNvSpPr>
          <p:nvPr>
            <p:ph type="sldNum" sz="quarter" idx="5"/>
          </p:nvPr>
        </p:nvSpPr>
        <p:spPr/>
        <p:txBody>
          <a:bodyPr/>
          <a:lstStyle/>
          <a:p>
            <a:pPr>
              <a:defRPr/>
            </a:pPr>
            <a:fld id="{7091D1AB-24F6-48F0-A15B-00F40EB78CCB}" type="slidenum">
              <a:rPr lang="en-GB" smtClean="0"/>
              <a:pPr>
                <a:defRPr/>
              </a:pPr>
              <a:t>74</a:t>
            </a:fld>
            <a:endParaRPr lang="en-GB"/>
          </a:p>
        </p:txBody>
      </p:sp>
    </p:spTree>
    <p:extLst>
      <p:ext uri="{BB962C8B-B14F-4D97-AF65-F5344CB8AC3E}">
        <p14:creationId xmlns:p14="http://schemas.microsoft.com/office/powerpoint/2010/main" val="305378645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We can figure out the baseline by just looking at all the eggs averaged together</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75</a:t>
            </a:fld>
            <a:endParaRPr lang="en-GB"/>
          </a:p>
        </p:txBody>
      </p:sp>
    </p:spTree>
    <p:extLst>
      <p:ext uri="{BB962C8B-B14F-4D97-AF65-F5344CB8AC3E}">
        <p14:creationId xmlns:p14="http://schemas.microsoft.com/office/powerpoint/2010/main" val="369468510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That baseline hazard is effectively the “mean trend”, or the average trend</a:t>
            </a:r>
          </a:p>
          <a:p>
            <a:r>
              <a:rPr lang="en-GB" dirty="0"/>
              <a:t>It can vary over time in</a:t>
            </a:r>
          </a:p>
          <a:p>
            <a:endParaRPr lang="en-GB"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GB" b="1" dirty="0"/>
              <a:t>Constant</a:t>
            </a:r>
            <a:r>
              <a:rPr lang="en-GB" dirty="0"/>
              <a:t> – things with exponential lifetimes, e.g., a lightbulb that is equally likely to fail at any given time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76</a:t>
            </a:fld>
            <a:endParaRPr lang="en-GB"/>
          </a:p>
        </p:txBody>
      </p:sp>
    </p:spTree>
    <p:extLst>
      <p:ext uri="{BB962C8B-B14F-4D97-AF65-F5344CB8AC3E}">
        <p14:creationId xmlns:p14="http://schemas.microsoft.com/office/powerpoint/2010/main" val="7102637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F476A-6E7B-1A4C-157A-54C8612AA0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4B362F-D12C-6B95-BC19-FDE96DD826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9809CD-BE5F-700D-D434-D16BD01B68F0}"/>
              </a:ext>
            </a:extLst>
          </p:cNvPr>
          <p:cNvSpPr>
            <a:spLocks noGrp="1"/>
          </p:cNvSpPr>
          <p:nvPr>
            <p:ph type="body" idx="1"/>
          </p:nvPr>
        </p:nvSpPr>
        <p:spPr/>
        <p:txBody>
          <a:bodyPr/>
          <a:lstStyle/>
          <a:p>
            <a:r>
              <a:rPr lang="en-GB" dirty="0"/>
              <a:t>That baseline hazard is effectively the “mean trend”, or the average trend</a:t>
            </a:r>
          </a:p>
          <a:p>
            <a:r>
              <a:rPr lang="en-GB" dirty="0"/>
              <a:t>It can vary over time in different ways</a:t>
            </a:r>
          </a:p>
          <a:p>
            <a:endParaRPr lang="en-GB"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GB" b="1" dirty="0"/>
              <a:t>Decreasing</a:t>
            </a:r>
            <a:r>
              <a:rPr lang="en-GB" dirty="0"/>
              <a:t> – things less likely to wear with time, e.g., businesses become more stable the longer they are established for</a:t>
            </a:r>
          </a:p>
          <a:p>
            <a:endParaRPr lang="en-GB" dirty="0"/>
          </a:p>
        </p:txBody>
      </p:sp>
      <p:sp>
        <p:nvSpPr>
          <p:cNvPr id="4" name="Slide Number Placeholder 3">
            <a:extLst>
              <a:ext uri="{FF2B5EF4-FFF2-40B4-BE49-F238E27FC236}">
                <a16:creationId xmlns:a16="http://schemas.microsoft.com/office/drawing/2014/main" id="{0A8B25A0-D80D-9378-4444-7B4C25CA7A59}"/>
              </a:ext>
            </a:extLst>
          </p:cNvPr>
          <p:cNvSpPr>
            <a:spLocks noGrp="1"/>
          </p:cNvSpPr>
          <p:nvPr>
            <p:ph type="sldNum" sz="quarter" idx="5"/>
          </p:nvPr>
        </p:nvSpPr>
        <p:spPr/>
        <p:txBody>
          <a:bodyPr/>
          <a:lstStyle/>
          <a:p>
            <a:pPr>
              <a:defRPr/>
            </a:pPr>
            <a:fld id="{7091D1AB-24F6-48F0-A15B-00F40EB78CCB}" type="slidenum">
              <a:rPr lang="en-GB" smtClean="0"/>
              <a:pPr>
                <a:defRPr/>
              </a:pPr>
              <a:t>77</a:t>
            </a:fld>
            <a:endParaRPr lang="en-GB"/>
          </a:p>
        </p:txBody>
      </p:sp>
    </p:spTree>
    <p:extLst>
      <p:ext uri="{BB962C8B-B14F-4D97-AF65-F5344CB8AC3E}">
        <p14:creationId xmlns:p14="http://schemas.microsoft.com/office/powerpoint/2010/main" val="3521414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BF097-8557-33B3-9A95-44BF8E5DCA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33CDCC-EBBD-DC30-B3D3-293735BD0E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8B3090-57E6-2E3B-4606-F40C2D2E0F46}"/>
              </a:ext>
            </a:extLst>
          </p:cNvPr>
          <p:cNvSpPr>
            <a:spLocks noGrp="1"/>
          </p:cNvSpPr>
          <p:nvPr>
            <p:ph type="body" idx="1"/>
          </p:nvPr>
        </p:nvSpPr>
        <p:spPr/>
        <p:txBody>
          <a:bodyPr/>
          <a:lstStyle/>
          <a:p>
            <a:r>
              <a:rPr lang="en-GB" dirty="0"/>
              <a:t>That baseline hazard is effectively the “mean trend”, or the average trend</a:t>
            </a:r>
          </a:p>
          <a:p>
            <a:r>
              <a:rPr lang="en-GB" dirty="0"/>
              <a:t>It can vary over time in different ways</a:t>
            </a:r>
          </a:p>
          <a:p>
            <a:endParaRPr lang="en-GB"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GB" b="1" dirty="0"/>
              <a:t>Increasing</a:t>
            </a:r>
            <a:r>
              <a:rPr lang="en-GB" dirty="0"/>
              <a:t> – things are more likely to wear with time, e.g., mechanical parts</a:t>
            </a:r>
          </a:p>
          <a:p>
            <a:endParaRPr lang="en-GB" dirty="0"/>
          </a:p>
        </p:txBody>
      </p:sp>
      <p:sp>
        <p:nvSpPr>
          <p:cNvPr id="4" name="Slide Number Placeholder 3">
            <a:extLst>
              <a:ext uri="{FF2B5EF4-FFF2-40B4-BE49-F238E27FC236}">
                <a16:creationId xmlns:a16="http://schemas.microsoft.com/office/drawing/2014/main" id="{6BD46C0D-5FAF-2E31-CA83-DE707DDCCC3E}"/>
              </a:ext>
            </a:extLst>
          </p:cNvPr>
          <p:cNvSpPr>
            <a:spLocks noGrp="1"/>
          </p:cNvSpPr>
          <p:nvPr>
            <p:ph type="sldNum" sz="quarter" idx="5"/>
          </p:nvPr>
        </p:nvSpPr>
        <p:spPr/>
        <p:txBody>
          <a:bodyPr/>
          <a:lstStyle/>
          <a:p>
            <a:pPr>
              <a:defRPr/>
            </a:pPr>
            <a:fld id="{7091D1AB-24F6-48F0-A15B-00F40EB78CCB}" type="slidenum">
              <a:rPr lang="en-GB" smtClean="0"/>
              <a:pPr>
                <a:defRPr/>
              </a:pPr>
              <a:t>78</a:t>
            </a:fld>
            <a:endParaRPr lang="en-GB"/>
          </a:p>
        </p:txBody>
      </p:sp>
    </p:spTree>
    <p:extLst>
      <p:ext uri="{BB962C8B-B14F-4D97-AF65-F5344CB8AC3E}">
        <p14:creationId xmlns:p14="http://schemas.microsoft.com/office/powerpoint/2010/main" val="374549701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D21F7-59F4-5272-7957-5BBF8AB98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857D5F-1AD9-CABC-90B7-E11A9BB83D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82EE89-96E2-B154-B934-A70C83A557B8}"/>
              </a:ext>
            </a:extLst>
          </p:cNvPr>
          <p:cNvSpPr>
            <a:spLocks noGrp="1"/>
          </p:cNvSpPr>
          <p:nvPr>
            <p:ph type="body" idx="1"/>
          </p:nvPr>
        </p:nvSpPr>
        <p:spPr/>
        <p:txBody>
          <a:bodyPr/>
          <a:lstStyle/>
          <a:p>
            <a:r>
              <a:rPr lang="en-GB" dirty="0"/>
              <a:t>That baseline hazard is effectively the “mean trend”, or the average trend</a:t>
            </a:r>
          </a:p>
          <a:p>
            <a:r>
              <a:rPr lang="en-GB" dirty="0"/>
              <a:t>It can vary over time in different ways</a:t>
            </a:r>
          </a:p>
          <a:p>
            <a:endParaRPr lang="en-GB" dirty="0"/>
          </a:p>
          <a:p>
            <a:r>
              <a:rPr lang="en-GB" b="1" dirty="0"/>
              <a:t>Bathtub</a:t>
            </a:r>
            <a:r>
              <a:rPr lang="en-GB" dirty="0"/>
              <a:t> – high failure rates when young and old, e.g., humans</a:t>
            </a:r>
          </a:p>
          <a:p>
            <a:endParaRPr lang="en-GB" dirty="0"/>
          </a:p>
        </p:txBody>
      </p:sp>
      <p:sp>
        <p:nvSpPr>
          <p:cNvPr id="4" name="Slide Number Placeholder 3">
            <a:extLst>
              <a:ext uri="{FF2B5EF4-FFF2-40B4-BE49-F238E27FC236}">
                <a16:creationId xmlns:a16="http://schemas.microsoft.com/office/drawing/2014/main" id="{7F34176B-97C0-F4CA-D8AE-00C5AB7E95ED}"/>
              </a:ext>
            </a:extLst>
          </p:cNvPr>
          <p:cNvSpPr>
            <a:spLocks noGrp="1"/>
          </p:cNvSpPr>
          <p:nvPr>
            <p:ph type="sldNum" sz="quarter" idx="5"/>
          </p:nvPr>
        </p:nvSpPr>
        <p:spPr/>
        <p:txBody>
          <a:bodyPr/>
          <a:lstStyle/>
          <a:p>
            <a:pPr>
              <a:defRPr/>
            </a:pPr>
            <a:fld id="{7091D1AB-24F6-48F0-A15B-00F40EB78CCB}" type="slidenum">
              <a:rPr lang="en-GB" smtClean="0"/>
              <a:pPr>
                <a:defRPr/>
              </a:pPr>
              <a:t>79</a:t>
            </a:fld>
            <a:endParaRPr lang="en-GB"/>
          </a:p>
        </p:txBody>
      </p:sp>
    </p:spTree>
    <p:extLst>
      <p:ext uri="{BB962C8B-B14F-4D97-AF65-F5344CB8AC3E}">
        <p14:creationId xmlns:p14="http://schemas.microsoft.com/office/powerpoint/2010/main" val="29162485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We’re now going to add a continuous predictor: the weight/size</a:t>
            </a:r>
          </a:p>
          <a:p>
            <a:endParaRPr lang="en-GB" dirty="0"/>
          </a:p>
          <a:p>
            <a:r>
              <a:rPr lang="en-GB" dirty="0"/>
              <a:t>And this allows us to ask questions about the </a:t>
            </a:r>
          </a:p>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80</a:t>
            </a:fld>
            <a:endParaRPr lang="en-GB"/>
          </a:p>
        </p:txBody>
      </p:sp>
    </p:spTree>
    <p:extLst>
      <p:ext uri="{BB962C8B-B14F-4D97-AF65-F5344CB8AC3E}">
        <p14:creationId xmlns:p14="http://schemas.microsoft.com/office/powerpoint/2010/main" val="181138288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5CA88-8F97-6649-6259-CA8FBA2A32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4BB7E1-33D9-ABC2-B23B-82BC80B689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AD9A2A-E017-4DB2-7BFD-192161E82083}"/>
              </a:ext>
            </a:extLst>
          </p:cNvPr>
          <p:cNvSpPr>
            <a:spLocks noGrp="1"/>
          </p:cNvSpPr>
          <p:nvPr>
            <p:ph type="body" idx="1"/>
          </p:nvPr>
        </p:nvSpPr>
        <p:spPr/>
        <p:txBody>
          <a:bodyPr/>
          <a:lstStyle/>
          <a:p>
            <a:r>
              <a:rPr lang="en-GB" dirty="0"/>
              <a:t>Let’s assume that dragon egg hatching has an increasing baseline hazard function</a:t>
            </a:r>
          </a:p>
        </p:txBody>
      </p:sp>
      <p:sp>
        <p:nvSpPr>
          <p:cNvPr id="4" name="Slide Number Placeholder 3">
            <a:extLst>
              <a:ext uri="{FF2B5EF4-FFF2-40B4-BE49-F238E27FC236}">
                <a16:creationId xmlns:a16="http://schemas.microsoft.com/office/drawing/2014/main" id="{DD15F12A-89CD-B161-7E78-49C010174356}"/>
              </a:ext>
            </a:extLst>
          </p:cNvPr>
          <p:cNvSpPr>
            <a:spLocks noGrp="1"/>
          </p:cNvSpPr>
          <p:nvPr>
            <p:ph type="sldNum" sz="quarter" idx="5"/>
          </p:nvPr>
        </p:nvSpPr>
        <p:spPr/>
        <p:txBody>
          <a:bodyPr/>
          <a:lstStyle/>
          <a:p>
            <a:pPr>
              <a:defRPr/>
            </a:pPr>
            <a:fld id="{7091D1AB-24F6-48F0-A15B-00F40EB78CCB}" type="slidenum">
              <a:rPr lang="en-GB" smtClean="0"/>
              <a:pPr>
                <a:defRPr/>
              </a:pPr>
              <a:t>81</a:t>
            </a:fld>
            <a:endParaRPr lang="en-GB"/>
          </a:p>
        </p:txBody>
      </p:sp>
    </p:spTree>
    <p:extLst>
      <p:ext uri="{BB962C8B-B14F-4D97-AF65-F5344CB8AC3E}">
        <p14:creationId xmlns:p14="http://schemas.microsoft.com/office/powerpoint/2010/main" val="136052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F2192-5C02-B649-96A7-804DB659FC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344B23-7EC0-A0B1-A0D9-83A7D90A14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8BF070-47CD-2AAD-7E8F-D12F7C2A864A}"/>
              </a:ext>
            </a:extLst>
          </p:cNvPr>
          <p:cNvSpPr>
            <a:spLocks noGrp="1"/>
          </p:cNvSpPr>
          <p:nvPr>
            <p:ph type="body" idx="1"/>
          </p:nvPr>
        </p:nvSpPr>
        <p:spPr/>
        <p:txBody>
          <a:bodyPr/>
          <a:lstStyle/>
          <a:p>
            <a:r>
              <a:rPr lang="en-GB" dirty="0"/>
              <a:t>Now, we can look at how the weight of the egg </a:t>
            </a:r>
            <a:r>
              <a:rPr lang="en-GB" b="1" dirty="0"/>
              <a:t>affects that baseline</a:t>
            </a:r>
            <a:endParaRPr lang="en-GB" dirty="0"/>
          </a:p>
        </p:txBody>
      </p:sp>
      <p:sp>
        <p:nvSpPr>
          <p:cNvPr id="4" name="Slide Number Placeholder 3">
            <a:extLst>
              <a:ext uri="{FF2B5EF4-FFF2-40B4-BE49-F238E27FC236}">
                <a16:creationId xmlns:a16="http://schemas.microsoft.com/office/drawing/2014/main" id="{31D13768-D9BF-9559-E6CA-371A9B4B268E}"/>
              </a:ext>
            </a:extLst>
          </p:cNvPr>
          <p:cNvSpPr>
            <a:spLocks noGrp="1"/>
          </p:cNvSpPr>
          <p:nvPr>
            <p:ph type="sldNum" sz="quarter" idx="5"/>
          </p:nvPr>
        </p:nvSpPr>
        <p:spPr/>
        <p:txBody>
          <a:bodyPr/>
          <a:lstStyle/>
          <a:p>
            <a:pPr>
              <a:defRPr/>
            </a:pPr>
            <a:fld id="{7091D1AB-24F6-48F0-A15B-00F40EB78CCB}" type="slidenum">
              <a:rPr lang="en-GB" smtClean="0"/>
              <a:pPr>
                <a:defRPr/>
              </a:pPr>
              <a:t>82</a:t>
            </a:fld>
            <a:endParaRPr lang="en-GB"/>
          </a:p>
        </p:txBody>
      </p:sp>
    </p:spTree>
    <p:extLst>
      <p:ext uri="{BB962C8B-B14F-4D97-AF65-F5344CB8AC3E}">
        <p14:creationId xmlns:p14="http://schemas.microsoft.com/office/powerpoint/2010/main" val="216768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06BE7-39EF-1404-DEF0-34A2C3510D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CE88A0-1ED0-09DE-A2BF-2913FBC26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95C15D-B910-06BF-99C1-4FFD966B6AA9}"/>
              </a:ext>
            </a:extLst>
          </p:cNvPr>
          <p:cNvSpPr>
            <a:spLocks noGrp="1"/>
          </p:cNvSpPr>
          <p:nvPr>
            <p:ph type="body" idx="1"/>
          </p:nvPr>
        </p:nvSpPr>
        <p:spPr/>
        <p:txBody>
          <a:bodyPr/>
          <a:lstStyle/>
          <a:p>
            <a:r>
              <a:rPr lang="en-GB" dirty="0"/>
              <a:t>This is analogous to how, in a simple linear regression, the beta coefficient (gradient) tells us</a:t>
            </a:r>
          </a:p>
        </p:txBody>
      </p:sp>
      <p:sp>
        <p:nvSpPr>
          <p:cNvPr id="4" name="Slide Number Placeholder 3">
            <a:extLst>
              <a:ext uri="{FF2B5EF4-FFF2-40B4-BE49-F238E27FC236}">
                <a16:creationId xmlns:a16="http://schemas.microsoft.com/office/drawing/2014/main" id="{763DFAAD-D4F0-03D7-1917-93BEDE739FD1}"/>
              </a:ext>
            </a:extLst>
          </p:cNvPr>
          <p:cNvSpPr>
            <a:spLocks noGrp="1"/>
          </p:cNvSpPr>
          <p:nvPr>
            <p:ph type="sldNum" sz="quarter" idx="5"/>
          </p:nvPr>
        </p:nvSpPr>
        <p:spPr/>
        <p:txBody>
          <a:bodyPr/>
          <a:lstStyle/>
          <a:p>
            <a:pPr>
              <a:defRPr/>
            </a:pPr>
            <a:fld id="{7091D1AB-24F6-48F0-A15B-00F40EB78CCB}" type="slidenum">
              <a:rPr lang="en-GB" smtClean="0"/>
              <a:pPr>
                <a:defRPr/>
              </a:pPr>
              <a:t>83</a:t>
            </a:fld>
            <a:endParaRPr lang="en-GB"/>
          </a:p>
        </p:txBody>
      </p:sp>
    </p:spTree>
    <p:extLst>
      <p:ext uri="{BB962C8B-B14F-4D97-AF65-F5344CB8AC3E}">
        <p14:creationId xmlns:p14="http://schemas.microsoft.com/office/powerpoint/2010/main" val="34857024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D91C1-9080-9B29-2BFA-DBC5D9DA1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8DE15B-12AA-D99F-9B53-5127279A0B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8E0561-333C-422C-9937-3A31ED1C5E7B}"/>
              </a:ext>
            </a:extLst>
          </p:cNvPr>
          <p:cNvSpPr>
            <a:spLocks noGrp="1"/>
          </p:cNvSpPr>
          <p:nvPr>
            <p:ph type="body" idx="1"/>
          </p:nvPr>
        </p:nvSpPr>
        <p:spPr/>
        <p:txBody>
          <a:bodyPr/>
          <a:lstStyle/>
          <a:p>
            <a:r>
              <a:rPr lang="en-GB" dirty="0"/>
              <a:t>This is analogous to how, in a simple linear regression, the beta coefficient (gradient) tells us</a:t>
            </a:r>
          </a:p>
        </p:txBody>
      </p:sp>
      <p:sp>
        <p:nvSpPr>
          <p:cNvPr id="4" name="Slide Number Placeholder 3">
            <a:extLst>
              <a:ext uri="{FF2B5EF4-FFF2-40B4-BE49-F238E27FC236}">
                <a16:creationId xmlns:a16="http://schemas.microsoft.com/office/drawing/2014/main" id="{9467A337-EB8A-30DE-7E34-E90D797F7803}"/>
              </a:ext>
            </a:extLst>
          </p:cNvPr>
          <p:cNvSpPr>
            <a:spLocks noGrp="1"/>
          </p:cNvSpPr>
          <p:nvPr>
            <p:ph type="sldNum" sz="quarter" idx="5"/>
          </p:nvPr>
        </p:nvSpPr>
        <p:spPr/>
        <p:txBody>
          <a:bodyPr/>
          <a:lstStyle/>
          <a:p>
            <a:pPr>
              <a:defRPr/>
            </a:pPr>
            <a:fld id="{7091D1AB-24F6-48F0-A15B-00F40EB78CCB}" type="slidenum">
              <a:rPr lang="en-GB" smtClean="0"/>
              <a:pPr>
                <a:defRPr/>
              </a:pPr>
              <a:t>84</a:t>
            </a:fld>
            <a:endParaRPr lang="en-GB"/>
          </a:p>
        </p:txBody>
      </p:sp>
    </p:spTree>
    <p:extLst>
      <p:ext uri="{BB962C8B-B14F-4D97-AF65-F5344CB8AC3E}">
        <p14:creationId xmlns:p14="http://schemas.microsoft.com/office/powerpoint/2010/main" val="41325850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94E2C-9FAE-FC4A-9EFF-2E3A3E619C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73DB9-0E49-98F4-0C4A-14D4BE089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F56693-31D8-4114-FAFE-F8786C7F38AF}"/>
              </a:ext>
            </a:extLst>
          </p:cNvPr>
          <p:cNvSpPr>
            <a:spLocks noGrp="1"/>
          </p:cNvSpPr>
          <p:nvPr>
            <p:ph type="body" idx="1"/>
          </p:nvPr>
        </p:nvSpPr>
        <p:spPr/>
        <p:txBody>
          <a:bodyPr/>
          <a:lstStyle/>
          <a:p>
            <a:r>
              <a:rPr lang="en-GB" dirty="0"/>
              <a:t>This is analogous to how, in a simple linear regression, the beta coefficient (gradient) tells us</a:t>
            </a:r>
          </a:p>
        </p:txBody>
      </p:sp>
      <p:sp>
        <p:nvSpPr>
          <p:cNvPr id="4" name="Slide Number Placeholder 3">
            <a:extLst>
              <a:ext uri="{FF2B5EF4-FFF2-40B4-BE49-F238E27FC236}">
                <a16:creationId xmlns:a16="http://schemas.microsoft.com/office/drawing/2014/main" id="{7AB5BF27-5018-67C5-DFDB-04A12BD20218}"/>
              </a:ext>
            </a:extLst>
          </p:cNvPr>
          <p:cNvSpPr>
            <a:spLocks noGrp="1"/>
          </p:cNvSpPr>
          <p:nvPr>
            <p:ph type="sldNum" sz="quarter" idx="5"/>
          </p:nvPr>
        </p:nvSpPr>
        <p:spPr/>
        <p:txBody>
          <a:bodyPr/>
          <a:lstStyle/>
          <a:p>
            <a:pPr>
              <a:defRPr/>
            </a:pPr>
            <a:fld id="{7091D1AB-24F6-48F0-A15B-00F40EB78CCB}" type="slidenum">
              <a:rPr lang="en-GB" smtClean="0"/>
              <a:pPr>
                <a:defRPr/>
              </a:pPr>
              <a:t>85</a:t>
            </a:fld>
            <a:endParaRPr lang="en-GB"/>
          </a:p>
        </p:txBody>
      </p:sp>
    </p:spTree>
    <p:extLst>
      <p:ext uri="{BB962C8B-B14F-4D97-AF65-F5344CB8AC3E}">
        <p14:creationId xmlns:p14="http://schemas.microsoft.com/office/powerpoint/2010/main" val="68764607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944AA-FBBD-B749-4BF7-86A7F54617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0B3C-D07A-D733-A421-0C8086AF99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2129D9-E1BE-6056-BFBF-929C6FDC84CD}"/>
              </a:ext>
            </a:extLst>
          </p:cNvPr>
          <p:cNvSpPr>
            <a:spLocks noGrp="1"/>
          </p:cNvSpPr>
          <p:nvPr>
            <p:ph type="body" idx="1"/>
          </p:nvPr>
        </p:nvSpPr>
        <p:spPr/>
        <p:txBody>
          <a:bodyPr/>
          <a:lstStyle/>
          <a:p>
            <a:r>
              <a:rPr lang="en-GB" dirty="0"/>
              <a:t>This is analogous to how, in a simple linear regression, the beta coefficient (gradient) tells us</a:t>
            </a:r>
          </a:p>
        </p:txBody>
      </p:sp>
      <p:sp>
        <p:nvSpPr>
          <p:cNvPr id="4" name="Slide Number Placeholder 3">
            <a:extLst>
              <a:ext uri="{FF2B5EF4-FFF2-40B4-BE49-F238E27FC236}">
                <a16:creationId xmlns:a16="http://schemas.microsoft.com/office/drawing/2014/main" id="{3805CC41-B7E0-AEB5-6FEE-7EA9F64097A1}"/>
              </a:ext>
            </a:extLst>
          </p:cNvPr>
          <p:cNvSpPr>
            <a:spLocks noGrp="1"/>
          </p:cNvSpPr>
          <p:nvPr>
            <p:ph type="sldNum" sz="quarter" idx="5"/>
          </p:nvPr>
        </p:nvSpPr>
        <p:spPr/>
        <p:txBody>
          <a:bodyPr/>
          <a:lstStyle/>
          <a:p>
            <a:pPr>
              <a:defRPr/>
            </a:pPr>
            <a:fld id="{7091D1AB-24F6-48F0-A15B-00F40EB78CCB}" type="slidenum">
              <a:rPr lang="en-GB" smtClean="0"/>
              <a:pPr>
                <a:defRPr/>
              </a:pPr>
              <a:t>86</a:t>
            </a:fld>
            <a:endParaRPr lang="en-GB"/>
          </a:p>
        </p:txBody>
      </p:sp>
    </p:spTree>
    <p:extLst>
      <p:ext uri="{BB962C8B-B14F-4D97-AF65-F5344CB8AC3E}">
        <p14:creationId xmlns:p14="http://schemas.microsoft.com/office/powerpoint/2010/main" val="245558295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kern="1200" dirty="0">
                <a:solidFill>
                  <a:schemeClr val="tx1"/>
                </a:solidFill>
                <a:latin typeface="Arial" charset="0"/>
                <a:ea typeface="+mn-ea"/>
                <a:cs typeface="+mn-cs"/>
              </a:rPr>
              <a:t>We use the </a:t>
            </a:r>
            <a:r>
              <a:rPr lang="en-US" sz="1200" i="1" kern="1200" dirty="0">
                <a:solidFill>
                  <a:schemeClr val="tx1"/>
                </a:solidFill>
                <a:latin typeface="Arial" charset="0"/>
                <a:ea typeface="+mn-ea"/>
                <a:cs typeface="+mn-cs"/>
              </a:rPr>
              <a:t>exponential</a:t>
            </a:r>
            <a:r>
              <a:rPr lang="en-US" sz="1200" kern="1200" dirty="0">
                <a:solidFill>
                  <a:schemeClr val="tx1"/>
                </a:solidFill>
                <a:latin typeface="Arial" charset="0"/>
                <a:ea typeface="+mn-ea"/>
                <a:cs typeface="+mn-cs"/>
              </a:rPr>
              <a:t> of this linear equation for maths reasons that you do not need to know</a:t>
            </a:r>
          </a:p>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91</a:t>
            </a:fld>
            <a:endParaRPr lang="en-GB"/>
          </a:p>
        </p:txBody>
      </p:sp>
    </p:spTree>
    <p:extLst>
      <p:ext uri="{BB962C8B-B14F-4D97-AF65-F5344CB8AC3E}">
        <p14:creationId xmlns:p14="http://schemas.microsoft.com/office/powerpoint/2010/main" val="52565123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97</a:t>
            </a:fld>
            <a:endParaRPr lang="en-GB"/>
          </a:p>
        </p:txBody>
      </p:sp>
    </p:spTree>
    <p:extLst>
      <p:ext uri="{BB962C8B-B14F-4D97-AF65-F5344CB8AC3E}">
        <p14:creationId xmlns:p14="http://schemas.microsoft.com/office/powerpoint/2010/main" val="362438396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Earlier we had the example of customers cancelling their streaming subscription</a:t>
            </a:r>
          </a:p>
          <a:p>
            <a:endParaRPr lang="en-GB" dirty="0"/>
          </a:p>
          <a:p>
            <a:r>
              <a:rPr lang="en-GB" dirty="0"/>
              <a:t>And also the example of birds migrating out of the study area</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98</a:t>
            </a:fld>
            <a:endParaRPr lang="en-GB"/>
          </a:p>
        </p:txBody>
      </p:sp>
    </p:spTree>
    <p:extLst>
      <p:ext uri="{BB962C8B-B14F-4D97-AF65-F5344CB8AC3E}">
        <p14:creationId xmlns:p14="http://schemas.microsoft.com/office/powerpoint/2010/main" val="194231086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B1FDA-7AAC-9308-072A-DFCB9CAC887D}"/>
            </a:ext>
          </a:extLst>
        </p:cNvPr>
        <p:cNvGrpSpPr/>
        <p:nvPr/>
      </p:nvGrpSpPr>
      <p:grpSpPr>
        <a:xfrm>
          <a:off x="0" y="0"/>
          <a:ext cx="0" cy="0"/>
          <a:chOff x="0" y="0"/>
          <a:chExt cx="0" cy="0"/>
        </a:xfrm>
      </p:grpSpPr>
      <p:sp>
        <p:nvSpPr>
          <p:cNvPr id="16385" name="Rectangle 7">
            <a:extLst>
              <a:ext uri="{FF2B5EF4-FFF2-40B4-BE49-F238E27FC236}">
                <a16:creationId xmlns:a16="http://schemas.microsoft.com/office/drawing/2014/main" id="{9D4C8C92-629E-2862-0F26-76A51DE34B95}"/>
              </a:ext>
            </a:extLst>
          </p:cNvPr>
          <p:cNvSpPr>
            <a:spLocks noGrp="1" noChangeArrowheads="1"/>
          </p:cNvSpPr>
          <p:nvPr>
            <p:ph type="sldNum" sz="quarter" idx="5"/>
          </p:nvPr>
        </p:nvSpPr>
        <p:spPr>
          <a:noFill/>
        </p:spPr>
        <p:txBody>
          <a:bodyPr/>
          <a:lstStyle/>
          <a:p>
            <a:fld id="{12B26FF2-21A4-4D45-8B69-E1FBC758DB49}" type="slidenum">
              <a:rPr lang="en-GB" smtClean="0">
                <a:cs typeface="Arial" charset="0"/>
              </a:rPr>
              <a:pPr/>
              <a:t>100</a:t>
            </a:fld>
            <a:endParaRPr lang="en-GB">
              <a:cs typeface="Arial" charset="0"/>
            </a:endParaRPr>
          </a:p>
        </p:txBody>
      </p:sp>
      <p:sp>
        <p:nvSpPr>
          <p:cNvPr id="16386" name="Rectangle 2">
            <a:extLst>
              <a:ext uri="{FF2B5EF4-FFF2-40B4-BE49-F238E27FC236}">
                <a16:creationId xmlns:a16="http://schemas.microsoft.com/office/drawing/2014/main" id="{7D8EEA7D-BBB0-B053-E8BE-DB0E7B50DCA6}"/>
              </a:ext>
            </a:extLst>
          </p:cNvPr>
          <p:cNvSpPr>
            <a:spLocks noGrp="1" noRot="1" noChangeAspect="1" noChangeArrowheads="1" noTextEdit="1"/>
          </p:cNvSpPr>
          <p:nvPr>
            <p:ph type="sldImg"/>
          </p:nvPr>
        </p:nvSpPr>
        <p:spPr>
          <a:ln/>
        </p:spPr>
      </p:sp>
      <p:sp>
        <p:nvSpPr>
          <p:cNvPr id="16387" name="Rectangle 3">
            <a:extLst>
              <a:ext uri="{FF2B5EF4-FFF2-40B4-BE49-F238E27FC236}">
                <a16:creationId xmlns:a16="http://schemas.microsoft.com/office/drawing/2014/main" id="{6277B0DA-09FF-F512-CC08-0524CBFA4D73}"/>
              </a:ext>
            </a:extLst>
          </p:cNvPr>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101731647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bwMode="auto">
      <p:bgPr>
        <a:blipFill dpi="0" rotWithShape="0">
          <a:blip r:embed="rId2">
            <a:lum/>
          </a:blip>
          <a:srcRect/>
          <a:stretch>
            <a:fillRect/>
          </a:stretch>
        </a:blip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9F6CCC-1102-65CA-5EDD-A85EE027AD7C}"/>
              </a:ext>
            </a:extLst>
          </p:cNvPr>
          <p:cNvSpPr>
            <a:spLocks noGrp="1"/>
          </p:cNvSpPr>
          <p:nvPr>
            <p:ph type="body" sz="quarter" idx="11"/>
          </p:nvPr>
        </p:nvSpPr>
        <p:spPr>
          <a:xfrm>
            <a:off x="682624" y="2060645"/>
            <a:ext cx="7775575" cy="665163"/>
          </a:xfrm>
        </p:spPr>
        <p:txBody>
          <a:bodyPr/>
          <a:lstStyle>
            <a:lvl1pPr marL="0" indent="0">
              <a:buNone/>
              <a:defRPr sz="3500" b="1">
                <a:solidFill>
                  <a:schemeClr val="bg1"/>
                </a:solidFill>
              </a:defRPr>
            </a:lvl1pPr>
          </a:lstStyle>
          <a:p>
            <a:pPr lvl="0"/>
            <a:endParaRPr lang="en-GB" dirty="0"/>
          </a:p>
        </p:txBody>
      </p:sp>
      <p:sp>
        <p:nvSpPr>
          <p:cNvPr id="4" name="Rectangle 13"/>
          <p:cNvSpPr>
            <a:spLocks noChangeArrowheads="1"/>
          </p:cNvSpPr>
          <p:nvPr/>
        </p:nvSpPr>
        <p:spPr bwMode="auto">
          <a:xfrm>
            <a:off x="0" y="5365750"/>
            <a:ext cx="9140825" cy="665163"/>
          </a:xfrm>
          <a:prstGeom prst="rect">
            <a:avLst/>
          </a:prstGeom>
          <a:solidFill>
            <a:srgbClr val="003E72"/>
          </a:solidFill>
          <a:ln w="127">
            <a:noFill/>
            <a:miter lim="800000"/>
            <a:headEnd/>
            <a:tailEnd/>
          </a:ln>
          <a:effectLst/>
        </p:spPr>
        <p:txBody>
          <a:bodyPr wrap="none" anchor="ctr"/>
          <a:lstStyle/>
          <a:p>
            <a:pPr>
              <a:defRPr/>
            </a:pPr>
            <a:endParaRPr lang="en-GB">
              <a:cs typeface="+mn-cs"/>
            </a:endParaRPr>
          </a:p>
        </p:txBody>
      </p:sp>
      <p:sp>
        <p:nvSpPr>
          <p:cNvPr id="5" name="Rectangle 14"/>
          <p:cNvSpPr>
            <a:spLocks noChangeArrowheads="1"/>
          </p:cNvSpPr>
          <p:nvPr/>
        </p:nvSpPr>
        <p:spPr bwMode="auto">
          <a:xfrm>
            <a:off x="0" y="6030913"/>
            <a:ext cx="9140825" cy="173037"/>
          </a:xfrm>
          <a:prstGeom prst="rect">
            <a:avLst/>
          </a:prstGeom>
          <a:solidFill>
            <a:srgbClr val="6AADE4"/>
          </a:solidFill>
          <a:ln w="127">
            <a:noFill/>
            <a:miter lim="800000"/>
            <a:headEnd/>
            <a:tailEnd/>
          </a:ln>
          <a:effectLst/>
        </p:spPr>
        <p:txBody>
          <a:bodyPr wrap="none" anchor="ctr"/>
          <a:lstStyle/>
          <a:p>
            <a:pPr>
              <a:defRPr/>
            </a:pPr>
            <a:endParaRPr lang="en-GB">
              <a:cs typeface="+mn-cs"/>
            </a:endParaRPr>
          </a:p>
        </p:txBody>
      </p:sp>
      <p:sp>
        <p:nvSpPr>
          <p:cNvPr id="6" name="Rectangle 10"/>
          <p:cNvSpPr>
            <a:spLocks noGrp="1" noChangeArrowheads="1"/>
          </p:cNvSpPr>
          <p:nvPr>
            <p:ph type="sldNum" sz="quarter" idx="10"/>
          </p:nvPr>
        </p:nvSpPr>
        <p:spPr>
          <a:xfrm>
            <a:off x="7862888" y="6448425"/>
            <a:ext cx="900112" cy="179388"/>
          </a:xfrm>
        </p:spPr>
        <p:txBody>
          <a:bodyPr/>
          <a:lstStyle>
            <a:lvl1pPr>
              <a:defRPr>
                <a:solidFill>
                  <a:schemeClr val="tx1"/>
                </a:solidFill>
              </a:defRPr>
            </a:lvl1pPr>
          </a:lstStyle>
          <a:p>
            <a:pPr>
              <a:defRPr/>
            </a:pPr>
            <a:fld id="{E08F0ED0-70FD-4BCE-966F-358F104CE5BB}" type="slidenum">
              <a:rPr lang="en-GB"/>
              <a:pPr>
                <a:defRPr/>
              </a:pPr>
              <a:t>‹#›</a:t>
            </a:fld>
            <a:endParaRPr lang="en-GB"/>
          </a:p>
        </p:txBody>
      </p:sp>
      <p:sp>
        <p:nvSpPr>
          <p:cNvPr id="2" name="Rectangle 3">
            <a:extLst>
              <a:ext uri="{FF2B5EF4-FFF2-40B4-BE49-F238E27FC236}">
                <a16:creationId xmlns:a16="http://schemas.microsoft.com/office/drawing/2014/main" id="{7379F852-FE1F-9380-F759-F06FE95A8880}"/>
              </a:ext>
            </a:extLst>
          </p:cNvPr>
          <p:cNvSpPr txBox="1">
            <a:spLocks noChangeArrowheads="1"/>
          </p:cNvSpPr>
          <p:nvPr userDrawn="1"/>
        </p:nvSpPr>
        <p:spPr bwMode="auto">
          <a:xfrm>
            <a:off x="683567" y="2780928"/>
            <a:ext cx="7179321" cy="223224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0" indent="0" algn="l" rtl="0" eaLnBrk="0" fontAlgn="base" hangingPunct="0">
              <a:spcBef>
                <a:spcPct val="0"/>
              </a:spcBef>
              <a:spcAft>
                <a:spcPct val="75000"/>
              </a:spcAft>
              <a:buFontTx/>
              <a:buNone/>
              <a:defRPr sz="1800" b="1">
                <a:solidFill>
                  <a:schemeClr val="tx2"/>
                </a:solidFill>
                <a:latin typeface="+mn-lt"/>
                <a:ea typeface="+mn-ea"/>
                <a:cs typeface="+mn-cs"/>
              </a:defRPr>
            </a:lvl1pPr>
            <a:lvl2pPr marL="538163" indent="-266700" algn="l" rtl="0" eaLnBrk="0" fontAlgn="base" hangingPunct="0">
              <a:spcBef>
                <a:spcPct val="0"/>
              </a:spcBef>
              <a:spcAft>
                <a:spcPct val="75000"/>
              </a:spcAft>
              <a:buChar char="•"/>
              <a:defRPr sz="2000">
                <a:solidFill>
                  <a:schemeClr val="tx1"/>
                </a:solidFill>
                <a:latin typeface="+mn-lt"/>
              </a:defRPr>
            </a:lvl2pPr>
            <a:lvl3pPr marL="809625" indent="-269875" algn="l" rtl="0" eaLnBrk="0" fontAlgn="base" hangingPunct="0">
              <a:spcBef>
                <a:spcPct val="0"/>
              </a:spcBef>
              <a:spcAft>
                <a:spcPct val="75000"/>
              </a:spcAft>
              <a:buChar char="•"/>
              <a:defRPr sz="2000">
                <a:solidFill>
                  <a:schemeClr val="tx1"/>
                </a:solidFill>
                <a:latin typeface="+mn-lt"/>
              </a:defRPr>
            </a:lvl3pPr>
            <a:lvl4pPr marL="1079500" indent="-268288" algn="l" rtl="0" eaLnBrk="0" fontAlgn="base" hangingPunct="0">
              <a:spcBef>
                <a:spcPct val="0"/>
              </a:spcBef>
              <a:spcAft>
                <a:spcPct val="75000"/>
              </a:spcAft>
              <a:buChar char="•"/>
              <a:defRPr sz="2000">
                <a:solidFill>
                  <a:schemeClr val="tx1"/>
                </a:solidFill>
                <a:latin typeface="+mn-lt"/>
              </a:defRPr>
            </a:lvl4pPr>
            <a:lvl5pPr marL="1350963" indent="-269875" algn="l" rtl="0" eaLnBrk="0" fontAlgn="base" hangingPunct="0">
              <a:spcBef>
                <a:spcPct val="0"/>
              </a:spcBef>
              <a:spcAft>
                <a:spcPct val="75000"/>
              </a:spcAft>
              <a:buChar char="•"/>
              <a:defRPr sz="20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eaLnBrk="1" hangingPunct="1"/>
            <a:endParaRPr lang="en-US" kern="0" dirty="0"/>
          </a:p>
          <a:p>
            <a:pPr eaLnBrk="1" hangingPunct="1"/>
            <a:endParaRPr lang="en-US" kern="0" dirty="0"/>
          </a:p>
          <a:p>
            <a:pPr eaLnBrk="1" hangingPunct="1"/>
            <a:endParaRPr lang="en-US" kern="0" dirty="0"/>
          </a:p>
          <a:p>
            <a:pPr eaLnBrk="1" hangingPunct="1"/>
            <a:endParaRPr lang="en-US" kern="0" dirty="0"/>
          </a:p>
          <a:p>
            <a:pPr eaLnBrk="1" hangingPunct="1"/>
            <a:r>
              <a:rPr lang="en-US" kern="0" dirty="0"/>
              <a:t>Cambridge Centre for Research Informatics Training</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7395BFF-6EFC-AE50-A4DD-39FA3F9A834D}"/>
              </a:ext>
            </a:extLst>
          </p:cNvPr>
          <p:cNvSpPr>
            <a:spLocks noGrp="1"/>
          </p:cNvSpPr>
          <p:nvPr>
            <p:ph type="body" sz="quarter" idx="11"/>
          </p:nvPr>
        </p:nvSpPr>
        <p:spPr>
          <a:xfrm>
            <a:off x="515648" y="1772918"/>
            <a:ext cx="8112703" cy="4002407"/>
          </a:xfrm>
        </p:spPr>
        <p:txBody>
          <a:bodyPr/>
          <a:lstStyle/>
          <a:p>
            <a:pPr lvl="0"/>
            <a:endParaRPr lang="en-GB" dirty="0"/>
          </a:p>
        </p:txBody>
      </p:sp>
      <p:sp>
        <p:nvSpPr>
          <p:cNvPr id="2" name="Title 1"/>
          <p:cNvSpPr>
            <a:spLocks noGrp="1"/>
          </p:cNvSpPr>
          <p:nvPr>
            <p:ph type="title"/>
          </p:nvPr>
        </p:nvSpPr>
        <p:spPr/>
        <p:txBody>
          <a:bodyPr/>
          <a:lstStyle/>
          <a:p>
            <a:r>
              <a:rPr lang="en-US" dirty="0"/>
              <a:t>Click to edit Master title style</a:t>
            </a:r>
            <a:endParaRPr lang="en-GB" dirty="0"/>
          </a:p>
        </p:txBody>
      </p:sp>
      <p:sp>
        <p:nvSpPr>
          <p:cNvPr id="4" name="Rectangle 6"/>
          <p:cNvSpPr>
            <a:spLocks noGrp="1" noChangeArrowheads="1"/>
          </p:cNvSpPr>
          <p:nvPr>
            <p:ph type="sldNum" sz="quarter" idx="10"/>
          </p:nvPr>
        </p:nvSpPr>
        <p:spPr>
          <a:ln/>
        </p:spPr>
        <p:txBody>
          <a:bodyPr/>
          <a:lstStyle>
            <a:lvl1pPr>
              <a:defRPr/>
            </a:lvl1pPr>
          </a:lstStyle>
          <a:p>
            <a:pPr>
              <a:defRPr/>
            </a:pPr>
            <a:fld id="{CD3FC0C4-D681-4CE5-B41E-BCE48B80373A}" type="slidenum">
              <a:rPr lang="en-GB"/>
              <a:pPr>
                <a:defRPr/>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18" name="Text Placeholder 17">
            <a:extLst>
              <a:ext uri="{FF2B5EF4-FFF2-40B4-BE49-F238E27FC236}">
                <a16:creationId xmlns:a16="http://schemas.microsoft.com/office/drawing/2014/main" id="{B5431F5C-3D34-05D6-6852-6802E02D7D49}"/>
              </a:ext>
            </a:extLst>
          </p:cNvPr>
          <p:cNvSpPr>
            <a:spLocks noGrp="1"/>
          </p:cNvSpPr>
          <p:nvPr>
            <p:ph type="body" sz="quarter" idx="12"/>
          </p:nvPr>
        </p:nvSpPr>
        <p:spPr>
          <a:xfrm>
            <a:off x="722313" y="3706813"/>
            <a:ext cx="7772400" cy="2062162"/>
          </a:xfrm>
        </p:spPr>
        <p:txBody>
          <a:bodyPr/>
          <a:lstStyle>
            <a:lvl1pPr marL="0" indent="0">
              <a:buNone/>
              <a:defRPr/>
            </a:lvl1pPr>
          </a:lstStyle>
          <a:p>
            <a:pPr lvl="0"/>
            <a:endParaRPr lang="en-GB" dirty="0"/>
          </a:p>
        </p:txBody>
      </p:sp>
      <p:sp>
        <p:nvSpPr>
          <p:cNvPr id="16" name="Text Placeholder 15">
            <a:extLst>
              <a:ext uri="{FF2B5EF4-FFF2-40B4-BE49-F238E27FC236}">
                <a16:creationId xmlns:a16="http://schemas.microsoft.com/office/drawing/2014/main" id="{2B95E417-BE0F-9D22-6C8E-C898B95AE5EB}"/>
              </a:ext>
            </a:extLst>
          </p:cNvPr>
          <p:cNvSpPr>
            <a:spLocks noGrp="1"/>
          </p:cNvSpPr>
          <p:nvPr>
            <p:ph type="body" sz="quarter" idx="11"/>
          </p:nvPr>
        </p:nvSpPr>
        <p:spPr>
          <a:xfrm>
            <a:off x="722313" y="2000250"/>
            <a:ext cx="7772400" cy="1628775"/>
          </a:xfrm>
        </p:spPr>
        <p:txBody>
          <a:bodyPr anchor="b"/>
          <a:lstStyle>
            <a:lvl1pPr marL="0" indent="0">
              <a:buNone/>
              <a:defRPr sz="2800" b="1"/>
            </a:lvl1pPr>
          </a:lstStyle>
          <a:p>
            <a:pPr lvl="0"/>
            <a:endParaRPr lang="en-GB" dirty="0"/>
          </a:p>
        </p:txBody>
      </p:sp>
      <p:sp>
        <p:nvSpPr>
          <p:cNvPr id="4" name="Rectangle 6"/>
          <p:cNvSpPr>
            <a:spLocks noGrp="1" noChangeArrowheads="1"/>
          </p:cNvSpPr>
          <p:nvPr>
            <p:ph type="sldNum" sz="quarter" idx="10"/>
          </p:nvPr>
        </p:nvSpPr>
        <p:spPr>
          <a:ln/>
        </p:spPr>
        <p:txBody>
          <a:bodyPr/>
          <a:lstStyle>
            <a:lvl1pPr>
              <a:defRPr/>
            </a:lvl1pPr>
          </a:lstStyle>
          <a:p>
            <a:pPr>
              <a:defRPr/>
            </a:pPr>
            <a:fld id="{E5717E7F-5007-4559-A9EA-6621C16865F0}" type="slidenum">
              <a:rPr lang="en-GB"/>
              <a:pPr>
                <a:defRPr/>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384175" y="1708150"/>
            <a:ext cx="4110038" cy="4067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46613" y="1708150"/>
            <a:ext cx="4111625" cy="4067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Rectangle 6"/>
          <p:cNvSpPr>
            <a:spLocks noGrp="1" noChangeArrowheads="1"/>
          </p:cNvSpPr>
          <p:nvPr>
            <p:ph type="sldNum" sz="quarter" idx="10"/>
          </p:nvPr>
        </p:nvSpPr>
        <p:spPr>
          <a:ln/>
        </p:spPr>
        <p:txBody>
          <a:bodyPr/>
          <a:lstStyle>
            <a:lvl1pPr>
              <a:defRPr/>
            </a:lvl1pPr>
          </a:lstStyle>
          <a:p>
            <a:pPr>
              <a:defRPr/>
            </a:pPr>
            <a:fld id="{3B84A50D-3EE8-4C4C-AEDA-A3757F6A4A77}" type="slidenum">
              <a:rPr lang="en-GB"/>
              <a:pPr>
                <a:defRPr/>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Rectangle 6"/>
          <p:cNvSpPr>
            <a:spLocks noGrp="1" noChangeArrowheads="1"/>
          </p:cNvSpPr>
          <p:nvPr>
            <p:ph type="sldNum" sz="quarter" idx="10"/>
          </p:nvPr>
        </p:nvSpPr>
        <p:spPr>
          <a:ln/>
        </p:spPr>
        <p:txBody>
          <a:bodyPr/>
          <a:lstStyle>
            <a:lvl1pPr>
              <a:defRPr/>
            </a:lvl1pPr>
          </a:lstStyle>
          <a:p>
            <a:pPr>
              <a:defRPr/>
            </a:pPr>
            <a:fld id="{C7CDCC55-62A8-437E-9110-6ECF98C371C5}" type="slidenum">
              <a:rPr lang="en-GB"/>
              <a:pPr>
                <a:defRPr/>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Rectangle 6"/>
          <p:cNvSpPr>
            <a:spLocks noGrp="1" noChangeArrowheads="1"/>
          </p:cNvSpPr>
          <p:nvPr>
            <p:ph type="sldNum" sz="quarter" idx="10"/>
          </p:nvPr>
        </p:nvSpPr>
        <p:spPr>
          <a:ln/>
        </p:spPr>
        <p:txBody>
          <a:bodyPr/>
          <a:lstStyle>
            <a:lvl1pPr>
              <a:defRPr/>
            </a:lvl1pPr>
          </a:lstStyle>
          <a:p>
            <a:pPr>
              <a:defRPr/>
            </a:pPr>
            <a:fld id="{062FE7C6-874C-4E62-8759-08C2AB2543BB}" type="slidenum">
              <a:rPr lang="en-GB"/>
              <a:pPr>
                <a:defRPr/>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blipFill dpi="0" rotWithShape="0">
          <a:blip r:embed="rId8" cstate="print"/>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84175" y="398463"/>
            <a:ext cx="8375650" cy="42386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title style</a:t>
            </a:r>
          </a:p>
        </p:txBody>
      </p:sp>
      <p:sp>
        <p:nvSpPr>
          <p:cNvPr id="1027" name="Rectangle 3"/>
          <p:cNvSpPr>
            <a:spLocks noGrp="1" noChangeArrowheads="1"/>
          </p:cNvSpPr>
          <p:nvPr>
            <p:ph type="body" idx="1"/>
          </p:nvPr>
        </p:nvSpPr>
        <p:spPr bwMode="auto">
          <a:xfrm>
            <a:off x="515648" y="1772918"/>
            <a:ext cx="8112703" cy="400240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30" name="Rectangle 6"/>
          <p:cNvSpPr>
            <a:spLocks noGrp="1" noChangeArrowheads="1"/>
          </p:cNvSpPr>
          <p:nvPr>
            <p:ph type="sldNum" sz="quarter" idx="4"/>
          </p:nvPr>
        </p:nvSpPr>
        <p:spPr bwMode="auto">
          <a:xfrm>
            <a:off x="7862888" y="6451600"/>
            <a:ext cx="900112" cy="179388"/>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r">
              <a:defRPr sz="1000">
                <a:solidFill>
                  <a:schemeClr val="tx2"/>
                </a:solidFill>
                <a:cs typeface="+mn-cs"/>
              </a:defRPr>
            </a:lvl1pPr>
          </a:lstStyle>
          <a:p>
            <a:pPr>
              <a:defRPr/>
            </a:pPr>
            <a:fld id="{538E2CDC-1426-42D5-A328-40ED0E0B2EB2}" type="slidenum">
              <a:rPr lang="en-GB"/>
              <a:pPr>
                <a:defRPr/>
              </a:pPr>
              <a:t>‹#›</a:t>
            </a:fld>
            <a:endParaRPr lang="en-GB"/>
          </a:p>
        </p:txBody>
      </p:sp>
    </p:spTree>
  </p:cSld>
  <p:clrMap bg1="lt1" tx1="dk1" bg2="lt2" tx2="dk2" accent1="accent1" accent2="accent2" accent3="accent3" accent4="accent4" accent5="accent5" accent6="accent6" hlink="hlink" folHlink="folHlink"/>
  <p:sldLayoutIdLst>
    <p:sldLayoutId id="2147483660" r:id="rId1"/>
    <p:sldLayoutId id="2147483659" r:id="rId2"/>
    <p:sldLayoutId id="2147483658" r:id="rId3"/>
    <p:sldLayoutId id="2147483657" r:id="rId4"/>
    <p:sldLayoutId id="2147483656" r:id="rId5"/>
    <p:sldLayoutId id="2147483655" r:id="rId6"/>
  </p:sldLayoutIdLst>
  <p:hf hdr="0" ftr="0" dt="0"/>
  <p:txStyles>
    <p:titleStyle>
      <a:lvl1pPr algn="l" rtl="0" eaLnBrk="0" fontAlgn="base" hangingPunct="0">
        <a:spcBef>
          <a:spcPct val="0"/>
        </a:spcBef>
        <a:spcAft>
          <a:spcPct val="0"/>
        </a:spcAft>
        <a:defRPr sz="2600" b="1">
          <a:solidFill>
            <a:schemeClr val="tx2"/>
          </a:solidFill>
          <a:latin typeface="+mj-lt"/>
          <a:ea typeface="+mj-ea"/>
          <a:cs typeface="+mj-cs"/>
        </a:defRPr>
      </a:lvl1pPr>
      <a:lvl2pPr algn="l" rtl="0" eaLnBrk="0" fontAlgn="base" hangingPunct="0">
        <a:spcBef>
          <a:spcPct val="0"/>
        </a:spcBef>
        <a:spcAft>
          <a:spcPct val="0"/>
        </a:spcAft>
        <a:defRPr sz="2600" b="1">
          <a:solidFill>
            <a:schemeClr val="tx2"/>
          </a:solidFill>
          <a:latin typeface="Arial" charset="0"/>
        </a:defRPr>
      </a:lvl2pPr>
      <a:lvl3pPr algn="l" rtl="0" eaLnBrk="0" fontAlgn="base" hangingPunct="0">
        <a:spcBef>
          <a:spcPct val="0"/>
        </a:spcBef>
        <a:spcAft>
          <a:spcPct val="0"/>
        </a:spcAft>
        <a:defRPr sz="2600" b="1">
          <a:solidFill>
            <a:schemeClr val="tx2"/>
          </a:solidFill>
          <a:latin typeface="Arial" charset="0"/>
        </a:defRPr>
      </a:lvl3pPr>
      <a:lvl4pPr algn="l" rtl="0" eaLnBrk="0" fontAlgn="base" hangingPunct="0">
        <a:spcBef>
          <a:spcPct val="0"/>
        </a:spcBef>
        <a:spcAft>
          <a:spcPct val="0"/>
        </a:spcAft>
        <a:defRPr sz="2600" b="1">
          <a:solidFill>
            <a:schemeClr val="tx2"/>
          </a:solidFill>
          <a:latin typeface="Arial" charset="0"/>
        </a:defRPr>
      </a:lvl4pPr>
      <a:lvl5pPr algn="l" rtl="0" eaLnBrk="0" fontAlgn="base" hangingPunct="0">
        <a:spcBef>
          <a:spcPct val="0"/>
        </a:spcBef>
        <a:spcAft>
          <a:spcPct val="0"/>
        </a:spcAft>
        <a:defRPr sz="2600" b="1">
          <a:solidFill>
            <a:schemeClr val="tx2"/>
          </a:solidFill>
          <a:latin typeface="Arial" charset="0"/>
        </a:defRPr>
      </a:lvl5pPr>
      <a:lvl6pPr marL="457200" algn="l" rtl="0" fontAlgn="base">
        <a:spcBef>
          <a:spcPct val="0"/>
        </a:spcBef>
        <a:spcAft>
          <a:spcPct val="0"/>
        </a:spcAft>
        <a:defRPr sz="2600" b="1">
          <a:solidFill>
            <a:schemeClr val="tx2"/>
          </a:solidFill>
          <a:latin typeface="Arial" charset="0"/>
        </a:defRPr>
      </a:lvl6pPr>
      <a:lvl7pPr marL="914400" algn="l" rtl="0" fontAlgn="base">
        <a:spcBef>
          <a:spcPct val="0"/>
        </a:spcBef>
        <a:spcAft>
          <a:spcPct val="0"/>
        </a:spcAft>
        <a:defRPr sz="2600" b="1">
          <a:solidFill>
            <a:schemeClr val="tx2"/>
          </a:solidFill>
          <a:latin typeface="Arial" charset="0"/>
        </a:defRPr>
      </a:lvl7pPr>
      <a:lvl8pPr marL="1371600" algn="l" rtl="0" fontAlgn="base">
        <a:spcBef>
          <a:spcPct val="0"/>
        </a:spcBef>
        <a:spcAft>
          <a:spcPct val="0"/>
        </a:spcAft>
        <a:defRPr sz="2600" b="1">
          <a:solidFill>
            <a:schemeClr val="tx2"/>
          </a:solidFill>
          <a:latin typeface="Arial" charset="0"/>
        </a:defRPr>
      </a:lvl8pPr>
      <a:lvl9pPr marL="1828800" algn="l" rtl="0" fontAlgn="base">
        <a:spcBef>
          <a:spcPct val="0"/>
        </a:spcBef>
        <a:spcAft>
          <a:spcPct val="0"/>
        </a:spcAft>
        <a:defRPr sz="2600" b="1">
          <a:solidFill>
            <a:schemeClr val="tx2"/>
          </a:solidFill>
          <a:latin typeface="Arial" charset="0"/>
        </a:defRPr>
      </a:lvl9pPr>
    </p:titleStyle>
    <p:body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5.svg"/><Relationship Id="rId7" Type="http://schemas.openxmlformats.org/officeDocument/2006/relationships/image" Target="../media/image4.sv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6.xml"/><Relationship Id="rId5" Type="http://schemas.openxmlformats.org/officeDocument/2006/relationships/image" Target="../media/image12.svg"/><Relationship Id="rId4" Type="http://schemas.openxmlformats.org/officeDocument/2006/relationships/image" Target="../media/image11.sv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svg"/></Relationships>
</file>

<file path=ppt/slides/_rels/slide1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svg"/></Relationships>
</file>

<file path=ppt/slides/_rels/slide1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18.svg"/></Relationships>
</file>

<file path=ppt/slides/_rels/slide19.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8.svg"/></Relationships>
</file>

<file path=ppt/slides/_rels/slide46.xml.rels><?xml version="1.0" encoding="UTF-8" standalone="yes"?>
<Relationships xmlns="http://schemas.openxmlformats.org/package/2006/relationships"><Relationship Id="rId3" Type="http://schemas.openxmlformats.org/officeDocument/2006/relationships/image" Target="../media/image39.svg"/><Relationship Id="rId7" Type="http://schemas.openxmlformats.org/officeDocument/2006/relationships/image" Target="../media/image4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42.svg"/><Relationship Id="rId5" Type="http://schemas.openxmlformats.org/officeDocument/2006/relationships/image" Target="../media/image41.svg"/><Relationship Id="rId4" Type="http://schemas.openxmlformats.org/officeDocument/2006/relationships/image" Target="../media/image40.svg"/></Relationships>
</file>

<file path=ppt/slides/_rels/slide4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7.svg"/><Relationship Id="rId5" Type="http://schemas.openxmlformats.org/officeDocument/2006/relationships/image" Target="../media/image46.svg"/><Relationship Id="rId4" Type="http://schemas.openxmlformats.org/officeDocument/2006/relationships/image" Target="../media/image45.svg"/></Relationships>
</file>

<file path=ppt/slides/_rels/slide48.xml.rels><?xml version="1.0" encoding="UTF-8" standalone="yes"?>
<Relationships xmlns="http://schemas.openxmlformats.org/package/2006/relationships"><Relationship Id="rId8" Type="http://schemas.openxmlformats.org/officeDocument/2006/relationships/image" Target="../media/image43.svg"/><Relationship Id="rId3" Type="http://schemas.openxmlformats.org/officeDocument/2006/relationships/image" Target="../media/image48.svg"/><Relationship Id="rId7" Type="http://schemas.openxmlformats.org/officeDocument/2006/relationships/image" Target="../media/image52.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51.svg"/><Relationship Id="rId5" Type="http://schemas.openxmlformats.org/officeDocument/2006/relationships/image" Target="../media/image50.svg"/><Relationship Id="rId4" Type="http://schemas.openxmlformats.org/officeDocument/2006/relationships/image" Target="../media/image49.svg"/><Relationship Id="rId9" Type="http://schemas.openxmlformats.org/officeDocument/2006/relationships/image" Target="../media/image53.svg"/></Relationships>
</file>

<file path=ppt/slides/_rels/slide4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image" Target="../media/image48.svg"/><Relationship Id="rId7" Type="http://schemas.openxmlformats.org/officeDocument/2006/relationships/image" Target="../media/image51.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10" Type="http://schemas.openxmlformats.org/officeDocument/2006/relationships/image" Target="../media/image38.svg"/><Relationship Id="rId4" Type="http://schemas.openxmlformats.org/officeDocument/2006/relationships/image" Target="../media/image54.svg"/><Relationship Id="rId9" Type="http://schemas.openxmlformats.org/officeDocument/2006/relationships/image" Target="../media/image53.sv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58.sv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57.svg"/><Relationship Id="rId5" Type="http://schemas.openxmlformats.org/officeDocument/2006/relationships/image" Target="../media/image56.svg"/><Relationship Id="rId4" Type="http://schemas.openxmlformats.org/officeDocument/2006/relationships/image" Target="../media/image55.svg"/></Relationships>
</file>

<file path=ppt/slides/_rels/slide52.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61.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60.svg"/><Relationship Id="rId5" Type="http://schemas.openxmlformats.org/officeDocument/2006/relationships/image" Target="../media/image59.svg"/><Relationship Id="rId4" Type="http://schemas.openxmlformats.org/officeDocument/2006/relationships/image" Target="../media/image56.sv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5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6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3" Type="http://schemas.openxmlformats.org/officeDocument/2006/relationships/image" Target="../media/image70.svg"/><Relationship Id="rId7" Type="http://schemas.openxmlformats.org/officeDocument/2006/relationships/image" Target="../media/image74.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73.svg"/><Relationship Id="rId5" Type="http://schemas.openxmlformats.org/officeDocument/2006/relationships/image" Target="../media/image72.svg"/><Relationship Id="rId4" Type="http://schemas.openxmlformats.org/officeDocument/2006/relationships/image" Target="../media/image71.svg"/></Relationships>
</file>

<file path=ppt/slides/_rels/slide73.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77.svg"/><Relationship Id="rId5" Type="http://schemas.openxmlformats.org/officeDocument/2006/relationships/image" Target="../media/image76.svg"/><Relationship Id="rId4" Type="http://schemas.openxmlformats.org/officeDocument/2006/relationships/image" Target="../media/image71.svg"/></Relationships>
</file>

<file path=ppt/slides/_rels/slide74.xml.rels><?xml version="1.0" encoding="UTF-8" standalone="yes"?>
<Relationships xmlns="http://schemas.openxmlformats.org/package/2006/relationships"><Relationship Id="rId3" Type="http://schemas.openxmlformats.org/officeDocument/2006/relationships/image" Target="../media/image78.sv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80.svg"/><Relationship Id="rId5" Type="http://schemas.openxmlformats.org/officeDocument/2006/relationships/image" Target="../media/image79.svg"/><Relationship Id="rId4" Type="http://schemas.openxmlformats.org/officeDocument/2006/relationships/image" Target="../media/image71.svg"/></Relationships>
</file>

<file path=ppt/slides/_rels/slide75.xml.rels><?xml version="1.0" encoding="UTF-8" standalone="yes"?>
<Relationships xmlns="http://schemas.openxmlformats.org/package/2006/relationships"><Relationship Id="rId3" Type="http://schemas.openxmlformats.org/officeDocument/2006/relationships/image" Target="../media/image81.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83.svg"/><Relationship Id="rId5" Type="http://schemas.openxmlformats.org/officeDocument/2006/relationships/image" Target="../media/image82.svg"/><Relationship Id="rId4" Type="http://schemas.openxmlformats.org/officeDocument/2006/relationships/image" Target="../media/image71.svg"/></Relationships>
</file>

<file path=ppt/slides/_rels/slide76.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74.svg"/><Relationship Id="rId5" Type="http://schemas.openxmlformats.org/officeDocument/2006/relationships/image" Target="../media/image72.svg"/><Relationship Id="rId4" Type="http://schemas.openxmlformats.org/officeDocument/2006/relationships/image" Target="../media/image70.svg"/></Relationships>
</file>

<file path=ppt/slides/_rels/slide7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76.svg"/><Relationship Id="rId4" Type="http://schemas.openxmlformats.org/officeDocument/2006/relationships/image" Target="../media/image75.svg"/></Relationships>
</file>

<file path=ppt/slides/_rels/slide7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79.svg"/><Relationship Id="rId4" Type="http://schemas.openxmlformats.org/officeDocument/2006/relationships/image" Target="../media/image78.svg"/></Relationships>
</file>

<file path=ppt/slides/_rels/slide7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89.svg"/><Relationship Id="rId4" Type="http://schemas.openxmlformats.org/officeDocument/2006/relationships/image" Target="../media/image88.svg"/></Relationships>
</file>

<file path=ppt/slides/_rels/slide80.xml.rels><?xml version="1.0" encoding="UTF-8" standalone="yes"?>
<Relationships xmlns="http://schemas.openxmlformats.org/package/2006/relationships"><Relationship Id="rId3" Type="http://schemas.openxmlformats.org/officeDocument/2006/relationships/image" Target="../media/image81.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83.svg"/><Relationship Id="rId5" Type="http://schemas.openxmlformats.org/officeDocument/2006/relationships/image" Target="../media/image82.svg"/><Relationship Id="rId4" Type="http://schemas.openxmlformats.org/officeDocument/2006/relationships/image" Target="../media/image90.svg"/></Relationships>
</file>

<file path=ppt/slides/_rels/slide8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82.svg"/><Relationship Id="rId4" Type="http://schemas.openxmlformats.org/officeDocument/2006/relationships/image" Target="../media/image81.svg"/></Relationships>
</file>

<file path=ppt/slides/_rels/slide82.xml.rels><?xml version="1.0" encoding="UTF-8" standalone="yes"?>
<Relationships xmlns="http://schemas.openxmlformats.org/package/2006/relationships"><Relationship Id="rId8" Type="http://schemas.openxmlformats.org/officeDocument/2006/relationships/image" Target="../media/image96.svg"/><Relationship Id="rId3" Type="http://schemas.openxmlformats.org/officeDocument/2006/relationships/image" Target="../media/image92.png"/><Relationship Id="rId7" Type="http://schemas.openxmlformats.org/officeDocument/2006/relationships/image" Target="../media/image95.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81.svg"/><Relationship Id="rId11" Type="http://schemas.openxmlformats.org/officeDocument/2006/relationships/image" Target="../media/image98.svg"/><Relationship Id="rId5" Type="http://schemas.openxmlformats.org/officeDocument/2006/relationships/image" Target="../media/image94.svg"/><Relationship Id="rId10" Type="http://schemas.openxmlformats.org/officeDocument/2006/relationships/image" Target="../media/image97.svg"/><Relationship Id="rId4" Type="http://schemas.openxmlformats.org/officeDocument/2006/relationships/image" Target="../media/image93.svg"/><Relationship Id="rId9" Type="http://schemas.openxmlformats.org/officeDocument/2006/relationships/image" Target="../media/image82.svg"/></Relationships>
</file>

<file path=ppt/slides/_rels/slide83.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9.sv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101.svg"/><Relationship Id="rId4" Type="http://schemas.openxmlformats.org/officeDocument/2006/relationships/image" Target="../media/image100.svg"/></Relationships>
</file>

<file path=ppt/slides/_rels/slide98.xml.rels><?xml version="1.0" encoding="UTF-8" standalone="yes"?>
<Relationships xmlns="http://schemas.openxmlformats.org/package/2006/relationships"><Relationship Id="rId3" Type="http://schemas.openxmlformats.org/officeDocument/2006/relationships/image" Target="../media/image102.sv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104.svg"/><Relationship Id="rId4" Type="http://schemas.openxmlformats.org/officeDocument/2006/relationships/image" Target="../media/image103.sv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0">
          <a:blip r:embed="rId3">
            <a:lum/>
          </a:blip>
          <a:srcRect/>
          <a:stretch>
            <a:fillRect/>
          </a:stretch>
        </a:blipFill>
        <a:effectLst/>
      </p:bgPr>
    </p:bg>
    <p:spTree>
      <p:nvGrpSpPr>
        <p:cNvPr id="1" name=""/>
        <p:cNvGrpSpPr/>
        <p:nvPr/>
      </p:nvGrpSpPr>
      <p:grpSpPr>
        <a:xfrm>
          <a:off x="0" y="0"/>
          <a:ext cx="0" cy="0"/>
          <a:chOff x="0" y="0"/>
          <a:chExt cx="0" cy="0"/>
        </a:xfrm>
      </p:grpSpPr>
      <p:sp>
        <p:nvSpPr>
          <p:cNvPr id="15364" name="Slide Number Placeholder 4"/>
          <p:cNvSpPr>
            <a:spLocks noGrp="1"/>
          </p:cNvSpPr>
          <p:nvPr>
            <p:ph type="sldNum" sz="quarter" idx="10"/>
          </p:nvPr>
        </p:nvSpPr>
        <p:spPr>
          <a:noFill/>
        </p:spPr>
        <p:txBody>
          <a:bodyPr/>
          <a:lstStyle/>
          <a:p>
            <a:fld id="{E036465C-945F-44BE-994D-AFC5D4629323}" type="slidenum">
              <a:rPr lang="en-GB" noProof="0" smtClean="0">
                <a:cs typeface="Arial" charset="0"/>
              </a:rPr>
              <a:pPr/>
              <a:t>1</a:t>
            </a:fld>
            <a:endParaRPr lang="en-GB" noProof="0" dirty="0">
              <a:cs typeface="Arial" charset="0"/>
            </a:endParaRPr>
          </a:p>
        </p:txBody>
      </p:sp>
      <p:sp>
        <p:nvSpPr>
          <p:cNvPr id="6" name="Rectangle 2">
            <a:extLst>
              <a:ext uri="{FF2B5EF4-FFF2-40B4-BE49-F238E27FC236}">
                <a16:creationId xmlns:a16="http://schemas.microsoft.com/office/drawing/2014/main" id="{C22D2681-16A5-D742-B500-FECAB1CC6221}"/>
              </a:ext>
            </a:extLst>
          </p:cNvPr>
          <p:cNvSpPr txBox="1">
            <a:spLocks noChangeArrowheads="1"/>
          </p:cNvSpPr>
          <p:nvPr/>
        </p:nvSpPr>
        <p:spPr bwMode="auto">
          <a:xfrm>
            <a:off x="683569" y="2060645"/>
            <a:ext cx="7560840" cy="57626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0" fontAlgn="base" hangingPunct="0">
              <a:spcBef>
                <a:spcPct val="0"/>
              </a:spcBef>
              <a:spcAft>
                <a:spcPct val="0"/>
              </a:spcAft>
              <a:defRPr sz="3600" b="1">
                <a:solidFill>
                  <a:schemeClr val="tx2"/>
                </a:solidFill>
                <a:latin typeface="+mj-lt"/>
                <a:ea typeface="+mj-ea"/>
                <a:cs typeface="+mj-cs"/>
              </a:defRPr>
            </a:lvl1pPr>
            <a:lvl2pPr algn="l" rtl="0" eaLnBrk="0" fontAlgn="base" hangingPunct="0">
              <a:spcBef>
                <a:spcPct val="0"/>
              </a:spcBef>
              <a:spcAft>
                <a:spcPct val="0"/>
              </a:spcAft>
              <a:defRPr sz="2600" b="1">
                <a:solidFill>
                  <a:schemeClr val="tx2"/>
                </a:solidFill>
                <a:latin typeface="Arial" charset="0"/>
              </a:defRPr>
            </a:lvl2pPr>
            <a:lvl3pPr algn="l" rtl="0" eaLnBrk="0" fontAlgn="base" hangingPunct="0">
              <a:spcBef>
                <a:spcPct val="0"/>
              </a:spcBef>
              <a:spcAft>
                <a:spcPct val="0"/>
              </a:spcAft>
              <a:defRPr sz="2600" b="1">
                <a:solidFill>
                  <a:schemeClr val="tx2"/>
                </a:solidFill>
                <a:latin typeface="Arial" charset="0"/>
              </a:defRPr>
            </a:lvl3pPr>
            <a:lvl4pPr algn="l" rtl="0" eaLnBrk="0" fontAlgn="base" hangingPunct="0">
              <a:spcBef>
                <a:spcPct val="0"/>
              </a:spcBef>
              <a:spcAft>
                <a:spcPct val="0"/>
              </a:spcAft>
              <a:defRPr sz="2600" b="1">
                <a:solidFill>
                  <a:schemeClr val="tx2"/>
                </a:solidFill>
                <a:latin typeface="Arial" charset="0"/>
              </a:defRPr>
            </a:lvl4pPr>
            <a:lvl5pPr algn="l" rtl="0" eaLnBrk="0" fontAlgn="base" hangingPunct="0">
              <a:spcBef>
                <a:spcPct val="0"/>
              </a:spcBef>
              <a:spcAft>
                <a:spcPct val="0"/>
              </a:spcAft>
              <a:defRPr sz="2600" b="1">
                <a:solidFill>
                  <a:schemeClr val="tx2"/>
                </a:solidFill>
                <a:latin typeface="Arial" charset="0"/>
              </a:defRPr>
            </a:lvl5pPr>
            <a:lvl6pPr marL="457200" algn="l" rtl="0" fontAlgn="base">
              <a:spcBef>
                <a:spcPct val="0"/>
              </a:spcBef>
              <a:spcAft>
                <a:spcPct val="0"/>
              </a:spcAft>
              <a:defRPr sz="2600" b="1">
                <a:solidFill>
                  <a:schemeClr val="tx2"/>
                </a:solidFill>
                <a:latin typeface="Arial" charset="0"/>
              </a:defRPr>
            </a:lvl6pPr>
            <a:lvl7pPr marL="914400" algn="l" rtl="0" fontAlgn="base">
              <a:spcBef>
                <a:spcPct val="0"/>
              </a:spcBef>
              <a:spcAft>
                <a:spcPct val="0"/>
              </a:spcAft>
              <a:defRPr sz="2600" b="1">
                <a:solidFill>
                  <a:schemeClr val="tx2"/>
                </a:solidFill>
                <a:latin typeface="Arial" charset="0"/>
              </a:defRPr>
            </a:lvl7pPr>
            <a:lvl8pPr marL="1371600" algn="l" rtl="0" fontAlgn="base">
              <a:spcBef>
                <a:spcPct val="0"/>
              </a:spcBef>
              <a:spcAft>
                <a:spcPct val="0"/>
              </a:spcAft>
              <a:defRPr sz="2600" b="1">
                <a:solidFill>
                  <a:schemeClr val="tx2"/>
                </a:solidFill>
                <a:latin typeface="Arial" charset="0"/>
              </a:defRPr>
            </a:lvl8pPr>
            <a:lvl9pPr marL="1828800" algn="l" rtl="0" fontAlgn="base">
              <a:spcBef>
                <a:spcPct val="0"/>
              </a:spcBef>
              <a:spcAft>
                <a:spcPct val="0"/>
              </a:spcAft>
              <a:defRPr sz="2600" b="1">
                <a:solidFill>
                  <a:schemeClr val="tx2"/>
                </a:solidFill>
                <a:latin typeface="Arial" charset="0"/>
              </a:defRPr>
            </a:lvl9pPr>
          </a:lstStyle>
          <a:p>
            <a:pPr eaLnBrk="1" hangingPunct="1"/>
            <a:r>
              <a:rPr lang="en-GB" sz="3500" kern="0" noProof="0" dirty="0"/>
              <a:t>Survival (time-to-event) analysis</a:t>
            </a:r>
          </a:p>
        </p:txBody>
      </p:sp>
      <p:sp>
        <p:nvSpPr>
          <p:cNvPr id="7" name="Rectangle 3">
            <a:extLst>
              <a:ext uri="{FF2B5EF4-FFF2-40B4-BE49-F238E27FC236}">
                <a16:creationId xmlns:a16="http://schemas.microsoft.com/office/drawing/2014/main" id="{A3EBAEC8-8C01-B24B-91FF-09127DEA6204}"/>
              </a:ext>
            </a:extLst>
          </p:cNvPr>
          <p:cNvSpPr txBox="1">
            <a:spLocks noChangeArrowheads="1"/>
          </p:cNvSpPr>
          <p:nvPr/>
        </p:nvSpPr>
        <p:spPr bwMode="auto">
          <a:xfrm>
            <a:off x="683567" y="2780928"/>
            <a:ext cx="7179321" cy="223224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0" indent="0" algn="l" rtl="0" eaLnBrk="0" fontAlgn="base" hangingPunct="0">
              <a:spcBef>
                <a:spcPct val="0"/>
              </a:spcBef>
              <a:spcAft>
                <a:spcPct val="75000"/>
              </a:spcAft>
              <a:buFontTx/>
              <a:buNone/>
              <a:defRPr sz="1800" b="1">
                <a:solidFill>
                  <a:schemeClr val="tx2"/>
                </a:solidFill>
                <a:latin typeface="+mn-lt"/>
                <a:ea typeface="+mn-ea"/>
                <a:cs typeface="+mn-cs"/>
              </a:defRPr>
            </a:lvl1pPr>
            <a:lvl2pPr marL="538163" indent="-266700" algn="l" rtl="0" eaLnBrk="0" fontAlgn="base" hangingPunct="0">
              <a:spcBef>
                <a:spcPct val="0"/>
              </a:spcBef>
              <a:spcAft>
                <a:spcPct val="75000"/>
              </a:spcAft>
              <a:buChar char="•"/>
              <a:defRPr sz="2000">
                <a:solidFill>
                  <a:schemeClr val="tx1"/>
                </a:solidFill>
                <a:latin typeface="+mn-lt"/>
              </a:defRPr>
            </a:lvl2pPr>
            <a:lvl3pPr marL="809625" indent="-269875" algn="l" rtl="0" eaLnBrk="0" fontAlgn="base" hangingPunct="0">
              <a:spcBef>
                <a:spcPct val="0"/>
              </a:spcBef>
              <a:spcAft>
                <a:spcPct val="75000"/>
              </a:spcAft>
              <a:buChar char="•"/>
              <a:defRPr sz="2000">
                <a:solidFill>
                  <a:schemeClr val="tx1"/>
                </a:solidFill>
                <a:latin typeface="+mn-lt"/>
              </a:defRPr>
            </a:lvl3pPr>
            <a:lvl4pPr marL="1079500" indent="-268288" algn="l" rtl="0" eaLnBrk="0" fontAlgn="base" hangingPunct="0">
              <a:spcBef>
                <a:spcPct val="0"/>
              </a:spcBef>
              <a:spcAft>
                <a:spcPct val="75000"/>
              </a:spcAft>
              <a:buChar char="•"/>
              <a:defRPr sz="2000">
                <a:solidFill>
                  <a:schemeClr val="tx1"/>
                </a:solidFill>
                <a:latin typeface="+mn-lt"/>
              </a:defRPr>
            </a:lvl4pPr>
            <a:lvl5pPr marL="1350963" indent="-269875" algn="l" rtl="0" eaLnBrk="0" fontAlgn="base" hangingPunct="0">
              <a:spcBef>
                <a:spcPct val="0"/>
              </a:spcBef>
              <a:spcAft>
                <a:spcPct val="75000"/>
              </a:spcAft>
              <a:buChar char="•"/>
              <a:defRPr sz="20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eaLnBrk="1" hangingPunct="1"/>
            <a:r>
              <a:rPr lang="en-GB" kern="0" noProof="0" dirty="0"/>
              <a:t> </a:t>
            </a:r>
          </a:p>
          <a:p>
            <a:pPr eaLnBrk="1" hangingPunct="1"/>
            <a:endParaRPr lang="en-GB" kern="0" noProof="0" dirty="0"/>
          </a:p>
          <a:p>
            <a:pPr eaLnBrk="1" hangingPunct="1"/>
            <a:endParaRPr lang="en-GB" kern="0" noProof="0" dirty="0"/>
          </a:p>
          <a:p>
            <a:pPr eaLnBrk="1" hangingPunct="1"/>
            <a:endParaRPr lang="en-GB" kern="0" noProof="0" dirty="0"/>
          </a:p>
          <a:p>
            <a:pPr eaLnBrk="1" hangingPunct="1"/>
            <a:r>
              <a:rPr lang="en-GB" kern="0" noProof="0" dirty="0"/>
              <a:t>Cambridge Centre for Research Informatics Training</a:t>
            </a:r>
          </a:p>
        </p:txBody>
      </p:sp>
    </p:spTree>
    <p:extLst>
      <p:ext uri="{BB962C8B-B14F-4D97-AF65-F5344CB8AC3E}">
        <p14:creationId xmlns:p14="http://schemas.microsoft.com/office/powerpoint/2010/main" val="9007822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EA46D39-B972-B0E9-DF40-B68A39BAD848}"/>
              </a:ext>
            </a:extLst>
          </p:cNvPr>
          <p:cNvSpPr>
            <a:spLocks noGrp="1"/>
          </p:cNvSpPr>
          <p:nvPr>
            <p:ph type="body" sz="quarter" idx="11"/>
          </p:nvPr>
        </p:nvSpPr>
        <p:spPr/>
        <p:txBody>
          <a:bodyPr/>
          <a:lstStyle/>
          <a:p>
            <a:r>
              <a:rPr lang="en-GB" sz="2200" noProof="0" dirty="0"/>
              <a:t>Recognise when survival analysis should be used, based on dataset/experimental design</a:t>
            </a:r>
          </a:p>
          <a:p>
            <a:endParaRPr lang="en-GB" sz="2200" noProof="0" dirty="0"/>
          </a:p>
          <a:p>
            <a:r>
              <a:rPr lang="en-GB" sz="2200" noProof="0" dirty="0"/>
              <a:t>Implement survival analysis (including multiple predictor variables &amp; time-varying predictors)</a:t>
            </a:r>
          </a:p>
          <a:p>
            <a:endParaRPr lang="en-GB" sz="2200" noProof="0" dirty="0"/>
          </a:p>
          <a:p>
            <a:r>
              <a:rPr lang="en-GB" sz="2200" noProof="0" dirty="0"/>
              <a:t>Meaningfully interpret the results</a:t>
            </a:r>
          </a:p>
          <a:p>
            <a:endParaRPr lang="en-GB" sz="2200" noProof="0" dirty="0"/>
          </a:p>
          <a:p>
            <a:r>
              <a:rPr lang="en-GB" sz="2200" noProof="0" dirty="0"/>
              <a:t>Visualise survival data and survival curves effectively</a:t>
            </a:r>
          </a:p>
          <a:p>
            <a:endParaRPr lang="en-GB" noProof="0" dirty="0"/>
          </a:p>
        </p:txBody>
      </p:sp>
      <p:sp>
        <p:nvSpPr>
          <p:cNvPr id="5" name="Title 4">
            <a:extLst>
              <a:ext uri="{FF2B5EF4-FFF2-40B4-BE49-F238E27FC236}">
                <a16:creationId xmlns:a16="http://schemas.microsoft.com/office/drawing/2014/main" id="{F87C8362-8004-4935-97D7-FA6115F9C2FC}"/>
              </a:ext>
            </a:extLst>
          </p:cNvPr>
          <p:cNvSpPr>
            <a:spLocks noGrp="1"/>
          </p:cNvSpPr>
          <p:nvPr>
            <p:ph type="title"/>
          </p:nvPr>
        </p:nvSpPr>
        <p:spPr/>
        <p:txBody>
          <a:bodyPr/>
          <a:lstStyle/>
          <a:p>
            <a:r>
              <a:rPr lang="en-GB" noProof="0" dirty="0"/>
              <a:t>Course aims</a:t>
            </a:r>
          </a:p>
        </p:txBody>
      </p:sp>
      <p:sp>
        <p:nvSpPr>
          <p:cNvPr id="4" name="Slide Number Placeholder 3">
            <a:extLst>
              <a:ext uri="{FF2B5EF4-FFF2-40B4-BE49-F238E27FC236}">
                <a16:creationId xmlns:a16="http://schemas.microsoft.com/office/drawing/2014/main" id="{CB9BDCFF-E613-4693-8452-F066573985D4}"/>
              </a:ext>
            </a:extLst>
          </p:cNvPr>
          <p:cNvSpPr>
            <a:spLocks noGrp="1"/>
          </p:cNvSpPr>
          <p:nvPr>
            <p:ph type="sldNum" sz="quarter" idx="10"/>
          </p:nvPr>
        </p:nvSpPr>
        <p:spPr/>
        <p:txBody>
          <a:bodyPr/>
          <a:lstStyle/>
          <a:p>
            <a:pPr>
              <a:defRPr/>
            </a:pPr>
            <a:fld id="{E5717E7F-5007-4559-A9EA-6621C16865F0}" type="slidenum">
              <a:rPr lang="en-GB" noProof="0" smtClean="0"/>
              <a:pPr>
                <a:defRPr/>
              </a:pPr>
              <a:t>2</a:t>
            </a:fld>
            <a:endParaRPr lang="en-GB" noProof="0" dirty="0"/>
          </a:p>
        </p:txBody>
      </p:sp>
    </p:spTree>
    <p:extLst>
      <p:ext uri="{BB962C8B-B14F-4D97-AF65-F5344CB8AC3E}">
        <p14:creationId xmlns:p14="http://schemas.microsoft.com/office/powerpoint/2010/main" val="2827721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D422F-D0E5-AD98-076C-667223FC592C}"/>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927FC6D6-F764-CF4B-3370-8E8C071ABAFE}"/>
              </a:ext>
            </a:extLst>
          </p:cNvPr>
          <p:cNvSpPr>
            <a:spLocks noGrp="1"/>
          </p:cNvSpPr>
          <p:nvPr>
            <p:ph type="body" sz="quarter" idx="11"/>
          </p:nvPr>
        </p:nvSpPr>
        <p:spPr/>
        <p:txBody>
          <a:bodyPr/>
          <a:lstStyle/>
          <a:p>
            <a:pPr marL="0" indent="0">
              <a:buClr>
                <a:schemeClr val="tx1"/>
              </a:buClr>
              <a:buNone/>
            </a:pPr>
            <a:r>
              <a:rPr lang="en-GB" sz="2200" b="1" noProof="0" dirty="0">
                <a:latin typeface="+mj-lt"/>
              </a:rPr>
              <a:t>In session 1:</a:t>
            </a:r>
          </a:p>
          <a:p>
            <a:pPr>
              <a:buClr>
                <a:schemeClr val="tx1"/>
              </a:buClr>
            </a:pPr>
            <a:endParaRPr lang="en-GB" sz="2200" noProof="0" dirty="0">
              <a:latin typeface="+mj-lt"/>
            </a:endParaRPr>
          </a:p>
          <a:p>
            <a:pPr marL="457200" indent="-457200">
              <a:spcAft>
                <a:spcPts val="600"/>
              </a:spcAft>
              <a:buFont typeface="+mj-lt"/>
              <a:buAutoNum type="arabicPeriod"/>
            </a:pPr>
            <a:r>
              <a:rPr lang="en-GB" sz="2200" noProof="0" dirty="0"/>
              <a:t>What’s special about survival/time-to-event data?</a:t>
            </a:r>
          </a:p>
          <a:p>
            <a:pPr marL="457200" indent="-457200">
              <a:spcAft>
                <a:spcPts val="600"/>
              </a:spcAft>
              <a:buFont typeface="+mj-lt"/>
              <a:buAutoNum type="arabicPeriod"/>
            </a:pPr>
            <a:r>
              <a:rPr lang="en-GB" sz="2200" noProof="0" dirty="0"/>
              <a:t>Survival curves (Kaplan-Meier estimation)</a:t>
            </a:r>
          </a:p>
          <a:p>
            <a:pPr marL="457200" indent="-457200">
              <a:spcAft>
                <a:spcPts val="600"/>
              </a:spcAft>
              <a:buFont typeface="+mj-lt"/>
              <a:buAutoNum type="arabicPeriod"/>
            </a:pPr>
            <a:r>
              <a:rPr lang="en-GB" sz="2200" noProof="0" dirty="0"/>
              <a:t>Comparing two curves (log rank test)</a:t>
            </a:r>
          </a:p>
        </p:txBody>
      </p:sp>
      <p:sp>
        <p:nvSpPr>
          <p:cNvPr id="5" name="Title 4">
            <a:extLst>
              <a:ext uri="{FF2B5EF4-FFF2-40B4-BE49-F238E27FC236}">
                <a16:creationId xmlns:a16="http://schemas.microsoft.com/office/drawing/2014/main" id="{60F1600A-5AA9-1E83-97FE-DD96D00838F2}"/>
              </a:ext>
            </a:extLst>
          </p:cNvPr>
          <p:cNvSpPr>
            <a:spLocks noGrp="1"/>
          </p:cNvSpPr>
          <p:nvPr>
            <p:ph type="title"/>
          </p:nvPr>
        </p:nvSpPr>
        <p:spPr/>
        <p:txBody>
          <a:bodyPr/>
          <a:lstStyle/>
          <a:p>
            <a:r>
              <a:rPr lang="en-GB" noProof="0" dirty="0"/>
              <a:t>Session 1</a:t>
            </a:r>
          </a:p>
        </p:txBody>
      </p:sp>
      <p:sp>
        <p:nvSpPr>
          <p:cNvPr id="4" name="Slide Number Placeholder 3">
            <a:extLst>
              <a:ext uri="{FF2B5EF4-FFF2-40B4-BE49-F238E27FC236}">
                <a16:creationId xmlns:a16="http://schemas.microsoft.com/office/drawing/2014/main" id="{D5C1CE49-4194-F377-337A-7D306213ACC5}"/>
              </a:ext>
            </a:extLst>
          </p:cNvPr>
          <p:cNvSpPr>
            <a:spLocks noGrp="1"/>
          </p:cNvSpPr>
          <p:nvPr>
            <p:ph type="sldNum" sz="quarter" idx="10"/>
          </p:nvPr>
        </p:nvSpPr>
        <p:spPr/>
        <p:txBody>
          <a:bodyPr/>
          <a:lstStyle/>
          <a:p>
            <a:pPr>
              <a:defRPr/>
            </a:pPr>
            <a:fld id="{E5717E7F-5007-4559-A9EA-6621C16865F0}" type="slidenum">
              <a:rPr lang="en-GB" noProof="0" smtClean="0"/>
              <a:pPr>
                <a:defRPr/>
              </a:pPr>
              <a:t>3</a:t>
            </a:fld>
            <a:endParaRPr lang="en-GB" noProof="0" dirty="0"/>
          </a:p>
        </p:txBody>
      </p:sp>
    </p:spTree>
    <p:extLst>
      <p:ext uri="{BB962C8B-B14F-4D97-AF65-F5344CB8AC3E}">
        <p14:creationId xmlns:p14="http://schemas.microsoft.com/office/powerpoint/2010/main" val="40240450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A6A57-F335-9BF9-39DD-750C6BC67687}"/>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3679C1EC-2EB9-142B-11CA-DF8191C29582}"/>
              </a:ext>
            </a:extLst>
          </p:cNvPr>
          <p:cNvSpPr>
            <a:spLocks noGrp="1"/>
          </p:cNvSpPr>
          <p:nvPr>
            <p:ph type="body" sz="quarter" idx="11"/>
          </p:nvPr>
        </p:nvSpPr>
        <p:spPr/>
        <p:txBody>
          <a:bodyPr/>
          <a:lstStyle/>
          <a:p>
            <a:pPr marL="0" indent="0">
              <a:buClr>
                <a:schemeClr val="tx1"/>
              </a:buClr>
              <a:buNone/>
            </a:pPr>
            <a:r>
              <a:rPr lang="en-GB" sz="2200" b="1" noProof="0" dirty="0">
                <a:latin typeface="+mj-lt"/>
              </a:rPr>
              <a:t>In session 2:</a:t>
            </a:r>
          </a:p>
          <a:p>
            <a:pPr>
              <a:buClr>
                <a:schemeClr val="tx1"/>
              </a:buClr>
            </a:pPr>
            <a:endParaRPr lang="en-GB" sz="2200" noProof="0" dirty="0">
              <a:latin typeface="+mj-lt"/>
            </a:endParaRPr>
          </a:p>
          <a:p>
            <a:pPr marL="457200" indent="-457200">
              <a:buFont typeface="+mj-lt"/>
              <a:buAutoNum type="arabicPeriod" startAt="4"/>
            </a:pPr>
            <a:r>
              <a:rPr lang="en-GB" dirty="0"/>
              <a:t>Continuous predictor variables</a:t>
            </a:r>
          </a:p>
          <a:p>
            <a:pPr marL="457200" indent="-457200">
              <a:buFont typeface="+mj-lt"/>
              <a:buAutoNum type="arabicPeriod" startAt="4"/>
            </a:pPr>
            <a:r>
              <a:rPr lang="en-GB" dirty="0"/>
              <a:t>Multiple predictor variables (Cox regression)</a:t>
            </a:r>
          </a:p>
          <a:p>
            <a:pPr marL="457200" indent="-457200">
              <a:buFont typeface="+mj-lt"/>
              <a:buAutoNum type="arabicPeriod" startAt="4"/>
            </a:pPr>
            <a:r>
              <a:rPr lang="en-GB" dirty="0"/>
              <a:t>Evaluating &amp; comparing models</a:t>
            </a:r>
          </a:p>
          <a:p>
            <a:pPr marL="0" indent="0">
              <a:buNone/>
            </a:pPr>
            <a:endParaRPr lang="en-GB" dirty="0"/>
          </a:p>
        </p:txBody>
      </p:sp>
      <p:sp>
        <p:nvSpPr>
          <p:cNvPr id="5" name="Title 4">
            <a:extLst>
              <a:ext uri="{FF2B5EF4-FFF2-40B4-BE49-F238E27FC236}">
                <a16:creationId xmlns:a16="http://schemas.microsoft.com/office/drawing/2014/main" id="{0F5613B8-AE01-7AB0-7886-567C9AAF47EC}"/>
              </a:ext>
            </a:extLst>
          </p:cNvPr>
          <p:cNvSpPr>
            <a:spLocks noGrp="1"/>
          </p:cNvSpPr>
          <p:nvPr>
            <p:ph type="title"/>
          </p:nvPr>
        </p:nvSpPr>
        <p:spPr/>
        <p:txBody>
          <a:bodyPr/>
          <a:lstStyle/>
          <a:p>
            <a:r>
              <a:rPr lang="en-GB" noProof="0" dirty="0"/>
              <a:t>Session 2</a:t>
            </a:r>
          </a:p>
        </p:txBody>
      </p:sp>
      <p:sp>
        <p:nvSpPr>
          <p:cNvPr id="4" name="Slide Number Placeholder 3">
            <a:extLst>
              <a:ext uri="{FF2B5EF4-FFF2-40B4-BE49-F238E27FC236}">
                <a16:creationId xmlns:a16="http://schemas.microsoft.com/office/drawing/2014/main" id="{CC4D1EB1-DE3C-EC89-E679-A7BE67F4E151}"/>
              </a:ext>
            </a:extLst>
          </p:cNvPr>
          <p:cNvSpPr>
            <a:spLocks noGrp="1"/>
          </p:cNvSpPr>
          <p:nvPr>
            <p:ph type="sldNum" sz="quarter" idx="10"/>
          </p:nvPr>
        </p:nvSpPr>
        <p:spPr/>
        <p:txBody>
          <a:bodyPr/>
          <a:lstStyle/>
          <a:p>
            <a:pPr>
              <a:defRPr/>
            </a:pPr>
            <a:fld id="{E5717E7F-5007-4559-A9EA-6621C16865F0}" type="slidenum">
              <a:rPr lang="en-GB" noProof="0" smtClean="0"/>
              <a:pPr>
                <a:defRPr/>
              </a:pPr>
              <a:t>4</a:t>
            </a:fld>
            <a:endParaRPr lang="en-GB" noProof="0" dirty="0"/>
          </a:p>
        </p:txBody>
      </p:sp>
    </p:spTree>
    <p:extLst>
      <p:ext uri="{BB962C8B-B14F-4D97-AF65-F5344CB8AC3E}">
        <p14:creationId xmlns:p14="http://schemas.microsoft.com/office/powerpoint/2010/main" val="40586736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763EF-D6C6-0098-F8AA-DD8957BD7FE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5612F39-9323-B39C-553C-4E51B4AA6F8D}"/>
              </a:ext>
            </a:extLst>
          </p:cNvPr>
          <p:cNvSpPr>
            <a:spLocks noGrp="1"/>
          </p:cNvSpPr>
          <p:nvPr>
            <p:ph type="body" sz="quarter" idx="12"/>
          </p:nvPr>
        </p:nvSpPr>
        <p:spPr/>
        <p:txBody>
          <a:bodyPr/>
          <a:lstStyle/>
          <a:p>
            <a:r>
              <a:rPr lang="en-GB" noProof="0" dirty="0"/>
              <a:t>Why do we need unique analysis methods?</a:t>
            </a:r>
          </a:p>
        </p:txBody>
      </p:sp>
      <p:sp>
        <p:nvSpPr>
          <p:cNvPr id="5" name="Text Placeholder 4">
            <a:extLst>
              <a:ext uri="{FF2B5EF4-FFF2-40B4-BE49-F238E27FC236}">
                <a16:creationId xmlns:a16="http://schemas.microsoft.com/office/drawing/2014/main" id="{54505864-7027-3FD3-5660-EB303BA5BD84}"/>
              </a:ext>
            </a:extLst>
          </p:cNvPr>
          <p:cNvSpPr>
            <a:spLocks noGrp="1"/>
          </p:cNvSpPr>
          <p:nvPr>
            <p:ph type="body" sz="quarter" idx="11"/>
          </p:nvPr>
        </p:nvSpPr>
        <p:spPr/>
        <p:txBody>
          <a:bodyPr anchor="b"/>
          <a:lstStyle/>
          <a:p>
            <a:pPr marL="0" indent="0">
              <a:buNone/>
            </a:pPr>
            <a:r>
              <a:rPr lang="en-GB" sz="2800" b="1" noProof="0" dirty="0">
                <a:latin typeface="Arial" panose="020B0604020202020204" pitchFamily="34" charset="0"/>
                <a:cs typeface="Arial" panose="020B0604020202020204" pitchFamily="34" charset="0"/>
              </a:rPr>
              <a:t>1. Survival (time-to-event) data</a:t>
            </a:r>
          </a:p>
        </p:txBody>
      </p:sp>
      <p:sp>
        <p:nvSpPr>
          <p:cNvPr id="3" name="Slide Number Placeholder 2">
            <a:extLst>
              <a:ext uri="{FF2B5EF4-FFF2-40B4-BE49-F238E27FC236}">
                <a16:creationId xmlns:a16="http://schemas.microsoft.com/office/drawing/2014/main" id="{3BDCF5F5-E1D0-81DC-2FC7-F7D9FE7D484E}"/>
              </a:ext>
            </a:extLst>
          </p:cNvPr>
          <p:cNvSpPr>
            <a:spLocks noGrp="1"/>
          </p:cNvSpPr>
          <p:nvPr>
            <p:ph type="sldNum" sz="quarter" idx="10"/>
          </p:nvPr>
        </p:nvSpPr>
        <p:spPr/>
        <p:txBody>
          <a:bodyPr/>
          <a:lstStyle/>
          <a:p>
            <a:pPr>
              <a:defRPr/>
            </a:pPr>
            <a:fld id="{062FE7C6-874C-4E62-8759-08C2AB2543BB}" type="slidenum">
              <a:rPr lang="en-GB" noProof="0" smtClean="0"/>
              <a:pPr>
                <a:defRPr/>
              </a:pPr>
              <a:t>5</a:t>
            </a:fld>
            <a:endParaRPr lang="en-GB" noProof="0" dirty="0"/>
          </a:p>
        </p:txBody>
      </p:sp>
    </p:spTree>
    <p:extLst>
      <p:ext uri="{BB962C8B-B14F-4D97-AF65-F5344CB8AC3E}">
        <p14:creationId xmlns:p14="http://schemas.microsoft.com/office/powerpoint/2010/main" val="31497696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1CDE68D-E69F-C39C-D2C4-BD4C1554733E}"/>
              </a:ext>
            </a:extLst>
          </p:cNvPr>
          <p:cNvSpPr>
            <a:spLocks noGrp="1"/>
          </p:cNvSpPr>
          <p:nvPr>
            <p:ph type="title"/>
          </p:nvPr>
        </p:nvSpPr>
        <p:spPr/>
        <p:txBody>
          <a:bodyPr/>
          <a:lstStyle/>
          <a:p>
            <a:r>
              <a:rPr lang="en-GB" dirty="0"/>
              <a:t>Survival data</a:t>
            </a:r>
          </a:p>
        </p:txBody>
      </p:sp>
      <p:sp>
        <p:nvSpPr>
          <p:cNvPr id="4" name="Slide Number Placeholder 3">
            <a:extLst>
              <a:ext uri="{FF2B5EF4-FFF2-40B4-BE49-F238E27FC236}">
                <a16:creationId xmlns:a16="http://schemas.microsoft.com/office/drawing/2014/main" id="{927D1330-7776-69A3-BB7F-F448F7E8885B}"/>
              </a:ext>
            </a:extLst>
          </p:cNvPr>
          <p:cNvSpPr>
            <a:spLocks noGrp="1"/>
          </p:cNvSpPr>
          <p:nvPr>
            <p:ph type="sldNum" sz="quarter" idx="10"/>
          </p:nvPr>
        </p:nvSpPr>
        <p:spPr/>
        <p:txBody>
          <a:bodyPr/>
          <a:lstStyle/>
          <a:p>
            <a:pPr>
              <a:defRPr/>
            </a:pPr>
            <a:fld id="{CD3FC0C4-D681-4CE5-B41E-BCE48B80373A}" type="slidenum">
              <a:rPr lang="en-GB" smtClean="0"/>
              <a:pPr>
                <a:defRPr/>
              </a:pPr>
              <a:t>6</a:t>
            </a:fld>
            <a:endParaRPr lang="en-GB"/>
          </a:p>
        </p:txBody>
      </p:sp>
      <p:grpSp>
        <p:nvGrpSpPr>
          <p:cNvPr id="6" name="Group 5">
            <a:extLst>
              <a:ext uri="{FF2B5EF4-FFF2-40B4-BE49-F238E27FC236}">
                <a16:creationId xmlns:a16="http://schemas.microsoft.com/office/drawing/2014/main" id="{442E8C84-3283-6AEA-421E-22343FF41737}"/>
              </a:ext>
            </a:extLst>
          </p:cNvPr>
          <p:cNvGrpSpPr/>
          <p:nvPr/>
        </p:nvGrpSpPr>
        <p:grpSpPr>
          <a:xfrm>
            <a:off x="1786417" y="2132856"/>
            <a:ext cx="5207260" cy="2354312"/>
            <a:chOff x="2447764" y="2967831"/>
            <a:chExt cx="5207260" cy="2354312"/>
          </a:xfrm>
        </p:grpSpPr>
        <p:sp>
          <p:nvSpPr>
            <p:cNvPr id="7" name="Arrow: Right 6">
              <a:extLst>
                <a:ext uri="{FF2B5EF4-FFF2-40B4-BE49-F238E27FC236}">
                  <a16:creationId xmlns:a16="http://schemas.microsoft.com/office/drawing/2014/main" id="{C6D21EA5-DF46-CE9F-7123-697141E1F1ED}"/>
                </a:ext>
              </a:extLst>
            </p:cNvPr>
            <p:cNvSpPr/>
            <p:nvPr/>
          </p:nvSpPr>
          <p:spPr>
            <a:xfrm>
              <a:off x="2447764" y="3213100"/>
              <a:ext cx="3132348" cy="423862"/>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descr="Race Flag with solid fill">
              <a:extLst>
                <a:ext uri="{FF2B5EF4-FFF2-40B4-BE49-F238E27FC236}">
                  <a16:creationId xmlns:a16="http://schemas.microsoft.com/office/drawing/2014/main" id="{E4F92C7D-3C2A-5C3E-5F98-23220CFFF4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3824" y="2967831"/>
              <a:ext cx="914400" cy="914400"/>
            </a:xfrm>
            <a:prstGeom prst="rect">
              <a:avLst/>
            </a:prstGeom>
          </p:spPr>
        </p:pic>
        <p:sp>
          <p:nvSpPr>
            <p:cNvPr id="9" name="Arrow: Right 8">
              <a:extLst>
                <a:ext uri="{FF2B5EF4-FFF2-40B4-BE49-F238E27FC236}">
                  <a16:creationId xmlns:a16="http://schemas.microsoft.com/office/drawing/2014/main" id="{5450430C-FCB0-BEEB-9A90-DE14B5935B26}"/>
                </a:ext>
              </a:extLst>
            </p:cNvPr>
            <p:cNvSpPr/>
            <p:nvPr/>
          </p:nvSpPr>
          <p:spPr>
            <a:xfrm>
              <a:off x="2447764" y="3933056"/>
              <a:ext cx="2124236" cy="423862"/>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Arrow: Right 9">
              <a:extLst>
                <a:ext uri="{FF2B5EF4-FFF2-40B4-BE49-F238E27FC236}">
                  <a16:creationId xmlns:a16="http://schemas.microsoft.com/office/drawing/2014/main" id="{B7D52C68-7672-7CC8-75A8-F6A368992776}"/>
                </a:ext>
              </a:extLst>
            </p:cNvPr>
            <p:cNvSpPr/>
            <p:nvPr/>
          </p:nvSpPr>
          <p:spPr>
            <a:xfrm>
              <a:off x="2447764" y="4653012"/>
              <a:ext cx="4212468" cy="423862"/>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descr="Race Flag with solid fill">
              <a:extLst>
                <a:ext uri="{FF2B5EF4-FFF2-40B4-BE49-F238E27FC236}">
                  <a16:creationId xmlns:a16="http://schemas.microsoft.com/office/drawing/2014/main" id="{1DA1139E-2C1C-1277-0B65-39D6591F3DE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65712" y="3687787"/>
              <a:ext cx="914400" cy="914400"/>
            </a:xfrm>
            <a:prstGeom prst="rect">
              <a:avLst/>
            </a:prstGeom>
          </p:spPr>
        </p:pic>
        <p:pic>
          <p:nvPicPr>
            <p:cNvPr id="12" name="Graphic 11" descr="Race Flag with solid fill">
              <a:extLst>
                <a:ext uri="{FF2B5EF4-FFF2-40B4-BE49-F238E27FC236}">
                  <a16:creationId xmlns:a16="http://schemas.microsoft.com/office/drawing/2014/main" id="{F3934037-D178-5681-1E17-9CA0E529CF5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40624" y="4407743"/>
              <a:ext cx="914400" cy="914400"/>
            </a:xfrm>
            <a:prstGeom prst="rect">
              <a:avLst/>
            </a:prstGeom>
          </p:spPr>
        </p:pic>
        <p:cxnSp>
          <p:nvCxnSpPr>
            <p:cNvPr id="13" name="Straight Connector 12">
              <a:extLst>
                <a:ext uri="{FF2B5EF4-FFF2-40B4-BE49-F238E27FC236}">
                  <a16:creationId xmlns:a16="http://schemas.microsoft.com/office/drawing/2014/main" id="{24AE4815-9ACA-DF40-2E9D-50EF58CBD451}"/>
                </a:ext>
              </a:extLst>
            </p:cNvPr>
            <p:cNvCxnSpPr>
              <a:cxnSpLocks/>
            </p:cNvCxnSpPr>
            <p:nvPr/>
          </p:nvCxnSpPr>
          <p:spPr>
            <a:xfrm>
              <a:off x="2447764" y="3034807"/>
              <a:ext cx="0" cy="2287336"/>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2A716DC7-F69D-A60A-8E3D-3E8AACCD8938}"/>
              </a:ext>
            </a:extLst>
          </p:cNvPr>
          <p:cNvSpPr txBox="1"/>
          <p:nvPr/>
        </p:nvSpPr>
        <p:spPr>
          <a:xfrm>
            <a:off x="1423978" y="1703683"/>
            <a:ext cx="724878" cy="400110"/>
          </a:xfrm>
          <a:prstGeom prst="rect">
            <a:avLst/>
          </a:prstGeom>
          <a:noFill/>
        </p:spPr>
        <p:txBody>
          <a:bodyPr wrap="none" rtlCol="0">
            <a:spAutoFit/>
          </a:bodyPr>
          <a:lstStyle/>
          <a:p>
            <a:r>
              <a:rPr lang="en-GB" sz="2000" dirty="0"/>
              <a:t>Start</a:t>
            </a:r>
          </a:p>
        </p:txBody>
      </p:sp>
      <p:sp>
        <p:nvSpPr>
          <p:cNvPr id="15" name="Right Brace 14">
            <a:extLst>
              <a:ext uri="{FF2B5EF4-FFF2-40B4-BE49-F238E27FC236}">
                <a16:creationId xmlns:a16="http://schemas.microsoft.com/office/drawing/2014/main" id="{03DDCCB3-FE60-4806-C81D-3A917D852949}"/>
              </a:ext>
            </a:extLst>
          </p:cNvPr>
          <p:cNvSpPr/>
          <p:nvPr/>
        </p:nvSpPr>
        <p:spPr>
          <a:xfrm rot="5400000">
            <a:off x="4216479" y="2244545"/>
            <a:ext cx="288034" cy="5266365"/>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16" name="Group 15">
            <a:extLst>
              <a:ext uri="{FF2B5EF4-FFF2-40B4-BE49-F238E27FC236}">
                <a16:creationId xmlns:a16="http://schemas.microsoft.com/office/drawing/2014/main" id="{9030D6AD-1710-DD7C-2966-E4CFFEFBA256}"/>
              </a:ext>
            </a:extLst>
          </p:cNvPr>
          <p:cNvGrpSpPr/>
          <p:nvPr/>
        </p:nvGrpSpPr>
        <p:grpSpPr>
          <a:xfrm>
            <a:off x="3766813" y="5012680"/>
            <a:ext cx="1187365" cy="545931"/>
            <a:chOff x="4004365" y="4967625"/>
            <a:chExt cx="1187365" cy="545931"/>
          </a:xfrm>
        </p:grpSpPr>
        <p:sp>
          <p:nvSpPr>
            <p:cNvPr id="17" name="TextBox 16">
              <a:extLst>
                <a:ext uri="{FF2B5EF4-FFF2-40B4-BE49-F238E27FC236}">
                  <a16:creationId xmlns:a16="http://schemas.microsoft.com/office/drawing/2014/main" id="{32A8BE0B-490A-F0A8-F9E0-BC3BF72B42B9}"/>
                </a:ext>
              </a:extLst>
            </p:cNvPr>
            <p:cNvSpPr txBox="1"/>
            <p:nvPr/>
          </p:nvSpPr>
          <p:spPr>
            <a:xfrm>
              <a:off x="4004365" y="5068232"/>
              <a:ext cx="745845" cy="400110"/>
            </a:xfrm>
            <a:prstGeom prst="rect">
              <a:avLst/>
            </a:prstGeom>
            <a:noFill/>
          </p:spPr>
          <p:txBody>
            <a:bodyPr wrap="none" rtlCol="0">
              <a:spAutoFit/>
            </a:bodyPr>
            <a:lstStyle/>
            <a:p>
              <a:r>
                <a:rPr lang="en-GB" sz="2000" dirty="0"/>
                <a:t>Time</a:t>
              </a:r>
            </a:p>
          </p:txBody>
        </p:sp>
        <p:pic>
          <p:nvPicPr>
            <p:cNvPr id="18" name="Graphic 17" descr="Stopwatch 75% with solid fill">
              <a:extLst>
                <a:ext uri="{FF2B5EF4-FFF2-40B4-BE49-F238E27FC236}">
                  <a16:creationId xmlns:a16="http://schemas.microsoft.com/office/drawing/2014/main" id="{2D5D5BF9-B75D-793C-AECA-94E05D290D3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45799" y="4967625"/>
              <a:ext cx="545931" cy="545931"/>
            </a:xfrm>
            <a:prstGeom prst="rect">
              <a:avLst/>
            </a:prstGeom>
          </p:spPr>
        </p:pic>
      </p:grpSp>
    </p:spTree>
    <p:extLst>
      <p:ext uri="{BB962C8B-B14F-4D97-AF65-F5344CB8AC3E}">
        <p14:creationId xmlns:p14="http://schemas.microsoft.com/office/powerpoint/2010/main" val="8685874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B7804-0CCE-6928-CA28-B3D1FBD02581}"/>
              </a:ext>
            </a:extLst>
          </p:cNvPr>
          <p:cNvSpPr>
            <a:spLocks noGrp="1"/>
          </p:cNvSpPr>
          <p:nvPr>
            <p:ph type="title"/>
          </p:nvPr>
        </p:nvSpPr>
        <p:spPr/>
        <p:txBody>
          <a:bodyPr/>
          <a:lstStyle/>
          <a:p>
            <a:r>
              <a:rPr lang="en-GB" dirty="0"/>
              <a:t>“Time to event”</a:t>
            </a:r>
            <a:br>
              <a:rPr lang="en-GB" dirty="0"/>
            </a:br>
            <a:endParaRPr lang="en-GB" dirty="0"/>
          </a:p>
        </p:txBody>
      </p:sp>
      <p:sp>
        <p:nvSpPr>
          <p:cNvPr id="3" name="Slide Number Placeholder 2">
            <a:extLst>
              <a:ext uri="{FF2B5EF4-FFF2-40B4-BE49-F238E27FC236}">
                <a16:creationId xmlns:a16="http://schemas.microsoft.com/office/drawing/2014/main" id="{129AD31A-0C52-8DBE-55EE-50E8843C5B9A}"/>
              </a:ext>
            </a:extLst>
          </p:cNvPr>
          <p:cNvSpPr>
            <a:spLocks noGrp="1"/>
          </p:cNvSpPr>
          <p:nvPr>
            <p:ph type="sldNum" sz="quarter" idx="10"/>
          </p:nvPr>
        </p:nvSpPr>
        <p:spPr/>
        <p:txBody>
          <a:bodyPr/>
          <a:lstStyle/>
          <a:p>
            <a:pPr>
              <a:defRPr/>
            </a:pPr>
            <a:fld id="{062FE7C6-874C-4E62-8759-08C2AB2543BB}" type="slidenum">
              <a:rPr lang="en-GB" smtClean="0"/>
              <a:pPr>
                <a:defRPr/>
              </a:pPr>
              <a:t>7</a:t>
            </a:fld>
            <a:endParaRPr lang="en-GB"/>
          </a:p>
        </p:txBody>
      </p:sp>
      <p:pic>
        <p:nvPicPr>
          <p:cNvPr id="4" name="Graphic 3" descr="Diploma roll outline">
            <a:extLst>
              <a:ext uri="{FF2B5EF4-FFF2-40B4-BE49-F238E27FC236}">
                <a16:creationId xmlns:a16="http://schemas.microsoft.com/office/drawing/2014/main" id="{D727CE9D-FFF1-0FDA-51F7-A8757E57FCD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810165" y="4530824"/>
            <a:ext cx="914400" cy="914400"/>
          </a:xfrm>
          <a:prstGeom prst="rect">
            <a:avLst/>
          </a:prstGeom>
        </p:spPr>
      </p:pic>
      <p:pic>
        <p:nvPicPr>
          <p:cNvPr id="5" name="Graphic 4" descr="Skull outline">
            <a:extLst>
              <a:ext uri="{FF2B5EF4-FFF2-40B4-BE49-F238E27FC236}">
                <a16:creationId xmlns:a16="http://schemas.microsoft.com/office/drawing/2014/main" id="{7887EA20-6723-C154-AFF8-4B8B59F0D49C}"/>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2477" y="2132856"/>
            <a:ext cx="914400" cy="914400"/>
          </a:xfrm>
          <a:prstGeom prst="rect">
            <a:avLst/>
          </a:prstGeom>
        </p:spPr>
      </p:pic>
      <p:pic>
        <p:nvPicPr>
          <p:cNvPr id="6" name="Graphic 5" descr="Bus outline">
            <a:extLst>
              <a:ext uri="{FF2B5EF4-FFF2-40B4-BE49-F238E27FC236}">
                <a16:creationId xmlns:a16="http://schemas.microsoft.com/office/drawing/2014/main" id="{2B5B87FD-261D-5661-F8B9-D321C02260D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2095670" y="4530824"/>
            <a:ext cx="914400" cy="914400"/>
          </a:xfrm>
          <a:prstGeom prst="rect">
            <a:avLst/>
          </a:prstGeom>
        </p:spPr>
      </p:pic>
      <p:sp>
        <p:nvSpPr>
          <p:cNvPr id="7" name="Arrow: Right 6">
            <a:extLst>
              <a:ext uri="{FF2B5EF4-FFF2-40B4-BE49-F238E27FC236}">
                <a16:creationId xmlns:a16="http://schemas.microsoft.com/office/drawing/2014/main" id="{3D3CF99E-26D9-3394-BA9B-8921808B58DA}"/>
              </a:ext>
            </a:extLst>
          </p:cNvPr>
          <p:cNvSpPr/>
          <p:nvPr/>
        </p:nvSpPr>
        <p:spPr>
          <a:xfrm>
            <a:off x="1786417" y="2378125"/>
            <a:ext cx="3132348" cy="423862"/>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descr="Gears outline">
            <a:extLst>
              <a:ext uri="{FF2B5EF4-FFF2-40B4-BE49-F238E27FC236}">
                <a16:creationId xmlns:a16="http://schemas.microsoft.com/office/drawing/2014/main" id="{B1B45C0D-4EB2-19F1-6E3D-C0D0D77E1351}"/>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4572000" y="4530824"/>
            <a:ext cx="914400" cy="914400"/>
          </a:xfrm>
          <a:prstGeom prst="rect">
            <a:avLst/>
          </a:prstGeom>
        </p:spPr>
      </p:pic>
      <p:cxnSp>
        <p:nvCxnSpPr>
          <p:cNvPr id="9" name="Straight Connector 8">
            <a:extLst>
              <a:ext uri="{FF2B5EF4-FFF2-40B4-BE49-F238E27FC236}">
                <a16:creationId xmlns:a16="http://schemas.microsoft.com/office/drawing/2014/main" id="{EC693184-5FA5-96A9-125C-3F2758FBCE46}"/>
              </a:ext>
            </a:extLst>
          </p:cNvPr>
          <p:cNvCxnSpPr>
            <a:cxnSpLocks/>
          </p:cNvCxnSpPr>
          <p:nvPr/>
        </p:nvCxnSpPr>
        <p:spPr>
          <a:xfrm>
            <a:off x="1786417" y="2199832"/>
            <a:ext cx="0" cy="79712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963D85A-F992-7153-1388-43BBBEA6B171}"/>
              </a:ext>
            </a:extLst>
          </p:cNvPr>
          <p:cNvSpPr txBox="1"/>
          <p:nvPr/>
        </p:nvSpPr>
        <p:spPr>
          <a:xfrm>
            <a:off x="1423978" y="1703683"/>
            <a:ext cx="724878" cy="400110"/>
          </a:xfrm>
          <a:prstGeom prst="rect">
            <a:avLst/>
          </a:prstGeom>
          <a:noFill/>
        </p:spPr>
        <p:txBody>
          <a:bodyPr wrap="none" rtlCol="0">
            <a:spAutoFit/>
          </a:bodyPr>
          <a:lstStyle/>
          <a:p>
            <a:r>
              <a:rPr lang="en-GB" sz="2000" dirty="0"/>
              <a:t>Start</a:t>
            </a:r>
          </a:p>
        </p:txBody>
      </p:sp>
      <p:sp>
        <p:nvSpPr>
          <p:cNvPr id="11" name="Right Brace 10">
            <a:extLst>
              <a:ext uri="{FF2B5EF4-FFF2-40B4-BE49-F238E27FC236}">
                <a16:creationId xmlns:a16="http://schemas.microsoft.com/office/drawing/2014/main" id="{8B60AAD0-1D5F-5FFA-A2A3-3CDC5EEF6FB3}"/>
              </a:ext>
            </a:extLst>
          </p:cNvPr>
          <p:cNvSpPr/>
          <p:nvPr/>
        </p:nvSpPr>
        <p:spPr>
          <a:xfrm rot="5400000">
            <a:off x="4216479" y="723811"/>
            <a:ext cx="288034" cy="5266365"/>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12" name="Group 11">
            <a:extLst>
              <a:ext uri="{FF2B5EF4-FFF2-40B4-BE49-F238E27FC236}">
                <a16:creationId xmlns:a16="http://schemas.microsoft.com/office/drawing/2014/main" id="{5EFD6853-B27C-8CAA-3A19-1CE02AF982D5}"/>
              </a:ext>
            </a:extLst>
          </p:cNvPr>
          <p:cNvGrpSpPr/>
          <p:nvPr/>
        </p:nvGrpSpPr>
        <p:grpSpPr>
          <a:xfrm>
            <a:off x="3766813" y="3491946"/>
            <a:ext cx="1187365" cy="545931"/>
            <a:chOff x="4004365" y="4967625"/>
            <a:chExt cx="1187365" cy="545931"/>
          </a:xfrm>
        </p:grpSpPr>
        <p:sp>
          <p:nvSpPr>
            <p:cNvPr id="13" name="TextBox 12">
              <a:extLst>
                <a:ext uri="{FF2B5EF4-FFF2-40B4-BE49-F238E27FC236}">
                  <a16:creationId xmlns:a16="http://schemas.microsoft.com/office/drawing/2014/main" id="{46C42839-0C4A-37B8-83B7-7D9BCB55B48A}"/>
                </a:ext>
              </a:extLst>
            </p:cNvPr>
            <p:cNvSpPr txBox="1"/>
            <p:nvPr/>
          </p:nvSpPr>
          <p:spPr>
            <a:xfrm>
              <a:off x="4004365" y="5068232"/>
              <a:ext cx="745845" cy="400110"/>
            </a:xfrm>
            <a:prstGeom prst="rect">
              <a:avLst/>
            </a:prstGeom>
            <a:noFill/>
          </p:spPr>
          <p:txBody>
            <a:bodyPr wrap="none" rtlCol="0">
              <a:spAutoFit/>
            </a:bodyPr>
            <a:lstStyle/>
            <a:p>
              <a:r>
                <a:rPr lang="en-GB" sz="2000" dirty="0"/>
                <a:t>Time</a:t>
              </a:r>
            </a:p>
          </p:txBody>
        </p:sp>
        <p:pic>
          <p:nvPicPr>
            <p:cNvPr id="14" name="Graphic 13" descr="Stopwatch 75% with solid fill">
              <a:extLst>
                <a:ext uri="{FF2B5EF4-FFF2-40B4-BE49-F238E27FC236}">
                  <a16:creationId xmlns:a16="http://schemas.microsoft.com/office/drawing/2014/main" id="{68C03EAB-630D-CF96-C5BA-BC2C3D36B23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645799" y="4967625"/>
              <a:ext cx="545931" cy="545931"/>
            </a:xfrm>
            <a:prstGeom prst="rect">
              <a:avLst/>
            </a:prstGeom>
          </p:spPr>
        </p:pic>
      </p:grpSp>
      <p:pic>
        <p:nvPicPr>
          <p:cNvPr id="15" name="Graphic 14" descr="Fishing outline">
            <a:extLst>
              <a:ext uri="{FF2B5EF4-FFF2-40B4-BE49-F238E27FC236}">
                <a16:creationId xmlns:a16="http://schemas.microsoft.com/office/drawing/2014/main" id="{083236EE-F235-ACE5-0089-EA8E0B669EF9}"/>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3333835" y="4530824"/>
            <a:ext cx="914400" cy="914400"/>
          </a:xfrm>
          <a:prstGeom prst="rect">
            <a:avLst/>
          </a:prstGeom>
        </p:spPr>
      </p:pic>
    </p:spTree>
    <p:extLst>
      <p:ext uri="{BB962C8B-B14F-4D97-AF65-F5344CB8AC3E}">
        <p14:creationId xmlns:p14="http://schemas.microsoft.com/office/powerpoint/2010/main" val="3401049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2EA4E9B4-EF53-4517-4FB3-A6A3369D996F}"/>
              </a:ext>
            </a:extLst>
          </p:cNvPr>
          <p:cNvSpPr>
            <a:spLocks noGrp="1"/>
          </p:cNvSpPr>
          <p:nvPr>
            <p:ph type="body" sz="quarter" idx="11"/>
          </p:nvPr>
        </p:nvSpPr>
        <p:spPr/>
        <p:txBody>
          <a:bodyPr/>
          <a:lstStyle/>
          <a:p>
            <a:pPr marL="0" indent="0">
              <a:buNone/>
            </a:pPr>
            <a:r>
              <a:rPr lang="en-US" dirty="0"/>
              <a:t>Why can’t we use “regular” linear models?</a:t>
            </a:r>
          </a:p>
          <a:p>
            <a:endParaRPr lang="en-US" dirty="0"/>
          </a:p>
          <a:p>
            <a:pPr marL="0" indent="0">
              <a:buNone/>
            </a:pPr>
            <a:r>
              <a:rPr lang="en-US" b="1" dirty="0"/>
              <a:t>Quirks of survival data:</a:t>
            </a:r>
            <a:br>
              <a:rPr lang="en-US" b="1" dirty="0"/>
            </a:br>
            <a:endParaRPr lang="en-US" b="1" dirty="0"/>
          </a:p>
          <a:p>
            <a:r>
              <a:rPr lang="en-US" dirty="0"/>
              <a:t>Often (very) </a:t>
            </a:r>
            <a:r>
              <a:rPr lang="en-US" dirty="0">
                <a:solidFill>
                  <a:schemeClr val="accent6"/>
                </a:solidFill>
              </a:rPr>
              <a:t>skewed</a:t>
            </a:r>
          </a:p>
          <a:p>
            <a:r>
              <a:rPr lang="en-US" dirty="0"/>
              <a:t>Values are </a:t>
            </a:r>
            <a:r>
              <a:rPr lang="en-US" dirty="0">
                <a:solidFill>
                  <a:schemeClr val="accent6"/>
                </a:solidFill>
              </a:rPr>
              <a:t>≥0</a:t>
            </a:r>
            <a:br>
              <a:rPr lang="en-US" dirty="0"/>
            </a:br>
            <a:endParaRPr lang="en-US" dirty="0"/>
          </a:p>
          <a:p>
            <a:r>
              <a:rPr lang="en-US" b="1" dirty="0">
                <a:solidFill>
                  <a:schemeClr val="accent2"/>
                </a:solidFill>
              </a:rPr>
              <a:t>Censoring</a:t>
            </a:r>
            <a:r>
              <a:rPr lang="en-US" dirty="0"/>
              <a:t> </a:t>
            </a:r>
            <a:br>
              <a:rPr lang="en-US" dirty="0"/>
            </a:br>
            <a:r>
              <a:rPr lang="en-US" dirty="0"/>
              <a:t>(missing data)</a:t>
            </a:r>
          </a:p>
          <a:p>
            <a:endParaRPr lang="en-US" dirty="0"/>
          </a:p>
        </p:txBody>
      </p:sp>
      <p:sp>
        <p:nvSpPr>
          <p:cNvPr id="4" name="Title 3">
            <a:extLst>
              <a:ext uri="{FF2B5EF4-FFF2-40B4-BE49-F238E27FC236}">
                <a16:creationId xmlns:a16="http://schemas.microsoft.com/office/drawing/2014/main" id="{225BAF11-6BAF-FDC6-B5A2-F1E438E568B6}"/>
              </a:ext>
            </a:extLst>
          </p:cNvPr>
          <p:cNvSpPr>
            <a:spLocks noGrp="1"/>
          </p:cNvSpPr>
          <p:nvPr>
            <p:ph type="title"/>
          </p:nvPr>
        </p:nvSpPr>
        <p:spPr/>
        <p:txBody>
          <a:bodyPr/>
          <a:lstStyle/>
          <a:p>
            <a:r>
              <a:rPr lang="en-GB" dirty="0"/>
              <a:t>Properties of survival data</a:t>
            </a:r>
          </a:p>
        </p:txBody>
      </p:sp>
      <p:sp>
        <p:nvSpPr>
          <p:cNvPr id="3" name="Slide Number Placeholder 2">
            <a:extLst>
              <a:ext uri="{FF2B5EF4-FFF2-40B4-BE49-F238E27FC236}">
                <a16:creationId xmlns:a16="http://schemas.microsoft.com/office/drawing/2014/main" id="{5CD246F3-6095-FE98-A031-3E6C9DF4E54D}"/>
              </a:ext>
            </a:extLst>
          </p:cNvPr>
          <p:cNvSpPr>
            <a:spLocks noGrp="1"/>
          </p:cNvSpPr>
          <p:nvPr>
            <p:ph type="sldNum" sz="quarter" idx="10"/>
          </p:nvPr>
        </p:nvSpPr>
        <p:spPr/>
        <p:txBody>
          <a:bodyPr/>
          <a:lstStyle/>
          <a:p>
            <a:pPr>
              <a:defRPr/>
            </a:pPr>
            <a:fld id="{062FE7C6-874C-4E62-8759-08C2AB2543BB}" type="slidenum">
              <a:rPr lang="en-GB" smtClean="0"/>
              <a:pPr>
                <a:defRPr/>
              </a:pPr>
              <a:t>8</a:t>
            </a:fld>
            <a:endParaRPr lang="en-GB"/>
          </a:p>
        </p:txBody>
      </p:sp>
      <p:pic>
        <p:nvPicPr>
          <p:cNvPr id="8" name="Picture 7">
            <a:extLst>
              <a:ext uri="{FF2B5EF4-FFF2-40B4-BE49-F238E27FC236}">
                <a16:creationId xmlns:a16="http://schemas.microsoft.com/office/drawing/2014/main" id="{B1BA7FB6-FD87-4D72-E015-F4417957755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56342" y="2564904"/>
            <a:ext cx="4572009" cy="2743206"/>
          </a:xfrm>
          <a:prstGeom prst="rect">
            <a:avLst/>
          </a:prstGeom>
        </p:spPr>
      </p:pic>
    </p:spTree>
    <p:extLst>
      <p:ext uri="{BB962C8B-B14F-4D97-AF65-F5344CB8AC3E}">
        <p14:creationId xmlns:p14="http://schemas.microsoft.com/office/powerpoint/2010/main" val="3891956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44FD13-6DED-9E0E-27F3-3918B5F25AAF}"/>
              </a:ext>
            </a:extLst>
          </p:cNvPr>
          <p:cNvSpPr>
            <a:spLocks noGrp="1"/>
          </p:cNvSpPr>
          <p:nvPr>
            <p:ph type="title"/>
          </p:nvPr>
        </p:nvSpPr>
        <p:spPr/>
        <p:txBody>
          <a:bodyPr/>
          <a:lstStyle/>
          <a:p>
            <a:r>
              <a:rPr lang="en-GB" dirty="0"/>
              <a:t>Censoring</a:t>
            </a:r>
          </a:p>
        </p:txBody>
      </p:sp>
      <p:sp>
        <p:nvSpPr>
          <p:cNvPr id="3" name="Slide Number Placeholder 2">
            <a:extLst>
              <a:ext uri="{FF2B5EF4-FFF2-40B4-BE49-F238E27FC236}">
                <a16:creationId xmlns:a16="http://schemas.microsoft.com/office/drawing/2014/main" id="{7C3E3ADD-630C-A649-FE7A-7D258101F130}"/>
              </a:ext>
            </a:extLst>
          </p:cNvPr>
          <p:cNvSpPr>
            <a:spLocks noGrp="1"/>
          </p:cNvSpPr>
          <p:nvPr>
            <p:ph type="sldNum" sz="quarter" idx="10"/>
          </p:nvPr>
        </p:nvSpPr>
        <p:spPr/>
        <p:txBody>
          <a:bodyPr/>
          <a:lstStyle/>
          <a:p>
            <a:pPr>
              <a:defRPr/>
            </a:pPr>
            <a:fld id="{062FE7C6-874C-4E62-8759-08C2AB2543BB}" type="slidenum">
              <a:rPr lang="en-GB" smtClean="0"/>
              <a:pPr>
                <a:defRPr/>
              </a:pPr>
              <a:t>9</a:t>
            </a:fld>
            <a:endParaRPr lang="en-GB"/>
          </a:p>
        </p:txBody>
      </p:sp>
      <p:sp>
        <p:nvSpPr>
          <p:cNvPr id="4" name="TextBox 3">
            <a:extLst>
              <a:ext uri="{FF2B5EF4-FFF2-40B4-BE49-F238E27FC236}">
                <a16:creationId xmlns:a16="http://schemas.microsoft.com/office/drawing/2014/main" id="{0DFC7B7D-C2BF-F8DF-8376-44C1647F2DA4}"/>
              </a:ext>
            </a:extLst>
          </p:cNvPr>
          <p:cNvSpPr txBox="1"/>
          <p:nvPr/>
        </p:nvSpPr>
        <p:spPr>
          <a:xfrm>
            <a:off x="599533" y="1632170"/>
            <a:ext cx="1851631" cy="338554"/>
          </a:xfrm>
          <a:prstGeom prst="rect">
            <a:avLst/>
          </a:prstGeom>
          <a:noFill/>
        </p:spPr>
        <p:txBody>
          <a:bodyPr wrap="square" rtlCol="0">
            <a:spAutoFit/>
          </a:bodyPr>
          <a:lstStyle/>
          <a:p>
            <a:pPr algn="ctr"/>
            <a:r>
              <a:rPr lang="en-GB" sz="1600" dirty="0"/>
              <a:t>Start of study</a:t>
            </a:r>
          </a:p>
        </p:txBody>
      </p:sp>
      <p:sp>
        <p:nvSpPr>
          <p:cNvPr id="5" name="TextBox 4">
            <a:extLst>
              <a:ext uri="{FF2B5EF4-FFF2-40B4-BE49-F238E27FC236}">
                <a16:creationId xmlns:a16="http://schemas.microsoft.com/office/drawing/2014/main" id="{93476769-1F19-79BD-8211-5CE4ACB7D8C8}"/>
              </a:ext>
            </a:extLst>
          </p:cNvPr>
          <p:cNvSpPr txBox="1"/>
          <p:nvPr/>
        </p:nvSpPr>
        <p:spPr>
          <a:xfrm>
            <a:off x="5891229" y="1628800"/>
            <a:ext cx="1682021" cy="338554"/>
          </a:xfrm>
          <a:prstGeom prst="rect">
            <a:avLst/>
          </a:prstGeom>
          <a:noFill/>
        </p:spPr>
        <p:txBody>
          <a:bodyPr wrap="square" rtlCol="0">
            <a:spAutoFit/>
          </a:bodyPr>
          <a:lstStyle/>
          <a:p>
            <a:pPr algn="ctr"/>
            <a:r>
              <a:rPr lang="en-GB" sz="1600" dirty="0"/>
              <a:t>End of study</a:t>
            </a:r>
          </a:p>
        </p:txBody>
      </p:sp>
      <p:grpSp>
        <p:nvGrpSpPr>
          <p:cNvPr id="6" name="Group 5">
            <a:extLst>
              <a:ext uri="{FF2B5EF4-FFF2-40B4-BE49-F238E27FC236}">
                <a16:creationId xmlns:a16="http://schemas.microsoft.com/office/drawing/2014/main" id="{011493ED-510D-05AB-6555-D3C15A2C706A}"/>
              </a:ext>
            </a:extLst>
          </p:cNvPr>
          <p:cNvGrpSpPr/>
          <p:nvPr/>
        </p:nvGrpSpPr>
        <p:grpSpPr>
          <a:xfrm>
            <a:off x="1522072" y="2305156"/>
            <a:ext cx="3456970" cy="691796"/>
            <a:chOff x="1522072" y="2448595"/>
            <a:chExt cx="3456970" cy="691796"/>
          </a:xfrm>
        </p:grpSpPr>
        <p:pic>
          <p:nvPicPr>
            <p:cNvPr id="7" name="Graphic 6" descr="Race Flag with solid fill">
              <a:extLst>
                <a:ext uri="{FF2B5EF4-FFF2-40B4-BE49-F238E27FC236}">
                  <a16:creationId xmlns:a16="http://schemas.microsoft.com/office/drawing/2014/main" id="{4D05B554-E279-617F-23C3-FAD39FB646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55180" y="2716529"/>
              <a:ext cx="423862" cy="423862"/>
            </a:xfrm>
            <a:prstGeom prst="rect">
              <a:avLst/>
            </a:prstGeom>
          </p:spPr>
        </p:pic>
        <p:sp>
          <p:nvSpPr>
            <p:cNvPr id="8" name="TextBox 7">
              <a:extLst>
                <a:ext uri="{FF2B5EF4-FFF2-40B4-BE49-F238E27FC236}">
                  <a16:creationId xmlns:a16="http://schemas.microsoft.com/office/drawing/2014/main" id="{85C38CE9-9E29-A5C0-D0BF-A1581BFF3EA3}"/>
                </a:ext>
              </a:extLst>
            </p:cNvPr>
            <p:cNvSpPr txBox="1"/>
            <p:nvPr/>
          </p:nvSpPr>
          <p:spPr>
            <a:xfrm>
              <a:off x="2291264" y="2448595"/>
              <a:ext cx="1589684" cy="400110"/>
            </a:xfrm>
            <a:prstGeom prst="rect">
              <a:avLst/>
            </a:prstGeom>
            <a:noFill/>
          </p:spPr>
          <p:txBody>
            <a:bodyPr wrap="square" rtlCol="0">
              <a:spAutoFit/>
            </a:bodyPr>
            <a:lstStyle/>
            <a:p>
              <a:pPr algn="ctr"/>
              <a:r>
                <a:rPr lang="en-GB" sz="2000" dirty="0"/>
                <a:t>Uncensored</a:t>
              </a:r>
            </a:p>
          </p:txBody>
        </p:sp>
        <p:cxnSp>
          <p:nvCxnSpPr>
            <p:cNvPr id="9" name="Straight Arrow Connector 8">
              <a:extLst>
                <a:ext uri="{FF2B5EF4-FFF2-40B4-BE49-F238E27FC236}">
                  <a16:creationId xmlns:a16="http://schemas.microsoft.com/office/drawing/2014/main" id="{C8FC2C8C-703E-0602-E7FD-4237563ADAC7}"/>
                </a:ext>
              </a:extLst>
            </p:cNvPr>
            <p:cNvCxnSpPr>
              <a:cxnSpLocks/>
            </p:cNvCxnSpPr>
            <p:nvPr/>
          </p:nvCxnSpPr>
          <p:spPr>
            <a:xfrm>
              <a:off x="1522072" y="2924818"/>
              <a:ext cx="2977920" cy="0"/>
            </a:xfrm>
            <a:prstGeom prst="straightConnector1">
              <a:avLst/>
            </a:prstGeom>
            <a:ln w="57150">
              <a:solidFill>
                <a:srgbClr val="00B1C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3" name="Group 42">
            <a:extLst>
              <a:ext uri="{FF2B5EF4-FFF2-40B4-BE49-F238E27FC236}">
                <a16:creationId xmlns:a16="http://schemas.microsoft.com/office/drawing/2014/main" id="{C876974A-0A17-2548-BF92-DF15794F6E23}"/>
              </a:ext>
            </a:extLst>
          </p:cNvPr>
          <p:cNvGrpSpPr/>
          <p:nvPr/>
        </p:nvGrpSpPr>
        <p:grpSpPr>
          <a:xfrm>
            <a:off x="1503852" y="3284984"/>
            <a:ext cx="6553348" cy="994519"/>
            <a:chOff x="1508042" y="2718889"/>
            <a:chExt cx="6553348" cy="994519"/>
          </a:xfrm>
        </p:grpSpPr>
        <p:grpSp>
          <p:nvGrpSpPr>
            <p:cNvPr id="14" name="Group 13">
              <a:extLst>
                <a:ext uri="{FF2B5EF4-FFF2-40B4-BE49-F238E27FC236}">
                  <a16:creationId xmlns:a16="http://schemas.microsoft.com/office/drawing/2014/main" id="{CC136332-5BE9-39F7-603F-A422D7EC7CF0}"/>
                </a:ext>
              </a:extLst>
            </p:cNvPr>
            <p:cNvGrpSpPr/>
            <p:nvPr/>
          </p:nvGrpSpPr>
          <p:grpSpPr>
            <a:xfrm>
              <a:off x="1508042" y="2718889"/>
              <a:ext cx="6553348" cy="732390"/>
              <a:chOff x="1509899" y="3498476"/>
              <a:chExt cx="6553348" cy="732390"/>
            </a:xfrm>
          </p:grpSpPr>
          <p:cxnSp>
            <p:nvCxnSpPr>
              <p:cNvPr id="15" name="Straight Arrow Connector 14">
                <a:extLst>
                  <a:ext uri="{FF2B5EF4-FFF2-40B4-BE49-F238E27FC236}">
                    <a16:creationId xmlns:a16="http://schemas.microsoft.com/office/drawing/2014/main" id="{E337FA1C-FF87-19B9-3625-6EB5EDE7DAB8}"/>
                  </a:ext>
                </a:extLst>
              </p:cNvPr>
              <p:cNvCxnSpPr>
                <a:cxnSpLocks/>
              </p:cNvCxnSpPr>
              <p:nvPr/>
            </p:nvCxnSpPr>
            <p:spPr>
              <a:xfrm>
                <a:off x="6720199" y="4022090"/>
                <a:ext cx="943280" cy="0"/>
              </a:xfrm>
              <a:prstGeom prst="straightConnector1">
                <a:avLst/>
              </a:prstGeom>
              <a:ln w="57150">
                <a:solidFill>
                  <a:srgbClr val="00B1C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9C8C7F-E56B-5E50-1F10-0099F3FD589D}"/>
                  </a:ext>
                </a:extLst>
              </p:cNvPr>
              <p:cNvCxnSpPr>
                <a:cxnSpLocks/>
              </p:cNvCxnSpPr>
              <p:nvPr/>
            </p:nvCxnSpPr>
            <p:spPr>
              <a:xfrm flipH="1">
                <a:off x="1509899" y="4022090"/>
                <a:ext cx="5210300" cy="0"/>
              </a:xfrm>
              <a:prstGeom prst="line">
                <a:avLst/>
              </a:prstGeom>
              <a:ln w="57150">
                <a:solidFill>
                  <a:srgbClr val="00B1C1"/>
                </a:solidFill>
                <a:prstDash val="solid"/>
              </a:ln>
            </p:spPr>
            <p:style>
              <a:lnRef idx="1">
                <a:schemeClr val="accent1"/>
              </a:lnRef>
              <a:fillRef idx="0">
                <a:schemeClr val="accent1"/>
              </a:fillRef>
              <a:effectRef idx="0">
                <a:schemeClr val="accent1"/>
              </a:effectRef>
              <a:fontRef idx="minor">
                <a:schemeClr val="tx1"/>
              </a:fontRef>
            </p:style>
          </p:cxnSp>
          <p:pic>
            <p:nvPicPr>
              <p:cNvPr id="17" name="Graphic 16" descr="Question Mark with solid fill">
                <a:extLst>
                  <a:ext uri="{FF2B5EF4-FFF2-40B4-BE49-F238E27FC236}">
                    <a16:creationId xmlns:a16="http://schemas.microsoft.com/office/drawing/2014/main" id="{99233526-D63D-5075-CD1A-699AC082439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8447" y="3806066"/>
                <a:ext cx="424800" cy="424800"/>
              </a:xfrm>
              <a:prstGeom prst="rect">
                <a:avLst/>
              </a:prstGeom>
            </p:spPr>
          </p:pic>
          <p:sp>
            <p:nvSpPr>
              <p:cNvPr id="18" name="TextBox 17">
                <a:extLst>
                  <a:ext uri="{FF2B5EF4-FFF2-40B4-BE49-F238E27FC236}">
                    <a16:creationId xmlns:a16="http://schemas.microsoft.com/office/drawing/2014/main" id="{A7AC0228-9866-3C30-C66B-04969CFEA9AF}"/>
                  </a:ext>
                </a:extLst>
              </p:cNvPr>
              <p:cNvSpPr txBox="1"/>
              <p:nvPr/>
            </p:nvSpPr>
            <p:spPr>
              <a:xfrm>
                <a:off x="4647479" y="3498476"/>
                <a:ext cx="2088232" cy="400110"/>
              </a:xfrm>
              <a:prstGeom prst="rect">
                <a:avLst/>
              </a:prstGeom>
              <a:noFill/>
            </p:spPr>
            <p:txBody>
              <a:bodyPr wrap="square" rtlCol="0">
                <a:spAutoFit/>
              </a:bodyPr>
              <a:lstStyle/>
              <a:p>
                <a:pPr algn="ctr"/>
                <a:r>
                  <a:rPr lang="en-GB" sz="2000" dirty="0"/>
                  <a:t>Right-censored</a:t>
                </a:r>
              </a:p>
            </p:txBody>
          </p:sp>
        </p:grpSp>
        <p:grpSp>
          <p:nvGrpSpPr>
            <p:cNvPr id="37" name="Group 36">
              <a:extLst>
                <a:ext uri="{FF2B5EF4-FFF2-40B4-BE49-F238E27FC236}">
                  <a16:creationId xmlns:a16="http://schemas.microsoft.com/office/drawing/2014/main" id="{2C9AD139-01A8-3DE5-7C4A-0E812BD72B77}"/>
                </a:ext>
              </a:extLst>
            </p:cNvPr>
            <p:cNvGrpSpPr/>
            <p:nvPr/>
          </p:nvGrpSpPr>
          <p:grpSpPr>
            <a:xfrm>
              <a:off x="1508042" y="3288608"/>
              <a:ext cx="3647719" cy="424800"/>
              <a:chOff x="1508042" y="3814010"/>
              <a:chExt cx="3647719" cy="424800"/>
            </a:xfrm>
          </p:grpSpPr>
          <p:cxnSp>
            <p:nvCxnSpPr>
              <p:cNvPr id="41" name="Straight Connector 40">
                <a:extLst>
                  <a:ext uri="{FF2B5EF4-FFF2-40B4-BE49-F238E27FC236}">
                    <a16:creationId xmlns:a16="http://schemas.microsoft.com/office/drawing/2014/main" id="{71C12650-B299-3ED0-9054-A3B8A315764E}"/>
                  </a:ext>
                </a:extLst>
              </p:cNvPr>
              <p:cNvCxnSpPr>
                <a:cxnSpLocks/>
              </p:cNvCxnSpPr>
              <p:nvPr/>
            </p:nvCxnSpPr>
            <p:spPr>
              <a:xfrm flipH="1">
                <a:off x="1508042" y="4022786"/>
                <a:ext cx="3423998" cy="3624"/>
              </a:xfrm>
              <a:prstGeom prst="line">
                <a:avLst/>
              </a:prstGeom>
              <a:ln w="57150">
                <a:solidFill>
                  <a:srgbClr val="00B1C1"/>
                </a:solidFill>
                <a:prstDash val="solid"/>
              </a:ln>
            </p:spPr>
            <p:style>
              <a:lnRef idx="1">
                <a:schemeClr val="accent1"/>
              </a:lnRef>
              <a:fillRef idx="0">
                <a:schemeClr val="accent1"/>
              </a:fillRef>
              <a:effectRef idx="0">
                <a:schemeClr val="accent1"/>
              </a:effectRef>
              <a:fontRef idx="minor">
                <a:schemeClr val="tx1"/>
              </a:fontRef>
            </p:style>
          </p:cxnSp>
          <p:pic>
            <p:nvPicPr>
              <p:cNvPr id="39" name="Graphic 38" descr="Close with solid fill">
                <a:extLst>
                  <a:ext uri="{FF2B5EF4-FFF2-40B4-BE49-F238E27FC236}">
                    <a16:creationId xmlns:a16="http://schemas.microsoft.com/office/drawing/2014/main" id="{1666C825-05E2-8440-AA18-7A02F4761C8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30961" y="3814010"/>
                <a:ext cx="424800" cy="424800"/>
              </a:xfrm>
              <a:prstGeom prst="rect">
                <a:avLst/>
              </a:prstGeom>
            </p:spPr>
          </p:pic>
        </p:grpSp>
      </p:grpSp>
      <p:grpSp>
        <p:nvGrpSpPr>
          <p:cNvPr id="49" name="Group 48">
            <a:extLst>
              <a:ext uri="{FF2B5EF4-FFF2-40B4-BE49-F238E27FC236}">
                <a16:creationId xmlns:a16="http://schemas.microsoft.com/office/drawing/2014/main" id="{796E887C-C1D1-C41F-9357-B1583D105B07}"/>
              </a:ext>
            </a:extLst>
          </p:cNvPr>
          <p:cNvGrpSpPr/>
          <p:nvPr/>
        </p:nvGrpSpPr>
        <p:grpSpPr>
          <a:xfrm>
            <a:off x="1497581" y="4662401"/>
            <a:ext cx="3839016" cy="854831"/>
            <a:chOff x="1497581" y="4754610"/>
            <a:chExt cx="3839016" cy="854831"/>
          </a:xfrm>
        </p:grpSpPr>
        <p:cxnSp>
          <p:nvCxnSpPr>
            <p:cNvPr id="20" name="Straight Connector 19">
              <a:extLst>
                <a:ext uri="{FF2B5EF4-FFF2-40B4-BE49-F238E27FC236}">
                  <a16:creationId xmlns:a16="http://schemas.microsoft.com/office/drawing/2014/main" id="{026F762D-97D9-B372-AA09-1999E6C8E11B}"/>
                </a:ext>
              </a:extLst>
            </p:cNvPr>
            <p:cNvCxnSpPr>
              <a:cxnSpLocks/>
            </p:cNvCxnSpPr>
            <p:nvPr/>
          </p:nvCxnSpPr>
          <p:spPr>
            <a:xfrm flipH="1">
              <a:off x="1497581" y="4974752"/>
              <a:ext cx="1809107" cy="0"/>
            </a:xfrm>
            <a:prstGeom prst="line">
              <a:avLst/>
            </a:prstGeom>
            <a:ln w="57150">
              <a:solidFill>
                <a:srgbClr val="00B1C1"/>
              </a:solidFill>
              <a:prstDash val="solid"/>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BDF988A6-5FB5-3476-62EF-49B9584868A5}"/>
                </a:ext>
              </a:extLst>
            </p:cNvPr>
            <p:cNvSpPr txBox="1"/>
            <p:nvPr/>
          </p:nvSpPr>
          <p:spPr>
            <a:xfrm>
              <a:off x="2885598" y="5209331"/>
              <a:ext cx="2450999" cy="400110"/>
            </a:xfrm>
            <a:prstGeom prst="rect">
              <a:avLst/>
            </a:prstGeom>
            <a:noFill/>
          </p:spPr>
          <p:txBody>
            <a:bodyPr wrap="square" rtlCol="0">
              <a:spAutoFit/>
            </a:bodyPr>
            <a:lstStyle/>
            <a:p>
              <a:pPr algn="ctr"/>
              <a:r>
                <a:rPr lang="en-GB" sz="2000" dirty="0"/>
                <a:t>Interval-censored</a:t>
              </a:r>
            </a:p>
          </p:txBody>
        </p:sp>
        <p:cxnSp>
          <p:nvCxnSpPr>
            <p:cNvPr id="45" name="Straight Connector 44">
              <a:extLst>
                <a:ext uri="{FF2B5EF4-FFF2-40B4-BE49-F238E27FC236}">
                  <a16:creationId xmlns:a16="http://schemas.microsoft.com/office/drawing/2014/main" id="{6D42C855-E4F3-708E-0292-CCF2B2BA84C6}"/>
                </a:ext>
              </a:extLst>
            </p:cNvPr>
            <p:cNvCxnSpPr>
              <a:cxnSpLocks/>
            </p:cNvCxnSpPr>
            <p:nvPr/>
          </p:nvCxnSpPr>
          <p:spPr>
            <a:xfrm flipH="1">
              <a:off x="3306688" y="4974752"/>
              <a:ext cx="1553344" cy="0"/>
            </a:xfrm>
            <a:prstGeom prst="line">
              <a:avLst/>
            </a:prstGeom>
            <a:ln w="57150">
              <a:solidFill>
                <a:srgbClr val="00B1C1"/>
              </a:solidFill>
              <a:prstDash val="sysDot"/>
            </a:ln>
          </p:spPr>
          <p:style>
            <a:lnRef idx="1">
              <a:schemeClr val="accent1"/>
            </a:lnRef>
            <a:fillRef idx="0">
              <a:schemeClr val="accent1"/>
            </a:fillRef>
            <a:effectRef idx="0">
              <a:schemeClr val="accent1"/>
            </a:effectRef>
            <a:fontRef idx="minor">
              <a:schemeClr val="tx1"/>
            </a:fontRef>
          </p:style>
        </p:cxnSp>
        <p:grpSp>
          <p:nvGrpSpPr>
            <p:cNvPr id="48" name="Group 47">
              <a:extLst>
                <a:ext uri="{FF2B5EF4-FFF2-40B4-BE49-F238E27FC236}">
                  <a16:creationId xmlns:a16="http://schemas.microsoft.com/office/drawing/2014/main" id="{1B329175-0D62-3EAB-9BF0-643D6FF07516}"/>
                </a:ext>
              </a:extLst>
            </p:cNvPr>
            <p:cNvGrpSpPr/>
            <p:nvPr/>
          </p:nvGrpSpPr>
          <p:grpSpPr>
            <a:xfrm>
              <a:off x="3889949" y="4754610"/>
              <a:ext cx="423862" cy="434634"/>
              <a:chOff x="3889949" y="4754610"/>
              <a:chExt cx="423862" cy="434634"/>
            </a:xfrm>
          </p:grpSpPr>
          <p:sp>
            <p:nvSpPr>
              <p:cNvPr id="47" name="Rectangle 46">
                <a:extLst>
                  <a:ext uri="{FF2B5EF4-FFF2-40B4-BE49-F238E27FC236}">
                    <a16:creationId xmlns:a16="http://schemas.microsoft.com/office/drawing/2014/main" id="{DD97C58A-57D1-802C-630A-CE51249B9018}"/>
                  </a:ext>
                </a:extLst>
              </p:cNvPr>
              <p:cNvSpPr/>
              <p:nvPr/>
            </p:nvSpPr>
            <p:spPr>
              <a:xfrm>
                <a:off x="3889949" y="4754610"/>
                <a:ext cx="423862" cy="43463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Graphic 23" descr="Race Flag with solid fill">
                <a:extLst>
                  <a:ext uri="{FF2B5EF4-FFF2-40B4-BE49-F238E27FC236}">
                    <a16:creationId xmlns:a16="http://schemas.microsoft.com/office/drawing/2014/main" id="{A9B9B525-937A-85CC-9F42-3D2B674F5F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89949" y="4754610"/>
                <a:ext cx="423862" cy="423862"/>
              </a:xfrm>
              <a:prstGeom prst="rect">
                <a:avLst/>
              </a:prstGeom>
            </p:spPr>
          </p:pic>
        </p:grpSp>
        <p:cxnSp>
          <p:nvCxnSpPr>
            <p:cNvPr id="23" name="Straight Connector 22">
              <a:extLst>
                <a:ext uri="{FF2B5EF4-FFF2-40B4-BE49-F238E27FC236}">
                  <a16:creationId xmlns:a16="http://schemas.microsoft.com/office/drawing/2014/main" id="{E01FEF1E-5B38-A33C-F3D5-1BAA4AF02E1C}"/>
                </a:ext>
              </a:extLst>
            </p:cNvPr>
            <p:cNvCxnSpPr>
              <a:cxnSpLocks/>
            </p:cNvCxnSpPr>
            <p:nvPr/>
          </p:nvCxnSpPr>
          <p:spPr>
            <a:xfrm>
              <a:off x="4860032" y="4830736"/>
              <a:ext cx="0" cy="288032"/>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56A82037-9E07-9004-1B0B-EE211E2153BF}"/>
                </a:ext>
              </a:extLst>
            </p:cNvPr>
            <p:cNvCxnSpPr>
              <a:cxnSpLocks/>
            </p:cNvCxnSpPr>
            <p:nvPr/>
          </p:nvCxnSpPr>
          <p:spPr>
            <a:xfrm>
              <a:off x="3306688" y="4822525"/>
              <a:ext cx="0" cy="288032"/>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cxnSp>
        <p:nvCxnSpPr>
          <p:cNvPr id="29" name="Straight Connector 28">
            <a:extLst>
              <a:ext uri="{FF2B5EF4-FFF2-40B4-BE49-F238E27FC236}">
                <a16:creationId xmlns:a16="http://schemas.microsoft.com/office/drawing/2014/main" id="{AE9CA08F-AC5B-A1BF-C9AD-3AA1E3D4197D}"/>
              </a:ext>
            </a:extLst>
          </p:cNvPr>
          <p:cNvCxnSpPr>
            <a:cxnSpLocks/>
          </p:cNvCxnSpPr>
          <p:nvPr/>
        </p:nvCxnSpPr>
        <p:spPr>
          <a:xfrm>
            <a:off x="1508042" y="2127739"/>
            <a:ext cx="0" cy="349200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F85B2D6-8538-19EA-8527-C68AF57EA937}"/>
              </a:ext>
            </a:extLst>
          </p:cNvPr>
          <p:cNvCxnSpPr>
            <a:cxnSpLocks/>
          </p:cNvCxnSpPr>
          <p:nvPr/>
        </p:nvCxnSpPr>
        <p:spPr>
          <a:xfrm flipH="1">
            <a:off x="6729663" y="2127739"/>
            <a:ext cx="1" cy="349200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06727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3B2F3-28E0-1806-791F-E05CBF8CE9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8D2F4E-DB28-8D90-F1F4-D58C895ED521}"/>
              </a:ext>
            </a:extLst>
          </p:cNvPr>
          <p:cNvSpPr>
            <a:spLocks noGrp="1"/>
          </p:cNvSpPr>
          <p:nvPr>
            <p:ph type="title"/>
          </p:nvPr>
        </p:nvSpPr>
        <p:spPr/>
        <p:txBody>
          <a:bodyPr/>
          <a:lstStyle/>
          <a:p>
            <a:r>
              <a:rPr lang="en-GB" dirty="0"/>
              <a:t>More censoring (&amp; truncation)</a:t>
            </a:r>
          </a:p>
        </p:txBody>
      </p:sp>
      <p:sp>
        <p:nvSpPr>
          <p:cNvPr id="3" name="Slide Number Placeholder 2">
            <a:extLst>
              <a:ext uri="{FF2B5EF4-FFF2-40B4-BE49-F238E27FC236}">
                <a16:creationId xmlns:a16="http://schemas.microsoft.com/office/drawing/2014/main" id="{4EA8E8E5-71F7-1BB3-BAD8-8952689F801E}"/>
              </a:ext>
            </a:extLst>
          </p:cNvPr>
          <p:cNvSpPr>
            <a:spLocks noGrp="1"/>
          </p:cNvSpPr>
          <p:nvPr>
            <p:ph type="sldNum" sz="quarter" idx="10"/>
          </p:nvPr>
        </p:nvSpPr>
        <p:spPr/>
        <p:txBody>
          <a:bodyPr/>
          <a:lstStyle/>
          <a:p>
            <a:pPr>
              <a:defRPr/>
            </a:pPr>
            <a:fld id="{062FE7C6-874C-4E62-8759-08C2AB2543BB}" type="slidenum">
              <a:rPr lang="en-GB" smtClean="0"/>
              <a:pPr>
                <a:defRPr/>
              </a:pPr>
              <a:t>10</a:t>
            </a:fld>
            <a:endParaRPr lang="en-GB"/>
          </a:p>
        </p:txBody>
      </p:sp>
      <p:sp>
        <p:nvSpPr>
          <p:cNvPr id="4" name="TextBox 3">
            <a:extLst>
              <a:ext uri="{FF2B5EF4-FFF2-40B4-BE49-F238E27FC236}">
                <a16:creationId xmlns:a16="http://schemas.microsoft.com/office/drawing/2014/main" id="{D6844995-E932-2F99-4790-03B46A897658}"/>
              </a:ext>
            </a:extLst>
          </p:cNvPr>
          <p:cNvSpPr txBox="1"/>
          <p:nvPr/>
        </p:nvSpPr>
        <p:spPr>
          <a:xfrm>
            <a:off x="599533" y="1632170"/>
            <a:ext cx="1851631" cy="338554"/>
          </a:xfrm>
          <a:prstGeom prst="rect">
            <a:avLst/>
          </a:prstGeom>
          <a:noFill/>
        </p:spPr>
        <p:txBody>
          <a:bodyPr wrap="square" rtlCol="0">
            <a:spAutoFit/>
          </a:bodyPr>
          <a:lstStyle/>
          <a:p>
            <a:pPr algn="ctr"/>
            <a:r>
              <a:rPr lang="en-GB" sz="1600" dirty="0"/>
              <a:t>Start of study</a:t>
            </a:r>
          </a:p>
        </p:txBody>
      </p:sp>
      <p:sp>
        <p:nvSpPr>
          <p:cNvPr id="5" name="TextBox 4">
            <a:extLst>
              <a:ext uri="{FF2B5EF4-FFF2-40B4-BE49-F238E27FC236}">
                <a16:creationId xmlns:a16="http://schemas.microsoft.com/office/drawing/2014/main" id="{90EE3B2E-A15B-A329-7E8D-618B9E531E3C}"/>
              </a:ext>
            </a:extLst>
          </p:cNvPr>
          <p:cNvSpPr txBox="1"/>
          <p:nvPr/>
        </p:nvSpPr>
        <p:spPr>
          <a:xfrm>
            <a:off x="5891229" y="1628800"/>
            <a:ext cx="1682021" cy="338554"/>
          </a:xfrm>
          <a:prstGeom prst="rect">
            <a:avLst/>
          </a:prstGeom>
          <a:noFill/>
        </p:spPr>
        <p:txBody>
          <a:bodyPr wrap="square" rtlCol="0">
            <a:spAutoFit/>
          </a:bodyPr>
          <a:lstStyle/>
          <a:p>
            <a:pPr algn="ctr"/>
            <a:r>
              <a:rPr lang="en-GB" sz="1600" dirty="0"/>
              <a:t>End of study</a:t>
            </a:r>
          </a:p>
        </p:txBody>
      </p:sp>
      <p:grpSp>
        <p:nvGrpSpPr>
          <p:cNvPr id="52" name="Group 51">
            <a:extLst>
              <a:ext uri="{FF2B5EF4-FFF2-40B4-BE49-F238E27FC236}">
                <a16:creationId xmlns:a16="http://schemas.microsoft.com/office/drawing/2014/main" id="{76C97EE3-48B1-7263-70A6-9DA22EC86369}"/>
              </a:ext>
            </a:extLst>
          </p:cNvPr>
          <p:cNvGrpSpPr/>
          <p:nvPr/>
        </p:nvGrpSpPr>
        <p:grpSpPr>
          <a:xfrm>
            <a:off x="428770" y="3293170"/>
            <a:ext cx="2855427" cy="423862"/>
            <a:chOff x="476056" y="3286305"/>
            <a:chExt cx="2855427" cy="423862"/>
          </a:xfrm>
        </p:grpSpPr>
        <p:sp>
          <p:nvSpPr>
            <p:cNvPr id="53" name="TextBox 52">
              <a:extLst>
                <a:ext uri="{FF2B5EF4-FFF2-40B4-BE49-F238E27FC236}">
                  <a16:creationId xmlns:a16="http://schemas.microsoft.com/office/drawing/2014/main" id="{73BBA16B-5C08-34AB-3EEE-DFA897EBC349}"/>
                </a:ext>
              </a:extLst>
            </p:cNvPr>
            <p:cNvSpPr txBox="1"/>
            <p:nvPr/>
          </p:nvSpPr>
          <p:spPr>
            <a:xfrm>
              <a:off x="1629622" y="3299532"/>
              <a:ext cx="1701861" cy="369332"/>
            </a:xfrm>
            <a:prstGeom prst="rect">
              <a:avLst/>
            </a:prstGeom>
            <a:noFill/>
          </p:spPr>
          <p:txBody>
            <a:bodyPr wrap="square" rtlCol="0">
              <a:spAutoFit/>
            </a:bodyPr>
            <a:lstStyle/>
            <a:p>
              <a:pPr algn="ctr"/>
              <a:r>
                <a:rPr lang="en-GB" dirty="0"/>
                <a:t>Left-censored</a:t>
              </a:r>
            </a:p>
          </p:txBody>
        </p:sp>
        <p:pic>
          <p:nvPicPr>
            <p:cNvPr id="54" name="Graphic 53" descr="Race Flag with solid fill">
              <a:extLst>
                <a:ext uri="{FF2B5EF4-FFF2-40B4-BE49-F238E27FC236}">
                  <a16:creationId xmlns:a16="http://schemas.microsoft.com/office/drawing/2014/main" id="{8AF55A4A-0612-6348-B7B8-098E9FD81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76056" y="3286305"/>
              <a:ext cx="423862" cy="423862"/>
            </a:xfrm>
            <a:prstGeom prst="rect">
              <a:avLst/>
            </a:prstGeom>
          </p:spPr>
        </p:pic>
        <p:cxnSp>
          <p:nvCxnSpPr>
            <p:cNvPr id="55" name="Straight Connector 54">
              <a:extLst>
                <a:ext uri="{FF2B5EF4-FFF2-40B4-BE49-F238E27FC236}">
                  <a16:creationId xmlns:a16="http://schemas.microsoft.com/office/drawing/2014/main" id="{FF87116F-1743-AFD7-ADC9-09BE14F13EB1}"/>
                </a:ext>
              </a:extLst>
            </p:cNvPr>
            <p:cNvCxnSpPr>
              <a:cxnSpLocks/>
            </p:cNvCxnSpPr>
            <p:nvPr/>
          </p:nvCxnSpPr>
          <p:spPr>
            <a:xfrm flipH="1" flipV="1">
              <a:off x="1012498" y="3490168"/>
              <a:ext cx="521363" cy="0"/>
            </a:xfrm>
            <a:prstGeom prst="line">
              <a:avLst/>
            </a:prstGeom>
            <a:ln w="57150">
              <a:solidFill>
                <a:srgbClr val="00B1C1"/>
              </a:solidFill>
              <a:prstDash val="sysDot"/>
            </a:ln>
          </p:spPr>
          <p:style>
            <a:lnRef idx="1">
              <a:schemeClr val="accent1"/>
            </a:lnRef>
            <a:fillRef idx="0">
              <a:schemeClr val="accent1"/>
            </a:fillRef>
            <a:effectRef idx="0">
              <a:schemeClr val="accent1"/>
            </a:effectRef>
            <a:fontRef idx="minor">
              <a:schemeClr val="tx1"/>
            </a:fontRef>
          </p:style>
        </p:cxnSp>
      </p:grpSp>
      <p:grpSp>
        <p:nvGrpSpPr>
          <p:cNvPr id="92" name="Group 91">
            <a:extLst>
              <a:ext uri="{FF2B5EF4-FFF2-40B4-BE49-F238E27FC236}">
                <a16:creationId xmlns:a16="http://schemas.microsoft.com/office/drawing/2014/main" id="{A155535E-E49E-F88A-E098-48EC50F93F7B}"/>
              </a:ext>
            </a:extLst>
          </p:cNvPr>
          <p:cNvGrpSpPr/>
          <p:nvPr/>
        </p:nvGrpSpPr>
        <p:grpSpPr>
          <a:xfrm>
            <a:off x="973622" y="4229274"/>
            <a:ext cx="4966530" cy="423862"/>
            <a:chOff x="980335" y="4589314"/>
            <a:chExt cx="4966530" cy="423862"/>
          </a:xfrm>
        </p:grpSpPr>
        <p:grpSp>
          <p:nvGrpSpPr>
            <p:cNvPr id="56" name="Group 55">
              <a:extLst>
                <a:ext uri="{FF2B5EF4-FFF2-40B4-BE49-F238E27FC236}">
                  <a16:creationId xmlns:a16="http://schemas.microsoft.com/office/drawing/2014/main" id="{F8C79D98-3BBE-2EF3-E699-AB79213DFD7A}"/>
                </a:ext>
              </a:extLst>
            </p:cNvPr>
            <p:cNvGrpSpPr/>
            <p:nvPr/>
          </p:nvGrpSpPr>
          <p:grpSpPr>
            <a:xfrm>
              <a:off x="980335" y="4601190"/>
              <a:ext cx="4966530" cy="369332"/>
              <a:chOff x="1012498" y="3290113"/>
              <a:chExt cx="4966530" cy="369332"/>
            </a:xfrm>
          </p:grpSpPr>
          <p:sp>
            <p:nvSpPr>
              <p:cNvPr id="57" name="TextBox 56">
                <a:extLst>
                  <a:ext uri="{FF2B5EF4-FFF2-40B4-BE49-F238E27FC236}">
                    <a16:creationId xmlns:a16="http://schemas.microsoft.com/office/drawing/2014/main" id="{713A8981-43EA-096F-D7E7-9A356B12DF1B}"/>
                  </a:ext>
                </a:extLst>
              </p:cNvPr>
              <p:cNvSpPr txBox="1"/>
              <p:nvPr/>
            </p:nvSpPr>
            <p:spPr>
              <a:xfrm>
                <a:off x="4379715" y="3290113"/>
                <a:ext cx="1599313" cy="369332"/>
              </a:xfrm>
              <a:prstGeom prst="rect">
                <a:avLst/>
              </a:prstGeom>
              <a:noFill/>
            </p:spPr>
            <p:txBody>
              <a:bodyPr wrap="square" rtlCol="0">
                <a:spAutoFit/>
              </a:bodyPr>
              <a:lstStyle/>
              <a:p>
                <a:pPr algn="ctr"/>
                <a:r>
                  <a:rPr lang="en-GB" dirty="0"/>
                  <a:t>Left-truncated</a:t>
                </a:r>
              </a:p>
            </p:txBody>
          </p:sp>
          <p:cxnSp>
            <p:nvCxnSpPr>
              <p:cNvPr id="59" name="Straight Connector 58">
                <a:extLst>
                  <a:ext uri="{FF2B5EF4-FFF2-40B4-BE49-F238E27FC236}">
                    <a16:creationId xmlns:a16="http://schemas.microsoft.com/office/drawing/2014/main" id="{120959F1-3114-390C-09FA-2393CCDB0719}"/>
                  </a:ext>
                </a:extLst>
              </p:cNvPr>
              <p:cNvCxnSpPr>
                <a:cxnSpLocks/>
              </p:cNvCxnSpPr>
              <p:nvPr/>
            </p:nvCxnSpPr>
            <p:spPr>
              <a:xfrm flipH="1" flipV="1">
                <a:off x="1012498" y="3490168"/>
                <a:ext cx="521363" cy="0"/>
              </a:xfrm>
              <a:prstGeom prst="line">
                <a:avLst/>
              </a:prstGeom>
              <a:ln w="57150">
                <a:solidFill>
                  <a:srgbClr val="00B1C1"/>
                </a:solidFill>
                <a:prstDash val="sysDot"/>
              </a:ln>
            </p:spPr>
            <p:style>
              <a:lnRef idx="1">
                <a:schemeClr val="accent1"/>
              </a:lnRef>
              <a:fillRef idx="0">
                <a:schemeClr val="accent1"/>
              </a:fillRef>
              <a:effectRef idx="0">
                <a:schemeClr val="accent1"/>
              </a:effectRef>
              <a:fontRef idx="minor">
                <a:schemeClr val="tx1"/>
              </a:fontRef>
            </p:style>
          </p:cxnSp>
        </p:grpSp>
        <p:pic>
          <p:nvPicPr>
            <p:cNvPr id="60" name="Graphic 59" descr="Race Flag with solid fill">
              <a:extLst>
                <a:ext uri="{FF2B5EF4-FFF2-40B4-BE49-F238E27FC236}">
                  <a16:creationId xmlns:a16="http://schemas.microsoft.com/office/drawing/2014/main" id="{DBD56E2D-B580-D828-3986-28084577F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80948" y="4589314"/>
              <a:ext cx="423862" cy="423862"/>
            </a:xfrm>
            <a:prstGeom prst="rect">
              <a:avLst/>
            </a:prstGeom>
          </p:spPr>
        </p:pic>
        <p:cxnSp>
          <p:nvCxnSpPr>
            <p:cNvPr id="61" name="Straight Arrow Connector 60">
              <a:extLst>
                <a:ext uri="{FF2B5EF4-FFF2-40B4-BE49-F238E27FC236}">
                  <a16:creationId xmlns:a16="http://schemas.microsoft.com/office/drawing/2014/main" id="{EDE889D2-93DF-4349-A7E1-7A1113C76EF5}"/>
                </a:ext>
              </a:extLst>
            </p:cNvPr>
            <p:cNvCxnSpPr>
              <a:cxnSpLocks/>
            </p:cNvCxnSpPr>
            <p:nvPr/>
          </p:nvCxnSpPr>
          <p:spPr>
            <a:xfrm>
              <a:off x="1513019" y="4801245"/>
              <a:ext cx="2321009" cy="0"/>
            </a:xfrm>
            <a:prstGeom prst="straightConnector1">
              <a:avLst/>
            </a:prstGeom>
            <a:ln w="57150">
              <a:solidFill>
                <a:srgbClr val="00B1C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91" name="Group 90">
            <a:extLst>
              <a:ext uri="{FF2B5EF4-FFF2-40B4-BE49-F238E27FC236}">
                <a16:creationId xmlns:a16="http://schemas.microsoft.com/office/drawing/2014/main" id="{51D62C16-3C3C-CBB7-3715-6059E103A7CE}"/>
              </a:ext>
            </a:extLst>
          </p:cNvPr>
          <p:cNvGrpSpPr/>
          <p:nvPr/>
        </p:nvGrpSpPr>
        <p:grpSpPr>
          <a:xfrm>
            <a:off x="4362101" y="5263448"/>
            <a:ext cx="3696030" cy="423862"/>
            <a:chOff x="4362101" y="3832690"/>
            <a:chExt cx="3696030" cy="423862"/>
          </a:xfrm>
        </p:grpSpPr>
        <p:grpSp>
          <p:nvGrpSpPr>
            <p:cNvPr id="65" name="Group 64">
              <a:extLst>
                <a:ext uri="{FF2B5EF4-FFF2-40B4-BE49-F238E27FC236}">
                  <a16:creationId xmlns:a16="http://schemas.microsoft.com/office/drawing/2014/main" id="{5E39C3C8-D1B7-454E-47F8-6315E2A086AC}"/>
                </a:ext>
              </a:extLst>
            </p:cNvPr>
            <p:cNvGrpSpPr/>
            <p:nvPr/>
          </p:nvGrpSpPr>
          <p:grpSpPr>
            <a:xfrm>
              <a:off x="4362101" y="3832690"/>
              <a:ext cx="3696030" cy="423862"/>
              <a:chOff x="-1357810" y="3277187"/>
              <a:chExt cx="3696030" cy="423862"/>
            </a:xfrm>
          </p:grpSpPr>
          <p:sp>
            <p:nvSpPr>
              <p:cNvPr id="66" name="TextBox 65">
                <a:extLst>
                  <a:ext uri="{FF2B5EF4-FFF2-40B4-BE49-F238E27FC236}">
                    <a16:creationId xmlns:a16="http://schemas.microsoft.com/office/drawing/2014/main" id="{A069BA30-BA18-571F-2034-39608810A45B}"/>
                  </a:ext>
                </a:extLst>
              </p:cNvPr>
              <p:cNvSpPr txBox="1"/>
              <p:nvPr/>
            </p:nvSpPr>
            <p:spPr>
              <a:xfrm>
                <a:off x="-1357810" y="3304452"/>
                <a:ext cx="1773859" cy="369332"/>
              </a:xfrm>
              <a:prstGeom prst="rect">
                <a:avLst/>
              </a:prstGeom>
              <a:noFill/>
            </p:spPr>
            <p:txBody>
              <a:bodyPr wrap="square" rtlCol="0">
                <a:spAutoFit/>
              </a:bodyPr>
              <a:lstStyle/>
              <a:p>
                <a:pPr algn="ctr"/>
                <a:r>
                  <a:rPr lang="en-GB" dirty="0"/>
                  <a:t>Right-truncated</a:t>
                </a:r>
              </a:p>
            </p:txBody>
          </p:sp>
          <p:pic>
            <p:nvPicPr>
              <p:cNvPr id="67" name="Graphic 66" descr="Race Flag with solid fill">
                <a:extLst>
                  <a:ext uri="{FF2B5EF4-FFF2-40B4-BE49-F238E27FC236}">
                    <a16:creationId xmlns:a16="http://schemas.microsoft.com/office/drawing/2014/main" id="{8ACEA82A-3EE5-091A-3EA4-E9E2827ED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14358" y="3277187"/>
                <a:ext cx="423862" cy="423862"/>
              </a:xfrm>
              <a:prstGeom prst="rect">
                <a:avLst/>
              </a:prstGeom>
            </p:spPr>
          </p:pic>
          <p:cxnSp>
            <p:nvCxnSpPr>
              <p:cNvPr id="68" name="Straight Connector 67">
                <a:extLst>
                  <a:ext uri="{FF2B5EF4-FFF2-40B4-BE49-F238E27FC236}">
                    <a16:creationId xmlns:a16="http://schemas.microsoft.com/office/drawing/2014/main" id="{3E547D69-9377-6ACF-46CC-4039E3313EB6}"/>
                  </a:ext>
                </a:extLst>
              </p:cNvPr>
              <p:cNvCxnSpPr>
                <a:cxnSpLocks/>
              </p:cNvCxnSpPr>
              <p:nvPr/>
            </p:nvCxnSpPr>
            <p:spPr>
              <a:xfrm flipH="1" flipV="1">
                <a:off x="477068" y="3480492"/>
                <a:ext cx="521363" cy="0"/>
              </a:xfrm>
              <a:prstGeom prst="line">
                <a:avLst/>
              </a:prstGeom>
              <a:ln w="57150">
                <a:solidFill>
                  <a:srgbClr val="00B1C1"/>
                </a:solidFill>
                <a:prstDash val="sysDot"/>
              </a:ln>
            </p:spPr>
            <p:style>
              <a:lnRef idx="1">
                <a:schemeClr val="accent1"/>
              </a:lnRef>
              <a:fillRef idx="0">
                <a:schemeClr val="accent1"/>
              </a:fillRef>
              <a:effectRef idx="0">
                <a:schemeClr val="accent1"/>
              </a:effectRef>
              <a:fontRef idx="minor">
                <a:schemeClr val="tx1"/>
              </a:fontRef>
            </p:style>
          </p:cxnSp>
        </p:grpSp>
        <p:cxnSp>
          <p:nvCxnSpPr>
            <p:cNvPr id="69" name="Straight Arrow Connector 68">
              <a:extLst>
                <a:ext uri="{FF2B5EF4-FFF2-40B4-BE49-F238E27FC236}">
                  <a16:creationId xmlns:a16="http://schemas.microsoft.com/office/drawing/2014/main" id="{95A50838-8B3B-E8F2-A866-5AD05D344A28}"/>
                </a:ext>
              </a:extLst>
            </p:cNvPr>
            <p:cNvCxnSpPr>
              <a:cxnSpLocks/>
            </p:cNvCxnSpPr>
            <p:nvPr/>
          </p:nvCxnSpPr>
          <p:spPr>
            <a:xfrm>
              <a:off x="6729664" y="4035995"/>
              <a:ext cx="843586" cy="0"/>
            </a:xfrm>
            <a:prstGeom prst="straightConnector1">
              <a:avLst/>
            </a:prstGeom>
            <a:ln w="57150">
              <a:solidFill>
                <a:srgbClr val="00B1C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9" name="Straight Connector 28">
            <a:extLst>
              <a:ext uri="{FF2B5EF4-FFF2-40B4-BE49-F238E27FC236}">
                <a16:creationId xmlns:a16="http://schemas.microsoft.com/office/drawing/2014/main" id="{E73D3AE9-E16E-8F26-029B-B3FAA50B086C}"/>
              </a:ext>
            </a:extLst>
          </p:cNvPr>
          <p:cNvCxnSpPr>
            <a:cxnSpLocks/>
          </p:cNvCxnSpPr>
          <p:nvPr/>
        </p:nvCxnSpPr>
        <p:spPr>
          <a:xfrm>
            <a:off x="1508042" y="2127739"/>
            <a:ext cx="0" cy="385200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4864CD44-379E-51DE-4BEE-06F215CCBC5C}"/>
              </a:ext>
            </a:extLst>
          </p:cNvPr>
          <p:cNvCxnSpPr>
            <a:cxnSpLocks/>
          </p:cNvCxnSpPr>
          <p:nvPr/>
        </p:nvCxnSpPr>
        <p:spPr>
          <a:xfrm flipH="1">
            <a:off x="6729663" y="2127739"/>
            <a:ext cx="1" cy="385200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0" name="Group 79">
            <a:extLst>
              <a:ext uri="{FF2B5EF4-FFF2-40B4-BE49-F238E27FC236}">
                <a16:creationId xmlns:a16="http://schemas.microsoft.com/office/drawing/2014/main" id="{C1EB2E91-04C8-D537-6A25-61908A308AA0}"/>
              </a:ext>
            </a:extLst>
          </p:cNvPr>
          <p:cNvGrpSpPr/>
          <p:nvPr/>
        </p:nvGrpSpPr>
        <p:grpSpPr>
          <a:xfrm>
            <a:off x="2357929" y="2205750"/>
            <a:ext cx="3839050" cy="423862"/>
            <a:chOff x="3085794" y="2716529"/>
            <a:chExt cx="3839050" cy="423862"/>
          </a:xfrm>
        </p:grpSpPr>
        <p:pic>
          <p:nvPicPr>
            <p:cNvPr id="81" name="Graphic 80" descr="Race Flag with solid fill">
              <a:extLst>
                <a:ext uri="{FF2B5EF4-FFF2-40B4-BE49-F238E27FC236}">
                  <a16:creationId xmlns:a16="http://schemas.microsoft.com/office/drawing/2014/main" id="{99DB02CB-C2EB-AFC6-A593-0036D461A2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55180" y="2716529"/>
              <a:ext cx="423862" cy="423862"/>
            </a:xfrm>
            <a:prstGeom prst="rect">
              <a:avLst/>
            </a:prstGeom>
          </p:spPr>
        </p:pic>
        <p:sp>
          <p:nvSpPr>
            <p:cNvPr id="82" name="TextBox 81">
              <a:extLst>
                <a:ext uri="{FF2B5EF4-FFF2-40B4-BE49-F238E27FC236}">
                  <a16:creationId xmlns:a16="http://schemas.microsoft.com/office/drawing/2014/main" id="{8948EF1D-FFF7-2A78-625F-59503EC6ADFB}"/>
                </a:ext>
              </a:extLst>
            </p:cNvPr>
            <p:cNvSpPr txBox="1"/>
            <p:nvPr/>
          </p:nvSpPr>
          <p:spPr>
            <a:xfrm>
              <a:off x="4932039" y="2735303"/>
              <a:ext cx="1992805" cy="369332"/>
            </a:xfrm>
            <a:prstGeom prst="rect">
              <a:avLst/>
            </a:prstGeom>
            <a:noFill/>
          </p:spPr>
          <p:txBody>
            <a:bodyPr wrap="square" rtlCol="0">
              <a:spAutoFit/>
            </a:bodyPr>
            <a:lstStyle/>
            <a:p>
              <a:pPr algn="ctr"/>
              <a:r>
                <a:rPr lang="en-GB" dirty="0"/>
                <a:t>Staggered entry</a:t>
              </a:r>
            </a:p>
          </p:txBody>
        </p:sp>
        <p:cxnSp>
          <p:nvCxnSpPr>
            <p:cNvPr id="83" name="Straight Arrow Connector 82">
              <a:extLst>
                <a:ext uri="{FF2B5EF4-FFF2-40B4-BE49-F238E27FC236}">
                  <a16:creationId xmlns:a16="http://schemas.microsoft.com/office/drawing/2014/main" id="{D34F98C1-07A4-35E4-35AD-8AFB676C862F}"/>
                </a:ext>
              </a:extLst>
            </p:cNvPr>
            <p:cNvCxnSpPr>
              <a:cxnSpLocks/>
            </p:cNvCxnSpPr>
            <p:nvPr/>
          </p:nvCxnSpPr>
          <p:spPr>
            <a:xfrm>
              <a:off x="3085794" y="2924818"/>
              <a:ext cx="1414198" cy="0"/>
            </a:xfrm>
            <a:prstGeom prst="straightConnector1">
              <a:avLst/>
            </a:prstGeom>
            <a:ln w="57150">
              <a:solidFill>
                <a:srgbClr val="00B1C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90" name="Straight Connector 89">
            <a:extLst>
              <a:ext uri="{FF2B5EF4-FFF2-40B4-BE49-F238E27FC236}">
                <a16:creationId xmlns:a16="http://schemas.microsoft.com/office/drawing/2014/main" id="{E8616925-BD4B-8F99-8244-FFF35614E3F8}"/>
              </a:ext>
            </a:extLst>
          </p:cNvPr>
          <p:cNvCxnSpPr>
            <a:cxnSpLocks/>
          </p:cNvCxnSpPr>
          <p:nvPr/>
        </p:nvCxnSpPr>
        <p:spPr>
          <a:xfrm>
            <a:off x="2344850" y="2277183"/>
            <a:ext cx="0" cy="288032"/>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14308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CCC5D6-078A-8262-5ADE-88F4BF1745D1}"/>
              </a:ext>
            </a:extLst>
          </p:cNvPr>
          <p:cNvSpPr>
            <a:spLocks noGrp="1"/>
          </p:cNvSpPr>
          <p:nvPr>
            <p:ph type="title"/>
          </p:nvPr>
        </p:nvSpPr>
        <p:spPr/>
        <p:txBody>
          <a:bodyPr/>
          <a:lstStyle/>
          <a:p>
            <a:r>
              <a:rPr lang="en-GB" dirty="0"/>
              <a:t>A survival dataset</a:t>
            </a:r>
          </a:p>
        </p:txBody>
      </p:sp>
      <p:sp>
        <p:nvSpPr>
          <p:cNvPr id="3" name="Slide Number Placeholder 2">
            <a:extLst>
              <a:ext uri="{FF2B5EF4-FFF2-40B4-BE49-F238E27FC236}">
                <a16:creationId xmlns:a16="http://schemas.microsoft.com/office/drawing/2014/main" id="{A2B068EA-4FF8-633D-129B-FFB5D15F7047}"/>
              </a:ext>
            </a:extLst>
          </p:cNvPr>
          <p:cNvSpPr>
            <a:spLocks noGrp="1"/>
          </p:cNvSpPr>
          <p:nvPr>
            <p:ph type="sldNum" sz="quarter" idx="10"/>
          </p:nvPr>
        </p:nvSpPr>
        <p:spPr/>
        <p:txBody>
          <a:bodyPr/>
          <a:lstStyle/>
          <a:p>
            <a:pPr>
              <a:defRPr/>
            </a:pPr>
            <a:fld id="{062FE7C6-874C-4E62-8759-08C2AB2543BB}" type="slidenum">
              <a:rPr lang="en-GB" smtClean="0"/>
              <a:pPr>
                <a:defRPr/>
              </a:pPr>
              <a:t>11</a:t>
            </a:fld>
            <a:endParaRPr lang="en-GB"/>
          </a:p>
        </p:txBody>
      </p:sp>
      <p:graphicFrame>
        <p:nvGraphicFramePr>
          <p:cNvPr id="4" name="Table 3">
            <a:extLst>
              <a:ext uri="{FF2B5EF4-FFF2-40B4-BE49-F238E27FC236}">
                <a16:creationId xmlns:a16="http://schemas.microsoft.com/office/drawing/2014/main" id="{3C68C8B0-244A-2D2B-597F-CA827ADCA14A}"/>
              </a:ext>
            </a:extLst>
          </p:cNvPr>
          <p:cNvGraphicFramePr>
            <a:graphicFrameLocks noGrp="1"/>
          </p:cNvGraphicFramePr>
          <p:nvPr>
            <p:extLst>
              <p:ext uri="{D42A27DB-BD31-4B8C-83A1-F6EECF244321}">
                <p14:modId xmlns:p14="http://schemas.microsoft.com/office/powerpoint/2010/main" val="187373207"/>
              </p:ext>
            </p:extLst>
          </p:nvPr>
        </p:nvGraphicFramePr>
        <p:xfrm>
          <a:off x="1524000" y="1556792"/>
          <a:ext cx="6096000" cy="445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389350183"/>
                    </a:ext>
                  </a:extLst>
                </a:gridCol>
                <a:gridCol w="2032000">
                  <a:extLst>
                    <a:ext uri="{9D8B030D-6E8A-4147-A177-3AD203B41FA5}">
                      <a16:colId xmlns:a16="http://schemas.microsoft.com/office/drawing/2014/main" val="1763596876"/>
                    </a:ext>
                  </a:extLst>
                </a:gridCol>
                <a:gridCol w="2032000">
                  <a:extLst>
                    <a:ext uri="{9D8B030D-6E8A-4147-A177-3AD203B41FA5}">
                      <a16:colId xmlns:a16="http://schemas.microsoft.com/office/drawing/2014/main" val="3913547588"/>
                    </a:ext>
                  </a:extLst>
                </a:gridCol>
              </a:tblGrid>
              <a:tr h="370840">
                <a:tc>
                  <a:txBody>
                    <a:bodyPr/>
                    <a:lstStyle/>
                    <a:p>
                      <a:pPr algn="ctr"/>
                      <a:r>
                        <a:rPr lang="en-GB" dirty="0">
                          <a:solidFill>
                            <a:schemeClr val="tx1"/>
                          </a:solidFill>
                        </a:rPr>
                        <a:t>Participant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70840">
                <a:tc>
                  <a:txBody>
                    <a:bodyPr/>
                    <a:lstStyle/>
                    <a:p>
                      <a:pPr algn="ctr"/>
                      <a:r>
                        <a:rPr lang="en-GB" dirty="0">
                          <a:solidFill>
                            <a:schemeClr val="tx1"/>
                          </a:solidFill>
                        </a:rPr>
                        <a:t>001</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70840">
                <a:tc>
                  <a:txBody>
                    <a:bodyPr/>
                    <a:lstStyle/>
                    <a:p>
                      <a:pPr algn="ctr"/>
                      <a:r>
                        <a:rPr lang="en-GB" dirty="0">
                          <a:solidFill>
                            <a:schemeClr val="tx1"/>
                          </a:solidFill>
                        </a:rPr>
                        <a:t>002</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70840">
                <a:tc>
                  <a:txBody>
                    <a:bodyPr/>
                    <a:lstStyle/>
                    <a:p>
                      <a:pPr algn="ctr"/>
                      <a:r>
                        <a:rPr lang="en-GB" dirty="0">
                          <a:solidFill>
                            <a:schemeClr val="tx1"/>
                          </a:solidFill>
                        </a:rPr>
                        <a:t>003</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70840">
                <a:tc>
                  <a:txBody>
                    <a:bodyPr/>
                    <a:lstStyle/>
                    <a:p>
                      <a:pPr algn="ctr"/>
                      <a:r>
                        <a:rPr lang="en-GB" dirty="0">
                          <a:solidFill>
                            <a:schemeClr val="tx1"/>
                          </a:solidFill>
                        </a:rPr>
                        <a:t>004</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70840">
                <a:tc>
                  <a:txBody>
                    <a:bodyPr/>
                    <a:lstStyle/>
                    <a:p>
                      <a:pPr algn="ctr"/>
                      <a:r>
                        <a:rPr lang="en-GB" dirty="0">
                          <a:solidFill>
                            <a:schemeClr val="tx1"/>
                          </a:solidFill>
                        </a:rPr>
                        <a:t>005</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64418"/>
                  </a:ext>
                </a:extLst>
              </a:tr>
              <a:tr h="370840">
                <a:tc>
                  <a:txBody>
                    <a:bodyPr/>
                    <a:lstStyle/>
                    <a:p>
                      <a:pPr algn="ctr"/>
                      <a:r>
                        <a:rPr lang="en-GB" dirty="0">
                          <a:solidFill>
                            <a:schemeClr val="tx1"/>
                          </a:solidFill>
                        </a:rPr>
                        <a:t>006</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6220011"/>
                  </a:ext>
                </a:extLst>
              </a:tr>
              <a:tr h="370840">
                <a:tc>
                  <a:txBody>
                    <a:bodyPr/>
                    <a:lstStyle/>
                    <a:p>
                      <a:pPr algn="ctr"/>
                      <a:r>
                        <a:rPr lang="en-GB" dirty="0">
                          <a:solidFill>
                            <a:schemeClr val="tx1"/>
                          </a:solidFill>
                        </a:rPr>
                        <a:t>007</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6234675"/>
                  </a:ext>
                </a:extLst>
              </a:tr>
              <a:tr h="370840">
                <a:tc>
                  <a:txBody>
                    <a:bodyPr/>
                    <a:lstStyle/>
                    <a:p>
                      <a:pPr algn="ctr"/>
                      <a:r>
                        <a:rPr lang="en-GB" dirty="0">
                          <a:solidFill>
                            <a:schemeClr val="tx1"/>
                          </a:solidFill>
                        </a:rPr>
                        <a:t>008</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94641545"/>
                  </a:ext>
                </a:extLst>
              </a:tr>
              <a:tr h="370840">
                <a:tc>
                  <a:txBody>
                    <a:bodyPr/>
                    <a:lstStyle/>
                    <a:p>
                      <a:pPr algn="ctr"/>
                      <a:r>
                        <a:rPr lang="en-GB" dirty="0">
                          <a:solidFill>
                            <a:schemeClr val="tx1"/>
                          </a:solidFill>
                        </a:rPr>
                        <a:t>009</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79828478"/>
                  </a:ext>
                </a:extLst>
              </a:tr>
              <a:tr h="370840">
                <a:tc>
                  <a:txBody>
                    <a:bodyPr/>
                    <a:lstStyle/>
                    <a:p>
                      <a:pPr algn="ctr"/>
                      <a:r>
                        <a:rPr lang="en-GB" dirty="0">
                          <a:solidFill>
                            <a:schemeClr val="tx1"/>
                          </a:solidFill>
                        </a:rPr>
                        <a:t>010</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5</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5190031"/>
                  </a:ext>
                </a:extLst>
              </a:tr>
              <a:tr h="37084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3182096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2180C-C6B5-4956-FA66-6A2C9AB77B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E8D9BD-C27F-35AE-F7F3-875E5FD63FE7}"/>
              </a:ext>
            </a:extLst>
          </p:cNvPr>
          <p:cNvSpPr>
            <a:spLocks noGrp="1"/>
          </p:cNvSpPr>
          <p:nvPr>
            <p:ph type="title"/>
          </p:nvPr>
        </p:nvSpPr>
        <p:spPr/>
        <p:txBody>
          <a:bodyPr/>
          <a:lstStyle/>
          <a:p>
            <a:r>
              <a:rPr lang="en-GB" dirty="0"/>
              <a:t>A survival dataset</a:t>
            </a:r>
          </a:p>
        </p:txBody>
      </p:sp>
      <p:sp>
        <p:nvSpPr>
          <p:cNvPr id="3" name="Slide Number Placeholder 2">
            <a:extLst>
              <a:ext uri="{FF2B5EF4-FFF2-40B4-BE49-F238E27FC236}">
                <a16:creationId xmlns:a16="http://schemas.microsoft.com/office/drawing/2014/main" id="{7F5C1F24-419B-1D79-1319-97142B85A3AE}"/>
              </a:ext>
            </a:extLst>
          </p:cNvPr>
          <p:cNvSpPr>
            <a:spLocks noGrp="1"/>
          </p:cNvSpPr>
          <p:nvPr>
            <p:ph type="sldNum" sz="quarter" idx="10"/>
          </p:nvPr>
        </p:nvSpPr>
        <p:spPr/>
        <p:txBody>
          <a:bodyPr/>
          <a:lstStyle/>
          <a:p>
            <a:pPr>
              <a:defRPr/>
            </a:pPr>
            <a:fld id="{062FE7C6-874C-4E62-8759-08C2AB2543BB}" type="slidenum">
              <a:rPr lang="en-GB" smtClean="0"/>
              <a:pPr>
                <a:defRPr/>
              </a:pPr>
              <a:t>12</a:t>
            </a:fld>
            <a:endParaRPr lang="en-GB"/>
          </a:p>
        </p:txBody>
      </p:sp>
      <p:graphicFrame>
        <p:nvGraphicFramePr>
          <p:cNvPr id="4" name="Table 3">
            <a:extLst>
              <a:ext uri="{FF2B5EF4-FFF2-40B4-BE49-F238E27FC236}">
                <a16:creationId xmlns:a16="http://schemas.microsoft.com/office/drawing/2014/main" id="{F7D2A763-6477-FDED-DA27-6D43B5D5397E}"/>
              </a:ext>
            </a:extLst>
          </p:cNvPr>
          <p:cNvGraphicFramePr>
            <a:graphicFrameLocks noGrp="1"/>
          </p:cNvGraphicFramePr>
          <p:nvPr>
            <p:extLst>
              <p:ext uri="{D42A27DB-BD31-4B8C-83A1-F6EECF244321}">
                <p14:modId xmlns:p14="http://schemas.microsoft.com/office/powerpoint/2010/main" val="3522810069"/>
              </p:ext>
            </p:extLst>
          </p:nvPr>
        </p:nvGraphicFramePr>
        <p:xfrm>
          <a:off x="1524000" y="1556792"/>
          <a:ext cx="6096000" cy="445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389350183"/>
                    </a:ext>
                  </a:extLst>
                </a:gridCol>
                <a:gridCol w="2032000">
                  <a:extLst>
                    <a:ext uri="{9D8B030D-6E8A-4147-A177-3AD203B41FA5}">
                      <a16:colId xmlns:a16="http://schemas.microsoft.com/office/drawing/2014/main" val="1763596876"/>
                    </a:ext>
                  </a:extLst>
                </a:gridCol>
                <a:gridCol w="2032000">
                  <a:extLst>
                    <a:ext uri="{9D8B030D-6E8A-4147-A177-3AD203B41FA5}">
                      <a16:colId xmlns:a16="http://schemas.microsoft.com/office/drawing/2014/main" val="3913547588"/>
                    </a:ext>
                  </a:extLst>
                </a:gridCol>
              </a:tblGrid>
              <a:tr h="370840">
                <a:tc>
                  <a:txBody>
                    <a:bodyPr/>
                    <a:lstStyle/>
                    <a:p>
                      <a:pPr algn="ctr"/>
                      <a:r>
                        <a:rPr lang="en-GB" dirty="0">
                          <a:solidFill>
                            <a:schemeClr val="tx1"/>
                          </a:solidFill>
                        </a:rPr>
                        <a:t>Participant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70840">
                <a:tc>
                  <a:txBody>
                    <a:bodyPr/>
                    <a:lstStyle/>
                    <a:p>
                      <a:pPr algn="ctr"/>
                      <a:r>
                        <a:rPr lang="en-GB" dirty="0">
                          <a:solidFill>
                            <a:schemeClr val="tx1"/>
                          </a:solidFill>
                        </a:rPr>
                        <a:t>001</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70840">
                <a:tc>
                  <a:txBody>
                    <a:bodyPr/>
                    <a:lstStyle/>
                    <a:p>
                      <a:pPr algn="ctr"/>
                      <a:r>
                        <a:rPr lang="en-GB" dirty="0">
                          <a:solidFill>
                            <a:schemeClr val="tx1"/>
                          </a:solidFill>
                        </a:rPr>
                        <a:t>002</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70840">
                <a:tc>
                  <a:txBody>
                    <a:bodyPr/>
                    <a:lstStyle/>
                    <a:p>
                      <a:pPr algn="ctr"/>
                      <a:r>
                        <a:rPr lang="en-GB" dirty="0">
                          <a:solidFill>
                            <a:schemeClr val="tx1"/>
                          </a:solidFill>
                        </a:rPr>
                        <a:t>003</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70840">
                <a:tc>
                  <a:txBody>
                    <a:bodyPr/>
                    <a:lstStyle/>
                    <a:p>
                      <a:pPr algn="ctr"/>
                      <a:r>
                        <a:rPr lang="en-GB" dirty="0">
                          <a:solidFill>
                            <a:schemeClr val="tx1"/>
                          </a:solidFill>
                        </a:rPr>
                        <a:t>004</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70840">
                <a:tc>
                  <a:txBody>
                    <a:bodyPr/>
                    <a:lstStyle/>
                    <a:p>
                      <a:pPr algn="ctr"/>
                      <a:r>
                        <a:rPr lang="en-GB" dirty="0">
                          <a:solidFill>
                            <a:schemeClr val="tx1"/>
                          </a:solidFill>
                        </a:rPr>
                        <a:t>005</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64418"/>
                  </a:ext>
                </a:extLst>
              </a:tr>
              <a:tr h="370840">
                <a:tc>
                  <a:txBody>
                    <a:bodyPr/>
                    <a:lstStyle/>
                    <a:p>
                      <a:pPr algn="ctr"/>
                      <a:r>
                        <a:rPr lang="en-GB" dirty="0">
                          <a:solidFill>
                            <a:schemeClr val="tx1"/>
                          </a:solidFill>
                        </a:rPr>
                        <a:t>006</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6220011"/>
                  </a:ext>
                </a:extLst>
              </a:tr>
              <a:tr h="370840">
                <a:tc>
                  <a:txBody>
                    <a:bodyPr/>
                    <a:lstStyle/>
                    <a:p>
                      <a:pPr algn="ctr"/>
                      <a:r>
                        <a:rPr lang="en-GB" dirty="0">
                          <a:solidFill>
                            <a:schemeClr val="tx1"/>
                          </a:solidFill>
                        </a:rPr>
                        <a:t>007</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6234675"/>
                  </a:ext>
                </a:extLst>
              </a:tr>
              <a:tr h="370840">
                <a:tc>
                  <a:txBody>
                    <a:bodyPr/>
                    <a:lstStyle/>
                    <a:p>
                      <a:pPr algn="ctr"/>
                      <a:r>
                        <a:rPr lang="en-GB" dirty="0">
                          <a:solidFill>
                            <a:schemeClr val="tx1"/>
                          </a:solidFill>
                        </a:rPr>
                        <a:t>008</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94641545"/>
                  </a:ext>
                </a:extLst>
              </a:tr>
              <a:tr h="370840">
                <a:tc>
                  <a:txBody>
                    <a:bodyPr/>
                    <a:lstStyle/>
                    <a:p>
                      <a:pPr algn="ctr"/>
                      <a:r>
                        <a:rPr lang="en-GB" dirty="0">
                          <a:solidFill>
                            <a:schemeClr val="tx1"/>
                          </a:solidFill>
                        </a:rPr>
                        <a:t>009</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79828478"/>
                  </a:ext>
                </a:extLst>
              </a:tr>
              <a:tr h="370840">
                <a:tc>
                  <a:txBody>
                    <a:bodyPr/>
                    <a:lstStyle/>
                    <a:p>
                      <a:pPr algn="ctr"/>
                      <a:r>
                        <a:rPr lang="en-GB" dirty="0">
                          <a:solidFill>
                            <a:schemeClr val="tx1"/>
                          </a:solidFill>
                        </a:rPr>
                        <a:t>010</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5</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5190031"/>
                  </a:ext>
                </a:extLst>
              </a:tr>
              <a:tr h="37084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6125015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9BA36-3ACF-AEF8-7862-1FACD2E3A3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607C27-005A-2305-9D47-D111BD1147E6}"/>
              </a:ext>
            </a:extLst>
          </p:cNvPr>
          <p:cNvSpPr>
            <a:spLocks noGrp="1"/>
          </p:cNvSpPr>
          <p:nvPr>
            <p:ph type="title"/>
          </p:nvPr>
        </p:nvSpPr>
        <p:spPr/>
        <p:txBody>
          <a:bodyPr/>
          <a:lstStyle/>
          <a:p>
            <a:r>
              <a:rPr lang="en-GB" dirty="0"/>
              <a:t>A survival dataset</a:t>
            </a:r>
          </a:p>
        </p:txBody>
      </p:sp>
      <p:sp>
        <p:nvSpPr>
          <p:cNvPr id="3" name="Slide Number Placeholder 2">
            <a:extLst>
              <a:ext uri="{FF2B5EF4-FFF2-40B4-BE49-F238E27FC236}">
                <a16:creationId xmlns:a16="http://schemas.microsoft.com/office/drawing/2014/main" id="{9F041B88-FF77-A442-071E-F6C21827E252}"/>
              </a:ext>
            </a:extLst>
          </p:cNvPr>
          <p:cNvSpPr>
            <a:spLocks noGrp="1"/>
          </p:cNvSpPr>
          <p:nvPr>
            <p:ph type="sldNum" sz="quarter" idx="10"/>
          </p:nvPr>
        </p:nvSpPr>
        <p:spPr/>
        <p:txBody>
          <a:bodyPr/>
          <a:lstStyle/>
          <a:p>
            <a:pPr>
              <a:defRPr/>
            </a:pPr>
            <a:fld id="{062FE7C6-874C-4E62-8759-08C2AB2543BB}" type="slidenum">
              <a:rPr lang="en-GB" smtClean="0"/>
              <a:pPr>
                <a:defRPr/>
              </a:pPr>
              <a:t>13</a:t>
            </a:fld>
            <a:endParaRPr lang="en-GB"/>
          </a:p>
        </p:txBody>
      </p:sp>
      <p:graphicFrame>
        <p:nvGraphicFramePr>
          <p:cNvPr id="4" name="Table 3">
            <a:extLst>
              <a:ext uri="{FF2B5EF4-FFF2-40B4-BE49-F238E27FC236}">
                <a16:creationId xmlns:a16="http://schemas.microsoft.com/office/drawing/2014/main" id="{EE2364AA-B30B-DC97-AB14-FEF953A58BB8}"/>
              </a:ext>
            </a:extLst>
          </p:cNvPr>
          <p:cNvGraphicFramePr>
            <a:graphicFrameLocks noGrp="1"/>
          </p:cNvGraphicFramePr>
          <p:nvPr>
            <p:extLst>
              <p:ext uri="{D42A27DB-BD31-4B8C-83A1-F6EECF244321}">
                <p14:modId xmlns:p14="http://schemas.microsoft.com/office/powerpoint/2010/main" val="2568028495"/>
              </p:ext>
            </p:extLst>
          </p:nvPr>
        </p:nvGraphicFramePr>
        <p:xfrm>
          <a:off x="1524000" y="1556792"/>
          <a:ext cx="6096000" cy="445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389350183"/>
                    </a:ext>
                  </a:extLst>
                </a:gridCol>
                <a:gridCol w="2032000">
                  <a:extLst>
                    <a:ext uri="{9D8B030D-6E8A-4147-A177-3AD203B41FA5}">
                      <a16:colId xmlns:a16="http://schemas.microsoft.com/office/drawing/2014/main" val="1763596876"/>
                    </a:ext>
                  </a:extLst>
                </a:gridCol>
                <a:gridCol w="2032000">
                  <a:extLst>
                    <a:ext uri="{9D8B030D-6E8A-4147-A177-3AD203B41FA5}">
                      <a16:colId xmlns:a16="http://schemas.microsoft.com/office/drawing/2014/main" val="3913547588"/>
                    </a:ext>
                  </a:extLst>
                </a:gridCol>
              </a:tblGrid>
              <a:tr h="370840">
                <a:tc>
                  <a:txBody>
                    <a:bodyPr/>
                    <a:lstStyle/>
                    <a:p>
                      <a:pPr algn="ctr"/>
                      <a:r>
                        <a:rPr lang="en-GB" dirty="0">
                          <a:solidFill>
                            <a:schemeClr val="tx1"/>
                          </a:solidFill>
                        </a:rPr>
                        <a:t>Participant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70840">
                <a:tc>
                  <a:txBody>
                    <a:bodyPr/>
                    <a:lstStyle/>
                    <a:p>
                      <a:pPr algn="ctr"/>
                      <a:r>
                        <a:rPr lang="en-GB" dirty="0">
                          <a:solidFill>
                            <a:schemeClr val="tx1"/>
                          </a:solidFill>
                        </a:rPr>
                        <a:t>001</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70840">
                <a:tc>
                  <a:txBody>
                    <a:bodyPr/>
                    <a:lstStyle/>
                    <a:p>
                      <a:pPr algn="ctr"/>
                      <a:r>
                        <a:rPr lang="en-GB" dirty="0">
                          <a:solidFill>
                            <a:schemeClr val="tx1"/>
                          </a:solidFill>
                        </a:rPr>
                        <a:t>002</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70840">
                <a:tc>
                  <a:txBody>
                    <a:bodyPr/>
                    <a:lstStyle/>
                    <a:p>
                      <a:pPr algn="ctr"/>
                      <a:r>
                        <a:rPr lang="en-GB" dirty="0">
                          <a:solidFill>
                            <a:schemeClr val="tx1"/>
                          </a:solidFill>
                        </a:rPr>
                        <a:t>003</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70840">
                <a:tc>
                  <a:txBody>
                    <a:bodyPr/>
                    <a:lstStyle/>
                    <a:p>
                      <a:pPr algn="ctr"/>
                      <a:r>
                        <a:rPr lang="en-GB" dirty="0">
                          <a:solidFill>
                            <a:schemeClr val="tx1"/>
                          </a:solidFill>
                        </a:rPr>
                        <a:t>004</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70840">
                <a:tc>
                  <a:txBody>
                    <a:bodyPr/>
                    <a:lstStyle/>
                    <a:p>
                      <a:pPr algn="ctr"/>
                      <a:r>
                        <a:rPr lang="en-GB" dirty="0">
                          <a:solidFill>
                            <a:schemeClr val="tx1"/>
                          </a:solidFill>
                        </a:rPr>
                        <a:t>005</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64418"/>
                  </a:ext>
                </a:extLst>
              </a:tr>
              <a:tr h="370840">
                <a:tc>
                  <a:txBody>
                    <a:bodyPr/>
                    <a:lstStyle/>
                    <a:p>
                      <a:pPr algn="ctr"/>
                      <a:r>
                        <a:rPr lang="en-GB" dirty="0">
                          <a:solidFill>
                            <a:schemeClr val="tx1"/>
                          </a:solidFill>
                        </a:rPr>
                        <a:t>006</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6220011"/>
                  </a:ext>
                </a:extLst>
              </a:tr>
              <a:tr h="370840">
                <a:tc>
                  <a:txBody>
                    <a:bodyPr/>
                    <a:lstStyle/>
                    <a:p>
                      <a:pPr algn="ctr"/>
                      <a:r>
                        <a:rPr lang="en-GB" dirty="0">
                          <a:solidFill>
                            <a:schemeClr val="tx1"/>
                          </a:solidFill>
                        </a:rPr>
                        <a:t>007</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6234675"/>
                  </a:ext>
                </a:extLst>
              </a:tr>
              <a:tr h="370840">
                <a:tc>
                  <a:txBody>
                    <a:bodyPr/>
                    <a:lstStyle/>
                    <a:p>
                      <a:pPr algn="ctr"/>
                      <a:r>
                        <a:rPr lang="en-GB" dirty="0">
                          <a:solidFill>
                            <a:schemeClr val="tx1"/>
                          </a:solidFill>
                        </a:rPr>
                        <a:t>008</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94641545"/>
                  </a:ext>
                </a:extLst>
              </a:tr>
              <a:tr h="370840">
                <a:tc>
                  <a:txBody>
                    <a:bodyPr/>
                    <a:lstStyle/>
                    <a:p>
                      <a:pPr algn="ctr"/>
                      <a:r>
                        <a:rPr lang="en-GB" dirty="0">
                          <a:solidFill>
                            <a:schemeClr val="tx1"/>
                          </a:solidFill>
                        </a:rPr>
                        <a:t>009</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79828478"/>
                  </a:ext>
                </a:extLst>
              </a:tr>
              <a:tr h="370840">
                <a:tc>
                  <a:txBody>
                    <a:bodyPr/>
                    <a:lstStyle/>
                    <a:p>
                      <a:pPr algn="ctr"/>
                      <a:r>
                        <a:rPr lang="en-GB" dirty="0">
                          <a:solidFill>
                            <a:schemeClr val="tx1"/>
                          </a:solidFill>
                        </a:rPr>
                        <a:t>010</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5</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5190031"/>
                  </a:ext>
                </a:extLst>
              </a:tr>
              <a:tr h="37084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32407879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6974-B8EE-8DDB-FC5F-B67669C64F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E52DA7-E95C-B83D-D60F-EE72608E89AA}"/>
              </a:ext>
            </a:extLst>
          </p:cNvPr>
          <p:cNvSpPr>
            <a:spLocks noGrp="1"/>
          </p:cNvSpPr>
          <p:nvPr>
            <p:ph type="title"/>
          </p:nvPr>
        </p:nvSpPr>
        <p:spPr/>
        <p:txBody>
          <a:bodyPr/>
          <a:lstStyle/>
          <a:p>
            <a:r>
              <a:rPr lang="en-GB" dirty="0"/>
              <a:t>A survival dataset</a:t>
            </a:r>
          </a:p>
        </p:txBody>
      </p:sp>
      <p:sp>
        <p:nvSpPr>
          <p:cNvPr id="3" name="Slide Number Placeholder 2">
            <a:extLst>
              <a:ext uri="{FF2B5EF4-FFF2-40B4-BE49-F238E27FC236}">
                <a16:creationId xmlns:a16="http://schemas.microsoft.com/office/drawing/2014/main" id="{56DC2EC9-6DF0-FBB7-D200-150CDC10E8B2}"/>
              </a:ext>
            </a:extLst>
          </p:cNvPr>
          <p:cNvSpPr>
            <a:spLocks noGrp="1"/>
          </p:cNvSpPr>
          <p:nvPr>
            <p:ph type="sldNum" sz="quarter" idx="10"/>
          </p:nvPr>
        </p:nvSpPr>
        <p:spPr/>
        <p:txBody>
          <a:bodyPr/>
          <a:lstStyle/>
          <a:p>
            <a:pPr>
              <a:defRPr/>
            </a:pPr>
            <a:fld id="{062FE7C6-874C-4E62-8759-08C2AB2543BB}" type="slidenum">
              <a:rPr lang="en-GB" smtClean="0"/>
              <a:pPr>
                <a:defRPr/>
              </a:pPr>
              <a:t>14</a:t>
            </a:fld>
            <a:endParaRPr lang="en-GB"/>
          </a:p>
        </p:txBody>
      </p:sp>
      <p:graphicFrame>
        <p:nvGraphicFramePr>
          <p:cNvPr id="4" name="Table 3">
            <a:extLst>
              <a:ext uri="{FF2B5EF4-FFF2-40B4-BE49-F238E27FC236}">
                <a16:creationId xmlns:a16="http://schemas.microsoft.com/office/drawing/2014/main" id="{2AE3F687-1545-81A4-6260-B1F633720F3E}"/>
              </a:ext>
            </a:extLst>
          </p:cNvPr>
          <p:cNvGraphicFramePr>
            <a:graphicFrameLocks noGrp="1"/>
          </p:cNvGraphicFramePr>
          <p:nvPr>
            <p:extLst>
              <p:ext uri="{D42A27DB-BD31-4B8C-83A1-F6EECF244321}">
                <p14:modId xmlns:p14="http://schemas.microsoft.com/office/powerpoint/2010/main" val="2533188389"/>
              </p:ext>
            </p:extLst>
          </p:nvPr>
        </p:nvGraphicFramePr>
        <p:xfrm>
          <a:off x="1524000" y="1556792"/>
          <a:ext cx="6096000" cy="445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389350183"/>
                    </a:ext>
                  </a:extLst>
                </a:gridCol>
                <a:gridCol w="2032000">
                  <a:extLst>
                    <a:ext uri="{9D8B030D-6E8A-4147-A177-3AD203B41FA5}">
                      <a16:colId xmlns:a16="http://schemas.microsoft.com/office/drawing/2014/main" val="1763596876"/>
                    </a:ext>
                  </a:extLst>
                </a:gridCol>
                <a:gridCol w="2032000">
                  <a:extLst>
                    <a:ext uri="{9D8B030D-6E8A-4147-A177-3AD203B41FA5}">
                      <a16:colId xmlns:a16="http://schemas.microsoft.com/office/drawing/2014/main" val="3913547588"/>
                    </a:ext>
                  </a:extLst>
                </a:gridCol>
              </a:tblGrid>
              <a:tr h="370840">
                <a:tc>
                  <a:txBody>
                    <a:bodyPr/>
                    <a:lstStyle/>
                    <a:p>
                      <a:pPr algn="ctr"/>
                      <a:r>
                        <a:rPr lang="en-GB" dirty="0">
                          <a:solidFill>
                            <a:schemeClr val="tx1"/>
                          </a:solidFill>
                        </a:rPr>
                        <a:t>Participant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2850906499"/>
                  </a:ext>
                </a:extLst>
              </a:tr>
              <a:tr h="370840">
                <a:tc>
                  <a:txBody>
                    <a:bodyPr/>
                    <a:lstStyle/>
                    <a:p>
                      <a:pPr algn="ctr"/>
                      <a:r>
                        <a:rPr lang="en-GB" dirty="0">
                          <a:solidFill>
                            <a:schemeClr val="tx1"/>
                          </a:solidFill>
                        </a:rPr>
                        <a:t>001</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4103104698"/>
                  </a:ext>
                </a:extLst>
              </a:tr>
              <a:tr h="370840">
                <a:tc>
                  <a:txBody>
                    <a:bodyPr/>
                    <a:lstStyle/>
                    <a:p>
                      <a:pPr algn="ctr"/>
                      <a:r>
                        <a:rPr lang="en-GB" dirty="0">
                          <a:solidFill>
                            <a:schemeClr val="tx1"/>
                          </a:solidFill>
                        </a:rPr>
                        <a:t>002</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24462518"/>
                  </a:ext>
                </a:extLst>
              </a:tr>
              <a:tr h="370840">
                <a:tc>
                  <a:txBody>
                    <a:bodyPr/>
                    <a:lstStyle/>
                    <a:p>
                      <a:pPr algn="ctr"/>
                      <a:r>
                        <a:rPr lang="en-GB" dirty="0">
                          <a:solidFill>
                            <a:schemeClr val="tx1"/>
                          </a:solidFill>
                        </a:rPr>
                        <a:t>003</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70840">
                <a:tc>
                  <a:txBody>
                    <a:bodyPr/>
                    <a:lstStyle/>
                    <a:p>
                      <a:pPr algn="ctr"/>
                      <a:r>
                        <a:rPr lang="en-GB" dirty="0">
                          <a:solidFill>
                            <a:schemeClr val="tx1"/>
                          </a:solidFill>
                        </a:rPr>
                        <a:t>004</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1576236835"/>
                  </a:ext>
                </a:extLst>
              </a:tr>
              <a:tr h="370840">
                <a:tc>
                  <a:txBody>
                    <a:bodyPr/>
                    <a:lstStyle/>
                    <a:p>
                      <a:pPr algn="ctr"/>
                      <a:r>
                        <a:rPr lang="en-GB" dirty="0">
                          <a:solidFill>
                            <a:schemeClr val="tx1"/>
                          </a:solidFill>
                        </a:rPr>
                        <a:t>005</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128964418"/>
                  </a:ext>
                </a:extLst>
              </a:tr>
              <a:tr h="370840">
                <a:tc>
                  <a:txBody>
                    <a:bodyPr/>
                    <a:lstStyle/>
                    <a:p>
                      <a:pPr algn="ctr"/>
                      <a:r>
                        <a:rPr lang="en-GB" dirty="0">
                          <a:solidFill>
                            <a:schemeClr val="tx1"/>
                          </a:solidFill>
                        </a:rPr>
                        <a:t>006</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1346220011"/>
                  </a:ext>
                </a:extLst>
              </a:tr>
              <a:tr h="370840">
                <a:tc>
                  <a:txBody>
                    <a:bodyPr/>
                    <a:lstStyle/>
                    <a:p>
                      <a:pPr algn="ctr"/>
                      <a:r>
                        <a:rPr lang="en-GB" dirty="0">
                          <a:solidFill>
                            <a:schemeClr val="tx1"/>
                          </a:solidFill>
                        </a:rPr>
                        <a:t>007</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3556234675"/>
                  </a:ext>
                </a:extLst>
              </a:tr>
              <a:tr h="370840">
                <a:tc>
                  <a:txBody>
                    <a:bodyPr/>
                    <a:lstStyle/>
                    <a:p>
                      <a:pPr algn="ctr"/>
                      <a:r>
                        <a:rPr lang="en-GB" dirty="0">
                          <a:solidFill>
                            <a:schemeClr val="tx1"/>
                          </a:solidFill>
                        </a:rPr>
                        <a:t>008</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94641545"/>
                  </a:ext>
                </a:extLst>
              </a:tr>
              <a:tr h="370840">
                <a:tc>
                  <a:txBody>
                    <a:bodyPr/>
                    <a:lstStyle/>
                    <a:p>
                      <a:pPr algn="ctr"/>
                      <a:r>
                        <a:rPr lang="en-GB" dirty="0">
                          <a:solidFill>
                            <a:schemeClr val="tx1"/>
                          </a:solidFill>
                        </a:rPr>
                        <a:t>009</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3479828478"/>
                  </a:ext>
                </a:extLst>
              </a:tr>
              <a:tr h="370840">
                <a:tc>
                  <a:txBody>
                    <a:bodyPr/>
                    <a:lstStyle/>
                    <a:p>
                      <a:pPr algn="ctr"/>
                      <a:r>
                        <a:rPr lang="en-GB" dirty="0">
                          <a:solidFill>
                            <a:schemeClr val="tx1"/>
                          </a:solidFill>
                        </a:rPr>
                        <a:t>010</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5</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1375190031"/>
                  </a:ext>
                </a:extLst>
              </a:tr>
              <a:tr h="37084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18471794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8CF00-A2C6-6F10-F51C-79E4B60DC9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C89F2C-69C4-7395-A10B-3AE6A9BFB4ED}"/>
              </a:ext>
            </a:extLst>
          </p:cNvPr>
          <p:cNvSpPr>
            <a:spLocks noGrp="1"/>
          </p:cNvSpPr>
          <p:nvPr>
            <p:ph type="title"/>
          </p:nvPr>
        </p:nvSpPr>
        <p:spPr/>
        <p:txBody>
          <a:bodyPr/>
          <a:lstStyle/>
          <a:p>
            <a:r>
              <a:rPr lang="en-GB" dirty="0"/>
              <a:t>A survival dataset</a:t>
            </a:r>
          </a:p>
        </p:txBody>
      </p:sp>
      <p:sp>
        <p:nvSpPr>
          <p:cNvPr id="3" name="Slide Number Placeholder 2">
            <a:extLst>
              <a:ext uri="{FF2B5EF4-FFF2-40B4-BE49-F238E27FC236}">
                <a16:creationId xmlns:a16="http://schemas.microsoft.com/office/drawing/2014/main" id="{36D13DF3-9A2D-E0EA-7697-951A7E949F43}"/>
              </a:ext>
            </a:extLst>
          </p:cNvPr>
          <p:cNvSpPr>
            <a:spLocks noGrp="1"/>
          </p:cNvSpPr>
          <p:nvPr>
            <p:ph type="sldNum" sz="quarter" idx="10"/>
          </p:nvPr>
        </p:nvSpPr>
        <p:spPr/>
        <p:txBody>
          <a:bodyPr/>
          <a:lstStyle/>
          <a:p>
            <a:pPr>
              <a:defRPr/>
            </a:pPr>
            <a:fld id="{062FE7C6-874C-4E62-8759-08C2AB2543BB}" type="slidenum">
              <a:rPr lang="en-GB" smtClean="0"/>
              <a:pPr>
                <a:defRPr/>
              </a:pPr>
              <a:t>15</a:t>
            </a:fld>
            <a:endParaRPr lang="en-GB"/>
          </a:p>
        </p:txBody>
      </p:sp>
      <p:graphicFrame>
        <p:nvGraphicFramePr>
          <p:cNvPr id="4" name="Table 3">
            <a:extLst>
              <a:ext uri="{FF2B5EF4-FFF2-40B4-BE49-F238E27FC236}">
                <a16:creationId xmlns:a16="http://schemas.microsoft.com/office/drawing/2014/main" id="{5BCC95C2-0CDA-1DD8-AF46-88DC4330B7E4}"/>
              </a:ext>
            </a:extLst>
          </p:cNvPr>
          <p:cNvGraphicFramePr>
            <a:graphicFrameLocks noGrp="1"/>
          </p:cNvGraphicFramePr>
          <p:nvPr>
            <p:extLst>
              <p:ext uri="{D42A27DB-BD31-4B8C-83A1-F6EECF244321}">
                <p14:modId xmlns:p14="http://schemas.microsoft.com/office/powerpoint/2010/main" val="2372036152"/>
              </p:ext>
            </p:extLst>
          </p:nvPr>
        </p:nvGraphicFramePr>
        <p:xfrm>
          <a:off x="1524000" y="1556792"/>
          <a:ext cx="6096000" cy="445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389350183"/>
                    </a:ext>
                  </a:extLst>
                </a:gridCol>
                <a:gridCol w="2032000">
                  <a:extLst>
                    <a:ext uri="{9D8B030D-6E8A-4147-A177-3AD203B41FA5}">
                      <a16:colId xmlns:a16="http://schemas.microsoft.com/office/drawing/2014/main" val="1763596876"/>
                    </a:ext>
                  </a:extLst>
                </a:gridCol>
                <a:gridCol w="2032000">
                  <a:extLst>
                    <a:ext uri="{9D8B030D-6E8A-4147-A177-3AD203B41FA5}">
                      <a16:colId xmlns:a16="http://schemas.microsoft.com/office/drawing/2014/main" val="3913547588"/>
                    </a:ext>
                  </a:extLst>
                </a:gridCol>
              </a:tblGrid>
              <a:tr h="370840">
                <a:tc>
                  <a:txBody>
                    <a:bodyPr/>
                    <a:lstStyle/>
                    <a:p>
                      <a:pPr algn="ctr"/>
                      <a:r>
                        <a:rPr lang="en-GB" dirty="0">
                          <a:solidFill>
                            <a:schemeClr val="tx1"/>
                          </a:solidFill>
                        </a:rPr>
                        <a:t>Participant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extLst>
                  <a:ext uri="{0D108BD9-81ED-4DB2-BD59-A6C34878D82A}">
                    <a16:rowId xmlns:a16="http://schemas.microsoft.com/office/drawing/2014/main" val="2850906499"/>
                  </a:ext>
                </a:extLst>
              </a:tr>
              <a:tr h="370840">
                <a:tc>
                  <a:txBody>
                    <a:bodyPr/>
                    <a:lstStyle/>
                    <a:p>
                      <a:pPr algn="ctr"/>
                      <a:r>
                        <a:rPr lang="en-GB" dirty="0">
                          <a:solidFill>
                            <a:schemeClr val="tx1"/>
                          </a:solidFill>
                        </a:rPr>
                        <a:t>001</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70840">
                <a:tc>
                  <a:txBody>
                    <a:bodyPr/>
                    <a:lstStyle/>
                    <a:p>
                      <a:pPr algn="ctr"/>
                      <a:r>
                        <a:rPr lang="en-GB" dirty="0">
                          <a:solidFill>
                            <a:schemeClr val="tx1"/>
                          </a:solidFill>
                        </a:rPr>
                        <a:t>002</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70840">
                <a:tc>
                  <a:txBody>
                    <a:bodyPr/>
                    <a:lstStyle/>
                    <a:p>
                      <a:pPr algn="ctr"/>
                      <a:r>
                        <a:rPr lang="en-GB" dirty="0">
                          <a:solidFill>
                            <a:schemeClr val="tx1"/>
                          </a:solidFill>
                        </a:rPr>
                        <a:t>003</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extLst>
                  <a:ext uri="{0D108BD9-81ED-4DB2-BD59-A6C34878D82A}">
                    <a16:rowId xmlns:a16="http://schemas.microsoft.com/office/drawing/2014/main" val="351013302"/>
                  </a:ext>
                </a:extLst>
              </a:tr>
              <a:tr h="370840">
                <a:tc>
                  <a:txBody>
                    <a:bodyPr/>
                    <a:lstStyle/>
                    <a:p>
                      <a:pPr algn="ctr"/>
                      <a:r>
                        <a:rPr lang="en-GB" dirty="0">
                          <a:solidFill>
                            <a:schemeClr val="tx1"/>
                          </a:solidFill>
                        </a:rPr>
                        <a:t>004</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70840">
                <a:tc>
                  <a:txBody>
                    <a:bodyPr/>
                    <a:lstStyle/>
                    <a:p>
                      <a:pPr algn="ctr"/>
                      <a:r>
                        <a:rPr lang="en-GB" dirty="0">
                          <a:solidFill>
                            <a:schemeClr val="tx1"/>
                          </a:solidFill>
                        </a:rPr>
                        <a:t>005</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64418"/>
                  </a:ext>
                </a:extLst>
              </a:tr>
              <a:tr h="370840">
                <a:tc>
                  <a:txBody>
                    <a:bodyPr/>
                    <a:lstStyle/>
                    <a:p>
                      <a:pPr algn="ctr"/>
                      <a:r>
                        <a:rPr lang="en-GB" dirty="0">
                          <a:solidFill>
                            <a:schemeClr val="tx1"/>
                          </a:solidFill>
                        </a:rPr>
                        <a:t>006</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6220011"/>
                  </a:ext>
                </a:extLst>
              </a:tr>
              <a:tr h="370840">
                <a:tc>
                  <a:txBody>
                    <a:bodyPr/>
                    <a:lstStyle/>
                    <a:p>
                      <a:pPr algn="ctr"/>
                      <a:r>
                        <a:rPr lang="en-GB" dirty="0">
                          <a:solidFill>
                            <a:schemeClr val="tx1"/>
                          </a:solidFill>
                        </a:rPr>
                        <a:t>007</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6234675"/>
                  </a:ext>
                </a:extLst>
              </a:tr>
              <a:tr h="370840">
                <a:tc>
                  <a:txBody>
                    <a:bodyPr/>
                    <a:lstStyle/>
                    <a:p>
                      <a:pPr algn="ctr"/>
                      <a:r>
                        <a:rPr lang="en-GB" dirty="0">
                          <a:solidFill>
                            <a:schemeClr val="tx1"/>
                          </a:solidFill>
                        </a:rPr>
                        <a:t>008</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extLst>
                  <a:ext uri="{0D108BD9-81ED-4DB2-BD59-A6C34878D82A}">
                    <a16:rowId xmlns:a16="http://schemas.microsoft.com/office/drawing/2014/main" val="594641545"/>
                  </a:ext>
                </a:extLst>
              </a:tr>
              <a:tr h="370840">
                <a:tc>
                  <a:txBody>
                    <a:bodyPr/>
                    <a:lstStyle/>
                    <a:p>
                      <a:pPr algn="ctr"/>
                      <a:r>
                        <a:rPr lang="en-GB" dirty="0">
                          <a:solidFill>
                            <a:schemeClr val="tx1"/>
                          </a:solidFill>
                        </a:rPr>
                        <a:t>009</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79828478"/>
                  </a:ext>
                </a:extLst>
              </a:tr>
              <a:tr h="370840">
                <a:tc>
                  <a:txBody>
                    <a:bodyPr/>
                    <a:lstStyle/>
                    <a:p>
                      <a:pPr algn="ctr"/>
                      <a:r>
                        <a:rPr lang="en-GB" dirty="0">
                          <a:solidFill>
                            <a:schemeClr val="tx1"/>
                          </a:solidFill>
                        </a:rPr>
                        <a:t>010</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5</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5190031"/>
                  </a:ext>
                </a:extLst>
              </a:tr>
              <a:tr h="37084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943082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0AC63-EC58-21AC-1A7B-3D137EBE19A1}"/>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786C7D00-7303-B5D9-F8D5-13F2C5E44245}"/>
              </a:ext>
            </a:extLst>
          </p:cNvPr>
          <p:cNvSpPr>
            <a:spLocks noGrp="1"/>
          </p:cNvSpPr>
          <p:nvPr>
            <p:ph type="body" sz="quarter" idx="11"/>
          </p:nvPr>
        </p:nvSpPr>
        <p:spPr/>
        <p:txBody>
          <a:bodyPr/>
          <a:lstStyle/>
          <a:p>
            <a:pPr marL="0" indent="0">
              <a:buNone/>
            </a:pPr>
            <a:r>
              <a:rPr lang="en-GB" sz="2400" dirty="0"/>
              <a:t>“How long do patients maintain functional kidney grafts following transplant?”</a:t>
            </a:r>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r>
              <a:rPr lang="en-GB" sz="2400" dirty="0"/>
              <a:t>What’s the </a:t>
            </a:r>
            <a:r>
              <a:rPr lang="en-GB" sz="2400" b="1" dirty="0">
                <a:solidFill>
                  <a:schemeClr val="accent4"/>
                </a:solidFill>
              </a:rPr>
              <a:t>event</a:t>
            </a:r>
            <a:r>
              <a:rPr lang="en-GB" sz="2400" dirty="0"/>
              <a:t>?</a:t>
            </a:r>
          </a:p>
          <a:p>
            <a:r>
              <a:rPr lang="en-GB" sz="2400" dirty="0"/>
              <a:t>Examples of </a:t>
            </a:r>
            <a:r>
              <a:rPr lang="en-GB" sz="2400" b="1" dirty="0">
                <a:solidFill>
                  <a:schemeClr val="accent2"/>
                </a:solidFill>
              </a:rPr>
              <a:t>censoring</a:t>
            </a:r>
            <a:r>
              <a:rPr lang="en-GB" sz="2400" dirty="0"/>
              <a:t>?</a:t>
            </a:r>
          </a:p>
        </p:txBody>
      </p:sp>
      <p:sp>
        <p:nvSpPr>
          <p:cNvPr id="2" name="Title 1">
            <a:extLst>
              <a:ext uri="{FF2B5EF4-FFF2-40B4-BE49-F238E27FC236}">
                <a16:creationId xmlns:a16="http://schemas.microsoft.com/office/drawing/2014/main" id="{9B1448CF-7903-D9E7-2A51-7348137C2261}"/>
              </a:ext>
            </a:extLst>
          </p:cNvPr>
          <p:cNvSpPr>
            <a:spLocks noGrp="1"/>
          </p:cNvSpPr>
          <p:nvPr>
            <p:ph type="title"/>
          </p:nvPr>
        </p:nvSpPr>
        <p:spPr/>
        <p:txBody>
          <a:bodyPr/>
          <a:lstStyle/>
          <a:p>
            <a:r>
              <a:rPr lang="en-GB" dirty="0"/>
              <a:t>Example 1</a:t>
            </a:r>
          </a:p>
        </p:txBody>
      </p:sp>
      <p:sp>
        <p:nvSpPr>
          <p:cNvPr id="3" name="Slide Number Placeholder 2">
            <a:extLst>
              <a:ext uri="{FF2B5EF4-FFF2-40B4-BE49-F238E27FC236}">
                <a16:creationId xmlns:a16="http://schemas.microsoft.com/office/drawing/2014/main" id="{C5BAEB34-1B97-DC8F-46BC-1B22D16420A4}"/>
              </a:ext>
            </a:extLst>
          </p:cNvPr>
          <p:cNvSpPr>
            <a:spLocks noGrp="1"/>
          </p:cNvSpPr>
          <p:nvPr>
            <p:ph type="sldNum" sz="quarter" idx="10"/>
          </p:nvPr>
        </p:nvSpPr>
        <p:spPr/>
        <p:txBody>
          <a:bodyPr/>
          <a:lstStyle/>
          <a:p>
            <a:pPr>
              <a:defRPr/>
            </a:pPr>
            <a:fld id="{062FE7C6-874C-4E62-8759-08C2AB2543BB}" type="slidenum">
              <a:rPr lang="en-GB" smtClean="0"/>
              <a:pPr>
                <a:defRPr/>
              </a:pPr>
              <a:t>16</a:t>
            </a:fld>
            <a:endParaRPr lang="en-GB"/>
          </a:p>
        </p:txBody>
      </p:sp>
      <p:pic>
        <p:nvPicPr>
          <p:cNvPr id="4" name="Graphic 3" descr="Thought bubble with solid fill">
            <a:extLst>
              <a:ext uri="{FF2B5EF4-FFF2-40B4-BE49-F238E27FC236}">
                <a16:creationId xmlns:a16="http://schemas.microsoft.com/office/drawing/2014/main" id="{AA00339C-0358-4CEE-C729-CD49DFF21B1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15207" y="104613"/>
            <a:ext cx="914400" cy="914400"/>
          </a:xfrm>
          <a:prstGeom prst="rect">
            <a:avLst/>
          </a:prstGeom>
        </p:spPr>
      </p:pic>
      <p:pic>
        <p:nvPicPr>
          <p:cNvPr id="6" name="Graphic 5" descr="Kidneys with solid fill">
            <a:extLst>
              <a:ext uri="{FF2B5EF4-FFF2-40B4-BE49-F238E27FC236}">
                <a16:creationId xmlns:a16="http://schemas.microsoft.com/office/drawing/2014/main" id="{4717B500-B61B-A1C9-EA42-54FED13FA08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131999" y="2780928"/>
            <a:ext cx="1440000" cy="1440000"/>
          </a:xfrm>
          <a:prstGeom prst="rect">
            <a:avLst/>
          </a:prstGeom>
        </p:spPr>
      </p:pic>
      <p:pic>
        <p:nvPicPr>
          <p:cNvPr id="7" name="Graphic 6" descr="Doctor female with solid fill">
            <a:extLst>
              <a:ext uri="{FF2B5EF4-FFF2-40B4-BE49-F238E27FC236}">
                <a16:creationId xmlns:a16="http://schemas.microsoft.com/office/drawing/2014/main" id="{5BD57F96-35ED-261E-7435-16CB301F6F84}"/>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571999" y="2780928"/>
            <a:ext cx="1440000" cy="1440000"/>
          </a:xfrm>
          <a:prstGeom prst="rect">
            <a:avLst/>
          </a:prstGeom>
        </p:spPr>
      </p:pic>
    </p:spTree>
    <p:extLst>
      <p:ext uri="{BB962C8B-B14F-4D97-AF65-F5344CB8AC3E}">
        <p14:creationId xmlns:p14="http://schemas.microsoft.com/office/powerpoint/2010/main" val="3749508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2EDE724B-7E1A-FCEE-4374-76C19CD4A4EA}"/>
              </a:ext>
            </a:extLst>
          </p:cNvPr>
          <p:cNvSpPr>
            <a:spLocks noGrp="1"/>
          </p:cNvSpPr>
          <p:nvPr>
            <p:ph type="body" sz="quarter" idx="11"/>
          </p:nvPr>
        </p:nvSpPr>
        <p:spPr/>
        <p:txBody>
          <a:bodyPr/>
          <a:lstStyle/>
          <a:p>
            <a:pPr marL="0" indent="0">
              <a:buNone/>
            </a:pPr>
            <a:r>
              <a:rPr lang="en-GB" sz="2400" dirty="0"/>
              <a:t>“How long do tagged migratory birds remain within a defined geographic area after breeding?”</a:t>
            </a:r>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r>
              <a:rPr lang="en-GB" sz="2400" dirty="0"/>
              <a:t>What’s the </a:t>
            </a:r>
            <a:r>
              <a:rPr lang="en-GB" sz="2400" b="1" dirty="0">
                <a:solidFill>
                  <a:schemeClr val="accent4"/>
                </a:solidFill>
              </a:rPr>
              <a:t>event</a:t>
            </a:r>
            <a:r>
              <a:rPr lang="en-GB" sz="2400" dirty="0"/>
              <a:t>?</a:t>
            </a:r>
          </a:p>
          <a:p>
            <a:r>
              <a:rPr lang="en-GB" sz="2400" dirty="0"/>
              <a:t>Examples of </a:t>
            </a:r>
            <a:r>
              <a:rPr lang="en-GB" sz="2400" b="1" dirty="0">
                <a:solidFill>
                  <a:schemeClr val="accent2"/>
                </a:solidFill>
              </a:rPr>
              <a:t>censoring</a:t>
            </a:r>
            <a:r>
              <a:rPr lang="en-GB" sz="2400" dirty="0"/>
              <a:t>?</a:t>
            </a:r>
          </a:p>
        </p:txBody>
      </p:sp>
      <p:sp>
        <p:nvSpPr>
          <p:cNvPr id="2" name="Title 1">
            <a:extLst>
              <a:ext uri="{FF2B5EF4-FFF2-40B4-BE49-F238E27FC236}">
                <a16:creationId xmlns:a16="http://schemas.microsoft.com/office/drawing/2014/main" id="{89ED21EF-033B-8344-C7EF-98BB149A1BF0}"/>
              </a:ext>
            </a:extLst>
          </p:cNvPr>
          <p:cNvSpPr>
            <a:spLocks noGrp="1"/>
          </p:cNvSpPr>
          <p:nvPr>
            <p:ph type="title"/>
          </p:nvPr>
        </p:nvSpPr>
        <p:spPr/>
        <p:txBody>
          <a:bodyPr/>
          <a:lstStyle/>
          <a:p>
            <a:r>
              <a:rPr lang="en-GB" dirty="0"/>
              <a:t>Example 2</a:t>
            </a:r>
          </a:p>
        </p:txBody>
      </p:sp>
      <p:sp>
        <p:nvSpPr>
          <p:cNvPr id="3" name="Slide Number Placeholder 2">
            <a:extLst>
              <a:ext uri="{FF2B5EF4-FFF2-40B4-BE49-F238E27FC236}">
                <a16:creationId xmlns:a16="http://schemas.microsoft.com/office/drawing/2014/main" id="{47E97604-FA17-FD21-B29E-3A750A1674FD}"/>
              </a:ext>
            </a:extLst>
          </p:cNvPr>
          <p:cNvSpPr>
            <a:spLocks noGrp="1"/>
          </p:cNvSpPr>
          <p:nvPr>
            <p:ph type="sldNum" sz="quarter" idx="10"/>
          </p:nvPr>
        </p:nvSpPr>
        <p:spPr/>
        <p:txBody>
          <a:bodyPr/>
          <a:lstStyle/>
          <a:p>
            <a:pPr>
              <a:defRPr/>
            </a:pPr>
            <a:fld id="{062FE7C6-874C-4E62-8759-08C2AB2543BB}" type="slidenum">
              <a:rPr lang="en-GB" smtClean="0"/>
              <a:pPr>
                <a:defRPr/>
              </a:pPr>
              <a:t>17</a:t>
            </a:fld>
            <a:endParaRPr lang="en-GB"/>
          </a:p>
        </p:txBody>
      </p:sp>
      <p:pic>
        <p:nvPicPr>
          <p:cNvPr id="4" name="Graphic 3" descr="Thought bubble with solid fill">
            <a:extLst>
              <a:ext uri="{FF2B5EF4-FFF2-40B4-BE49-F238E27FC236}">
                <a16:creationId xmlns:a16="http://schemas.microsoft.com/office/drawing/2014/main" id="{442B2954-6B26-1402-29F8-493E730E4F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15207" y="104613"/>
            <a:ext cx="914400" cy="914400"/>
          </a:xfrm>
          <a:prstGeom prst="rect">
            <a:avLst/>
          </a:prstGeom>
        </p:spPr>
      </p:pic>
      <p:pic>
        <p:nvPicPr>
          <p:cNvPr id="7" name="Graphic 6" descr="Sparrow with solid fill">
            <a:extLst>
              <a:ext uri="{FF2B5EF4-FFF2-40B4-BE49-F238E27FC236}">
                <a16:creationId xmlns:a16="http://schemas.microsoft.com/office/drawing/2014/main" id="{D5CE016A-0074-7349-E8A7-5C46749FBC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31999" y="2780928"/>
            <a:ext cx="1440000" cy="1440000"/>
          </a:xfrm>
          <a:prstGeom prst="rect">
            <a:avLst/>
          </a:prstGeom>
        </p:spPr>
      </p:pic>
      <p:pic>
        <p:nvPicPr>
          <p:cNvPr id="8" name="Graphic 7" descr="Map with pin with solid fill">
            <a:extLst>
              <a:ext uri="{FF2B5EF4-FFF2-40B4-BE49-F238E27FC236}">
                <a16:creationId xmlns:a16="http://schemas.microsoft.com/office/drawing/2014/main" id="{4BFF42DF-E2D5-94DA-5E74-C6F994FEABF9}"/>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571999" y="2780928"/>
            <a:ext cx="1440000" cy="1440000"/>
          </a:xfrm>
          <a:prstGeom prst="rect">
            <a:avLst/>
          </a:prstGeom>
        </p:spPr>
      </p:pic>
    </p:spTree>
    <p:extLst>
      <p:ext uri="{BB962C8B-B14F-4D97-AF65-F5344CB8AC3E}">
        <p14:creationId xmlns:p14="http://schemas.microsoft.com/office/powerpoint/2010/main" val="322516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DABBC-1B04-08B2-3524-81D4A7B52FE9}"/>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35A749BC-9424-0BFB-6D09-29EE4A19BADC}"/>
              </a:ext>
            </a:extLst>
          </p:cNvPr>
          <p:cNvSpPr>
            <a:spLocks noGrp="1"/>
          </p:cNvSpPr>
          <p:nvPr>
            <p:ph type="body" sz="quarter" idx="11"/>
          </p:nvPr>
        </p:nvSpPr>
        <p:spPr/>
        <p:txBody>
          <a:bodyPr/>
          <a:lstStyle/>
          <a:p>
            <a:pPr marL="0" indent="0">
              <a:buNone/>
            </a:pPr>
            <a:r>
              <a:rPr lang="en-GB" sz="2400" dirty="0"/>
              <a:t>“How long do customers stay subscribed before cancelling a streaming service?”</a:t>
            </a:r>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r>
              <a:rPr lang="en-GB" sz="2400" dirty="0"/>
              <a:t>What’s the </a:t>
            </a:r>
            <a:r>
              <a:rPr lang="en-GB" sz="2400" b="1" dirty="0">
                <a:solidFill>
                  <a:schemeClr val="accent4"/>
                </a:solidFill>
              </a:rPr>
              <a:t>event</a:t>
            </a:r>
            <a:r>
              <a:rPr lang="en-GB" sz="2400" dirty="0"/>
              <a:t>?</a:t>
            </a:r>
          </a:p>
          <a:p>
            <a:r>
              <a:rPr lang="en-GB" sz="2400" dirty="0"/>
              <a:t>Examples of </a:t>
            </a:r>
            <a:r>
              <a:rPr lang="en-GB" sz="2400" b="1" dirty="0">
                <a:solidFill>
                  <a:schemeClr val="accent2"/>
                </a:solidFill>
              </a:rPr>
              <a:t>censoring</a:t>
            </a:r>
            <a:r>
              <a:rPr lang="en-GB" sz="2400" dirty="0"/>
              <a:t>?</a:t>
            </a:r>
          </a:p>
        </p:txBody>
      </p:sp>
      <p:sp>
        <p:nvSpPr>
          <p:cNvPr id="2" name="Title 1">
            <a:extLst>
              <a:ext uri="{FF2B5EF4-FFF2-40B4-BE49-F238E27FC236}">
                <a16:creationId xmlns:a16="http://schemas.microsoft.com/office/drawing/2014/main" id="{A108EE8C-4F08-C0EA-469E-02F09724DC1F}"/>
              </a:ext>
            </a:extLst>
          </p:cNvPr>
          <p:cNvSpPr>
            <a:spLocks noGrp="1"/>
          </p:cNvSpPr>
          <p:nvPr>
            <p:ph type="title"/>
          </p:nvPr>
        </p:nvSpPr>
        <p:spPr/>
        <p:txBody>
          <a:bodyPr/>
          <a:lstStyle/>
          <a:p>
            <a:r>
              <a:rPr lang="en-GB" dirty="0"/>
              <a:t>Example 3</a:t>
            </a:r>
          </a:p>
        </p:txBody>
      </p:sp>
      <p:sp>
        <p:nvSpPr>
          <p:cNvPr id="3" name="Slide Number Placeholder 2">
            <a:extLst>
              <a:ext uri="{FF2B5EF4-FFF2-40B4-BE49-F238E27FC236}">
                <a16:creationId xmlns:a16="http://schemas.microsoft.com/office/drawing/2014/main" id="{39C47FC8-264A-84DC-B764-1C7619422BCA}"/>
              </a:ext>
            </a:extLst>
          </p:cNvPr>
          <p:cNvSpPr>
            <a:spLocks noGrp="1"/>
          </p:cNvSpPr>
          <p:nvPr>
            <p:ph type="sldNum" sz="quarter" idx="10"/>
          </p:nvPr>
        </p:nvSpPr>
        <p:spPr/>
        <p:txBody>
          <a:bodyPr/>
          <a:lstStyle/>
          <a:p>
            <a:pPr>
              <a:defRPr/>
            </a:pPr>
            <a:fld id="{062FE7C6-874C-4E62-8759-08C2AB2543BB}" type="slidenum">
              <a:rPr lang="en-GB" smtClean="0"/>
              <a:pPr>
                <a:defRPr/>
              </a:pPr>
              <a:t>18</a:t>
            </a:fld>
            <a:endParaRPr lang="en-GB"/>
          </a:p>
        </p:txBody>
      </p:sp>
      <p:pic>
        <p:nvPicPr>
          <p:cNvPr id="4" name="Graphic 3" descr="Thought bubble with solid fill">
            <a:extLst>
              <a:ext uri="{FF2B5EF4-FFF2-40B4-BE49-F238E27FC236}">
                <a16:creationId xmlns:a16="http://schemas.microsoft.com/office/drawing/2014/main" id="{0D796F17-EEDB-412D-84D8-AE3FCCBC36D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15207" y="104613"/>
            <a:ext cx="914400" cy="914400"/>
          </a:xfrm>
          <a:prstGeom prst="rect">
            <a:avLst/>
          </a:prstGeom>
        </p:spPr>
      </p:pic>
      <p:pic>
        <p:nvPicPr>
          <p:cNvPr id="6" name="Graphic 5" descr="Television with solid fill">
            <a:extLst>
              <a:ext uri="{FF2B5EF4-FFF2-40B4-BE49-F238E27FC236}">
                <a16:creationId xmlns:a16="http://schemas.microsoft.com/office/drawing/2014/main" id="{7FCF110D-89B2-B764-D80E-7F6EFB4AE8A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131999" y="2780928"/>
            <a:ext cx="1440000" cy="1440000"/>
          </a:xfrm>
          <a:prstGeom prst="rect">
            <a:avLst/>
          </a:prstGeom>
        </p:spPr>
      </p:pic>
      <p:pic>
        <p:nvPicPr>
          <p:cNvPr id="7" name="Graphic 6" descr="Debt with solid fill">
            <a:extLst>
              <a:ext uri="{FF2B5EF4-FFF2-40B4-BE49-F238E27FC236}">
                <a16:creationId xmlns:a16="http://schemas.microsoft.com/office/drawing/2014/main" id="{E0EF3CA8-AD81-0F6B-A7A8-1BB45E97A44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571999" y="2780928"/>
            <a:ext cx="1440000" cy="1440000"/>
          </a:xfrm>
          <a:prstGeom prst="rect">
            <a:avLst/>
          </a:prstGeom>
        </p:spPr>
      </p:pic>
    </p:spTree>
    <p:extLst>
      <p:ext uri="{BB962C8B-B14F-4D97-AF65-F5344CB8AC3E}">
        <p14:creationId xmlns:p14="http://schemas.microsoft.com/office/powerpoint/2010/main" val="41505027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A38A5-35AF-39A9-A435-258DCE22A327}"/>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47DF4310-F785-D2D5-DF20-C640F495C1E6}"/>
              </a:ext>
            </a:extLst>
          </p:cNvPr>
          <p:cNvSpPr>
            <a:spLocks noGrp="1"/>
          </p:cNvSpPr>
          <p:nvPr>
            <p:ph type="body" sz="quarter" idx="11"/>
          </p:nvPr>
        </p:nvSpPr>
        <p:spPr/>
        <p:txBody>
          <a:bodyPr/>
          <a:lstStyle/>
          <a:p>
            <a:pPr marL="0" indent="0">
              <a:buNone/>
            </a:pPr>
            <a:r>
              <a:rPr lang="en-GB" sz="2400" dirty="0"/>
              <a:t>“When will a volcano next have a major eruption?”</a:t>
            </a:r>
            <a:br>
              <a:rPr lang="en-GB" sz="2400" dirty="0"/>
            </a:br>
            <a:endParaRPr lang="en-GB" sz="2400" dirty="0"/>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r>
              <a:rPr lang="en-GB" sz="2400" dirty="0"/>
              <a:t>What’s the </a:t>
            </a:r>
            <a:r>
              <a:rPr lang="en-GB" sz="2400" b="1" dirty="0">
                <a:solidFill>
                  <a:schemeClr val="accent4"/>
                </a:solidFill>
              </a:rPr>
              <a:t>event</a:t>
            </a:r>
            <a:r>
              <a:rPr lang="en-GB" sz="2400" dirty="0"/>
              <a:t>?</a:t>
            </a:r>
          </a:p>
          <a:p>
            <a:r>
              <a:rPr lang="en-GB" sz="2400" dirty="0"/>
              <a:t>Examples of </a:t>
            </a:r>
            <a:r>
              <a:rPr lang="en-GB" sz="2400" b="1" dirty="0">
                <a:solidFill>
                  <a:schemeClr val="accent2"/>
                </a:solidFill>
              </a:rPr>
              <a:t>censoring</a:t>
            </a:r>
            <a:r>
              <a:rPr lang="en-GB" sz="2400" dirty="0"/>
              <a:t>?</a:t>
            </a:r>
          </a:p>
        </p:txBody>
      </p:sp>
      <p:sp>
        <p:nvSpPr>
          <p:cNvPr id="2" name="Title 1">
            <a:extLst>
              <a:ext uri="{FF2B5EF4-FFF2-40B4-BE49-F238E27FC236}">
                <a16:creationId xmlns:a16="http://schemas.microsoft.com/office/drawing/2014/main" id="{795FEC7D-B291-8BF4-6368-2DFAB036EA51}"/>
              </a:ext>
            </a:extLst>
          </p:cNvPr>
          <p:cNvSpPr>
            <a:spLocks noGrp="1"/>
          </p:cNvSpPr>
          <p:nvPr>
            <p:ph type="title"/>
          </p:nvPr>
        </p:nvSpPr>
        <p:spPr/>
        <p:txBody>
          <a:bodyPr/>
          <a:lstStyle/>
          <a:p>
            <a:r>
              <a:rPr lang="en-GB" dirty="0"/>
              <a:t>Example 4</a:t>
            </a:r>
          </a:p>
        </p:txBody>
      </p:sp>
      <p:sp>
        <p:nvSpPr>
          <p:cNvPr id="3" name="Slide Number Placeholder 2">
            <a:extLst>
              <a:ext uri="{FF2B5EF4-FFF2-40B4-BE49-F238E27FC236}">
                <a16:creationId xmlns:a16="http://schemas.microsoft.com/office/drawing/2014/main" id="{ED66F9EF-67D4-B81A-38D6-56152053170F}"/>
              </a:ext>
            </a:extLst>
          </p:cNvPr>
          <p:cNvSpPr>
            <a:spLocks noGrp="1"/>
          </p:cNvSpPr>
          <p:nvPr>
            <p:ph type="sldNum" sz="quarter" idx="10"/>
          </p:nvPr>
        </p:nvSpPr>
        <p:spPr/>
        <p:txBody>
          <a:bodyPr/>
          <a:lstStyle/>
          <a:p>
            <a:pPr>
              <a:defRPr/>
            </a:pPr>
            <a:fld id="{062FE7C6-874C-4E62-8759-08C2AB2543BB}" type="slidenum">
              <a:rPr lang="en-GB" smtClean="0"/>
              <a:pPr>
                <a:defRPr/>
              </a:pPr>
              <a:t>19</a:t>
            </a:fld>
            <a:endParaRPr lang="en-GB"/>
          </a:p>
        </p:txBody>
      </p:sp>
      <p:pic>
        <p:nvPicPr>
          <p:cNvPr id="4" name="Graphic 3" descr="Thought bubble with solid fill">
            <a:extLst>
              <a:ext uri="{FF2B5EF4-FFF2-40B4-BE49-F238E27FC236}">
                <a16:creationId xmlns:a16="http://schemas.microsoft.com/office/drawing/2014/main" id="{62E06FE0-C80B-5EB9-4046-EDB1A4845D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15207" y="104613"/>
            <a:ext cx="914400" cy="914400"/>
          </a:xfrm>
          <a:prstGeom prst="rect">
            <a:avLst/>
          </a:prstGeom>
        </p:spPr>
      </p:pic>
      <p:pic>
        <p:nvPicPr>
          <p:cNvPr id="6" name="Graphic 5" descr="Volcano with solid fill">
            <a:extLst>
              <a:ext uri="{FF2B5EF4-FFF2-40B4-BE49-F238E27FC236}">
                <a16:creationId xmlns:a16="http://schemas.microsoft.com/office/drawing/2014/main" id="{FAA0CCF1-F8D6-F575-A637-55DC5C7CD12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846814" y="2780928"/>
            <a:ext cx="1440000" cy="1440000"/>
          </a:xfrm>
          <a:prstGeom prst="rect">
            <a:avLst/>
          </a:prstGeom>
        </p:spPr>
      </p:pic>
    </p:spTree>
    <p:extLst>
      <p:ext uri="{BB962C8B-B14F-4D97-AF65-F5344CB8AC3E}">
        <p14:creationId xmlns:p14="http://schemas.microsoft.com/office/powerpoint/2010/main" val="21203729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026E40F-2631-A3AF-5C2A-2029E4EF011B}"/>
              </a:ext>
            </a:extLst>
          </p:cNvPr>
          <p:cNvSpPr>
            <a:spLocks noGrp="1"/>
          </p:cNvSpPr>
          <p:nvPr>
            <p:ph type="body" sz="quarter" idx="11"/>
          </p:nvPr>
        </p:nvSpPr>
        <p:spPr/>
        <p:txBody>
          <a:bodyPr/>
          <a:lstStyle/>
          <a:p>
            <a:r>
              <a:rPr lang="en-GB" dirty="0"/>
              <a:t>Time-to-event data is </a:t>
            </a:r>
            <a:r>
              <a:rPr lang="en-GB" b="1" dirty="0">
                <a:solidFill>
                  <a:schemeClr val="accent6"/>
                </a:solidFill>
              </a:rPr>
              <a:t>not suitable for linear modelling</a:t>
            </a:r>
          </a:p>
          <a:p>
            <a:r>
              <a:rPr lang="en-GB" dirty="0"/>
              <a:t>It is skewed and always ≥0</a:t>
            </a:r>
          </a:p>
          <a:p>
            <a:r>
              <a:rPr lang="en-GB" dirty="0"/>
              <a:t>It is also regularly </a:t>
            </a:r>
            <a:r>
              <a:rPr lang="en-GB" b="1" dirty="0">
                <a:solidFill>
                  <a:schemeClr val="accent2"/>
                </a:solidFill>
              </a:rPr>
              <a:t>censored</a:t>
            </a:r>
            <a:r>
              <a:rPr lang="en-GB" dirty="0"/>
              <a:t> (missing data)</a:t>
            </a:r>
          </a:p>
          <a:p>
            <a:endParaRPr lang="en-GB" dirty="0"/>
          </a:p>
          <a:p>
            <a:r>
              <a:rPr lang="en-GB" dirty="0">
                <a:solidFill>
                  <a:schemeClr val="accent2"/>
                </a:solidFill>
              </a:rPr>
              <a:t>Right censoring</a:t>
            </a:r>
            <a:r>
              <a:rPr lang="en-GB" dirty="0"/>
              <a:t>: </a:t>
            </a:r>
          </a:p>
          <a:p>
            <a:pPr lvl="1"/>
            <a:r>
              <a:rPr lang="en-GB" dirty="0"/>
              <a:t>An individual </a:t>
            </a:r>
            <a:r>
              <a:rPr lang="en-GB" i="1" dirty="0"/>
              <a:t>may </a:t>
            </a:r>
            <a:r>
              <a:rPr lang="en-GB" dirty="0"/>
              <a:t>experience the event after study end</a:t>
            </a:r>
          </a:p>
          <a:p>
            <a:pPr lvl="1"/>
            <a:r>
              <a:rPr lang="en-GB" dirty="0"/>
              <a:t>The individual experienced a competing event</a:t>
            </a:r>
          </a:p>
          <a:p>
            <a:r>
              <a:rPr lang="en-GB" dirty="0">
                <a:solidFill>
                  <a:schemeClr val="accent2"/>
                </a:solidFill>
              </a:rPr>
              <a:t>Interval censoring</a:t>
            </a:r>
            <a:r>
              <a:rPr lang="en-GB" dirty="0"/>
              <a:t>:</a:t>
            </a:r>
          </a:p>
          <a:p>
            <a:pPr lvl="1"/>
            <a:r>
              <a:rPr lang="en-GB" dirty="0"/>
              <a:t>The exact time of the event is unknown (falls in an interval)</a:t>
            </a:r>
          </a:p>
        </p:txBody>
      </p:sp>
      <p:sp>
        <p:nvSpPr>
          <p:cNvPr id="3" name="Title 2">
            <a:extLst>
              <a:ext uri="{FF2B5EF4-FFF2-40B4-BE49-F238E27FC236}">
                <a16:creationId xmlns:a16="http://schemas.microsoft.com/office/drawing/2014/main" id="{6E029A2C-AF83-47B9-84FE-64BE01100237}"/>
              </a:ext>
            </a:extLst>
          </p:cNvPr>
          <p:cNvSpPr>
            <a:spLocks noGrp="1"/>
          </p:cNvSpPr>
          <p:nvPr>
            <p:ph type="title"/>
          </p:nvPr>
        </p:nvSpPr>
        <p:spPr/>
        <p:txBody>
          <a:bodyPr/>
          <a:lstStyle/>
          <a:p>
            <a:r>
              <a:rPr lang="en-GB" dirty="0"/>
              <a:t>Summary: Survival data is unique</a:t>
            </a:r>
          </a:p>
        </p:txBody>
      </p:sp>
      <p:sp>
        <p:nvSpPr>
          <p:cNvPr id="4" name="Slide Number Placeholder 3">
            <a:extLst>
              <a:ext uri="{FF2B5EF4-FFF2-40B4-BE49-F238E27FC236}">
                <a16:creationId xmlns:a16="http://schemas.microsoft.com/office/drawing/2014/main" id="{4235B1EF-C042-B580-5D75-33C30062108F}"/>
              </a:ext>
            </a:extLst>
          </p:cNvPr>
          <p:cNvSpPr>
            <a:spLocks noGrp="1"/>
          </p:cNvSpPr>
          <p:nvPr>
            <p:ph type="sldNum" sz="quarter" idx="10"/>
          </p:nvPr>
        </p:nvSpPr>
        <p:spPr/>
        <p:txBody>
          <a:bodyPr/>
          <a:lstStyle/>
          <a:p>
            <a:pPr>
              <a:defRPr/>
            </a:pPr>
            <a:fld id="{CD3FC0C4-D681-4CE5-B41E-BCE48B80373A}" type="slidenum">
              <a:rPr lang="en-GB" smtClean="0"/>
              <a:pPr>
                <a:defRPr/>
              </a:pPr>
              <a:t>20</a:t>
            </a:fld>
            <a:endParaRPr lang="en-GB"/>
          </a:p>
        </p:txBody>
      </p:sp>
    </p:spTree>
    <p:extLst>
      <p:ext uri="{BB962C8B-B14F-4D97-AF65-F5344CB8AC3E}">
        <p14:creationId xmlns:p14="http://schemas.microsoft.com/office/powerpoint/2010/main" val="2888013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4036AB5-B08C-CBBA-B6FD-555B3A51E9FF}"/>
              </a:ext>
            </a:extLst>
          </p:cNvPr>
          <p:cNvSpPr>
            <a:spLocks noGrp="1"/>
          </p:cNvSpPr>
          <p:nvPr>
            <p:ph type="body" sz="quarter" idx="12"/>
          </p:nvPr>
        </p:nvSpPr>
        <p:spPr/>
        <p:txBody>
          <a:bodyPr/>
          <a:lstStyle/>
          <a:p>
            <a:r>
              <a:rPr lang="en-GB" noProof="0" dirty="0"/>
              <a:t>Using the Kaplan-Meier estimator to deal with censoring</a:t>
            </a:r>
          </a:p>
        </p:txBody>
      </p:sp>
      <p:sp>
        <p:nvSpPr>
          <p:cNvPr id="5" name="Text Placeholder 4"/>
          <p:cNvSpPr>
            <a:spLocks noGrp="1"/>
          </p:cNvSpPr>
          <p:nvPr>
            <p:ph type="body" sz="quarter" idx="11"/>
          </p:nvPr>
        </p:nvSpPr>
        <p:spPr/>
        <p:txBody>
          <a:bodyPr anchor="b"/>
          <a:lstStyle/>
          <a:p>
            <a:pPr marL="0" indent="0">
              <a:buNone/>
            </a:pPr>
            <a:r>
              <a:rPr lang="en-GB" sz="2800" b="1" noProof="0" dirty="0">
                <a:latin typeface="Arial" panose="020B0604020202020204" pitchFamily="34" charset="0"/>
                <a:cs typeface="Arial" panose="020B0604020202020204" pitchFamily="34" charset="0"/>
              </a:rPr>
              <a:t>2. </a:t>
            </a:r>
            <a:r>
              <a:rPr lang="en-GB" noProof="0" dirty="0">
                <a:latin typeface="Arial" panose="020B0604020202020204" pitchFamily="34" charset="0"/>
                <a:cs typeface="Arial" panose="020B0604020202020204" pitchFamily="34" charset="0"/>
              </a:rPr>
              <a:t>The survival curve</a:t>
            </a:r>
            <a:endParaRPr lang="en-GB" sz="2800" b="1" noProof="0" dirty="0">
              <a:latin typeface="Arial" panose="020B0604020202020204" pitchFamily="34" charset="0"/>
              <a:cs typeface="Arial" panose="020B0604020202020204" pitchFamily="34" charset="0"/>
            </a:endParaRPr>
          </a:p>
        </p:txBody>
      </p:sp>
      <p:sp>
        <p:nvSpPr>
          <p:cNvPr id="3" name="Slide Number Placeholder 2"/>
          <p:cNvSpPr>
            <a:spLocks noGrp="1"/>
          </p:cNvSpPr>
          <p:nvPr>
            <p:ph type="sldNum" sz="quarter" idx="10"/>
          </p:nvPr>
        </p:nvSpPr>
        <p:spPr/>
        <p:txBody>
          <a:bodyPr/>
          <a:lstStyle/>
          <a:p>
            <a:pPr>
              <a:defRPr/>
            </a:pPr>
            <a:fld id="{062FE7C6-874C-4E62-8759-08C2AB2543BB}" type="slidenum">
              <a:rPr lang="en-GB" noProof="0" smtClean="0"/>
              <a:pPr>
                <a:defRPr/>
              </a:pPr>
              <a:t>21</a:t>
            </a:fld>
            <a:endParaRPr lang="en-GB" noProof="0" dirty="0"/>
          </a:p>
        </p:txBody>
      </p:sp>
    </p:spTree>
    <p:extLst>
      <p:ext uri="{BB962C8B-B14F-4D97-AF65-F5344CB8AC3E}">
        <p14:creationId xmlns:p14="http://schemas.microsoft.com/office/powerpoint/2010/main" val="13616373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2D1AB-FCC9-9549-E3D1-8CC9A5CCACBA}"/>
            </a:ext>
          </a:extLst>
        </p:cNvPr>
        <p:cNvGrpSpPr/>
        <p:nvPr/>
      </p:nvGrpSpPr>
      <p:grpSpPr>
        <a:xfrm>
          <a:off x="0" y="0"/>
          <a:ext cx="0" cy="0"/>
          <a:chOff x="0" y="0"/>
          <a:chExt cx="0" cy="0"/>
        </a:xfrm>
      </p:grpSpPr>
      <p:sp>
        <p:nvSpPr>
          <p:cNvPr id="14" name="Text Placeholder 13">
            <a:extLst>
              <a:ext uri="{FF2B5EF4-FFF2-40B4-BE49-F238E27FC236}">
                <a16:creationId xmlns:a16="http://schemas.microsoft.com/office/drawing/2014/main" id="{C65E9378-2A8D-3E9E-7E20-5BCD8802EF58}"/>
              </a:ext>
            </a:extLst>
          </p:cNvPr>
          <p:cNvSpPr>
            <a:spLocks noGrp="1"/>
          </p:cNvSpPr>
          <p:nvPr>
            <p:ph type="body" sz="quarter" idx="11"/>
          </p:nvPr>
        </p:nvSpPr>
        <p:spPr>
          <a:xfrm>
            <a:off x="4692113" y="1772918"/>
            <a:ext cx="4056351" cy="4002407"/>
          </a:xfrm>
        </p:spPr>
        <p:txBody>
          <a:bodyPr/>
          <a:lstStyle/>
          <a:p>
            <a:r>
              <a:rPr lang="en-GB" dirty="0"/>
              <a:t>Population survival curve</a:t>
            </a:r>
          </a:p>
          <a:p>
            <a:r>
              <a:rPr lang="en-GB" dirty="0"/>
              <a:t>“Ground truth”</a:t>
            </a:r>
          </a:p>
          <a:p>
            <a:endParaRPr lang="en-GB" dirty="0"/>
          </a:p>
          <a:p>
            <a:r>
              <a:rPr lang="en-GB" dirty="0"/>
              <a:t>Controls which individuals will experience event (and when)</a:t>
            </a:r>
          </a:p>
          <a:p>
            <a:endParaRPr lang="en-GB" dirty="0"/>
          </a:p>
        </p:txBody>
      </p:sp>
      <p:sp>
        <p:nvSpPr>
          <p:cNvPr id="13" name="Title 12">
            <a:extLst>
              <a:ext uri="{FF2B5EF4-FFF2-40B4-BE49-F238E27FC236}">
                <a16:creationId xmlns:a16="http://schemas.microsoft.com/office/drawing/2014/main" id="{592AAF7E-3F22-F29E-2679-4DF8DEE21358}"/>
              </a:ext>
            </a:extLst>
          </p:cNvPr>
          <p:cNvSpPr>
            <a:spLocks noGrp="1"/>
          </p:cNvSpPr>
          <p:nvPr>
            <p:ph type="title"/>
          </p:nvPr>
        </p:nvSpPr>
        <p:spPr/>
        <p:txBody>
          <a:bodyPr/>
          <a:lstStyle/>
          <a:p>
            <a:r>
              <a:rPr lang="en-GB" dirty="0"/>
              <a:t>What is a survival curve?</a:t>
            </a:r>
          </a:p>
        </p:txBody>
      </p:sp>
      <p:sp>
        <p:nvSpPr>
          <p:cNvPr id="4" name="Slide Number Placeholder 3">
            <a:extLst>
              <a:ext uri="{FF2B5EF4-FFF2-40B4-BE49-F238E27FC236}">
                <a16:creationId xmlns:a16="http://schemas.microsoft.com/office/drawing/2014/main" id="{2ECB61EA-9241-651F-A6B5-2128F8596E93}"/>
              </a:ext>
            </a:extLst>
          </p:cNvPr>
          <p:cNvSpPr>
            <a:spLocks noGrp="1"/>
          </p:cNvSpPr>
          <p:nvPr>
            <p:ph type="sldNum" sz="quarter" idx="10"/>
          </p:nvPr>
        </p:nvSpPr>
        <p:spPr/>
        <p:txBody>
          <a:bodyPr/>
          <a:lstStyle/>
          <a:p>
            <a:pPr>
              <a:defRPr/>
            </a:pPr>
            <a:fld id="{CD3FC0C4-D681-4CE5-B41E-BCE48B80373A}" type="slidenum">
              <a:rPr lang="en-GB" smtClean="0"/>
              <a:pPr>
                <a:defRPr/>
              </a:pPr>
              <a:t>22</a:t>
            </a:fld>
            <a:endParaRPr lang="en-GB"/>
          </a:p>
        </p:txBody>
      </p:sp>
      <p:pic>
        <p:nvPicPr>
          <p:cNvPr id="12" name="Picture 11">
            <a:extLst>
              <a:ext uri="{FF2B5EF4-FFF2-40B4-BE49-F238E27FC236}">
                <a16:creationId xmlns:a16="http://schemas.microsoft.com/office/drawing/2014/main" id="{815A725D-52B8-DFA9-A869-7E7A4173D4A3}"/>
              </a:ext>
            </a:extLst>
          </p:cNvPr>
          <p:cNvPicPr>
            <a:picLocks noChangeAspect="1"/>
          </p:cNvPicPr>
          <p:nvPr/>
        </p:nvPicPr>
        <p:blipFill>
          <a:blip r:embed="rId2" cstate="print">
            <a:extLst>
              <a:ext uri="{28A0092B-C50C-407E-A947-70E740481C1C}">
                <a14:useLocalDpi xmlns:a14="http://schemas.microsoft.com/office/drawing/2010/main" val="0"/>
              </a:ext>
            </a:extLst>
          </a:blip>
          <a:srcRect r="50000"/>
          <a:stretch>
            <a:fillRect/>
          </a:stretch>
        </p:blipFill>
        <p:spPr>
          <a:xfrm>
            <a:off x="228591" y="1484784"/>
            <a:ext cx="4343409" cy="4572009"/>
          </a:xfrm>
          <a:prstGeom prst="rect">
            <a:avLst/>
          </a:prstGeom>
        </p:spPr>
      </p:pic>
    </p:spTree>
    <p:extLst>
      <p:ext uri="{BB962C8B-B14F-4D97-AF65-F5344CB8AC3E}">
        <p14:creationId xmlns:p14="http://schemas.microsoft.com/office/powerpoint/2010/main" val="35577809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F7149-4D36-5DB1-DEC1-7FAB2453B4F6}"/>
            </a:ext>
          </a:extLst>
        </p:cNvPr>
        <p:cNvGrpSpPr/>
        <p:nvPr/>
      </p:nvGrpSpPr>
      <p:grpSpPr>
        <a:xfrm>
          <a:off x="0" y="0"/>
          <a:ext cx="0" cy="0"/>
          <a:chOff x="0" y="0"/>
          <a:chExt cx="0" cy="0"/>
        </a:xfrm>
      </p:grpSpPr>
      <p:sp>
        <p:nvSpPr>
          <p:cNvPr id="14" name="Text Placeholder 13">
            <a:extLst>
              <a:ext uri="{FF2B5EF4-FFF2-40B4-BE49-F238E27FC236}">
                <a16:creationId xmlns:a16="http://schemas.microsoft.com/office/drawing/2014/main" id="{16B82AC5-5E04-F1E6-BEEF-4C9BB7C1FA85}"/>
              </a:ext>
            </a:extLst>
          </p:cNvPr>
          <p:cNvSpPr>
            <a:spLocks noGrp="1"/>
          </p:cNvSpPr>
          <p:nvPr>
            <p:ph type="body" sz="quarter" idx="11"/>
          </p:nvPr>
        </p:nvSpPr>
        <p:spPr>
          <a:xfrm>
            <a:off x="4692113" y="1772918"/>
            <a:ext cx="4056351" cy="4002407"/>
          </a:xfrm>
        </p:spPr>
        <p:txBody>
          <a:bodyPr/>
          <a:lstStyle/>
          <a:p>
            <a:r>
              <a:rPr lang="en-GB" dirty="0"/>
              <a:t>Population survival curve</a:t>
            </a:r>
          </a:p>
          <a:p>
            <a:r>
              <a:rPr lang="en-GB" dirty="0"/>
              <a:t>“Ground truth”</a:t>
            </a:r>
          </a:p>
          <a:p>
            <a:endParaRPr lang="en-GB" dirty="0"/>
          </a:p>
          <a:p>
            <a:r>
              <a:rPr lang="en-GB" dirty="0"/>
              <a:t>Controls which individuals will experience event (and when)</a:t>
            </a:r>
          </a:p>
          <a:p>
            <a:endParaRPr lang="en-GB" dirty="0"/>
          </a:p>
          <a:p>
            <a:r>
              <a:rPr lang="en-GB" dirty="0"/>
              <a:t>We want to know what this curve looks like</a:t>
            </a:r>
          </a:p>
          <a:p>
            <a:r>
              <a:rPr lang="en-GB" dirty="0"/>
              <a:t>But we </a:t>
            </a:r>
            <a:r>
              <a:rPr lang="en-GB" dirty="0">
                <a:solidFill>
                  <a:schemeClr val="accent6"/>
                </a:solidFill>
              </a:rPr>
              <a:t>cannot measure the whole population</a:t>
            </a:r>
          </a:p>
        </p:txBody>
      </p:sp>
      <p:sp>
        <p:nvSpPr>
          <p:cNvPr id="13" name="Title 12">
            <a:extLst>
              <a:ext uri="{FF2B5EF4-FFF2-40B4-BE49-F238E27FC236}">
                <a16:creationId xmlns:a16="http://schemas.microsoft.com/office/drawing/2014/main" id="{7780127D-AB4C-6578-815B-139AA0295170}"/>
              </a:ext>
            </a:extLst>
          </p:cNvPr>
          <p:cNvSpPr>
            <a:spLocks noGrp="1"/>
          </p:cNvSpPr>
          <p:nvPr>
            <p:ph type="title"/>
          </p:nvPr>
        </p:nvSpPr>
        <p:spPr/>
        <p:txBody>
          <a:bodyPr/>
          <a:lstStyle/>
          <a:p>
            <a:r>
              <a:rPr lang="en-GB" dirty="0"/>
              <a:t>What is a survival curve?</a:t>
            </a:r>
          </a:p>
        </p:txBody>
      </p:sp>
      <p:sp>
        <p:nvSpPr>
          <p:cNvPr id="4" name="Slide Number Placeholder 3">
            <a:extLst>
              <a:ext uri="{FF2B5EF4-FFF2-40B4-BE49-F238E27FC236}">
                <a16:creationId xmlns:a16="http://schemas.microsoft.com/office/drawing/2014/main" id="{F9EE8EAF-4DEB-8562-F43B-BF0DABEDE166}"/>
              </a:ext>
            </a:extLst>
          </p:cNvPr>
          <p:cNvSpPr>
            <a:spLocks noGrp="1"/>
          </p:cNvSpPr>
          <p:nvPr>
            <p:ph type="sldNum" sz="quarter" idx="10"/>
          </p:nvPr>
        </p:nvSpPr>
        <p:spPr/>
        <p:txBody>
          <a:bodyPr/>
          <a:lstStyle/>
          <a:p>
            <a:pPr>
              <a:defRPr/>
            </a:pPr>
            <a:fld id="{CD3FC0C4-D681-4CE5-B41E-BCE48B80373A}" type="slidenum">
              <a:rPr lang="en-GB" smtClean="0"/>
              <a:pPr>
                <a:defRPr/>
              </a:pPr>
              <a:t>23</a:t>
            </a:fld>
            <a:endParaRPr lang="en-GB"/>
          </a:p>
        </p:txBody>
      </p:sp>
      <p:pic>
        <p:nvPicPr>
          <p:cNvPr id="12" name="Picture 11">
            <a:extLst>
              <a:ext uri="{FF2B5EF4-FFF2-40B4-BE49-F238E27FC236}">
                <a16:creationId xmlns:a16="http://schemas.microsoft.com/office/drawing/2014/main" id="{04385DBA-D25A-246C-C253-FC74B7D41CF6}"/>
              </a:ext>
            </a:extLst>
          </p:cNvPr>
          <p:cNvPicPr>
            <a:picLocks noChangeAspect="1"/>
          </p:cNvPicPr>
          <p:nvPr/>
        </p:nvPicPr>
        <p:blipFill>
          <a:blip r:embed="rId2" cstate="print">
            <a:extLst>
              <a:ext uri="{28A0092B-C50C-407E-A947-70E740481C1C}">
                <a14:useLocalDpi xmlns:a14="http://schemas.microsoft.com/office/drawing/2010/main" val="0"/>
              </a:ext>
            </a:extLst>
          </a:blip>
          <a:srcRect r="50000"/>
          <a:stretch>
            <a:fillRect/>
          </a:stretch>
        </p:blipFill>
        <p:spPr>
          <a:xfrm>
            <a:off x="228591" y="1484784"/>
            <a:ext cx="4343409" cy="4572009"/>
          </a:xfrm>
          <a:prstGeom prst="rect">
            <a:avLst/>
          </a:prstGeom>
        </p:spPr>
      </p:pic>
      <p:pic>
        <p:nvPicPr>
          <p:cNvPr id="5" name="Graphic 4" descr="Question Mark with solid fill">
            <a:extLst>
              <a:ext uri="{FF2B5EF4-FFF2-40B4-BE49-F238E27FC236}">
                <a16:creationId xmlns:a16="http://schemas.microsoft.com/office/drawing/2014/main" id="{CAD29710-FE0C-5BB8-0C7C-08CDC9368C6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704" y="3074136"/>
            <a:ext cx="1393304" cy="1393304"/>
          </a:xfrm>
          <a:prstGeom prst="rect">
            <a:avLst/>
          </a:prstGeom>
        </p:spPr>
      </p:pic>
    </p:spTree>
    <p:extLst>
      <p:ext uri="{BB962C8B-B14F-4D97-AF65-F5344CB8AC3E}">
        <p14:creationId xmlns:p14="http://schemas.microsoft.com/office/powerpoint/2010/main" val="29957594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F6106-50B1-8A18-C4E2-9373BBB4201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8709123-EBD5-9FAD-4450-C9253427098A}"/>
              </a:ext>
            </a:extLst>
          </p:cNvPr>
          <p:cNvSpPr>
            <a:spLocks noGrp="1"/>
          </p:cNvSpPr>
          <p:nvPr>
            <p:ph type="title"/>
          </p:nvPr>
        </p:nvSpPr>
        <p:spPr/>
        <p:txBody>
          <a:bodyPr/>
          <a:lstStyle/>
          <a:p>
            <a:r>
              <a:rPr lang="en-GB" dirty="0"/>
              <a:t>The goal: estimating the survival curve</a:t>
            </a:r>
          </a:p>
        </p:txBody>
      </p:sp>
      <p:sp>
        <p:nvSpPr>
          <p:cNvPr id="4" name="Slide Number Placeholder 3">
            <a:extLst>
              <a:ext uri="{FF2B5EF4-FFF2-40B4-BE49-F238E27FC236}">
                <a16:creationId xmlns:a16="http://schemas.microsoft.com/office/drawing/2014/main" id="{43FAAB77-D04D-6770-3982-72F7DEE2C96F}"/>
              </a:ext>
            </a:extLst>
          </p:cNvPr>
          <p:cNvSpPr>
            <a:spLocks noGrp="1"/>
          </p:cNvSpPr>
          <p:nvPr>
            <p:ph type="sldNum" sz="quarter" idx="10"/>
          </p:nvPr>
        </p:nvSpPr>
        <p:spPr/>
        <p:txBody>
          <a:bodyPr/>
          <a:lstStyle/>
          <a:p>
            <a:pPr>
              <a:defRPr/>
            </a:pPr>
            <a:fld id="{CD3FC0C4-D681-4CE5-B41E-BCE48B80373A}" type="slidenum">
              <a:rPr lang="en-GB" smtClean="0"/>
              <a:pPr>
                <a:defRPr/>
              </a:pPr>
              <a:t>24</a:t>
            </a:fld>
            <a:endParaRPr lang="en-GB"/>
          </a:p>
        </p:txBody>
      </p:sp>
      <p:pic>
        <p:nvPicPr>
          <p:cNvPr id="12" name="Picture 11">
            <a:extLst>
              <a:ext uri="{FF2B5EF4-FFF2-40B4-BE49-F238E27FC236}">
                <a16:creationId xmlns:a16="http://schemas.microsoft.com/office/drawing/2014/main" id="{A294434D-23C0-B9F6-E978-626BDAB96F9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228591" y="1484784"/>
            <a:ext cx="8686818" cy="4572009"/>
          </a:xfrm>
          <a:prstGeom prst="rect">
            <a:avLst/>
          </a:prstGeom>
        </p:spPr>
      </p:pic>
    </p:spTree>
    <p:extLst>
      <p:ext uri="{BB962C8B-B14F-4D97-AF65-F5344CB8AC3E}">
        <p14:creationId xmlns:p14="http://schemas.microsoft.com/office/powerpoint/2010/main" val="18478867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0191C-A0C0-9316-3965-904D5FE7AF9A}"/>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E8BA3B77-727B-0CF7-2F2A-56D733F060EC}"/>
              </a:ext>
            </a:extLst>
          </p:cNvPr>
          <p:cNvSpPr>
            <a:spLocks noGrp="1"/>
          </p:cNvSpPr>
          <p:nvPr>
            <p:ph type="body" sz="quarter" idx="11"/>
          </p:nvPr>
        </p:nvSpPr>
        <p:spPr/>
        <p:txBody>
          <a:bodyPr/>
          <a:lstStyle/>
          <a:p>
            <a:pPr marL="0" indent="0">
              <a:buNone/>
            </a:pPr>
            <a:r>
              <a:rPr lang="en-GB" sz="2400" dirty="0"/>
              <a:t>“How long do dragon eggs take to hatch?”</a:t>
            </a:r>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pPr marL="0" indent="0">
              <a:buNone/>
            </a:pPr>
            <a:r>
              <a:rPr lang="en-GB" sz="2400" b="1" dirty="0">
                <a:solidFill>
                  <a:schemeClr val="accent4"/>
                </a:solidFill>
              </a:rPr>
              <a:t>Event: </a:t>
            </a:r>
            <a:r>
              <a:rPr lang="en-GB" sz="2400" dirty="0"/>
              <a:t>Egg hatches</a:t>
            </a:r>
          </a:p>
          <a:p>
            <a:pPr marL="0" indent="0">
              <a:buNone/>
            </a:pPr>
            <a:r>
              <a:rPr lang="en-GB" sz="2400" b="1" dirty="0">
                <a:solidFill>
                  <a:schemeClr val="accent2"/>
                </a:solidFill>
              </a:rPr>
              <a:t>Censoring: </a:t>
            </a:r>
            <a:r>
              <a:rPr lang="en-GB" sz="2400" dirty="0"/>
              <a:t>Egg is unhatched, damaged/removed, etc.</a:t>
            </a:r>
          </a:p>
        </p:txBody>
      </p:sp>
      <p:sp>
        <p:nvSpPr>
          <p:cNvPr id="2" name="Title 1">
            <a:extLst>
              <a:ext uri="{FF2B5EF4-FFF2-40B4-BE49-F238E27FC236}">
                <a16:creationId xmlns:a16="http://schemas.microsoft.com/office/drawing/2014/main" id="{02A54DAF-A5E6-5ED6-15FE-F9F1DDCE5D2B}"/>
              </a:ext>
            </a:extLst>
          </p:cNvPr>
          <p:cNvSpPr>
            <a:spLocks noGrp="1"/>
          </p:cNvSpPr>
          <p:nvPr>
            <p:ph type="title"/>
          </p:nvPr>
        </p:nvSpPr>
        <p:spPr/>
        <p:txBody>
          <a:bodyPr/>
          <a:lstStyle/>
          <a:p>
            <a:r>
              <a:rPr lang="en-GB" dirty="0"/>
              <a:t>An example</a:t>
            </a:r>
          </a:p>
        </p:txBody>
      </p:sp>
      <p:sp>
        <p:nvSpPr>
          <p:cNvPr id="3" name="Slide Number Placeholder 2">
            <a:extLst>
              <a:ext uri="{FF2B5EF4-FFF2-40B4-BE49-F238E27FC236}">
                <a16:creationId xmlns:a16="http://schemas.microsoft.com/office/drawing/2014/main" id="{B9D89534-3FFB-DF0D-0F50-BC3AA86E1539}"/>
              </a:ext>
            </a:extLst>
          </p:cNvPr>
          <p:cNvSpPr>
            <a:spLocks noGrp="1"/>
          </p:cNvSpPr>
          <p:nvPr>
            <p:ph type="sldNum" sz="quarter" idx="10"/>
          </p:nvPr>
        </p:nvSpPr>
        <p:spPr/>
        <p:txBody>
          <a:bodyPr/>
          <a:lstStyle/>
          <a:p>
            <a:pPr>
              <a:defRPr/>
            </a:pPr>
            <a:fld id="{062FE7C6-874C-4E62-8759-08C2AB2543BB}" type="slidenum">
              <a:rPr lang="en-GB" smtClean="0"/>
              <a:pPr>
                <a:defRPr/>
              </a:pPr>
              <a:t>25</a:t>
            </a:fld>
            <a:endParaRPr lang="en-GB"/>
          </a:p>
        </p:txBody>
      </p:sp>
      <p:pic>
        <p:nvPicPr>
          <p:cNvPr id="6" name="Graphic 5" descr="Dragon with solid fill">
            <a:extLst>
              <a:ext uri="{FF2B5EF4-FFF2-40B4-BE49-F238E27FC236}">
                <a16:creationId xmlns:a16="http://schemas.microsoft.com/office/drawing/2014/main" id="{FBA17C9C-4C7E-81CB-122E-BA9CB3F18E8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131999" y="2492896"/>
            <a:ext cx="1440000" cy="1440000"/>
          </a:xfrm>
          <a:prstGeom prst="rect">
            <a:avLst/>
          </a:prstGeom>
        </p:spPr>
      </p:pic>
      <p:pic>
        <p:nvPicPr>
          <p:cNvPr id="7" name="Graphic 6" descr="Dinosaur Egg with solid fill">
            <a:extLst>
              <a:ext uri="{FF2B5EF4-FFF2-40B4-BE49-F238E27FC236}">
                <a16:creationId xmlns:a16="http://schemas.microsoft.com/office/drawing/2014/main" id="{BB95E26F-E63B-C79F-372A-7929D3B7FE4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571999" y="2492896"/>
            <a:ext cx="1440000" cy="1440000"/>
          </a:xfrm>
          <a:prstGeom prst="rect">
            <a:avLst/>
          </a:prstGeom>
        </p:spPr>
      </p:pic>
    </p:spTree>
    <p:extLst>
      <p:ext uri="{BB962C8B-B14F-4D97-AF65-F5344CB8AC3E}">
        <p14:creationId xmlns:p14="http://schemas.microsoft.com/office/powerpoint/2010/main" val="18802610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B968C2-3534-15F5-9F8B-D2590174F38C}"/>
              </a:ext>
            </a:extLst>
          </p:cNvPr>
          <p:cNvSpPr>
            <a:spLocks noGrp="1"/>
          </p:cNvSpPr>
          <p:nvPr>
            <p:ph type="title"/>
          </p:nvPr>
        </p:nvSpPr>
        <p:spPr/>
        <p:txBody>
          <a:bodyPr/>
          <a:lstStyle/>
          <a:p>
            <a:r>
              <a:rPr lang="en-GB" dirty="0"/>
              <a:t>An example</a:t>
            </a:r>
          </a:p>
        </p:txBody>
      </p:sp>
      <p:sp>
        <p:nvSpPr>
          <p:cNvPr id="4" name="Slide Number Placeholder 3">
            <a:extLst>
              <a:ext uri="{FF2B5EF4-FFF2-40B4-BE49-F238E27FC236}">
                <a16:creationId xmlns:a16="http://schemas.microsoft.com/office/drawing/2014/main" id="{54AAE838-C583-289A-4FA5-2A7850F01294}"/>
              </a:ext>
            </a:extLst>
          </p:cNvPr>
          <p:cNvSpPr>
            <a:spLocks noGrp="1"/>
          </p:cNvSpPr>
          <p:nvPr>
            <p:ph type="sldNum" sz="quarter" idx="10"/>
          </p:nvPr>
        </p:nvSpPr>
        <p:spPr/>
        <p:txBody>
          <a:bodyPr/>
          <a:lstStyle/>
          <a:p>
            <a:pPr>
              <a:defRPr/>
            </a:pPr>
            <a:fld id="{CD3FC0C4-D681-4CE5-B41E-BCE48B80373A}" type="slidenum">
              <a:rPr lang="en-GB" smtClean="0"/>
              <a:pPr>
                <a:defRPr/>
              </a:pPr>
              <a:t>26</a:t>
            </a:fld>
            <a:endParaRPr lang="en-GB"/>
          </a:p>
        </p:txBody>
      </p:sp>
      <p:graphicFrame>
        <p:nvGraphicFramePr>
          <p:cNvPr id="5" name="Table 4">
            <a:extLst>
              <a:ext uri="{FF2B5EF4-FFF2-40B4-BE49-F238E27FC236}">
                <a16:creationId xmlns:a16="http://schemas.microsoft.com/office/drawing/2014/main" id="{71B42672-F6D2-8376-2C5E-1E0807E43013}"/>
              </a:ext>
            </a:extLst>
          </p:cNvPr>
          <p:cNvGraphicFramePr>
            <a:graphicFrameLocks noGrp="1"/>
          </p:cNvGraphicFramePr>
          <p:nvPr>
            <p:extLst>
              <p:ext uri="{D42A27DB-BD31-4B8C-83A1-F6EECF244321}">
                <p14:modId xmlns:p14="http://schemas.microsoft.com/office/powerpoint/2010/main" val="678351946"/>
              </p:ext>
            </p:extLst>
          </p:nvPr>
        </p:nvGraphicFramePr>
        <p:xfrm>
          <a:off x="1990452" y="2060848"/>
          <a:ext cx="5163096" cy="2951076"/>
        </p:xfrm>
        <a:graphic>
          <a:graphicData uri="http://schemas.openxmlformats.org/drawingml/2006/table">
            <a:tbl>
              <a:tblPr firstRow="1" bandRow="1">
                <a:tableStyleId>{5940675A-B579-460E-94D1-54222C63F5DA}</a:tableStyleId>
              </a:tblPr>
              <a:tblGrid>
                <a:gridCol w="1191483">
                  <a:extLst>
                    <a:ext uri="{9D8B030D-6E8A-4147-A177-3AD203B41FA5}">
                      <a16:colId xmlns:a16="http://schemas.microsoft.com/office/drawing/2014/main" val="2389350183"/>
                    </a:ext>
                  </a:extLst>
                </a:gridCol>
                <a:gridCol w="2680840">
                  <a:extLst>
                    <a:ext uri="{9D8B030D-6E8A-4147-A177-3AD203B41FA5}">
                      <a16:colId xmlns:a16="http://schemas.microsoft.com/office/drawing/2014/main" val="1763596876"/>
                    </a:ext>
                  </a:extLst>
                </a:gridCol>
                <a:gridCol w="1290773">
                  <a:extLst>
                    <a:ext uri="{9D8B030D-6E8A-4147-A177-3AD203B41FA5}">
                      <a16:colId xmlns:a16="http://schemas.microsoft.com/office/drawing/2014/main" val="3913547588"/>
                    </a:ext>
                  </a:extLst>
                </a:gridCol>
              </a:tblGrid>
              <a:tr h="491846">
                <a:tc>
                  <a:txBody>
                    <a:bodyPr/>
                    <a:lstStyle/>
                    <a:p>
                      <a:pPr algn="ctr"/>
                      <a:r>
                        <a:rPr lang="en-GB" sz="2400" b="1" dirty="0">
                          <a:solidFill>
                            <a:schemeClr val="tx1"/>
                          </a:solidFill>
                        </a:rPr>
                        <a:t>Egg</a:t>
                      </a:r>
                    </a:p>
                  </a:txBody>
                  <a:tcPr marL="126084" marR="126084" marT="63043" marB="63043">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b="1" dirty="0">
                          <a:solidFill>
                            <a:schemeClr val="tx1"/>
                          </a:solidFill>
                        </a:rPr>
                        <a:t>Time followed</a:t>
                      </a:r>
                    </a:p>
                  </a:txBody>
                  <a:tcPr marL="126084" marR="126084" marT="63043" marB="63043">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b="1" dirty="0">
                          <a:solidFill>
                            <a:schemeClr val="tx1"/>
                          </a:solidFill>
                        </a:rPr>
                        <a:t>Event</a:t>
                      </a:r>
                    </a:p>
                  </a:txBody>
                  <a:tcPr marL="126084" marR="126084" marT="63043" marB="63043">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491846">
                <a:tc>
                  <a:txBody>
                    <a:bodyPr/>
                    <a:lstStyle/>
                    <a:p>
                      <a:pPr algn="ctr">
                        <a:buNone/>
                      </a:pPr>
                      <a:r>
                        <a:rPr lang="en-GB" sz="2400" dirty="0">
                          <a:solidFill>
                            <a:schemeClr val="tx1"/>
                          </a:solidFill>
                          <a:effectLst/>
                        </a:rPr>
                        <a:t>1</a:t>
                      </a:r>
                    </a:p>
                  </a:txBody>
                  <a:tcPr marL="15128" marR="15128" marT="12103" marB="12103"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49</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dirty="0">
                          <a:solidFill>
                            <a:schemeClr val="tx1"/>
                          </a:solidFill>
                        </a:rPr>
                        <a:t>0</a:t>
                      </a:r>
                    </a:p>
                  </a:txBody>
                  <a:tcPr marL="126084" marR="126084" marT="63043" marB="63043">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491846">
                <a:tc>
                  <a:txBody>
                    <a:bodyPr/>
                    <a:lstStyle/>
                    <a:p>
                      <a:pPr algn="ctr">
                        <a:buNone/>
                      </a:pPr>
                      <a:r>
                        <a:rPr lang="en-GB" sz="2400" b="0" dirty="0">
                          <a:solidFill>
                            <a:schemeClr val="tx1"/>
                          </a:solidFill>
                          <a:effectLst/>
                        </a:rPr>
                        <a:t>2</a:t>
                      </a:r>
                    </a:p>
                  </a:txBody>
                  <a:tcPr marL="15128" marR="15128" marT="12103" marB="12103"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12</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1</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491846">
                <a:tc>
                  <a:txBody>
                    <a:bodyPr/>
                    <a:lstStyle/>
                    <a:p>
                      <a:pPr algn="ctr">
                        <a:buNone/>
                      </a:pPr>
                      <a:r>
                        <a:rPr lang="en-GB" sz="2400" b="0" dirty="0">
                          <a:solidFill>
                            <a:schemeClr val="tx1"/>
                          </a:solidFill>
                          <a:effectLst/>
                        </a:rPr>
                        <a:t>3</a:t>
                      </a:r>
                    </a:p>
                  </a:txBody>
                  <a:tcPr marL="15128" marR="15128" marT="12103" marB="12103"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30</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1</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491846">
                <a:tc>
                  <a:txBody>
                    <a:bodyPr/>
                    <a:lstStyle/>
                    <a:p>
                      <a:pPr algn="ctr">
                        <a:buNone/>
                      </a:pPr>
                      <a:r>
                        <a:rPr lang="en-GB" sz="2400" b="0" dirty="0">
                          <a:solidFill>
                            <a:schemeClr val="tx1"/>
                          </a:solidFill>
                          <a:effectLst/>
                        </a:rPr>
                        <a:t>4</a:t>
                      </a:r>
                    </a:p>
                  </a:txBody>
                  <a:tcPr marL="15128" marR="15128" marT="12103" marB="12103"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22</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0</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491846">
                <a:tc>
                  <a:txBody>
                    <a:bodyPr/>
                    <a:lstStyle/>
                    <a:p>
                      <a:pPr algn="ctr"/>
                      <a:r>
                        <a:rPr lang="en-GB" sz="2400" dirty="0">
                          <a:solidFill>
                            <a:schemeClr val="tx1"/>
                          </a:solidFill>
                        </a:rPr>
                        <a:t>..</a:t>
                      </a:r>
                    </a:p>
                  </a:txBody>
                  <a:tcPr marL="126084" marR="126084" marT="63043" marB="63043">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dirty="0">
                          <a:solidFill>
                            <a:schemeClr val="tx1"/>
                          </a:solidFill>
                        </a:rPr>
                        <a:t>..</a:t>
                      </a:r>
                    </a:p>
                  </a:txBody>
                  <a:tcPr marL="126084" marR="126084" marT="63043" marB="63043">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dirty="0">
                          <a:solidFill>
                            <a:schemeClr val="tx1"/>
                          </a:solidFill>
                        </a:rPr>
                        <a:t>..</a:t>
                      </a:r>
                    </a:p>
                  </a:txBody>
                  <a:tcPr marL="126084" marR="126084" marT="63043" marB="63043">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20777565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E6F7B889-B215-F44C-8350-5E4C627D0B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165055" y="1488116"/>
            <a:ext cx="4572009" cy="4572009"/>
          </a:xfrm>
          <a:prstGeom prst="rect">
            <a:avLst/>
          </a:prstGeom>
        </p:spPr>
      </p:pic>
      <p:sp>
        <p:nvSpPr>
          <p:cNvPr id="5" name="Title 4">
            <a:extLst>
              <a:ext uri="{FF2B5EF4-FFF2-40B4-BE49-F238E27FC236}">
                <a16:creationId xmlns:a16="http://schemas.microsoft.com/office/drawing/2014/main" id="{BD5B2D4D-932A-5241-5D91-4925846F4BE6}"/>
              </a:ext>
            </a:extLst>
          </p:cNvPr>
          <p:cNvSpPr>
            <a:spLocks noGrp="1"/>
          </p:cNvSpPr>
          <p:nvPr>
            <p:ph type="title"/>
          </p:nvPr>
        </p:nvSpPr>
        <p:spPr/>
        <p:txBody>
          <a:bodyPr/>
          <a:lstStyle/>
          <a:p>
            <a:r>
              <a:rPr lang="en-GB" dirty="0"/>
              <a:t>An example</a:t>
            </a:r>
          </a:p>
        </p:txBody>
      </p:sp>
      <p:sp>
        <p:nvSpPr>
          <p:cNvPr id="4" name="Slide Number Placeholder 3">
            <a:extLst>
              <a:ext uri="{FF2B5EF4-FFF2-40B4-BE49-F238E27FC236}">
                <a16:creationId xmlns:a16="http://schemas.microsoft.com/office/drawing/2014/main" id="{AE5BF1BA-C3CC-264E-1996-AA98DA4B4A31}"/>
              </a:ext>
            </a:extLst>
          </p:cNvPr>
          <p:cNvSpPr>
            <a:spLocks noGrp="1"/>
          </p:cNvSpPr>
          <p:nvPr>
            <p:ph type="sldNum" sz="quarter" idx="10"/>
          </p:nvPr>
        </p:nvSpPr>
        <p:spPr/>
        <p:txBody>
          <a:bodyPr/>
          <a:lstStyle/>
          <a:p>
            <a:pPr>
              <a:defRPr/>
            </a:pPr>
            <a:fld id="{CD3FC0C4-D681-4CE5-B41E-BCE48B80373A}" type="slidenum">
              <a:rPr lang="en-GB" smtClean="0"/>
              <a:pPr>
                <a:defRPr/>
              </a:pPr>
              <a:t>27</a:t>
            </a:fld>
            <a:endParaRPr lang="en-GB"/>
          </a:p>
        </p:txBody>
      </p:sp>
      <p:pic>
        <p:nvPicPr>
          <p:cNvPr id="27" name="Picture 26">
            <a:extLst>
              <a:ext uri="{FF2B5EF4-FFF2-40B4-BE49-F238E27FC236}">
                <a16:creationId xmlns:a16="http://schemas.microsoft.com/office/drawing/2014/main" id="{88E98F99-F4D2-352B-D9AC-B09ED7B7586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07854" y="1488116"/>
            <a:ext cx="5029210" cy="4572009"/>
          </a:xfrm>
          <a:prstGeom prst="rect">
            <a:avLst/>
          </a:prstGeom>
        </p:spPr>
      </p:pic>
      <p:pic>
        <p:nvPicPr>
          <p:cNvPr id="2" name="Graphic 1" descr="Dragon with solid fill">
            <a:extLst>
              <a:ext uri="{FF2B5EF4-FFF2-40B4-BE49-F238E27FC236}">
                <a16:creationId xmlns:a16="http://schemas.microsoft.com/office/drawing/2014/main" id="{59F346D2-8A94-2115-E416-9B5ED86C8E6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975412" y="2160878"/>
            <a:ext cx="1440000" cy="1440000"/>
          </a:xfrm>
          <a:prstGeom prst="rect">
            <a:avLst/>
          </a:prstGeom>
        </p:spPr>
      </p:pic>
      <p:pic>
        <p:nvPicPr>
          <p:cNvPr id="3" name="Graphic 2" descr="Dinosaur Egg with solid fill">
            <a:extLst>
              <a:ext uri="{FF2B5EF4-FFF2-40B4-BE49-F238E27FC236}">
                <a16:creationId xmlns:a16="http://schemas.microsoft.com/office/drawing/2014/main" id="{E64B64CD-20E2-63FC-78D2-B10519105F5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971600" y="3673046"/>
            <a:ext cx="1440000" cy="1440000"/>
          </a:xfrm>
          <a:prstGeom prst="rect">
            <a:avLst/>
          </a:prstGeom>
        </p:spPr>
      </p:pic>
      <p:cxnSp>
        <p:nvCxnSpPr>
          <p:cNvPr id="7" name="Straight Arrow Connector 6">
            <a:extLst>
              <a:ext uri="{FF2B5EF4-FFF2-40B4-BE49-F238E27FC236}">
                <a16:creationId xmlns:a16="http://schemas.microsoft.com/office/drawing/2014/main" id="{9C17CA59-ACE9-EAB8-92E3-2F59C2B465B4}"/>
              </a:ext>
            </a:extLst>
          </p:cNvPr>
          <p:cNvCxnSpPr>
            <a:cxnSpLocks/>
          </p:cNvCxnSpPr>
          <p:nvPr/>
        </p:nvCxnSpPr>
        <p:spPr>
          <a:xfrm>
            <a:off x="2411600" y="3694296"/>
            <a:ext cx="2736464" cy="0"/>
          </a:xfrm>
          <a:prstGeom prst="straightConnector1">
            <a:avLst/>
          </a:prstGeom>
          <a:ln w="762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386336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FA1C0-F3B7-D01A-7DC8-AEDFD7016C0E}"/>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C2F8BD59-D2BD-C78A-AFE1-35CE1F12426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165055" y="1488116"/>
            <a:ext cx="4572009" cy="4572009"/>
          </a:xfrm>
          <a:prstGeom prst="rect">
            <a:avLst/>
          </a:prstGeom>
        </p:spPr>
      </p:pic>
      <p:sp>
        <p:nvSpPr>
          <p:cNvPr id="5" name="Title 4">
            <a:extLst>
              <a:ext uri="{FF2B5EF4-FFF2-40B4-BE49-F238E27FC236}">
                <a16:creationId xmlns:a16="http://schemas.microsoft.com/office/drawing/2014/main" id="{D38898C0-B218-793F-6D2D-2B1F2E56E5FA}"/>
              </a:ext>
            </a:extLst>
          </p:cNvPr>
          <p:cNvSpPr>
            <a:spLocks noGrp="1"/>
          </p:cNvSpPr>
          <p:nvPr>
            <p:ph type="title"/>
          </p:nvPr>
        </p:nvSpPr>
        <p:spPr/>
        <p:txBody>
          <a:bodyPr/>
          <a:lstStyle/>
          <a:p>
            <a:r>
              <a:rPr lang="en-GB" dirty="0"/>
              <a:t>Kaplan-Meier survival curve</a:t>
            </a:r>
          </a:p>
        </p:txBody>
      </p:sp>
      <p:sp>
        <p:nvSpPr>
          <p:cNvPr id="4" name="Slide Number Placeholder 3">
            <a:extLst>
              <a:ext uri="{FF2B5EF4-FFF2-40B4-BE49-F238E27FC236}">
                <a16:creationId xmlns:a16="http://schemas.microsoft.com/office/drawing/2014/main" id="{A67DFD4C-81EF-5FB1-1299-EE6257C2F343}"/>
              </a:ext>
            </a:extLst>
          </p:cNvPr>
          <p:cNvSpPr>
            <a:spLocks noGrp="1"/>
          </p:cNvSpPr>
          <p:nvPr>
            <p:ph type="sldNum" sz="quarter" idx="10"/>
          </p:nvPr>
        </p:nvSpPr>
        <p:spPr/>
        <p:txBody>
          <a:bodyPr/>
          <a:lstStyle/>
          <a:p>
            <a:pPr>
              <a:defRPr/>
            </a:pPr>
            <a:fld id="{CD3FC0C4-D681-4CE5-B41E-BCE48B80373A}" type="slidenum">
              <a:rPr lang="en-GB" smtClean="0"/>
              <a:pPr>
                <a:defRPr/>
              </a:pPr>
              <a:t>28</a:t>
            </a:fld>
            <a:endParaRPr lang="en-GB"/>
          </a:p>
        </p:txBody>
      </p:sp>
      <p:sp>
        <p:nvSpPr>
          <p:cNvPr id="23" name="Text Placeholder 5">
            <a:extLst>
              <a:ext uri="{FF2B5EF4-FFF2-40B4-BE49-F238E27FC236}">
                <a16:creationId xmlns:a16="http://schemas.microsoft.com/office/drawing/2014/main" id="{E50F9235-25BE-3B12-D48E-A5CB2B19B74A}"/>
              </a:ext>
            </a:extLst>
          </p:cNvPr>
          <p:cNvSpPr txBox="1">
            <a:spLocks/>
          </p:cNvSpPr>
          <p:nvPr/>
        </p:nvSpPr>
        <p:spPr>
          <a:xfrm>
            <a:off x="515649" y="1772918"/>
            <a:ext cx="3480287" cy="4002407"/>
          </a:xfrm>
          <a:prstGeom prst="rect">
            <a:avLst/>
          </a:prstGeom>
        </p:spPr>
        <p:txBody>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US" kern="0" dirty="0"/>
              <a:t>Uses:</a:t>
            </a:r>
          </a:p>
          <a:p>
            <a:r>
              <a:rPr lang="en-US" kern="0" dirty="0"/>
              <a:t>View the data more intuitively</a:t>
            </a:r>
          </a:p>
          <a:p>
            <a:endParaRPr lang="en-US" kern="0" dirty="0"/>
          </a:p>
          <a:p>
            <a:endParaRPr lang="en-GB" kern="0" dirty="0"/>
          </a:p>
        </p:txBody>
      </p:sp>
      <p:pic>
        <p:nvPicPr>
          <p:cNvPr id="27" name="Picture 26">
            <a:extLst>
              <a:ext uri="{FF2B5EF4-FFF2-40B4-BE49-F238E27FC236}">
                <a16:creationId xmlns:a16="http://schemas.microsoft.com/office/drawing/2014/main" id="{8B0C126A-1354-BFD0-18EE-A76B82D7C90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07854" y="1488116"/>
            <a:ext cx="5029210" cy="4572009"/>
          </a:xfrm>
          <a:prstGeom prst="rect">
            <a:avLst/>
          </a:prstGeom>
        </p:spPr>
      </p:pic>
      <p:sp>
        <p:nvSpPr>
          <p:cNvPr id="3" name="TextBox 2">
            <a:extLst>
              <a:ext uri="{FF2B5EF4-FFF2-40B4-BE49-F238E27FC236}">
                <a16:creationId xmlns:a16="http://schemas.microsoft.com/office/drawing/2014/main" id="{94E92F6A-D0FB-7076-77D3-A0A5A2A0CDD2}"/>
              </a:ext>
            </a:extLst>
          </p:cNvPr>
          <p:cNvSpPr txBox="1"/>
          <p:nvPr/>
        </p:nvSpPr>
        <p:spPr>
          <a:xfrm>
            <a:off x="6534394" y="2285465"/>
            <a:ext cx="2093957" cy="400110"/>
          </a:xfrm>
          <a:prstGeom prst="rect">
            <a:avLst/>
          </a:prstGeom>
          <a:noFill/>
        </p:spPr>
        <p:txBody>
          <a:bodyPr wrap="square">
            <a:spAutoFit/>
          </a:bodyPr>
          <a:lstStyle/>
          <a:p>
            <a:pPr marL="0" indent="0">
              <a:buNone/>
            </a:pPr>
            <a:r>
              <a:rPr lang="en-US" sz="2000" b="1" kern="0" dirty="0">
                <a:solidFill>
                  <a:schemeClr val="accent2"/>
                </a:solidFill>
              </a:rPr>
              <a:t>+</a:t>
            </a:r>
            <a:r>
              <a:rPr lang="en-US" kern="0" dirty="0">
                <a:solidFill>
                  <a:schemeClr val="accent2"/>
                </a:solidFill>
              </a:rPr>
              <a:t> censoring event</a:t>
            </a:r>
          </a:p>
        </p:txBody>
      </p:sp>
    </p:spTree>
    <p:extLst>
      <p:ext uri="{BB962C8B-B14F-4D97-AF65-F5344CB8AC3E}">
        <p14:creationId xmlns:p14="http://schemas.microsoft.com/office/powerpoint/2010/main" val="29950647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9433E-1746-8840-4908-804CE6483BF7}"/>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7539871E-24B5-5A38-FB2B-68F0996CBCA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165055" y="1488116"/>
            <a:ext cx="4572009" cy="4572009"/>
          </a:xfrm>
          <a:prstGeom prst="rect">
            <a:avLst/>
          </a:prstGeom>
        </p:spPr>
      </p:pic>
      <p:sp>
        <p:nvSpPr>
          <p:cNvPr id="5" name="Title 4">
            <a:extLst>
              <a:ext uri="{FF2B5EF4-FFF2-40B4-BE49-F238E27FC236}">
                <a16:creationId xmlns:a16="http://schemas.microsoft.com/office/drawing/2014/main" id="{55016A8A-EA9F-5D12-44E6-AECEE136BCA4}"/>
              </a:ext>
            </a:extLst>
          </p:cNvPr>
          <p:cNvSpPr>
            <a:spLocks noGrp="1"/>
          </p:cNvSpPr>
          <p:nvPr>
            <p:ph type="title"/>
          </p:nvPr>
        </p:nvSpPr>
        <p:spPr/>
        <p:txBody>
          <a:bodyPr/>
          <a:lstStyle/>
          <a:p>
            <a:r>
              <a:rPr lang="en-GB" dirty="0"/>
              <a:t>Kaplan-Meier survival curve</a:t>
            </a:r>
          </a:p>
        </p:txBody>
      </p:sp>
      <p:sp>
        <p:nvSpPr>
          <p:cNvPr id="4" name="Slide Number Placeholder 3">
            <a:extLst>
              <a:ext uri="{FF2B5EF4-FFF2-40B4-BE49-F238E27FC236}">
                <a16:creationId xmlns:a16="http://schemas.microsoft.com/office/drawing/2014/main" id="{281E04A3-ABA5-940A-9882-5592FA755087}"/>
              </a:ext>
            </a:extLst>
          </p:cNvPr>
          <p:cNvSpPr>
            <a:spLocks noGrp="1"/>
          </p:cNvSpPr>
          <p:nvPr>
            <p:ph type="sldNum" sz="quarter" idx="10"/>
          </p:nvPr>
        </p:nvSpPr>
        <p:spPr/>
        <p:txBody>
          <a:bodyPr/>
          <a:lstStyle/>
          <a:p>
            <a:pPr>
              <a:defRPr/>
            </a:pPr>
            <a:fld id="{CD3FC0C4-D681-4CE5-B41E-BCE48B80373A}" type="slidenum">
              <a:rPr lang="en-GB" smtClean="0"/>
              <a:pPr>
                <a:defRPr/>
              </a:pPr>
              <a:t>29</a:t>
            </a:fld>
            <a:endParaRPr lang="en-GB"/>
          </a:p>
        </p:txBody>
      </p:sp>
      <p:sp>
        <p:nvSpPr>
          <p:cNvPr id="23" name="Text Placeholder 5">
            <a:extLst>
              <a:ext uri="{FF2B5EF4-FFF2-40B4-BE49-F238E27FC236}">
                <a16:creationId xmlns:a16="http://schemas.microsoft.com/office/drawing/2014/main" id="{3AA4615F-542D-22AC-3808-D45EADAC5A53}"/>
              </a:ext>
            </a:extLst>
          </p:cNvPr>
          <p:cNvSpPr txBox="1">
            <a:spLocks/>
          </p:cNvSpPr>
          <p:nvPr/>
        </p:nvSpPr>
        <p:spPr>
          <a:xfrm>
            <a:off x="515649" y="1772918"/>
            <a:ext cx="3480287" cy="4002407"/>
          </a:xfrm>
          <a:prstGeom prst="rect">
            <a:avLst/>
          </a:prstGeom>
        </p:spPr>
        <p:txBody>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US" kern="0" dirty="0"/>
              <a:t>Uses:</a:t>
            </a:r>
          </a:p>
          <a:p>
            <a:r>
              <a:rPr lang="en-US" kern="0" dirty="0"/>
              <a:t>View the data more intuitively</a:t>
            </a:r>
          </a:p>
          <a:p>
            <a:r>
              <a:rPr lang="en-US" kern="0" dirty="0"/>
              <a:t>Estimate key parameters, e.g., median survival time</a:t>
            </a:r>
          </a:p>
          <a:p>
            <a:endParaRPr lang="en-GB" kern="0" dirty="0"/>
          </a:p>
        </p:txBody>
      </p:sp>
      <p:pic>
        <p:nvPicPr>
          <p:cNvPr id="2" name="Picture 1">
            <a:extLst>
              <a:ext uri="{FF2B5EF4-FFF2-40B4-BE49-F238E27FC236}">
                <a16:creationId xmlns:a16="http://schemas.microsoft.com/office/drawing/2014/main" id="{AFB1DEF2-5775-790A-34B4-A76269858ED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3707854" y="1488116"/>
            <a:ext cx="5029210" cy="4572009"/>
          </a:xfrm>
          <a:prstGeom prst="rect">
            <a:avLst/>
          </a:prstGeom>
        </p:spPr>
      </p:pic>
      <p:sp>
        <p:nvSpPr>
          <p:cNvPr id="6" name="TextBox 5">
            <a:extLst>
              <a:ext uri="{FF2B5EF4-FFF2-40B4-BE49-F238E27FC236}">
                <a16:creationId xmlns:a16="http://schemas.microsoft.com/office/drawing/2014/main" id="{91FAD59A-3EEC-0A4B-067C-5E39B99DEEE2}"/>
              </a:ext>
            </a:extLst>
          </p:cNvPr>
          <p:cNvSpPr txBox="1"/>
          <p:nvPr/>
        </p:nvSpPr>
        <p:spPr>
          <a:xfrm>
            <a:off x="6534394" y="2285465"/>
            <a:ext cx="2093957" cy="400110"/>
          </a:xfrm>
          <a:prstGeom prst="rect">
            <a:avLst/>
          </a:prstGeom>
          <a:noFill/>
        </p:spPr>
        <p:txBody>
          <a:bodyPr wrap="square">
            <a:spAutoFit/>
          </a:bodyPr>
          <a:lstStyle/>
          <a:p>
            <a:pPr marL="0" indent="0">
              <a:buNone/>
            </a:pPr>
            <a:r>
              <a:rPr lang="en-US" sz="2000" b="1" kern="0" dirty="0">
                <a:solidFill>
                  <a:schemeClr val="accent2"/>
                </a:solidFill>
              </a:rPr>
              <a:t>+</a:t>
            </a:r>
            <a:r>
              <a:rPr lang="en-US" kern="0" dirty="0">
                <a:solidFill>
                  <a:schemeClr val="accent2"/>
                </a:solidFill>
              </a:rPr>
              <a:t> censoring event</a:t>
            </a:r>
          </a:p>
        </p:txBody>
      </p:sp>
    </p:spTree>
    <p:extLst>
      <p:ext uri="{BB962C8B-B14F-4D97-AF65-F5344CB8AC3E}">
        <p14:creationId xmlns:p14="http://schemas.microsoft.com/office/powerpoint/2010/main" val="32762282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C3955-679E-73B1-070C-14A55C5D7082}"/>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D545552-C563-6424-C8BE-F0C8C495DA8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7854" y="1488116"/>
            <a:ext cx="5029210" cy="4572009"/>
          </a:xfrm>
          <a:prstGeom prst="rect">
            <a:avLst/>
          </a:prstGeom>
        </p:spPr>
      </p:pic>
      <p:sp>
        <p:nvSpPr>
          <p:cNvPr id="5" name="Title 4">
            <a:extLst>
              <a:ext uri="{FF2B5EF4-FFF2-40B4-BE49-F238E27FC236}">
                <a16:creationId xmlns:a16="http://schemas.microsoft.com/office/drawing/2014/main" id="{4D68AB37-53DB-40F4-50F0-D29ECE37F3AE}"/>
              </a:ext>
            </a:extLst>
          </p:cNvPr>
          <p:cNvSpPr>
            <a:spLocks noGrp="1"/>
          </p:cNvSpPr>
          <p:nvPr>
            <p:ph type="title"/>
          </p:nvPr>
        </p:nvSpPr>
        <p:spPr/>
        <p:txBody>
          <a:bodyPr/>
          <a:lstStyle/>
          <a:p>
            <a:r>
              <a:rPr lang="en-GB" dirty="0"/>
              <a:t>Kaplan-Meier survival curve</a:t>
            </a:r>
          </a:p>
        </p:txBody>
      </p:sp>
      <p:sp>
        <p:nvSpPr>
          <p:cNvPr id="4" name="Slide Number Placeholder 3">
            <a:extLst>
              <a:ext uri="{FF2B5EF4-FFF2-40B4-BE49-F238E27FC236}">
                <a16:creationId xmlns:a16="http://schemas.microsoft.com/office/drawing/2014/main" id="{2C089C69-CBA0-711D-AC24-D3786B0A8AF6}"/>
              </a:ext>
            </a:extLst>
          </p:cNvPr>
          <p:cNvSpPr>
            <a:spLocks noGrp="1"/>
          </p:cNvSpPr>
          <p:nvPr>
            <p:ph type="sldNum" sz="quarter" idx="10"/>
          </p:nvPr>
        </p:nvSpPr>
        <p:spPr/>
        <p:txBody>
          <a:bodyPr/>
          <a:lstStyle/>
          <a:p>
            <a:pPr>
              <a:defRPr/>
            </a:pPr>
            <a:fld id="{CD3FC0C4-D681-4CE5-B41E-BCE48B80373A}" type="slidenum">
              <a:rPr lang="en-GB" smtClean="0"/>
              <a:pPr>
                <a:defRPr/>
              </a:pPr>
              <a:t>30</a:t>
            </a:fld>
            <a:endParaRPr lang="en-GB"/>
          </a:p>
        </p:txBody>
      </p:sp>
      <p:sp>
        <p:nvSpPr>
          <p:cNvPr id="23" name="Text Placeholder 5">
            <a:extLst>
              <a:ext uri="{FF2B5EF4-FFF2-40B4-BE49-F238E27FC236}">
                <a16:creationId xmlns:a16="http://schemas.microsoft.com/office/drawing/2014/main" id="{69B3C2E4-5C89-F717-9617-5F9BB02FF5CB}"/>
              </a:ext>
            </a:extLst>
          </p:cNvPr>
          <p:cNvSpPr txBox="1">
            <a:spLocks/>
          </p:cNvSpPr>
          <p:nvPr/>
        </p:nvSpPr>
        <p:spPr>
          <a:xfrm>
            <a:off x="515649" y="1772918"/>
            <a:ext cx="3480287" cy="4002407"/>
          </a:xfrm>
          <a:prstGeom prst="rect">
            <a:avLst/>
          </a:prstGeom>
        </p:spPr>
        <p:txBody>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US" kern="0" dirty="0"/>
              <a:t>Uses:</a:t>
            </a:r>
          </a:p>
          <a:p>
            <a:r>
              <a:rPr lang="en-US" kern="0" dirty="0"/>
              <a:t>View the data more intuitively</a:t>
            </a:r>
          </a:p>
          <a:p>
            <a:r>
              <a:rPr lang="en-US" kern="0" dirty="0"/>
              <a:t>Estimate key parameters, e.g., median survival time</a:t>
            </a:r>
          </a:p>
          <a:p>
            <a:endParaRPr lang="en-US" kern="0" dirty="0"/>
          </a:p>
          <a:p>
            <a:endParaRPr lang="en-US" kern="0" dirty="0"/>
          </a:p>
          <a:p>
            <a:r>
              <a:rPr lang="en-US" kern="0" dirty="0"/>
              <a:t>We can provide other data too</a:t>
            </a:r>
          </a:p>
          <a:p>
            <a:endParaRPr lang="en-GB" kern="0" dirty="0"/>
          </a:p>
        </p:txBody>
      </p:sp>
    </p:spTree>
    <p:extLst>
      <p:ext uri="{BB962C8B-B14F-4D97-AF65-F5344CB8AC3E}">
        <p14:creationId xmlns:p14="http://schemas.microsoft.com/office/powerpoint/2010/main" val="20854663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80E85-9D0C-F79B-8A79-8A6D78F28E1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1ABD8EC-9303-4CAF-9CD8-EA0E7E757E8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707854" y="1488116"/>
            <a:ext cx="5029210" cy="4572009"/>
          </a:xfrm>
          <a:prstGeom prst="rect">
            <a:avLst/>
          </a:prstGeom>
        </p:spPr>
      </p:pic>
      <p:sp>
        <p:nvSpPr>
          <p:cNvPr id="5" name="Title 4">
            <a:extLst>
              <a:ext uri="{FF2B5EF4-FFF2-40B4-BE49-F238E27FC236}">
                <a16:creationId xmlns:a16="http://schemas.microsoft.com/office/drawing/2014/main" id="{82D409A9-E4DC-0D32-1B5C-5D2D0D840366}"/>
              </a:ext>
            </a:extLst>
          </p:cNvPr>
          <p:cNvSpPr>
            <a:spLocks noGrp="1"/>
          </p:cNvSpPr>
          <p:nvPr>
            <p:ph type="title"/>
          </p:nvPr>
        </p:nvSpPr>
        <p:spPr/>
        <p:txBody>
          <a:bodyPr/>
          <a:lstStyle/>
          <a:p>
            <a:r>
              <a:rPr lang="en-GB" dirty="0"/>
              <a:t>Kaplan-Meier survival curve</a:t>
            </a:r>
          </a:p>
        </p:txBody>
      </p:sp>
      <p:sp>
        <p:nvSpPr>
          <p:cNvPr id="4" name="Slide Number Placeholder 3">
            <a:extLst>
              <a:ext uri="{FF2B5EF4-FFF2-40B4-BE49-F238E27FC236}">
                <a16:creationId xmlns:a16="http://schemas.microsoft.com/office/drawing/2014/main" id="{75AF4871-A3D0-72C9-04E4-C66D6F52A29B}"/>
              </a:ext>
            </a:extLst>
          </p:cNvPr>
          <p:cNvSpPr>
            <a:spLocks noGrp="1"/>
          </p:cNvSpPr>
          <p:nvPr>
            <p:ph type="sldNum" sz="quarter" idx="10"/>
          </p:nvPr>
        </p:nvSpPr>
        <p:spPr/>
        <p:txBody>
          <a:bodyPr/>
          <a:lstStyle/>
          <a:p>
            <a:pPr>
              <a:defRPr/>
            </a:pPr>
            <a:fld id="{CD3FC0C4-D681-4CE5-B41E-BCE48B80373A}" type="slidenum">
              <a:rPr lang="en-GB" smtClean="0"/>
              <a:pPr>
                <a:defRPr/>
              </a:pPr>
              <a:t>31</a:t>
            </a:fld>
            <a:endParaRPr lang="en-GB"/>
          </a:p>
        </p:txBody>
      </p:sp>
      <p:sp>
        <p:nvSpPr>
          <p:cNvPr id="23" name="Text Placeholder 5">
            <a:extLst>
              <a:ext uri="{FF2B5EF4-FFF2-40B4-BE49-F238E27FC236}">
                <a16:creationId xmlns:a16="http://schemas.microsoft.com/office/drawing/2014/main" id="{71383239-2613-569C-443C-6DD03433BF6F}"/>
              </a:ext>
            </a:extLst>
          </p:cNvPr>
          <p:cNvSpPr txBox="1">
            <a:spLocks/>
          </p:cNvSpPr>
          <p:nvPr/>
        </p:nvSpPr>
        <p:spPr>
          <a:xfrm>
            <a:off x="515649" y="1772918"/>
            <a:ext cx="3480287" cy="4002407"/>
          </a:xfrm>
          <a:prstGeom prst="rect">
            <a:avLst/>
          </a:prstGeom>
        </p:spPr>
        <p:txBody>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US" kern="0" dirty="0"/>
              <a:t>Uses:</a:t>
            </a:r>
          </a:p>
          <a:p>
            <a:r>
              <a:rPr lang="en-US" kern="0" dirty="0"/>
              <a:t>View the data more intuitively</a:t>
            </a:r>
          </a:p>
          <a:p>
            <a:r>
              <a:rPr lang="en-US" kern="0" dirty="0"/>
              <a:t>Estimate key parameters, e.g., median survival time</a:t>
            </a:r>
          </a:p>
          <a:p>
            <a:endParaRPr lang="en-US" kern="0" dirty="0"/>
          </a:p>
          <a:p>
            <a:endParaRPr lang="en-US" kern="0" dirty="0"/>
          </a:p>
          <a:p>
            <a:r>
              <a:rPr lang="en-US" kern="0" dirty="0"/>
              <a:t>We can provide other data too</a:t>
            </a:r>
          </a:p>
          <a:p>
            <a:endParaRPr lang="en-GB" kern="0" dirty="0"/>
          </a:p>
        </p:txBody>
      </p:sp>
    </p:spTree>
    <p:extLst>
      <p:ext uri="{BB962C8B-B14F-4D97-AF65-F5344CB8AC3E}">
        <p14:creationId xmlns:p14="http://schemas.microsoft.com/office/powerpoint/2010/main" val="7253347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6ABACEB3-CD4C-7938-B3DA-780FFD7ED284}"/>
              </a:ext>
            </a:extLst>
          </p:cNvPr>
          <p:cNvSpPr>
            <a:spLocks noGrp="1"/>
          </p:cNvSpPr>
          <p:nvPr>
            <p:ph type="body" sz="quarter" idx="11"/>
          </p:nvPr>
        </p:nvSpPr>
        <p:spPr/>
        <p:txBody>
          <a:bodyPr/>
          <a:lstStyle/>
          <a:p>
            <a:pPr marL="0" indent="0">
              <a:buNone/>
            </a:pPr>
            <a:r>
              <a:rPr lang="en-GB" dirty="0"/>
              <a:t>Constructed using the </a:t>
            </a:r>
            <a:r>
              <a:rPr lang="en-GB" b="1" dirty="0"/>
              <a:t>Kaplan-Meier estimator</a:t>
            </a:r>
          </a:p>
          <a:p>
            <a:pPr marL="0" indent="0">
              <a:buNone/>
            </a:pPr>
            <a:endParaRPr lang="en-GB" b="1" dirty="0"/>
          </a:p>
          <a:p>
            <a:pPr marL="0" indent="0">
              <a:buNone/>
            </a:pPr>
            <a:r>
              <a:rPr lang="en-GB" dirty="0"/>
              <a:t>Original data		 </a:t>
            </a:r>
            <a:r>
              <a:rPr lang="en-GB" dirty="0">
                <a:sym typeface="Wingdings" panose="05000000000000000000" pitchFamily="2" charset="2"/>
              </a:rPr>
              <a:t> 		survival object</a:t>
            </a:r>
            <a:endParaRPr lang="en-GB" dirty="0"/>
          </a:p>
        </p:txBody>
      </p:sp>
      <p:sp>
        <p:nvSpPr>
          <p:cNvPr id="2" name="Title 1">
            <a:extLst>
              <a:ext uri="{FF2B5EF4-FFF2-40B4-BE49-F238E27FC236}">
                <a16:creationId xmlns:a16="http://schemas.microsoft.com/office/drawing/2014/main" id="{B0A0E3FE-5A2C-C528-D0C9-139D8F8FAB1C}"/>
              </a:ext>
            </a:extLst>
          </p:cNvPr>
          <p:cNvSpPr>
            <a:spLocks noGrp="1"/>
          </p:cNvSpPr>
          <p:nvPr>
            <p:ph type="title"/>
          </p:nvPr>
        </p:nvSpPr>
        <p:spPr/>
        <p:txBody>
          <a:bodyPr/>
          <a:lstStyle/>
          <a:p>
            <a:r>
              <a:rPr lang="en-GB" dirty="0"/>
              <a:t>How is the curve constructed?</a:t>
            </a:r>
          </a:p>
        </p:txBody>
      </p:sp>
      <p:sp>
        <p:nvSpPr>
          <p:cNvPr id="3" name="Slide Number Placeholder 2">
            <a:extLst>
              <a:ext uri="{FF2B5EF4-FFF2-40B4-BE49-F238E27FC236}">
                <a16:creationId xmlns:a16="http://schemas.microsoft.com/office/drawing/2014/main" id="{DEA09227-4851-07EA-5499-911B6C99FB99}"/>
              </a:ext>
            </a:extLst>
          </p:cNvPr>
          <p:cNvSpPr>
            <a:spLocks noGrp="1"/>
          </p:cNvSpPr>
          <p:nvPr>
            <p:ph type="sldNum" sz="quarter" idx="10"/>
          </p:nvPr>
        </p:nvSpPr>
        <p:spPr/>
        <p:txBody>
          <a:bodyPr/>
          <a:lstStyle/>
          <a:p>
            <a:pPr>
              <a:defRPr/>
            </a:pPr>
            <a:fld id="{062FE7C6-874C-4E62-8759-08C2AB2543BB}" type="slidenum">
              <a:rPr lang="en-GB" smtClean="0"/>
              <a:pPr>
                <a:defRPr/>
              </a:pPr>
              <a:t>32</a:t>
            </a:fld>
            <a:endParaRPr lang="en-GB"/>
          </a:p>
        </p:txBody>
      </p:sp>
      <p:sp>
        <p:nvSpPr>
          <p:cNvPr id="5" name="Arrow: Right 4">
            <a:extLst>
              <a:ext uri="{FF2B5EF4-FFF2-40B4-BE49-F238E27FC236}">
                <a16:creationId xmlns:a16="http://schemas.microsoft.com/office/drawing/2014/main" id="{9CB2D784-0F39-3D09-587E-2E131B49DE0C}"/>
              </a:ext>
            </a:extLst>
          </p:cNvPr>
          <p:cNvSpPr/>
          <p:nvPr/>
        </p:nvSpPr>
        <p:spPr>
          <a:xfrm>
            <a:off x="2267744" y="2414798"/>
            <a:ext cx="2664296" cy="792088"/>
          </a:xfrm>
          <a:prstGeom prst="rightArrow">
            <a:avLst/>
          </a:prstGeom>
          <a:solidFill>
            <a:schemeClr val="bg1"/>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solidFill>
                  <a:schemeClr val="accent3"/>
                </a:solidFill>
              </a:rPr>
              <a:t>transformed into</a:t>
            </a:r>
          </a:p>
        </p:txBody>
      </p:sp>
    </p:spTree>
    <p:extLst>
      <p:ext uri="{BB962C8B-B14F-4D97-AF65-F5344CB8AC3E}">
        <p14:creationId xmlns:p14="http://schemas.microsoft.com/office/powerpoint/2010/main" val="4608096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8A134-3A9E-B39B-23BE-A4FD670596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680C47-B0C0-D29A-3916-4020CA128D0A}"/>
              </a:ext>
            </a:extLst>
          </p:cNvPr>
          <p:cNvSpPr>
            <a:spLocks noGrp="1"/>
          </p:cNvSpPr>
          <p:nvPr>
            <p:ph type="title"/>
          </p:nvPr>
        </p:nvSpPr>
        <p:spPr/>
        <p:txBody>
          <a:bodyPr/>
          <a:lstStyle/>
          <a:p>
            <a:r>
              <a:rPr lang="en-GB" dirty="0"/>
              <a:t>Dragon egg dataset</a:t>
            </a:r>
          </a:p>
        </p:txBody>
      </p:sp>
      <p:sp>
        <p:nvSpPr>
          <p:cNvPr id="3" name="Slide Number Placeholder 2">
            <a:extLst>
              <a:ext uri="{FF2B5EF4-FFF2-40B4-BE49-F238E27FC236}">
                <a16:creationId xmlns:a16="http://schemas.microsoft.com/office/drawing/2014/main" id="{671E542D-BF00-7412-84D4-F9401ADC4B93}"/>
              </a:ext>
            </a:extLst>
          </p:cNvPr>
          <p:cNvSpPr>
            <a:spLocks noGrp="1"/>
          </p:cNvSpPr>
          <p:nvPr>
            <p:ph type="sldNum" sz="quarter" idx="10"/>
          </p:nvPr>
        </p:nvSpPr>
        <p:spPr/>
        <p:txBody>
          <a:bodyPr/>
          <a:lstStyle/>
          <a:p>
            <a:pPr>
              <a:defRPr/>
            </a:pPr>
            <a:fld id="{062FE7C6-874C-4E62-8759-08C2AB2543BB}" type="slidenum">
              <a:rPr lang="en-GB" smtClean="0"/>
              <a:pPr>
                <a:defRPr/>
              </a:pPr>
              <a:t>33</a:t>
            </a:fld>
            <a:endParaRPr lang="en-GB"/>
          </a:p>
        </p:txBody>
      </p:sp>
      <p:graphicFrame>
        <p:nvGraphicFramePr>
          <p:cNvPr id="4" name="Table 3">
            <a:extLst>
              <a:ext uri="{FF2B5EF4-FFF2-40B4-BE49-F238E27FC236}">
                <a16:creationId xmlns:a16="http://schemas.microsoft.com/office/drawing/2014/main" id="{8C5891A1-06E0-18F3-9320-61E7B9F924E7}"/>
              </a:ext>
            </a:extLst>
          </p:cNvPr>
          <p:cNvGraphicFramePr>
            <a:graphicFrameLocks noGrp="1"/>
          </p:cNvGraphicFramePr>
          <p:nvPr>
            <p:extLst>
              <p:ext uri="{D42A27DB-BD31-4B8C-83A1-F6EECF244321}">
                <p14:modId xmlns:p14="http://schemas.microsoft.com/office/powerpoint/2010/main" val="3714519916"/>
              </p:ext>
            </p:extLst>
          </p:nvPr>
        </p:nvGraphicFramePr>
        <p:xfrm>
          <a:off x="387994" y="1412776"/>
          <a:ext cx="3744414" cy="2080365"/>
        </p:xfrm>
        <a:graphic>
          <a:graphicData uri="http://schemas.openxmlformats.org/drawingml/2006/table">
            <a:tbl>
              <a:tblPr firstRow="1" bandRow="1">
                <a:tableStyleId>{5940675A-B579-460E-94D1-54222C63F5DA}</a:tableStyleId>
              </a:tblPr>
              <a:tblGrid>
                <a:gridCol w="864095">
                  <a:extLst>
                    <a:ext uri="{9D8B030D-6E8A-4147-A177-3AD203B41FA5}">
                      <a16:colId xmlns:a16="http://schemas.microsoft.com/office/drawing/2014/main" val="2389350183"/>
                    </a:ext>
                  </a:extLst>
                </a:gridCol>
                <a:gridCol w="1944216">
                  <a:extLst>
                    <a:ext uri="{9D8B030D-6E8A-4147-A177-3AD203B41FA5}">
                      <a16:colId xmlns:a16="http://schemas.microsoft.com/office/drawing/2014/main" val="1763596876"/>
                    </a:ext>
                  </a:extLst>
                </a:gridCol>
                <a:gridCol w="936103">
                  <a:extLst>
                    <a:ext uri="{9D8B030D-6E8A-4147-A177-3AD203B41FA5}">
                      <a16:colId xmlns:a16="http://schemas.microsoft.com/office/drawing/2014/main" val="3913547588"/>
                    </a:ext>
                  </a:extLst>
                </a:gridCol>
              </a:tblGrid>
              <a:tr h="344380">
                <a:tc>
                  <a:txBody>
                    <a:bodyPr/>
                    <a:lstStyle/>
                    <a:p>
                      <a:pPr algn="ctr"/>
                      <a:r>
                        <a:rPr lang="en-GB" b="1" dirty="0">
                          <a:solidFill>
                            <a:schemeClr val="tx1"/>
                          </a:solidFill>
                        </a:rPr>
                        <a:t>Egg</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44380">
                <a:tc>
                  <a:txBody>
                    <a:bodyPr/>
                    <a:lstStyle/>
                    <a:p>
                      <a:pPr algn="ctr">
                        <a:buNone/>
                      </a:pPr>
                      <a:r>
                        <a:rPr lang="en-GB" sz="1800" dirty="0">
                          <a:solidFill>
                            <a:schemeClr val="tx1"/>
                          </a:solidFill>
                          <a:effectLst/>
                        </a:rPr>
                        <a:t>1</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49</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27695">
                <a:tc>
                  <a:txBody>
                    <a:bodyPr/>
                    <a:lstStyle/>
                    <a:p>
                      <a:pPr algn="ctr">
                        <a:buNone/>
                      </a:pPr>
                      <a:r>
                        <a:rPr lang="en-GB" sz="1800" b="0" dirty="0">
                          <a:solidFill>
                            <a:schemeClr val="tx1"/>
                          </a:solidFill>
                          <a:effectLst/>
                        </a:rPr>
                        <a:t>2</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27695">
                <a:tc>
                  <a:txBody>
                    <a:bodyPr/>
                    <a:lstStyle/>
                    <a:p>
                      <a:pPr algn="ctr">
                        <a:buNone/>
                      </a:pPr>
                      <a:r>
                        <a:rPr lang="en-GB" sz="1800" b="0" dirty="0">
                          <a:solidFill>
                            <a:schemeClr val="tx1"/>
                          </a:solidFill>
                          <a:effectLst/>
                        </a:rPr>
                        <a:t>3</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30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27695">
                <a:tc>
                  <a:txBody>
                    <a:bodyPr/>
                    <a:lstStyle/>
                    <a:p>
                      <a:pPr algn="ctr">
                        <a:buNone/>
                      </a:pPr>
                      <a:r>
                        <a:rPr lang="en-GB" sz="1800" b="0" dirty="0">
                          <a:solidFill>
                            <a:schemeClr val="tx1"/>
                          </a:solidFill>
                          <a:effectLst/>
                        </a:rPr>
                        <a:t>4</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22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4438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
        <p:nvSpPr>
          <p:cNvPr id="7" name="TextBox 6">
            <a:extLst>
              <a:ext uri="{FF2B5EF4-FFF2-40B4-BE49-F238E27FC236}">
                <a16:creationId xmlns:a16="http://schemas.microsoft.com/office/drawing/2014/main" id="{5D4F92BD-D49D-813E-42C8-9A31DEED64C5}"/>
              </a:ext>
            </a:extLst>
          </p:cNvPr>
          <p:cNvSpPr txBox="1"/>
          <p:nvPr/>
        </p:nvSpPr>
        <p:spPr>
          <a:xfrm>
            <a:off x="4644007" y="1531395"/>
            <a:ext cx="1872208" cy="369332"/>
          </a:xfrm>
          <a:prstGeom prst="rect">
            <a:avLst/>
          </a:prstGeom>
          <a:noFill/>
        </p:spPr>
        <p:txBody>
          <a:bodyPr wrap="square" rtlCol="0">
            <a:spAutoFit/>
          </a:bodyPr>
          <a:lstStyle/>
          <a:p>
            <a:pPr algn="ctr"/>
            <a:r>
              <a:rPr lang="en-GB" dirty="0">
                <a:solidFill>
                  <a:schemeClr val="accent3"/>
                </a:solidFill>
              </a:rPr>
              <a:t>Original dataset</a:t>
            </a:r>
          </a:p>
        </p:txBody>
      </p:sp>
    </p:spTree>
    <p:extLst>
      <p:ext uri="{BB962C8B-B14F-4D97-AF65-F5344CB8AC3E}">
        <p14:creationId xmlns:p14="http://schemas.microsoft.com/office/powerpoint/2010/main" val="25683932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647D5-62ED-8BEA-AF18-1BDBBBF239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9A7A45-6EC5-A0F8-DA82-98E434404F1A}"/>
              </a:ext>
            </a:extLst>
          </p:cNvPr>
          <p:cNvSpPr>
            <a:spLocks noGrp="1"/>
          </p:cNvSpPr>
          <p:nvPr>
            <p:ph type="title"/>
          </p:nvPr>
        </p:nvSpPr>
        <p:spPr/>
        <p:txBody>
          <a:bodyPr/>
          <a:lstStyle/>
          <a:p>
            <a:r>
              <a:rPr lang="en-GB" dirty="0"/>
              <a:t>Dragon egg dataset</a:t>
            </a:r>
          </a:p>
        </p:txBody>
      </p:sp>
      <p:sp>
        <p:nvSpPr>
          <p:cNvPr id="3" name="Slide Number Placeholder 2">
            <a:extLst>
              <a:ext uri="{FF2B5EF4-FFF2-40B4-BE49-F238E27FC236}">
                <a16:creationId xmlns:a16="http://schemas.microsoft.com/office/drawing/2014/main" id="{CB760EA2-035C-6500-5374-676B693E5C43}"/>
              </a:ext>
            </a:extLst>
          </p:cNvPr>
          <p:cNvSpPr>
            <a:spLocks noGrp="1"/>
          </p:cNvSpPr>
          <p:nvPr>
            <p:ph type="sldNum" sz="quarter" idx="10"/>
          </p:nvPr>
        </p:nvSpPr>
        <p:spPr/>
        <p:txBody>
          <a:bodyPr/>
          <a:lstStyle/>
          <a:p>
            <a:pPr>
              <a:defRPr/>
            </a:pPr>
            <a:fld id="{062FE7C6-874C-4E62-8759-08C2AB2543BB}" type="slidenum">
              <a:rPr lang="en-GB" smtClean="0"/>
              <a:pPr>
                <a:defRPr/>
              </a:pPr>
              <a:t>34</a:t>
            </a:fld>
            <a:endParaRPr lang="en-GB"/>
          </a:p>
        </p:txBody>
      </p:sp>
      <p:graphicFrame>
        <p:nvGraphicFramePr>
          <p:cNvPr id="4" name="Table 3">
            <a:extLst>
              <a:ext uri="{FF2B5EF4-FFF2-40B4-BE49-F238E27FC236}">
                <a16:creationId xmlns:a16="http://schemas.microsoft.com/office/drawing/2014/main" id="{D7BC1F51-0CB8-5B84-C12E-10434AF3FA01}"/>
              </a:ext>
            </a:extLst>
          </p:cNvPr>
          <p:cNvGraphicFramePr>
            <a:graphicFrameLocks noGrp="1"/>
          </p:cNvGraphicFramePr>
          <p:nvPr/>
        </p:nvGraphicFramePr>
        <p:xfrm>
          <a:off x="387994" y="1412776"/>
          <a:ext cx="3744414" cy="2080365"/>
        </p:xfrm>
        <a:graphic>
          <a:graphicData uri="http://schemas.openxmlformats.org/drawingml/2006/table">
            <a:tbl>
              <a:tblPr firstRow="1" bandRow="1">
                <a:tableStyleId>{5940675A-B579-460E-94D1-54222C63F5DA}</a:tableStyleId>
              </a:tblPr>
              <a:tblGrid>
                <a:gridCol w="864095">
                  <a:extLst>
                    <a:ext uri="{9D8B030D-6E8A-4147-A177-3AD203B41FA5}">
                      <a16:colId xmlns:a16="http://schemas.microsoft.com/office/drawing/2014/main" val="2389350183"/>
                    </a:ext>
                  </a:extLst>
                </a:gridCol>
                <a:gridCol w="1944216">
                  <a:extLst>
                    <a:ext uri="{9D8B030D-6E8A-4147-A177-3AD203B41FA5}">
                      <a16:colId xmlns:a16="http://schemas.microsoft.com/office/drawing/2014/main" val="1763596876"/>
                    </a:ext>
                  </a:extLst>
                </a:gridCol>
                <a:gridCol w="936103">
                  <a:extLst>
                    <a:ext uri="{9D8B030D-6E8A-4147-A177-3AD203B41FA5}">
                      <a16:colId xmlns:a16="http://schemas.microsoft.com/office/drawing/2014/main" val="3913547588"/>
                    </a:ext>
                  </a:extLst>
                </a:gridCol>
              </a:tblGrid>
              <a:tr h="344380">
                <a:tc>
                  <a:txBody>
                    <a:bodyPr/>
                    <a:lstStyle/>
                    <a:p>
                      <a:pPr algn="ctr"/>
                      <a:r>
                        <a:rPr lang="en-GB" b="1" dirty="0">
                          <a:solidFill>
                            <a:schemeClr val="tx1"/>
                          </a:solidFill>
                        </a:rPr>
                        <a:t>Egg</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44380">
                <a:tc>
                  <a:txBody>
                    <a:bodyPr/>
                    <a:lstStyle/>
                    <a:p>
                      <a:pPr algn="ctr">
                        <a:buNone/>
                      </a:pPr>
                      <a:r>
                        <a:rPr lang="en-GB" sz="1800" dirty="0">
                          <a:solidFill>
                            <a:schemeClr val="tx1"/>
                          </a:solidFill>
                          <a:effectLst/>
                        </a:rPr>
                        <a:t>1</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49</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27695">
                <a:tc>
                  <a:txBody>
                    <a:bodyPr/>
                    <a:lstStyle/>
                    <a:p>
                      <a:pPr algn="ctr">
                        <a:buNone/>
                      </a:pPr>
                      <a:r>
                        <a:rPr lang="en-GB" sz="1800" b="0" dirty="0">
                          <a:solidFill>
                            <a:schemeClr val="tx1"/>
                          </a:solidFill>
                          <a:effectLst/>
                        </a:rPr>
                        <a:t>2</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27695">
                <a:tc>
                  <a:txBody>
                    <a:bodyPr/>
                    <a:lstStyle/>
                    <a:p>
                      <a:pPr algn="ctr">
                        <a:buNone/>
                      </a:pPr>
                      <a:r>
                        <a:rPr lang="en-GB" sz="1800" b="0" dirty="0">
                          <a:solidFill>
                            <a:schemeClr val="tx1"/>
                          </a:solidFill>
                          <a:effectLst/>
                        </a:rPr>
                        <a:t>3</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30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27695">
                <a:tc>
                  <a:txBody>
                    <a:bodyPr/>
                    <a:lstStyle/>
                    <a:p>
                      <a:pPr algn="ctr">
                        <a:buNone/>
                      </a:pPr>
                      <a:r>
                        <a:rPr lang="en-GB" sz="1800" b="0" dirty="0">
                          <a:solidFill>
                            <a:schemeClr val="tx1"/>
                          </a:solidFill>
                          <a:effectLst/>
                        </a:rPr>
                        <a:t>4</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22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4438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graphicFrame>
        <p:nvGraphicFramePr>
          <p:cNvPr id="6" name="Table 5">
            <a:extLst>
              <a:ext uri="{FF2B5EF4-FFF2-40B4-BE49-F238E27FC236}">
                <a16:creationId xmlns:a16="http://schemas.microsoft.com/office/drawing/2014/main" id="{08DA3317-E62D-8BC3-C32D-553E6E71E4B3}"/>
              </a:ext>
            </a:extLst>
          </p:cNvPr>
          <p:cNvGraphicFramePr>
            <a:graphicFrameLocks noGrp="1"/>
          </p:cNvGraphicFramePr>
          <p:nvPr/>
        </p:nvGraphicFramePr>
        <p:xfrm>
          <a:off x="1958393" y="3564632"/>
          <a:ext cx="6765490" cy="2468880"/>
        </p:xfrm>
        <a:graphic>
          <a:graphicData uri="http://schemas.openxmlformats.org/drawingml/2006/table">
            <a:tbl>
              <a:tblPr firstRow="1" bandRow="1">
                <a:tableStyleId>{2D5ABB26-0587-4C30-8999-92F81FD0307C}</a:tableStyleId>
              </a:tblPr>
              <a:tblGrid>
                <a:gridCol w="1353098">
                  <a:extLst>
                    <a:ext uri="{9D8B030D-6E8A-4147-A177-3AD203B41FA5}">
                      <a16:colId xmlns:a16="http://schemas.microsoft.com/office/drawing/2014/main" val="2389350183"/>
                    </a:ext>
                  </a:extLst>
                </a:gridCol>
                <a:gridCol w="1353098">
                  <a:extLst>
                    <a:ext uri="{9D8B030D-6E8A-4147-A177-3AD203B41FA5}">
                      <a16:colId xmlns:a16="http://schemas.microsoft.com/office/drawing/2014/main" val="1763596876"/>
                    </a:ext>
                  </a:extLst>
                </a:gridCol>
                <a:gridCol w="1353098">
                  <a:extLst>
                    <a:ext uri="{9D8B030D-6E8A-4147-A177-3AD203B41FA5}">
                      <a16:colId xmlns:a16="http://schemas.microsoft.com/office/drawing/2014/main" val="3913547588"/>
                    </a:ext>
                  </a:extLst>
                </a:gridCol>
                <a:gridCol w="1353098">
                  <a:extLst>
                    <a:ext uri="{9D8B030D-6E8A-4147-A177-3AD203B41FA5}">
                      <a16:colId xmlns:a16="http://schemas.microsoft.com/office/drawing/2014/main" val="3830407972"/>
                    </a:ext>
                  </a:extLst>
                </a:gridCol>
                <a:gridCol w="1353098">
                  <a:extLst>
                    <a:ext uri="{9D8B030D-6E8A-4147-A177-3AD203B41FA5}">
                      <a16:colId xmlns:a16="http://schemas.microsoft.com/office/drawing/2014/main" val="1603587238"/>
                    </a:ext>
                  </a:extLst>
                </a:gridCol>
              </a:tblGrid>
              <a:tr h="539354">
                <a:tc>
                  <a:txBody>
                    <a:bodyPr/>
                    <a:lstStyle/>
                    <a:p>
                      <a:pPr algn="ctr"/>
                      <a:r>
                        <a:rPr lang="en-GB" b="1" dirty="0">
                          <a:solidFill>
                            <a:schemeClr val="tx1"/>
                          </a:solidFill>
                        </a:rPr>
                        <a:t>Elapsed time</a:t>
                      </a:r>
                    </a:p>
                  </a:txBody>
                  <a:tcPr>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Number at risk</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Number of events</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Number of censored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Survival probability</a:t>
                      </a:r>
                    </a:p>
                  </a:txBody>
                  <a:tcPr>
                    <a:lnL w="12700" cap="flat" cmpd="sng" algn="ctr">
                      <a:solidFill>
                        <a:schemeClr val="bg1">
                          <a:lumMod val="95000"/>
                        </a:schemeClr>
                      </a:solidFill>
                      <a:prstDash val="solid"/>
                      <a:round/>
                      <a:headEnd type="none" w="med" len="med"/>
                      <a:tailEnd type="none" w="med" len="med"/>
                    </a:lnL>
                    <a:lnB w="12700"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2850906499"/>
                  </a:ext>
                </a:extLst>
              </a:tr>
              <a:tr h="308202">
                <a:tc>
                  <a:txBody>
                    <a:bodyPr/>
                    <a:lstStyle/>
                    <a:p>
                      <a:pPr algn="ctr"/>
                      <a:r>
                        <a:rPr lang="en-GB" dirty="0">
                          <a:solidFill>
                            <a:schemeClr val="tx1"/>
                          </a:solidFill>
                        </a:rPr>
                        <a:t>0</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60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4103104698"/>
                  </a:ext>
                </a:extLst>
              </a:tr>
              <a:tr h="308202">
                <a:tc>
                  <a:txBody>
                    <a:bodyPr/>
                    <a:lstStyle/>
                    <a:p>
                      <a:pPr algn="ctr"/>
                      <a:r>
                        <a:rPr lang="en-GB" dirty="0">
                          <a:solidFill>
                            <a:schemeClr val="tx1"/>
                          </a:solidFill>
                        </a:rPr>
                        <a:t>1</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60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0.967</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24462518"/>
                  </a:ext>
                </a:extLst>
              </a:tr>
              <a:tr h="308202">
                <a:tc>
                  <a:txBody>
                    <a:bodyPr/>
                    <a:lstStyle/>
                    <a:p>
                      <a:pPr algn="ctr"/>
                      <a:r>
                        <a:rPr lang="en-GB" dirty="0">
                          <a:solidFill>
                            <a:schemeClr val="tx1"/>
                          </a:solidFill>
                        </a:rPr>
                        <a:t>2</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56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0.932</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351013302"/>
                  </a:ext>
                </a:extLst>
              </a:tr>
              <a:tr h="308202">
                <a:tc>
                  <a:txBody>
                    <a:bodyPr/>
                    <a:lstStyle/>
                    <a:p>
                      <a:pPr algn="ctr"/>
                      <a:r>
                        <a:rPr lang="en-GB" dirty="0">
                          <a:solidFill>
                            <a:schemeClr val="tx1"/>
                          </a:solidFill>
                        </a:rPr>
                        <a:t>3</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54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0.898</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713958438"/>
                  </a:ext>
                </a:extLst>
              </a:tr>
              <a:tr h="308202">
                <a:tc>
                  <a:txBody>
                    <a:bodyPr/>
                    <a:lstStyle/>
                    <a:p>
                      <a:pPr algn="ctr"/>
                      <a:r>
                        <a:rPr lang="en-GB" dirty="0">
                          <a:solidFill>
                            <a:schemeClr val="tx1"/>
                          </a:solidFill>
                        </a:rPr>
                        <a:t>..</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tcPr>
                </a:tc>
                <a:extLst>
                  <a:ext uri="{0D108BD9-81ED-4DB2-BD59-A6C34878D82A}">
                    <a16:rowId xmlns:a16="http://schemas.microsoft.com/office/drawing/2014/main" val="3902117163"/>
                  </a:ext>
                </a:extLst>
              </a:tr>
            </a:tbl>
          </a:graphicData>
        </a:graphic>
      </p:graphicFrame>
      <p:sp>
        <p:nvSpPr>
          <p:cNvPr id="7" name="TextBox 6">
            <a:extLst>
              <a:ext uri="{FF2B5EF4-FFF2-40B4-BE49-F238E27FC236}">
                <a16:creationId xmlns:a16="http://schemas.microsoft.com/office/drawing/2014/main" id="{0076716E-A592-553B-17D8-1DB3C032CD22}"/>
              </a:ext>
            </a:extLst>
          </p:cNvPr>
          <p:cNvSpPr txBox="1"/>
          <p:nvPr/>
        </p:nvSpPr>
        <p:spPr>
          <a:xfrm>
            <a:off x="4644007" y="1531395"/>
            <a:ext cx="1872208" cy="369332"/>
          </a:xfrm>
          <a:prstGeom prst="rect">
            <a:avLst/>
          </a:prstGeom>
          <a:noFill/>
        </p:spPr>
        <p:txBody>
          <a:bodyPr wrap="square" rtlCol="0">
            <a:spAutoFit/>
          </a:bodyPr>
          <a:lstStyle/>
          <a:p>
            <a:pPr algn="ctr"/>
            <a:r>
              <a:rPr lang="en-GB" dirty="0">
                <a:solidFill>
                  <a:schemeClr val="accent3"/>
                </a:solidFill>
              </a:rPr>
              <a:t>Original dataset</a:t>
            </a:r>
          </a:p>
        </p:txBody>
      </p:sp>
      <p:sp>
        <p:nvSpPr>
          <p:cNvPr id="8" name="TextBox 7">
            <a:extLst>
              <a:ext uri="{FF2B5EF4-FFF2-40B4-BE49-F238E27FC236}">
                <a16:creationId xmlns:a16="http://schemas.microsoft.com/office/drawing/2014/main" id="{7FE8587E-2C06-F136-9B13-040DA21B160D}"/>
              </a:ext>
            </a:extLst>
          </p:cNvPr>
          <p:cNvSpPr txBox="1"/>
          <p:nvPr/>
        </p:nvSpPr>
        <p:spPr>
          <a:xfrm>
            <a:off x="4571999" y="3122949"/>
            <a:ext cx="2016224" cy="369332"/>
          </a:xfrm>
          <a:prstGeom prst="rect">
            <a:avLst/>
          </a:prstGeom>
          <a:noFill/>
        </p:spPr>
        <p:txBody>
          <a:bodyPr wrap="square" rtlCol="0">
            <a:spAutoFit/>
          </a:bodyPr>
          <a:lstStyle/>
          <a:p>
            <a:pPr algn="ctr"/>
            <a:r>
              <a:rPr lang="en-GB" dirty="0">
                <a:solidFill>
                  <a:schemeClr val="accent3"/>
                </a:solidFill>
              </a:rPr>
              <a:t>Survival object</a:t>
            </a:r>
          </a:p>
        </p:txBody>
      </p:sp>
      <p:sp>
        <p:nvSpPr>
          <p:cNvPr id="9" name="Arrow: Right 8">
            <a:extLst>
              <a:ext uri="{FF2B5EF4-FFF2-40B4-BE49-F238E27FC236}">
                <a16:creationId xmlns:a16="http://schemas.microsoft.com/office/drawing/2014/main" id="{5412CDC1-89DD-9C97-BDEC-FAF52BFC7B25}"/>
              </a:ext>
            </a:extLst>
          </p:cNvPr>
          <p:cNvSpPr/>
          <p:nvPr/>
        </p:nvSpPr>
        <p:spPr>
          <a:xfrm rot="5400000">
            <a:off x="5081888" y="2383891"/>
            <a:ext cx="996446" cy="296241"/>
          </a:xfrm>
          <a:prstGeom prst="rightArrow">
            <a:avLst/>
          </a:prstGeom>
          <a:solidFill>
            <a:schemeClr val="bg1"/>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2000" dirty="0">
              <a:solidFill>
                <a:schemeClr val="accent2"/>
              </a:solidFill>
            </a:endParaRPr>
          </a:p>
        </p:txBody>
      </p:sp>
    </p:spTree>
    <p:extLst>
      <p:ext uri="{BB962C8B-B14F-4D97-AF65-F5344CB8AC3E}">
        <p14:creationId xmlns:p14="http://schemas.microsoft.com/office/powerpoint/2010/main" val="2237076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F4EEC-69AC-A897-5867-D4C6BCA5F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8DB8CE-6CCD-AD4E-CDD4-75B18126A32C}"/>
              </a:ext>
            </a:extLst>
          </p:cNvPr>
          <p:cNvSpPr>
            <a:spLocks noGrp="1"/>
          </p:cNvSpPr>
          <p:nvPr>
            <p:ph type="title"/>
          </p:nvPr>
        </p:nvSpPr>
        <p:spPr/>
        <p:txBody>
          <a:bodyPr/>
          <a:lstStyle/>
          <a:p>
            <a:r>
              <a:rPr lang="en-GB" dirty="0"/>
              <a:t>Dragon egg dataset</a:t>
            </a:r>
          </a:p>
        </p:txBody>
      </p:sp>
      <p:sp>
        <p:nvSpPr>
          <p:cNvPr id="3" name="Slide Number Placeholder 2">
            <a:extLst>
              <a:ext uri="{FF2B5EF4-FFF2-40B4-BE49-F238E27FC236}">
                <a16:creationId xmlns:a16="http://schemas.microsoft.com/office/drawing/2014/main" id="{8EC533E3-4CF7-B9EA-1EC0-39FA59DC2D8D}"/>
              </a:ext>
            </a:extLst>
          </p:cNvPr>
          <p:cNvSpPr>
            <a:spLocks noGrp="1"/>
          </p:cNvSpPr>
          <p:nvPr>
            <p:ph type="sldNum" sz="quarter" idx="10"/>
          </p:nvPr>
        </p:nvSpPr>
        <p:spPr/>
        <p:txBody>
          <a:bodyPr/>
          <a:lstStyle/>
          <a:p>
            <a:pPr>
              <a:defRPr/>
            </a:pPr>
            <a:fld id="{062FE7C6-874C-4E62-8759-08C2AB2543BB}" type="slidenum">
              <a:rPr lang="en-GB" smtClean="0"/>
              <a:pPr>
                <a:defRPr/>
              </a:pPr>
              <a:t>35</a:t>
            </a:fld>
            <a:endParaRPr lang="en-GB"/>
          </a:p>
        </p:txBody>
      </p:sp>
      <p:graphicFrame>
        <p:nvGraphicFramePr>
          <p:cNvPr id="4" name="Table 3">
            <a:extLst>
              <a:ext uri="{FF2B5EF4-FFF2-40B4-BE49-F238E27FC236}">
                <a16:creationId xmlns:a16="http://schemas.microsoft.com/office/drawing/2014/main" id="{2423B7EC-23D0-14F7-D9D2-EC613954EBFE}"/>
              </a:ext>
            </a:extLst>
          </p:cNvPr>
          <p:cNvGraphicFramePr>
            <a:graphicFrameLocks noGrp="1"/>
          </p:cNvGraphicFramePr>
          <p:nvPr/>
        </p:nvGraphicFramePr>
        <p:xfrm>
          <a:off x="387994" y="1412776"/>
          <a:ext cx="3744414" cy="2080365"/>
        </p:xfrm>
        <a:graphic>
          <a:graphicData uri="http://schemas.openxmlformats.org/drawingml/2006/table">
            <a:tbl>
              <a:tblPr firstRow="1" bandRow="1">
                <a:tableStyleId>{5940675A-B579-460E-94D1-54222C63F5DA}</a:tableStyleId>
              </a:tblPr>
              <a:tblGrid>
                <a:gridCol w="864095">
                  <a:extLst>
                    <a:ext uri="{9D8B030D-6E8A-4147-A177-3AD203B41FA5}">
                      <a16:colId xmlns:a16="http://schemas.microsoft.com/office/drawing/2014/main" val="2389350183"/>
                    </a:ext>
                  </a:extLst>
                </a:gridCol>
                <a:gridCol w="1944216">
                  <a:extLst>
                    <a:ext uri="{9D8B030D-6E8A-4147-A177-3AD203B41FA5}">
                      <a16:colId xmlns:a16="http://schemas.microsoft.com/office/drawing/2014/main" val="1763596876"/>
                    </a:ext>
                  </a:extLst>
                </a:gridCol>
                <a:gridCol w="936103">
                  <a:extLst>
                    <a:ext uri="{9D8B030D-6E8A-4147-A177-3AD203B41FA5}">
                      <a16:colId xmlns:a16="http://schemas.microsoft.com/office/drawing/2014/main" val="3913547588"/>
                    </a:ext>
                  </a:extLst>
                </a:gridCol>
              </a:tblGrid>
              <a:tr h="344380">
                <a:tc>
                  <a:txBody>
                    <a:bodyPr/>
                    <a:lstStyle/>
                    <a:p>
                      <a:pPr algn="ctr"/>
                      <a:r>
                        <a:rPr lang="en-GB" b="1" dirty="0">
                          <a:solidFill>
                            <a:schemeClr val="tx1"/>
                          </a:solidFill>
                        </a:rPr>
                        <a:t>Egg</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44380">
                <a:tc>
                  <a:txBody>
                    <a:bodyPr/>
                    <a:lstStyle/>
                    <a:p>
                      <a:pPr algn="ctr">
                        <a:buNone/>
                      </a:pPr>
                      <a:r>
                        <a:rPr lang="en-GB" sz="1800" dirty="0">
                          <a:solidFill>
                            <a:schemeClr val="tx1"/>
                          </a:solidFill>
                          <a:effectLst/>
                        </a:rPr>
                        <a:t>1</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49</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27695">
                <a:tc>
                  <a:txBody>
                    <a:bodyPr/>
                    <a:lstStyle/>
                    <a:p>
                      <a:pPr algn="ctr">
                        <a:buNone/>
                      </a:pPr>
                      <a:r>
                        <a:rPr lang="en-GB" sz="1800" b="0" dirty="0">
                          <a:solidFill>
                            <a:schemeClr val="tx1"/>
                          </a:solidFill>
                          <a:effectLst/>
                        </a:rPr>
                        <a:t>2</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27695">
                <a:tc>
                  <a:txBody>
                    <a:bodyPr/>
                    <a:lstStyle/>
                    <a:p>
                      <a:pPr algn="ctr">
                        <a:buNone/>
                      </a:pPr>
                      <a:r>
                        <a:rPr lang="en-GB" sz="1800" b="0" dirty="0">
                          <a:solidFill>
                            <a:schemeClr val="tx1"/>
                          </a:solidFill>
                          <a:effectLst/>
                        </a:rPr>
                        <a:t>3</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30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27695">
                <a:tc>
                  <a:txBody>
                    <a:bodyPr/>
                    <a:lstStyle/>
                    <a:p>
                      <a:pPr algn="ctr">
                        <a:buNone/>
                      </a:pPr>
                      <a:r>
                        <a:rPr lang="en-GB" sz="1800" b="0" dirty="0">
                          <a:solidFill>
                            <a:schemeClr val="tx1"/>
                          </a:solidFill>
                          <a:effectLst/>
                        </a:rPr>
                        <a:t>4</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22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4438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graphicFrame>
        <p:nvGraphicFramePr>
          <p:cNvPr id="6" name="Table 5">
            <a:extLst>
              <a:ext uri="{FF2B5EF4-FFF2-40B4-BE49-F238E27FC236}">
                <a16:creationId xmlns:a16="http://schemas.microsoft.com/office/drawing/2014/main" id="{38D6E111-46FB-2941-CECE-5F8EDB29A022}"/>
              </a:ext>
            </a:extLst>
          </p:cNvPr>
          <p:cNvGraphicFramePr>
            <a:graphicFrameLocks noGrp="1"/>
          </p:cNvGraphicFramePr>
          <p:nvPr>
            <p:extLst>
              <p:ext uri="{D42A27DB-BD31-4B8C-83A1-F6EECF244321}">
                <p14:modId xmlns:p14="http://schemas.microsoft.com/office/powerpoint/2010/main" val="2646767754"/>
              </p:ext>
            </p:extLst>
          </p:nvPr>
        </p:nvGraphicFramePr>
        <p:xfrm>
          <a:off x="1958393" y="3564632"/>
          <a:ext cx="6765490" cy="2468880"/>
        </p:xfrm>
        <a:graphic>
          <a:graphicData uri="http://schemas.openxmlformats.org/drawingml/2006/table">
            <a:tbl>
              <a:tblPr firstRow="1" bandRow="1">
                <a:tableStyleId>{2D5ABB26-0587-4C30-8999-92F81FD0307C}</a:tableStyleId>
              </a:tblPr>
              <a:tblGrid>
                <a:gridCol w="1353098">
                  <a:extLst>
                    <a:ext uri="{9D8B030D-6E8A-4147-A177-3AD203B41FA5}">
                      <a16:colId xmlns:a16="http://schemas.microsoft.com/office/drawing/2014/main" val="2389350183"/>
                    </a:ext>
                  </a:extLst>
                </a:gridCol>
                <a:gridCol w="1353098">
                  <a:extLst>
                    <a:ext uri="{9D8B030D-6E8A-4147-A177-3AD203B41FA5}">
                      <a16:colId xmlns:a16="http://schemas.microsoft.com/office/drawing/2014/main" val="1763596876"/>
                    </a:ext>
                  </a:extLst>
                </a:gridCol>
                <a:gridCol w="1353098">
                  <a:extLst>
                    <a:ext uri="{9D8B030D-6E8A-4147-A177-3AD203B41FA5}">
                      <a16:colId xmlns:a16="http://schemas.microsoft.com/office/drawing/2014/main" val="3913547588"/>
                    </a:ext>
                  </a:extLst>
                </a:gridCol>
                <a:gridCol w="1353098">
                  <a:extLst>
                    <a:ext uri="{9D8B030D-6E8A-4147-A177-3AD203B41FA5}">
                      <a16:colId xmlns:a16="http://schemas.microsoft.com/office/drawing/2014/main" val="3830407972"/>
                    </a:ext>
                  </a:extLst>
                </a:gridCol>
                <a:gridCol w="1353098">
                  <a:extLst>
                    <a:ext uri="{9D8B030D-6E8A-4147-A177-3AD203B41FA5}">
                      <a16:colId xmlns:a16="http://schemas.microsoft.com/office/drawing/2014/main" val="1603587238"/>
                    </a:ext>
                  </a:extLst>
                </a:gridCol>
              </a:tblGrid>
              <a:tr h="539354">
                <a:tc>
                  <a:txBody>
                    <a:bodyPr/>
                    <a:lstStyle/>
                    <a:p>
                      <a:pPr algn="ctr"/>
                      <a:r>
                        <a:rPr lang="en-GB" b="1" dirty="0">
                          <a:solidFill>
                            <a:schemeClr val="tx1"/>
                          </a:solidFill>
                        </a:rPr>
                        <a:t>Elapsed time</a:t>
                      </a:r>
                    </a:p>
                  </a:txBody>
                  <a:tcPr>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tc>
                  <a:txBody>
                    <a:bodyPr/>
                    <a:lstStyle/>
                    <a:p>
                      <a:pPr algn="ctr"/>
                      <a:r>
                        <a:rPr lang="en-GB" b="1" dirty="0">
                          <a:solidFill>
                            <a:schemeClr val="tx1"/>
                          </a:solidFill>
                        </a:rPr>
                        <a:t>Number at risk</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Number of events</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Number of censored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Survival probability</a:t>
                      </a:r>
                    </a:p>
                  </a:txBody>
                  <a:tcPr>
                    <a:lnL w="12700" cap="flat" cmpd="sng" algn="ctr">
                      <a:solidFill>
                        <a:schemeClr val="bg1">
                          <a:lumMod val="95000"/>
                        </a:schemeClr>
                      </a:solidFill>
                      <a:prstDash val="solid"/>
                      <a:round/>
                      <a:headEnd type="none" w="med" len="med"/>
                      <a:tailEnd type="none" w="med" len="med"/>
                    </a:lnL>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2850906499"/>
                  </a:ext>
                </a:extLst>
              </a:tr>
              <a:tr h="308202">
                <a:tc>
                  <a:txBody>
                    <a:bodyPr/>
                    <a:lstStyle/>
                    <a:p>
                      <a:pPr algn="ctr"/>
                      <a:r>
                        <a:rPr lang="en-GB" dirty="0">
                          <a:solidFill>
                            <a:schemeClr val="tx1"/>
                          </a:solidFill>
                        </a:rPr>
                        <a:t>0</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tc>
                  <a:txBody>
                    <a:bodyPr/>
                    <a:lstStyle/>
                    <a:p>
                      <a:pPr algn="ctr"/>
                      <a:r>
                        <a:rPr lang="en-GB" dirty="0">
                          <a:solidFill>
                            <a:schemeClr val="tx1"/>
                          </a:solidFill>
                        </a:rPr>
                        <a:t>60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4103104698"/>
                  </a:ext>
                </a:extLst>
              </a:tr>
              <a:tr h="308202">
                <a:tc>
                  <a:txBody>
                    <a:bodyPr/>
                    <a:lstStyle/>
                    <a:p>
                      <a:pPr algn="ctr"/>
                      <a:r>
                        <a:rPr lang="en-GB" dirty="0">
                          <a:solidFill>
                            <a:schemeClr val="tx1"/>
                          </a:solidFill>
                        </a:rPr>
                        <a:t>1</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tc>
                  <a:txBody>
                    <a:bodyPr/>
                    <a:lstStyle/>
                    <a:p>
                      <a:pPr algn="ctr"/>
                      <a:r>
                        <a:rPr lang="en-GB" dirty="0">
                          <a:solidFill>
                            <a:schemeClr val="tx1"/>
                          </a:solidFill>
                        </a:rPr>
                        <a:t>60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0.967</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24462518"/>
                  </a:ext>
                </a:extLst>
              </a:tr>
              <a:tr h="308202">
                <a:tc>
                  <a:txBody>
                    <a:bodyPr/>
                    <a:lstStyle/>
                    <a:p>
                      <a:pPr algn="ctr"/>
                      <a:r>
                        <a:rPr lang="en-GB" dirty="0">
                          <a:solidFill>
                            <a:schemeClr val="tx1"/>
                          </a:solidFill>
                        </a:rPr>
                        <a:t>2</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tc>
                  <a:txBody>
                    <a:bodyPr/>
                    <a:lstStyle/>
                    <a:p>
                      <a:pPr algn="ctr"/>
                      <a:r>
                        <a:rPr lang="en-GB" dirty="0">
                          <a:solidFill>
                            <a:schemeClr val="tx1"/>
                          </a:solidFill>
                        </a:rPr>
                        <a:t>56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0.932</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351013302"/>
                  </a:ext>
                </a:extLst>
              </a:tr>
              <a:tr h="308202">
                <a:tc>
                  <a:txBody>
                    <a:bodyPr/>
                    <a:lstStyle/>
                    <a:p>
                      <a:pPr algn="ctr"/>
                      <a:r>
                        <a:rPr lang="en-GB" dirty="0">
                          <a:solidFill>
                            <a:schemeClr val="tx1"/>
                          </a:solidFill>
                        </a:rPr>
                        <a:t>3</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tc>
                  <a:txBody>
                    <a:bodyPr/>
                    <a:lstStyle/>
                    <a:p>
                      <a:pPr algn="ctr"/>
                      <a:r>
                        <a:rPr lang="en-GB" dirty="0">
                          <a:solidFill>
                            <a:schemeClr val="tx1"/>
                          </a:solidFill>
                        </a:rPr>
                        <a:t>54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0.898</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713958438"/>
                  </a:ext>
                </a:extLst>
              </a:tr>
              <a:tr h="308202">
                <a:tc>
                  <a:txBody>
                    <a:bodyPr/>
                    <a:lstStyle/>
                    <a:p>
                      <a:pPr algn="ctr"/>
                      <a:r>
                        <a:rPr lang="en-GB" dirty="0">
                          <a:solidFill>
                            <a:schemeClr val="tx1"/>
                          </a:solidFill>
                        </a:rPr>
                        <a:t>..</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solidFill>
                      <a:schemeClr val="accent1">
                        <a:lumMod val="40000"/>
                        <a:lumOff val="60000"/>
                      </a:schemeClr>
                    </a:solidFill>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solidFill>
                      <a:schemeClr val="accent1">
                        <a:lumMod val="40000"/>
                        <a:lumOff val="60000"/>
                      </a:schemeClr>
                    </a:solidFill>
                  </a:tcPr>
                </a:tc>
                <a:extLst>
                  <a:ext uri="{0D108BD9-81ED-4DB2-BD59-A6C34878D82A}">
                    <a16:rowId xmlns:a16="http://schemas.microsoft.com/office/drawing/2014/main" val="3902117163"/>
                  </a:ext>
                </a:extLst>
              </a:tr>
            </a:tbl>
          </a:graphicData>
        </a:graphic>
      </p:graphicFrame>
      <p:sp>
        <p:nvSpPr>
          <p:cNvPr id="7" name="TextBox 6">
            <a:extLst>
              <a:ext uri="{FF2B5EF4-FFF2-40B4-BE49-F238E27FC236}">
                <a16:creationId xmlns:a16="http://schemas.microsoft.com/office/drawing/2014/main" id="{525FD8EA-B9F6-4E9C-5539-E6F2089A0895}"/>
              </a:ext>
            </a:extLst>
          </p:cNvPr>
          <p:cNvSpPr txBox="1"/>
          <p:nvPr/>
        </p:nvSpPr>
        <p:spPr>
          <a:xfrm>
            <a:off x="4644007" y="1531395"/>
            <a:ext cx="1872208" cy="369332"/>
          </a:xfrm>
          <a:prstGeom prst="rect">
            <a:avLst/>
          </a:prstGeom>
          <a:noFill/>
        </p:spPr>
        <p:txBody>
          <a:bodyPr wrap="square" rtlCol="0">
            <a:spAutoFit/>
          </a:bodyPr>
          <a:lstStyle/>
          <a:p>
            <a:pPr algn="ctr"/>
            <a:r>
              <a:rPr lang="en-GB" dirty="0">
                <a:solidFill>
                  <a:schemeClr val="accent3"/>
                </a:solidFill>
              </a:rPr>
              <a:t>Original dataset</a:t>
            </a:r>
          </a:p>
        </p:txBody>
      </p:sp>
      <p:sp>
        <p:nvSpPr>
          <p:cNvPr id="8" name="TextBox 7">
            <a:extLst>
              <a:ext uri="{FF2B5EF4-FFF2-40B4-BE49-F238E27FC236}">
                <a16:creationId xmlns:a16="http://schemas.microsoft.com/office/drawing/2014/main" id="{3AB66028-65CE-C66E-C67E-32B7D8AA3A43}"/>
              </a:ext>
            </a:extLst>
          </p:cNvPr>
          <p:cNvSpPr txBox="1"/>
          <p:nvPr/>
        </p:nvSpPr>
        <p:spPr>
          <a:xfrm>
            <a:off x="4571999" y="3122949"/>
            <a:ext cx="2016224" cy="369332"/>
          </a:xfrm>
          <a:prstGeom prst="rect">
            <a:avLst/>
          </a:prstGeom>
          <a:noFill/>
        </p:spPr>
        <p:txBody>
          <a:bodyPr wrap="square" rtlCol="0">
            <a:spAutoFit/>
          </a:bodyPr>
          <a:lstStyle/>
          <a:p>
            <a:pPr algn="ctr"/>
            <a:r>
              <a:rPr lang="en-GB" dirty="0">
                <a:solidFill>
                  <a:schemeClr val="accent3"/>
                </a:solidFill>
              </a:rPr>
              <a:t>Survival object</a:t>
            </a:r>
          </a:p>
        </p:txBody>
      </p:sp>
      <p:sp>
        <p:nvSpPr>
          <p:cNvPr id="9" name="Arrow: Right 8">
            <a:extLst>
              <a:ext uri="{FF2B5EF4-FFF2-40B4-BE49-F238E27FC236}">
                <a16:creationId xmlns:a16="http://schemas.microsoft.com/office/drawing/2014/main" id="{DF927D74-D82C-9F1E-AC3F-785CFD2A3042}"/>
              </a:ext>
            </a:extLst>
          </p:cNvPr>
          <p:cNvSpPr/>
          <p:nvPr/>
        </p:nvSpPr>
        <p:spPr>
          <a:xfrm rot="5400000">
            <a:off x="5081888" y="2383891"/>
            <a:ext cx="996446" cy="296241"/>
          </a:xfrm>
          <a:prstGeom prst="rightArrow">
            <a:avLst/>
          </a:prstGeom>
          <a:solidFill>
            <a:schemeClr val="bg1"/>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2000" dirty="0">
              <a:solidFill>
                <a:schemeClr val="accent2"/>
              </a:solidFill>
            </a:endParaRPr>
          </a:p>
        </p:txBody>
      </p:sp>
    </p:spTree>
    <p:extLst>
      <p:ext uri="{BB962C8B-B14F-4D97-AF65-F5344CB8AC3E}">
        <p14:creationId xmlns:p14="http://schemas.microsoft.com/office/powerpoint/2010/main" val="20344782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ABDF2-454E-240B-1860-1A956A15720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A42A9E6-23BF-9B0B-B9C1-D34F355B249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3244" y="1556792"/>
            <a:ext cx="7397511" cy="4572009"/>
          </a:xfrm>
          <a:prstGeom prst="rect">
            <a:avLst/>
          </a:prstGeom>
        </p:spPr>
      </p:pic>
      <p:sp>
        <p:nvSpPr>
          <p:cNvPr id="5" name="Title 4">
            <a:extLst>
              <a:ext uri="{FF2B5EF4-FFF2-40B4-BE49-F238E27FC236}">
                <a16:creationId xmlns:a16="http://schemas.microsoft.com/office/drawing/2014/main" id="{FC6AB7C3-419F-414B-3EF1-2D927CD106BE}"/>
              </a:ext>
            </a:extLst>
          </p:cNvPr>
          <p:cNvSpPr>
            <a:spLocks noGrp="1"/>
          </p:cNvSpPr>
          <p:nvPr>
            <p:ph type="title"/>
          </p:nvPr>
        </p:nvSpPr>
        <p:spPr/>
        <p:txBody>
          <a:bodyPr/>
          <a:lstStyle/>
          <a:p>
            <a:r>
              <a:rPr lang="en-GB" dirty="0"/>
              <a:t>Dragon egg dataset</a:t>
            </a:r>
          </a:p>
        </p:txBody>
      </p:sp>
      <p:sp>
        <p:nvSpPr>
          <p:cNvPr id="4" name="Slide Number Placeholder 3">
            <a:extLst>
              <a:ext uri="{FF2B5EF4-FFF2-40B4-BE49-F238E27FC236}">
                <a16:creationId xmlns:a16="http://schemas.microsoft.com/office/drawing/2014/main" id="{945374FA-062E-B846-94EE-3576201B2C4F}"/>
              </a:ext>
            </a:extLst>
          </p:cNvPr>
          <p:cNvSpPr>
            <a:spLocks noGrp="1"/>
          </p:cNvSpPr>
          <p:nvPr>
            <p:ph type="sldNum" sz="quarter" idx="10"/>
          </p:nvPr>
        </p:nvSpPr>
        <p:spPr/>
        <p:txBody>
          <a:bodyPr/>
          <a:lstStyle/>
          <a:p>
            <a:pPr>
              <a:defRPr/>
            </a:pPr>
            <a:fld id="{CD3FC0C4-D681-4CE5-B41E-BCE48B80373A}" type="slidenum">
              <a:rPr lang="en-GB" smtClean="0"/>
              <a:pPr>
                <a:defRPr/>
              </a:pPr>
              <a:t>36</a:t>
            </a:fld>
            <a:endParaRPr lang="en-GB"/>
          </a:p>
        </p:txBody>
      </p:sp>
      <p:sp>
        <p:nvSpPr>
          <p:cNvPr id="6" name="Arrow: Right 5">
            <a:extLst>
              <a:ext uri="{FF2B5EF4-FFF2-40B4-BE49-F238E27FC236}">
                <a16:creationId xmlns:a16="http://schemas.microsoft.com/office/drawing/2014/main" id="{5A3D4923-4EB9-B5F3-4554-8A946B594361}"/>
              </a:ext>
            </a:extLst>
          </p:cNvPr>
          <p:cNvSpPr/>
          <p:nvPr/>
        </p:nvSpPr>
        <p:spPr>
          <a:xfrm>
            <a:off x="3960127" y="5805264"/>
            <a:ext cx="576064" cy="288032"/>
          </a:xfrm>
          <a:prstGeom prst="rightArrow">
            <a:avLst/>
          </a:prstGeom>
          <a:solidFill>
            <a:schemeClr val="tx1">
              <a:lumMod val="60000"/>
              <a:lumOff val="40000"/>
            </a:schemeClr>
          </a:solidFill>
          <a:ln>
            <a:solidFill>
              <a:schemeClr val="tx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Arrow: Right 7">
            <a:extLst>
              <a:ext uri="{FF2B5EF4-FFF2-40B4-BE49-F238E27FC236}">
                <a16:creationId xmlns:a16="http://schemas.microsoft.com/office/drawing/2014/main" id="{CDF8C523-DC56-DD71-429A-768EFF13BD19}"/>
              </a:ext>
            </a:extLst>
          </p:cNvPr>
          <p:cNvSpPr/>
          <p:nvPr/>
        </p:nvSpPr>
        <p:spPr>
          <a:xfrm>
            <a:off x="251520" y="4221088"/>
            <a:ext cx="576064" cy="288032"/>
          </a:xfrm>
          <a:prstGeom prst="rightArrow">
            <a:avLst/>
          </a:prstGeom>
          <a:solidFill>
            <a:schemeClr val="tx1">
              <a:lumMod val="60000"/>
              <a:lumOff val="40000"/>
            </a:schemeClr>
          </a:solidFill>
          <a:ln>
            <a:solidFill>
              <a:schemeClr val="tx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669726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B3D2F76-E8D8-3D41-A169-3AF6D2A6618E}"/>
              </a:ext>
            </a:extLst>
          </p:cNvPr>
          <p:cNvSpPr>
            <a:spLocks noGrp="1"/>
          </p:cNvSpPr>
          <p:nvPr>
            <p:ph type="body" sz="quarter" idx="11"/>
          </p:nvPr>
        </p:nvSpPr>
        <p:spPr/>
        <p:txBody>
          <a:bodyPr/>
          <a:lstStyle/>
          <a:p>
            <a:r>
              <a:rPr lang="en-GB" dirty="0"/>
              <a:t>In the population, a true survival curve exists</a:t>
            </a:r>
          </a:p>
          <a:p>
            <a:r>
              <a:rPr lang="en-GB" dirty="0"/>
              <a:t>We want to </a:t>
            </a:r>
            <a:r>
              <a:rPr lang="en-GB" b="1" dirty="0"/>
              <a:t>estimate</a:t>
            </a:r>
            <a:r>
              <a:rPr lang="en-GB" dirty="0"/>
              <a:t> that survival curve using our data</a:t>
            </a:r>
          </a:p>
          <a:p>
            <a:endParaRPr lang="en-GB" dirty="0"/>
          </a:p>
          <a:p>
            <a:r>
              <a:rPr lang="en-GB" dirty="0"/>
              <a:t>The curve shows </a:t>
            </a:r>
            <a:r>
              <a:rPr lang="en-GB" b="1" dirty="0">
                <a:solidFill>
                  <a:schemeClr val="accent1"/>
                </a:solidFill>
              </a:rPr>
              <a:t>time against probability </a:t>
            </a:r>
            <a:br>
              <a:rPr lang="en-GB" dirty="0"/>
            </a:br>
            <a:r>
              <a:rPr lang="en-GB" dirty="0"/>
              <a:t>(of not experiencing the event)</a:t>
            </a:r>
          </a:p>
          <a:p>
            <a:r>
              <a:rPr lang="en-GB" dirty="0"/>
              <a:t>We can use the Kaplan-Meier estimator to calculate those probabilities</a:t>
            </a:r>
          </a:p>
          <a:p>
            <a:endParaRPr lang="en-GB" dirty="0"/>
          </a:p>
          <a:p>
            <a:r>
              <a:rPr lang="en-GB" dirty="0"/>
              <a:t>When presenting survival curves, we can provide additional info via </a:t>
            </a:r>
            <a:r>
              <a:rPr lang="en-GB" b="1" dirty="0"/>
              <a:t>risk and/or cumulative events tables</a:t>
            </a:r>
          </a:p>
          <a:p>
            <a:pPr marL="0" indent="0">
              <a:buNone/>
            </a:pPr>
            <a:endParaRPr lang="en-GB" dirty="0"/>
          </a:p>
        </p:txBody>
      </p:sp>
      <p:sp>
        <p:nvSpPr>
          <p:cNvPr id="2" name="Title 1">
            <a:extLst>
              <a:ext uri="{FF2B5EF4-FFF2-40B4-BE49-F238E27FC236}">
                <a16:creationId xmlns:a16="http://schemas.microsoft.com/office/drawing/2014/main" id="{45BDAB9B-0835-8A88-9188-8D127F7256B2}"/>
              </a:ext>
            </a:extLst>
          </p:cNvPr>
          <p:cNvSpPr>
            <a:spLocks noGrp="1"/>
          </p:cNvSpPr>
          <p:nvPr>
            <p:ph type="title"/>
          </p:nvPr>
        </p:nvSpPr>
        <p:spPr/>
        <p:txBody>
          <a:bodyPr/>
          <a:lstStyle/>
          <a:p>
            <a:r>
              <a:rPr lang="en-GB" dirty="0"/>
              <a:t>Summary: Survival curves</a:t>
            </a:r>
          </a:p>
        </p:txBody>
      </p:sp>
      <p:sp>
        <p:nvSpPr>
          <p:cNvPr id="3" name="Slide Number Placeholder 2">
            <a:extLst>
              <a:ext uri="{FF2B5EF4-FFF2-40B4-BE49-F238E27FC236}">
                <a16:creationId xmlns:a16="http://schemas.microsoft.com/office/drawing/2014/main" id="{B40DE11A-8A2B-D093-7AEE-EB67FBD60643}"/>
              </a:ext>
            </a:extLst>
          </p:cNvPr>
          <p:cNvSpPr>
            <a:spLocks noGrp="1"/>
          </p:cNvSpPr>
          <p:nvPr>
            <p:ph type="sldNum" sz="quarter" idx="10"/>
          </p:nvPr>
        </p:nvSpPr>
        <p:spPr/>
        <p:txBody>
          <a:bodyPr/>
          <a:lstStyle/>
          <a:p>
            <a:pPr>
              <a:defRPr/>
            </a:pPr>
            <a:fld id="{062FE7C6-874C-4E62-8759-08C2AB2543BB}" type="slidenum">
              <a:rPr lang="en-GB" smtClean="0"/>
              <a:pPr>
                <a:defRPr/>
              </a:pPr>
              <a:t>37</a:t>
            </a:fld>
            <a:endParaRPr lang="en-GB"/>
          </a:p>
        </p:txBody>
      </p:sp>
    </p:spTree>
    <p:extLst>
      <p:ext uri="{BB962C8B-B14F-4D97-AF65-F5344CB8AC3E}">
        <p14:creationId xmlns:p14="http://schemas.microsoft.com/office/powerpoint/2010/main" val="1145795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037D105-E86C-8C0F-1075-CCDE5C53F044}"/>
              </a:ext>
            </a:extLst>
          </p:cNvPr>
          <p:cNvSpPr>
            <a:spLocks noGrp="1"/>
          </p:cNvSpPr>
          <p:nvPr>
            <p:ph type="body" sz="quarter" idx="12"/>
          </p:nvPr>
        </p:nvSpPr>
        <p:spPr/>
        <p:txBody>
          <a:bodyPr/>
          <a:lstStyle/>
          <a:p>
            <a:r>
              <a:rPr lang="en-GB" noProof="0" dirty="0"/>
              <a:t>The log-rank test for a single categorical predictor</a:t>
            </a:r>
          </a:p>
        </p:txBody>
      </p:sp>
      <p:sp>
        <p:nvSpPr>
          <p:cNvPr id="5" name="Text Placeholder 4">
            <a:extLst>
              <a:ext uri="{FF2B5EF4-FFF2-40B4-BE49-F238E27FC236}">
                <a16:creationId xmlns:a16="http://schemas.microsoft.com/office/drawing/2014/main" id="{805CC983-E981-4A2A-4AD7-7EDB9A85389E}"/>
              </a:ext>
            </a:extLst>
          </p:cNvPr>
          <p:cNvSpPr>
            <a:spLocks noGrp="1"/>
          </p:cNvSpPr>
          <p:nvPr>
            <p:ph type="body" sz="quarter" idx="11"/>
          </p:nvPr>
        </p:nvSpPr>
        <p:spPr/>
        <p:txBody>
          <a:bodyPr/>
          <a:lstStyle/>
          <a:p>
            <a:r>
              <a:rPr lang="en-GB" noProof="0" dirty="0"/>
              <a:t>3. Comparing </a:t>
            </a:r>
            <a:r>
              <a:rPr lang="en-GB" dirty="0"/>
              <a:t>curves</a:t>
            </a:r>
            <a:endParaRPr lang="en-GB" noProof="0" dirty="0"/>
          </a:p>
        </p:txBody>
      </p:sp>
      <p:sp>
        <p:nvSpPr>
          <p:cNvPr id="4" name="Slide Number Placeholder 3">
            <a:extLst>
              <a:ext uri="{FF2B5EF4-FFF2-40B4-BE49-F238E27FC236}">
                <a16:creationId xmlns:a16="http://schemas.microsoft.com/office/drawing/2014/main" id="{C617D5B8-738E-0D71-E3FF-7689C1E80009}"/>
              </a:ext>
            </a:extLst>
          </p:cNvPr>
          <p:cNvSpPr>
            <a:spLocks noGrp="1"/>
          </p:cNvSpPr>
          <p:nvPr>
            <p:ph type="sldNum" sz="quarter" idx="10"/>
          </p:nvPr>
        </p:nvSpPr>
        <p:spPr/>
        <p:txBody>
          <a:bodyPr/>
          <a:lstStyle/>
          <a:p>
            <a:pPr>
              <a:defRPr/>
            </a:pPr>
            <a:fld id="{CD3FC0C4-D681-4CE5-B41E-BCE48B80373A}" type="slidenum">
              <a:rPr lang="en-GB" noProof="0" smtClean="0"/>
              <a:pPr>
                <a:defRPr/>
              </a:pPr>
              <a:t>38</a:t>
            </a:fld>
            <a:endParaRPr lang="en-GB" noProof="0" dirty="0"/>
          </a:p>
        </p:txBody>
      </p:sp>
    </p:spTree>
    <p:extLst>
      <p:ext uri="{BB962C8B-B14F-4D97-AF65-F5344CB8AC3E}">
        <p14:creationId xmlns:p14="http://schemas.microsoft.com/office/powerpoint/2010/main" val="144732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B25C15A-6669-B5D2-741A-BC8E342C23B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873244" y="1556637"/>
            <a:ext cx="7397510" cy="4572009"/>
          </a:xfrm>
          <a:prstGeom prst="rect">
            <a:avLst/>
          </a:prstGeom>
        </p:spPr>
      </p:pic>
      <p:sp>
        <p:nvSpPr>
          <p:cNvPr id="7" name="Title 6">
            <a:extLst>
              <a:ext uri="{FF2B5EF4-FFF2-40B4-BE49-F238E27FC236}">
                <a16:creationId xmlns:a16="http://schemas.microsoft.com/office/drawing/2014/main" id="{A3058581-847F-5CDC-270F-8C6D8A84CA66}"/>
              </a:ext>
            </a:extLst>
          </p:cNvPr>
          <p:cNvSpPr>
            <a:spLocks noGrp="1"/>
          </p:cNvSpPr>
          <p:nvPr>
            <p:ph type="title"/>
          </p:nvPr>
        </p:nvSpPr>
        <p:spPr/>
        <p:txBody>
          <a:bodyPr/>
          <a:lstStyle/>
          <a:p>
            <a:r>
              <a:rPr lang="en-GB" dirty="0"/>
              <a:t>Two dragon populations</a:t>
            </a:r>
          </a:p>
        </p:txBody>
      </p:sp>
      <p:sp>
        <p:nvSpPr>
          <p:cNvPr id="4" name="Slide Number Placeholder 3">
            <a:extLst>
              <a:ext uri="{FF2B5EF4-FFF2-40B4-BE49-F238E27FC236}">
                <a16:creationId xmlns:a16="http://schemas.microsoft.com/office/drawing/2014/main" id="{498F43E8-4E65-719B-CA92-E5F1E63A4A26}"/>
              </a:ext>
            </a:extLst>
          </p:cNvPr>
          <p:cNvSpPr>
            <a:spLocks noGrp="1"/>
          </p:cNvSpPr>
          <p:nvPr>
            <p:ph type="sldNum" sz="quarter" idx="10"/>
          </p:nvPr>
        </p:nvSpPr>
        <p:spPr/>
        <p:txBody>
          <a:bodyPr/>
          <a:lstStyle/>
          <a:p>
            <a:pPr>
              <a:defRPr/>
            </a:pPr>
            <a:fld id="{E5717E7F-5007-4559-A9EA-6621C16865F0}" type="slidenum">
              <a:rPr lang="en-GB" smtClean="0"/>
              <a:pPr>
                <a:defRPr/>
              </a:pPr>
              <a:t>39</a:t>
            </a:fld>
            <a:endParaRPr lang="en-GB"/>
          </a:p>
        </p:txBody>
      </p:sp>
    </p:spTree>
    <p:extLst>
      <p:ext uri="{BB962C8B-B14F-4D97-AF65-F5344CB8AC3E}">
        <p14:creationId xmlns:p14="http://schemas.microsoft.com/office/powerpoint/2010/main" val="283597624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123D6-B845-3934-48E7-F17B1D10901F}"/>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07F1A58E-70E2-04BD-7904-8346113EC16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873244" y="1556637"/>
            <a:ext cx="7397510" cy="4572008"/>
          </a:xfrm>
          <a:prstGeom prst="rect">
            <a:avLst/>
          </a:prstGeom>
        </p:spPr>
      </p:pic>
      <p:sp>
        <p:nvSpPr>
          <p:cNvPr id="7" name="Title 6">
            <a:extLst>
              <a:ext uri="{FF2B5EF4-FFF2-40B4-BE49-F238E27FC236}">
                <a16:creationId xmlns:a16="http://schemas.microsoft.com/office/drawing/2014/main" id="{015A4A12-DAFF-F117-88CE-01E92069227F}"/>
              </a:ext>
            </a:extLst>
          </p:cNvPr>
          <p:cNvSpPr>
            <a:spLocks noGrp="1"/>
          </p:cNvSpPr>
          <p:nvPr>
            <p:ph type="title"/>
          </p:nvPr>
        </p:nvSpPr>
        <p:spPr/>
        <p:txBody>
          <a:bodyPr/>
          <a:lstStyle/>
          <a:p>
            <a:r>
              <a:rPr lang="en-GB" dirty="0"/>
              <a:t>Two dragon populations</a:t>
            </a:r>
          </a:p>
        </p:txBody>
      </p:sp>
      <p:sp>
        <p:nvSpPr>
          <p:cNvPr id="4" name="Slide Number Placeholder 3">
            <a:extLst>
              <a:ext uri="{FF2B5EF4-FFF2-40B4-BE49-F238E27FC236}">
                <a16:creationId xmlns:a16="http://schemas.microsoft.com/office/drawing/2014/main" id="{3584CEC7-DC7C-8D31-6671-5A1815D2766F}"/>
              </a:ext>
            </a:extLst>
          </p:cNvPr>
          <p:cNvSpPr>
            <a:spLocks noGrp="1"/>
          </p:cNvSpPr>
          <p:nvPr>
            <p:ph type="sldNum" sz="quarter" idx="10"/>
          </p:nvPr>
        </p:nvSpPr>
        <p:spPr/>
        <p:txBody>
          <a:bodyPr/>
          <a:lstStyle/>
          <a:p>
            <a:pPr>
              <a:defRPr/>
            </a:pPr>
            <a:fld id="{E5717E7F-5007-4559-A9EA-6621C16865F0}" type="slidenum">
              <a:rPr lang="en-GB" smtClean="0"/>
              <a:pPr>
                <a:defRPr/>
              </a:pPr>
              <a:t>40</a:t>
            </a:fld>
            <a:endParaRPr lang="en-GB"/>
          </a:p>
        </p:txBody>
      </p:sp>
      <p:sp>
        <p:nvSpPr>
          <p:cNvPr id="2" name="Text Placeholder 5">
            <a:extLst>
              <a:ext uri="{FF2B5EF4-FFF2-40B4-BE49-F238E27FC236}">
                <a16:creationId xmlns:a16="http://schemas.microsoft.com/office/drawing/2014/main" id="{32C7BD90-CA9E-5ED0-F925-C712E810E5D9}"/>
              </a:ext>
            </a:extLst>
          </p:cNvPr>
          <p:cNvSpPr txBox="1">
            <a:spLocks/>
          </p:cNvSpPr>
          <p:nvPr/>
        </p:nvSpPr>
        <p:spPr>
          <a:xfrm>
            <a:off x="5508104" y="1772918"/>
            <a:ext cx="3120247" cy="4002407"/>
          </a:xfrm>
          <a:prstGeom prst="rect">
            <a:avLst/>
          </a:prstGeom>
        </p:spPr>
        <p:txBody>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lgn="ctr">
              <a:buFontTx/>
              <a:buNone/>
            </a:pPr>
            <a:r>
              <a:rPr lang="en-US" b="1" kern="0" dirty="0"/>
              <a:t>Log-rank test:</a:t>
            </a:r>
          </a:p>
          <a:p>
            <a:pPr marL="0" indent="0" algn="ctr">
              <a:buFontTx/>
              <a:buNone/>
            </a:pPr>
            <a:r>
              <a:rPr lang="en-US" kern="0" dirty="0"/>
              <a:t>Used to compare two or more survival curves</a:t>
            </a:r>
          </a:p>
        </p:txBody>
      </p:sp>
      <p:cxnSp>
        <p:nvCxnSpPr>
          <p:cNvPr id="6" name="Straight Arrow Connector 5">
            <a:extLst>
              <a:ext uri="{FF2B5EF4-FFF2-40B4-BE49-F238E27FC236}">
                <a16:creationId xmlns:a16="http://schemas.microsoft.com/office/drawing/2014/main" id="{F4F7AEA2-B5AD-AFB5-332E-559371C46175}"/>
              </a:ext>
            </a:extLst>
          </p:cNvPr>
          <p:cNvCxnSpPr>
            <a:cxnSpLocks/>
          </p:cNvCxnSpPr>
          <p:nvPr/>
        </p:nvCxnSpPr>
        <p:spPr>
          <a:xfrm flipH="1">
            <a:off x="2339752" y="2492896"/>
            <a:ext cx="3168352" cy="216024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28441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7BFA6-53CB-B791-71D0-FFB11E537EB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0D7248C-5554-16EA-5909-8A49C64C9D3C}"/>
              </a:ext>
            </a:extLst>
          </p:cNvPr>
          <p:cNvSpPr>
            <a:spLocks noGrp="1"/>
          </p:cNvSpPr>
          <p:nvPr>
            <p:ph type="body" sz="quarter" idx="11"/>
          </p:nvPr>
        </p:nvSpPr>
        <p:spPr/>
        <p:txBody>
          <a:bodyPr/>
          <a:lstStyle/>
          <a:p>
            <a:pPr marL="0" indent="0">
              <a:buNone/>
            </a:pPr>
            <a:r>
              <a:rPr lang="en-GB" dirty="0"/>
              <a:t>H</a:t>
            </a:r>
            <a:r>
              <a:rPr lang="en-GB" baseline="-25000" dirty="0"/>
              <a:t>0</a:t>
            </a:r>
            <a:r>
              <a:rPr lang="en-GB" dirty="0"/>
              <a:t>: groups have an identical survival curve (in the population)</a:t>
            </a:r>
          </a:p>
        </p:txBody>
      </p:sp>
      <p:sp>
        <p:nvSpPr>
          <p:cNvPr id="3" name="Title 2">
            <a:extLst>
              <a:ext uri="{FF2B5EF4-FFF2-40B4-BE49-F238E27FC236}">
                <a16:creationId xmlns:a16="http://schemas.microsoft.com/office/drawing/2014/main" id="{3FF9CB28-4AE1-15C5-52E1-13A20044BAFE}"/>
              </a:ext>
            </a:extLst>
          </p:cNvPr>
          <p:cNvSpPr>
            <a:spLocks noGrp="1"/>
          </p:cNvSpPr>
          <p:nvPr>
            <p:ph type="title"/>
          </p:nvPr>
        </p:nvSpPr>
        <p:spPr/>
        <p:txBody>
          <a:bodyPr/>
          <a:lstStyle/>
          <a:p>
            <a:r>
              <a:rPr lang="en-GB" dirty="0"/>
              <a:t>Log-rank test</a:t>
            </a:r>
          </a:p>
        </p:txBody>
      </p:sp>
      <p:sp>
        <p:nvSpPr>
          <p:cNvPr id="4" name="Slide Number Placeholder 3">
            <a:extLst>
              <a:ext uri="{FF2B5EF4-FFF2-40B4-BE49-F238E27FC236}">
                <a16:creationId xmlns:a16="http://schemas.microsoft.com/office/drawing/2014/main" id="{0B7775F8-E93D-9A16-83A9-A9BB28C4C6DA}"/>
              </a:ext>
            </a:extLst>
          </p:cNvPr>
          <p:cNvSpPr>
            <a:spLocks noGrp="1"/>
          </p:cNvSpPr>
          <p:nvPr>
            <p:ph type="sldNum" sz="quarter" idx="10"/>
          </p:nvPr>
        </p:nvSpPr>
        <p:spPr/>
        <p:txBody>
          <a:bodyPr/>
          <a:lstStyle/>
          <a:p>
            <a:pPr>
              <a:defRPr/>
            </a:pPr>
            <a:fld id="{CD3FC0C4-D681-4CE5-B41E-BCE48B80373A}" type="slidenum">
              <a:rPr lang="en-GB" smtClean="0"/>
              <a:pPr>
                <a:defRPr/>
              </a:pPr>
              <a:t>41</a:t>
            </a:fld>
            <a:endParaRPr lang="en-GB"/>
          </a:p>
        </p:txBody>
      </p:sp>
      <p:pic>
        <p:nvPicPr>
          <p:cNvPr id="11" name="Picture 10">
            <a:extLst>
              <a:ext uri="{FF2B5EF4-FFF2-40B4-BE49-F238E27FC236}">
                <a16:creationId xmlns:a16="http://schemas.microsoft.com/office/drawing/2014/main" id="{91A00F20-1439-2733-0712-8CB79BC9C2B6}"/>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189892967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1704133-C640-4D33-AE61-4C2177AC2426}"/>
              </a:ext>
            </a:extLst>
          </p:cNvPr>
          <p:cNvSpPr>
            <a:spLocks noGrp="1"/>
          </p:cNvSpPr>
          <p:nvPr>
            <p:ph type="body" sz="quarter" idx="11"/>
          </p:nvPr>
        </p:nvSpPr>
        <p:spPr/>
        <p:txBody>
          <a:bodyPr/>
          <a:lstStyle/>
          <a:p>
            <a:pPr marL="0" indent="0">
              <a:buNone/>
            </a:pPr>
            <a:r>
              <a:rPr lang="en-GB" dirty="0"/>
              <a:t>H</a:t>
            </a:r>
            <a:r>
              <a:rPr lang="en-GB" baseline="-25000" dirty="0"/>
              <a:t>0</a:t>
            </a:r>
            <a:r>
              <a:rPr lang="en-GB" dirty="0"/>
              <a:t>: groups have an identical survival curve (in the population)</a:t>
            </a:r>
          </a:p>
        </p:txBody>
      </p:sp>
      <p:sp>
        <p:nvSpPr>
          <p:cNvPr id="3" name="Title 2">
            <a:extLst>
              <a:ext uri="{FF2B5EF4-FFF2-40B4-BE49-F238E27FC236}">
                <a16:creationId xmlns:a16="http://schemas.microsoft.com/office/drawing/2014/main" id="{5D47ECD1-308B-9807-3CC6-260F65204646}"/>
              </a:ext>
            </a:extLst>
          </p:cNvPr>
          <p:cNvSpPr>
            <a:spLocks noGrp="1"/>
          </p:cNvSpPr>
          <p:nvPr>
            <p:ph type="title"/>
          </p:nvPr>
        </p:nvSpPr>
        <p:spPr/>
        <p:txBody>
          <a:bodyPr/>
          <a:lstStyle/>
          <a:p>
            <a:r>
              <a:rPr lang="en-GB" dirty="0"/>
              <a:t>Log-rank test</a:t>
            </a:r>
          </a:p>
        </p:txBody>
      </p:sp>
      <p:sp>
        <p:nvSpPr>
          <p:cNvPr id="4" name="Slide Number Placeholder 3">
            <a:extLst>
              <a:ext uri="{FF2B5EF4-FFF2-40B4-BE49-F238E27FC236}">
                <a16:creationId xmlns:a16="http://schemas.microsoft.com/office/drawing/2014/main" id="{23EA44F2-AE63-630B-2092-4E7E23C6301E}"/>
              </a:ext>
            </a:extLst>
          </p:cNvPr>
          <p:cNvSpPr>
            <a:spLocks noGrp="1"/>
          </p:cNvSpPr>
          <p:nvPr>
            <p:ph type="sldNum" sz="quarter" idx="10"/>
          </p:nvPr>
        </p:nvSpPr>
        <p:spPr/>
        <p:txBody>
          <a:bodyPr/>
          <a:lstStyle/>
          <a:p>
            <a:pPr>
              <a:defRPr/>
            </a:pPr>
            <a:fld id="{CD3FC0C4-D681-4CE5-B41E-BCE48B80373A}" type="slidenum">
              <a:rPr lang="en-GB" smtClean="0"/>
              <a:pPr>
                <a:defRPr/>
              </a:pPr>
              <a:t>42</a:t>
            </a:fld>
            <a:endParaRPr lang="en-GB"/>
          </a:p>
        </p:txBody>
      </p:sp>
      <p:pic>
        <p:nvPicPr>
          <p:cNvPr id="11" name="Picture 10">
            <a:extLst>
              <a:ext uri="{FF2B5EF4-FFF2-40B4-BE49-F238E27FC236}">
                <a16:creationId xmlns:a16="http://schemas.microsoft.com/office/drawing/2014/main" id="{ED350EA8-1403-D6E2-6306-CE80AF8F5FF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542500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C5E2131-C654-181D-2B8C-9A0DA02F85A0}"/>
              </a:ext>
            </a:extLst>
          </p:cNvPr>
          <p:cNvSpPr>
            <a:spLocks noGrp="1"/>
          </p:cNvSpPr>
          <p:nvPr>
            <p:ph type="body" sz="quarter" idx="11"/>
          </p:nvPr>
        </p:nvSpPr>
        <p:spPr/>
        <p:txBody>
          <a:bodyPr/>
          <a:lstStyle/>
          <a:p>
            <a:pPr marL="0" indent="0">
              <a:buNone/>
            </a:pPr>
            <a:r>
              <a:rPr lang="en-GB" dirty="0"/>
              <a:t>Like all significance tests, there are </a:t>
            </a:r>
            <a:r>
              <a:rPr lang="en-GB" b="1" dirty="0"/>
              <a:t>assumptions</a:t>
            </a:r>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p:txBody>
      </p:sp>
      <p:sp>
        <p:nvSpPr>
          <p:cNvPr id="3" name="Title 2">
            <a:extLst>
              <a:ext uri="{FF2B5EF4-FFF2-40B4-BE49-F238E27FC236}">
                <a16:creationId xmlns:a16="http://schemas.microsoft.com/office/drawing/2014/main" id="{AE4C66D8-4C68-7C80-140C-F40B9CC9A0C1}"/>
              </a:ext>
            </a:extLst>
          </p:cNvPr>
          <p:cNvSpPr>
            <a:spLocks noGrp="1"/>
          </p:cNvSpPr>
          <p:nvPr>
            <p:ph type="title"/>
          </p:nvPr>
        </p:nvSpPr>
        <p:spPr/>
        <p:txBody>
          <a:bodyPr/>
          <a:lstStyle/>
          <a:p>
            <a:r>
              <a:rPr lang="en-GB" dirty="0"/>
              <a:t>Assumptions of log-rank test</a:t>
            </a:r>
          </a:p>
        </p:txBody>
      </p:sp>
      <p:sp>
        <p:nvSpPr>
          <p:cNvPr id="4" name="Slide Number Placeholder 3">
            <a:extLst>
              <a:ext uri="{FF2B5EF4-FFF2-40B4-BE49-F238E27FC236}">
                <a16:creationId xmlns:a16="http://schemas.microsoft.com/office/drawing/2014/main" id="{E9C5F55D-B653-C9ED-A824-6E0444CF99B8}"/>
              </a:ext>
            </a:extLst>
          </p:cNvPr>
          <p:cNvSpPr>
            <a:spLocks noGrp="1"/>
          </p:cNvSpPr>
          <p:nvPr>
            <p:ph type="sldNum" sz="quarter" idx="10"/>
          </p:nvPr>
        </p:nvSpPr>
        <p:spPr/>
        <p:txBody>
          <a:bodyPr/>
          <a:lstStyle/>
          <a:p>
            <a:pPr>
              <a:defRPr/>
            </a:pPr>
            <a:fld id="{CD3FC0C4-D681-4CE5-B41E-BCE48B80373A}" type="slidenum">
              <a:rPr lang="en-GB" smtClean="0"/>
              <a:pPr>
                <a:defRPr/>
              </a:pPr>
              <a:t>43</a:t>
            </a:fld>
            <a:endParaRPr lang="en-GB"/>
          </a:p>
        </p:txBody>
      </p:sp>
    </p:spTree>
    <p:extLst>
      <p:ext uri="{BB962C8B-B14F-4D97-AF65-F5344CB8AC3E}">
        <p14:creationId xmlns:p14="http://schemas.microsoft.com/office/powerpoint/2010/main" val="17719409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3C9DE-29D9-C276-01E9-38626177E12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151E68F-0948-FDCC-AC30-B958F82D2CF9}"/>
              </a:ext>
            </a:extLst>
          </p:cNvPr>
          <p:cNvSpPr>
            <a:spLocks noGrp="1"/>
          </p:cNvSpPr>
          <p:nvPr>
            <p:ph type="body" sz="quarter" idx="11"/>
          </p:nvPr>
        </p:nvSpPr>
        <p:spPr/>
        <p:txBody>
          <a:bodyPr/>
          <a:lstStyle/>
          <a:p>
            <a:pPr marL="0" indent="0">
              <a:buNone/>
            </a:pPr>
            <a:r>
              <a:rPr lang="en-GB" dirty="0"/>
              <a:t>Like all significance tests, there are </a:t>
            </a:r>
            <a:r>
              <a:rPr lang="en-GB" b="1" dirty="0"/>
              <a:t>assumptions</a:t>
            </a:r>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p:txBody>
      </p:sp>
      <p:sp>
        <p:nvSpPr>
          <p:cNvPr id="3" name="Title 2">
            <a:extLst>
              <a:ext uri="{FF2B5EF4-FFF2-40B4-BE49-F238E27FC236}">
                <a16:creationId xmlns:a16="http://schemas.microsoft.com/office/drawing/2014/main" id="{0EEDDA55-562A-DC2F-DBE3-81DB1E4175D9}"/>
              </a:ext>
            </a:extLst>
          </p:cNvPr>
          <p:cNvSpPr>
            <a:spLocks noGrp="1"/>
          </p:cNvSpPr>
          <p:nvPr>
            <p:ph type="title"/>
          </p:nvPr>
        </p:nvSpPr>
        <p:spPr/>
        <p:txBody>
          <a:bodyPr/>
          <a:lstStyle/>
          <a:p>
            <a:r>
              <a:rPr lang="en-GB" dirty="0"/>
              <a:t>Assumptions of log-rank test</a:t>
            </a:r>
          </a:p>
        </p:txBody>
      </p:sp>
      <p:sp>
        <p:nvSpPr>
          <p:cNvPr id="4" name="Slide Number Placeholder 3">
            <a:extLst>
              <a:ext uri="{FF2B5EF4-FFF2-40B4-BE49-F238E27FC236}">
                <a16:creationId xmlns:a16="http://schemas.microsoft.com/office/drawing/2014/main" id="{D58C7F16-E0D5-364D-C9A6-8CED982524B6}"/>
              </a:ext>
            </a:extLst>
          </p:cNvPr>
          <p:cNvSpPr>
            <a:spLocks noGrp="1"/>
          </p:cNvSpPr>
          <p:nvPr>
            <p:ph type="sldNum" sz="quarter" idx="10"/>
          </p:nvPr>
        </p:nvSpPr>
        <p:spPr/>
        <p:txBody>
          <a:bodyPr/>
          <a:lstStyle/>
          <a:p>
            <a:pPr>
              <a:defRPr/>
            </a:pPr>
            <a:fld id="{CD3FC0C4-D681-4CE5-B41E-BCE48B80373A}" type="slidenum">
              <a:rPr lang="en-GB" smtClean="0"/>
              <a:pPr>
                <a:defRPr/>
              </a:pPr>
              <a:t>44</a:t>
            </a:fld>
            <a:endParaRPr lang="en-GB"/>
          </a:p>
        </p:txBody>
      </p:sp>
      <p:sp>
        <p:nvSpPr>
          <p:cNvPr id="6" name="Rectangle 5">
            <a:extLst>
              <a:ext uri="{FF2B5EF4-FFF2-40B4-BE49-F238E27FC236}">
                <a16:creationId xmlns:a16="http://schemas.microsoft.com/office/drawing/2014/main" id="{34F3D1B0-5568-0010-37C5-11F12F9B802C}"/>
              </a:ext>
            </a:extLst>
          </p:cNvPr>
          <p:cNvSpPr/>
          <p:nvPr/>
        </p:nvSpPr>
        <p:spPr>
          <a:xfrm>
            <a:off x="467544" y="2996952"/>
            <a:ext cx="3888432" cy="851941"/>
          </a:xfrm>
          <a:prstGeom prst="rect">
            <a:avLst/>
          </a:prstGeom>
          <a:solidFill>
            <a:srgbClr val="FFFF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554516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1A6D967-8558-40E1-0F6D-68B4036D6515}"/>
              </a:ext>
            </a:extLst>
          </p:cNvPr>
          <p:cNvSpPr>
            <a:spLocks noGrp="1"/>
          </p:cNvSpPr>
          <p:nvPr>
            <p:ph type="body" sz="quarter" idx="11"/>
          </p:nvPr>
        </p:nvSpPr>
        <p:spPr/>
        <p:txBody>
          <a:bodyPr/>
          <a:lstStyle/>
          <a:p>
            <a:pPr marL="0" indent="0">
              <a:buNone/>
            </a:pPr>
            <a:r>
              <a:rPr lang="en-GB" dirty="0"/>
              <a:t>Each “row” of the dataset (each individual) must be equally unrelated to every other row</a:t>
            </a:r>
          </a:p>
          <a:p>
            <a:pPr marL="0" indent="0">
              <a:buNone/>
            </a:pPr>
            <a:endParaRPr lang="en-GB" dirty="0"/>
          </a:p>
        </p:txBody>
      </p:sp>
      <p:sp>
        <p:nvSpPr>
          <p:cNvPr id="3" name="Title 2">
            <a:extLst>
              <a:ext uri="{FF2B5EF4-FFF2-40B4-BE49-F238E27FC236}">
                <a16:creationId xmlns:a16="http://schemas.microsoft.com/office/drawing/2014/main" id="{5E4E6BA8-5316-7A92-2021-A6C0269CA37F}"/>
              </a:ext>
            </a:extLst>
          </p:cNvPr>
          <p:cNvSpPr>
            <a:spLocks noGrp="1"/>
          </p:cNvSpPr>
          <p:nvPr>
            <p:ph type="title"/>
          </p:nvPr>
        </p:nvSpPr>
        <p:spPr/>
        <p:txBody>
          <a:bodyPr/>
          <a:lstStyle/>
          <a:p>
            <a:r>
              <a:rPr lang="en-GB" dirty="0"/>
              <a:t>Independence</a:t>
            </a:r>
          </a:p>
        </p:txBody>
      </p:sp>
      <p:sp>
        <p:nvSpPr>
          <p:cNvPr id="4" name="Slide Number Placeholder 3">
            <a:extLst>
              <a:ext uri="{FF2B5EF4-FFF2-40B4-BE49-F238E27FC236}">
                <a16:creationId xmlns:a16="http://schemas.microsoft.com/office/drawing/2014/main" id="{AE306CDD-43F5-5FA1-163A-908B9D5C6A9B}"/>
              </a:ext>
            </a:extLst>
          </p:cNvPr>
          <p:cNvSpPr>
            <a:spLocks noGrp="1"/>
          </p:cNvSpPr>
          <p:nvPr>
            <p:ph type="sldNum" sz="quarter" idx="10"/>
          </p:nvPr>
        </p:nvSpPr>
        <p:spPr/>
        <p:txBody>
          <a:bodyPr/>
          <a:lstStyle/>
          <a:p>
            <a:pPr>
              <a:defRPr/>
            </a:pPr>
            <a:fld id="{CD3FC0C4-D681-4CE5-B41E-BCE48B80373A}" type="slidenum">
              <a:rPr lang="en-GB" smtClean="0"/>
              <a:pPr>
                <a:defRPr/>
              </a:pPr>
              <a:t>45</a:t>
            </a:fld>
            <a:endParaRPr lang="en-GB"/>
          </a:p>
        </p:txBody>
      </p:sp>
      <p:grpSp>
        <p:nvGrpSpPr>
          <p:cNvPr id="28" name="Group 27">
            <a:extLst>
              <a:ext uri="{FF2B5EF4-FFF2-40B4-BE49-F238E27FC236}">
                <a16:creationId xmlns:a16="http://schemas.microsoft.com/office/drawing/2014/main" id="{BE8F59B1-87AE-E8B3-DDBB-674B8E19F4EA}"/>
              </a:ext>
            </a:extLst>
          </p:cNvPr>
          <p:cNvGrpSpPr/>
          <p:nvPr/>
        </p:nvGrpSpPr>
        <p:grpSpPr>
          <a:xfrm>
            <a:off x="2051720" y="2687288"/>
            <a:ext cx="4795275" cy="3011842"/>
            <a:chOff x="1423978" y="2670416"/>
            <a:chExt cx="4795275" cy="3011842"/>
          </a:xfrm>
        </p:grpSpPr>
        <p:sp>
          <p:nvSpPr>
            <p:cNvPr id="8" name="Arrow: Right 7">
              <a:extLst>
                <a:ext uri="{FF2B5EF4-FFF2-40B4-BE49-F238E27FC236}">
                  <a16:creationId xmlns:a16="http://schemas.microsoft.com/office/drawing/2014/main" id="{F0CC65B3-D7D4-A106-69C8-B572B44C9E4B}"/>
                </a:ext>
              </a:extLst>
            </p:cNvPr>
            <p:cNvSpPr/>
            <p:nvPr/>
          </p:nvSpPr>
          <p:spPr>
            <a:xfrm>
              <a:off x="1786417" y="3344858"/>
              <a:ext cx="2609290" cy="353083"/>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descr="Inpatient with solid fill">
              <a:extLst>
                <a:ext uri="{FF2B5EF4-FFF2-40B4-BE49-F238E27FC236}">
                  <a16:creationId xmlns:a16="http://schemas.microsoft.com/office/drawing/2014/main" id="{13A8BDF9-B057-167D-88BA-DB7FDA58279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71999" y="3081680"/>
              <a:ext cx="761707" cy="761707"/>
            </a:xfrm>
            <a:prstGeom prst="rect">
              <a:avLst/>
            </a:prstGeom>
          </p:spPr>
        </p:pic>
        <p:sp>
          <p:nvSpPr>
            <p:cNvPr id="10" name="Arrow: Right 9">
              <a:extLst>
                <a:ext uri="{FF2B5EF4-FFF2-40B4-BE49-F238E27FC236}">
                  <a16:creationId xmlns:a16="http://schemas.microsoft.com/office/drawing/2014/main" id="{1A556A5D-58E6-0FA2-106E-CE7A35F92BA4}"/>
                </a:ext>
              </a:extLst>
            </p:cNvPr>
            <p:cNvSpPr/>
            <p:nvPr/>
          </p:nvSpPr>
          <p:spPr>
            <a:xfrm>
              <a:off x="1786417" y="3933501"/>
              <a:ext cx="1769518" cy="353083"/>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671D488E-2C43-14EF-CBD8-F8CC95BB5B73}"/>
                </a:ext>
              </a:extLst>
            </p:cNvPr>
            <p:cNvSpPr/>
            <p:nvPr/>
          </p:nvSpPr>
          <p:spPr>
            <a:xfrm>
              <a:off x="1786417" y="4562234"/>
              <a:ext cx="3509045" cy="353083"/>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Inpatient with solid fill">
              <a:extLst>
                <a:ext uri="{FF2B5EF4-FFF2-40B4-BE49-F238E27FC236}">
                  <a16:creationId xmlns:a16="http://schemas.microsoft.com/office/drawing/2014/main" id="{7DB9FF6F-82E5-BEDD-08D4-483371B8FC0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718019" y="3675405"/>
              <a:ext cx="761707" cy="761707"/>
            </a:xfrm>
            <a:prstGeom prst="rect">
              <a:avLst/>
            </a:prstGeom>
          </p:spPr>
        </p:pic>
        <p:pic>
          <p:nvPicPr>
            <p:cNvPr id="13" name="Graphic 12" descr="Inpatient with solid fill">
              <a:extLst>
                <a:ext uri="{FF2B5EF4-FFF2-40B4-BE49-F238E27FC236}">
                  <a16:creationId xmlns:a16="http://schemas.microsoft.com/office/drawing/2014/main" id="{FA3E413E-3600-BA41-883F-5435ABD8DF8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457546" y="4286584"/>
              <a:ext cx="761707" cy="761707"/>
            </a:xfrm>
            <a:prstGeom prst="rect">
              <a:avLst/>
            </a:prstGeom>
          </p:spPr>
        </p:pic>
        <p:sp>
          <p:nvSpPr>
            <p:cNvPr id="15" name="TextBox 14">
              <a:extLst>
                <a:ext uri="{FF2B5EF4-FFF2-40B4-BE49-F238E27FC236}">
                  <a16:creationId xmlns:a16="http://schemas.microsoft.com/office/drawing/2014/main" id="{35BD454E-4CD1-755A-BDDA-8C8E521E95B3}"/>
                </a:ext>
              </a:extLst>
            </p:cNvPr>
            <p:cNvSpPr txBox="1"/>
            <p:nvPr/>
          </p:nvSpPr>
          <p:spPr>
            <a:xfrm>
              <a:off x="1423978" y="2670416"/>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B9C22B83-F181-F2A4-FB07-7ED73F535A98}"/>
                </a:ext>
              </a:extLst>
            </p:cNvPr>
            <p:cNvSpPr/>
            <p:nvPr/>
          </p:nvSpPr>
          <p:spPr>
            <a:xfrm>
              <a:off x="1780171" y="5183729"/>
              <a:ext cx="2609290" cy="353083"/>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Inpatient with solid fill">
              <a:extLst>
                <a:ext uri="{FF2B5EF4-FFF2-40B4-BE49-F238E27FC236}">
                  <a16:creationId xmlns:a16="http://schemas.microsoft.com/office/drawing/2014/main" id="{DAA2E0A9-0FF6-99F3-22A3-AC321AD56848}"/>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65753" y="4920551"/>
              <a:ext cx="761707" cy="761707"/>
            </a:xfrm>
            <a:prstGeom prst="rect">
              <a:avLst/>
            </a:prstGeom>
          </p:spPr>
        </p:pic>
        <p:cxnSp>
          <p:nvCxnSpPr>
            <p:cNvPr id="14" name="Straight Connector 13">
              <a:extLst>
                <a:ext uri="{FF2B5EF4-FFF2-40B4-BE49-F238E27FC236}">
                  <a16:creationId xmlns:a16="http://schemas.microsoft.com/office/drawing/2014/main" id="{779B0C70-4FD2-510D-1B07-C6D070D13621}"/>
                </a:ext>
              </a:extLst>
            </p:cNvPr>
            <p:cNvCxnSpPr>
              <a:cxnSpLocks/>
            </p:cNvCxnSpPr>
            <p:nvPr/>
          </p:nvCxnSpPr>
          <p:spPr>
            <a:xfrm>
              <a:off x="1786417" y="3166565"/>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30" name="Graphic 29" descr="Checkmark with solid fill">
            <a:extLst>
              <a:ext uri="{FF2B5EF4-FFF2-40B4-BE49-F238E27FC236}">
                <a16:creationId xmlns:a16="http://schemas.microsoft.com/office/drawing/2014/main" id="{505C68FB-AB3C-64BF-7F75-8D2DD0281F8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99224" y="2761407"/>
            <a:ext cx="914400" cy="914400"/>
          </a:xfrm>
          <a:prstGeom prst="rect">
            <a:avLst/>
          </a:prstGeom>
        </p:spPr>
      </p:pic>
    </p:spTree>
    <p:extLst>
      <p:ext uri="{BB962C8B-B14F-4D97-AF65-F5344CB8AC3E}">
        <p14:creationId xmlns:p14="http://schemas.microsoft.com/office/powerpoint/2010/main" val="62201769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E4B2E-05D9-99B8-083B-E27F2E389BF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17744A-EC64-49FC-FAFD-14C41BCC1352}"/>
              </a:ext>
            </a:extLst>
          </p:cNvPr>
          <p:cNvSpPr>
            <a:spLocks noGrp="1"/>
          </p:cNvSpPr>
          <p:nvPr>
            <p:ph type="body" sz="quarter" idx="11"/>
          </p:nvPr>
        </p:nvSpPr>
        <p:spPr/>
        <p:txBody>
          <a:bodyPr/>
          <a:lstStyle/>
          <a:p>
            <a:pPr marL="0" indent="0">
              <a:buNone/>
            </a:pPr>
            <a:r>
              <a:rPr lang="en-GB" dirty="0"/>
              <a:t>Each “row” of the dataset (each individual) must be equally unrelated to every other row</a:t>
            </a:r>
          </a:p>
          <a:p>
            <a:pPr marL="0" indent="0">
              <a:buNone/>
            </a:pPr>
            <a:endParaRPr lang="en-GB" dirty="0"/>
          </a:p>
        </p:txBody>
      </p:sp>
      <p:sp>
        <p:nvSpPr>
          <p:cNvPr id="3" name="Title 2">
            <a:extLst>
              <a:ext uri="{FF2B5EF4-FFF2-40B4-BE49-F238E27FC236}">
                <a16:creationId xmlns:a16="http://schemas.microsoft.com/office/drawing/2014/main" id="{14187F19-4882-89E3-2DD7-3EA1726A5449}"/>
              </a:ext>
            </a:extLst>
          </p:cNvPr>
          <p:cNvSpPr>
            <a:spLocks noGrp="1"/>
          </p:cNvSpPr>
          <p:nvPr>
            <p:ph type="title"/>
          </p:nvPr>
        </p:nvSpPr>
        <p:spPr/>
        <p:txBody>
          <a:bodyPr/>
          <a:lstStyle/>
          <a:p>
            <a:r>
              <a:rPr lang="en-GB" dirty="0"/>
              <a:t>Independence</a:t>
            </a:r>
          </a:p>
        </p:txBody>
      </p:sp>
      <p:sp>
        <p:nvSpPr>
          <p:cNvPr id="4" name="Slide Number Placeholder 3">
            <a:extLst>
              <a:ext uri="{FF2B5EF4-FFF2-40B4-BE49-F238E27FC236}">
                <a16:creationId xmlns:a16="http://schemas.microsoft.com/office/drawing/2014/main" id="{DA41C766-2A02-0DE0-BB07-643AAD824097}"/>
              </a:ext>
            </a:extLst>
          </p:cNvPr>
          <p:cNvSpPr>
            <a:spLocks noGrp="1"/>
          </p:cNvSpPr>
          <p:nvPr>
            <p:ph type="sldNum" sz="quarter" idx="10"/>
          </p:nvPr>
        </p:nvSpPr>
        <p:spPr/>
        <p:txBody>
          <a:bodyPr/>
          <a:lstStyle/>
          <a:p>
            <a:pPr>
              <a:defRPr/>
            </a:pPr>
            <a:fld id="{CD3FC0C4-D681-4CE5-B41E-BCE48B80373A}" type="slidenum">
              <a:rPr lang="en-GB" smtClean="0"/>
              <a:pPr>
                <a:defRPr/>
              </a:pPr>
              <a:t>46</a:t>
            </a:fld>
            <a:endParaRPr lang="en-GB"/>
          </a:p>
        </p:txBody>
      </p:sp>
      <p:grpSp>
        <p:nvGrpSpPr>
          <p:cNvPr id="28" name="Group 27">
            <a:extLst>
              <a:ext uri="{FF2B5EF4-FFF2-40B4-BE49-F238E27FC236}">
                <a16:creationId xmlns:a16="http://schemas.microsoft.com/office/drawing/2014/main" id="{8919CF88-AAC3-A1EB-C5E7-3887AA62A103}"/>
              </a:ext>
            </a:extLst>
          </p:cNvPr>
          <p:cNvGrpSpPr/>
          <p:nvPr/>
        </p:nvGrpSpPr>
        <p:grpSpPr>
          <a:xfrm>
            <a:off x="2051720" y="2687288"/>
            <a:ext cx="4795275" cy="3011842"/>
            <a:chOff x="1423978" y="2670416"/>
            <a:chExt cx="4795275" cy="3011842"/>
          </a:xfrm>
        </p:grpSpPr>
        <p:sp>
          <p:nvSpPr>
            <p:cNvPr id="8" name="Arrow: Right 7">
              <a:extLst>
                <a:ext uri="{FF2B5EF4-FFF2-40B4-BE49-F238E27FC236}">
                  <a16:creationId xmlns:a16="http://schemas.microsoft.com/office/drawing/2014/main" id="{C4AE7BBB-B0D8-93F4-A964-0C848EE13CF0}"/>
                </a:ext>
              </a:extLst>
            </p:cNvPr>
            <p:cNvSpPr/>
            <p:nvPr/>
          </p:nvSpPr>
          <p:spPr>
            <a:xfrm>
              <a:off x="1786417" y="3344858"/>
              <a:ext cx="2609290"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descr="Inpatient with solid fill">
              <a:extLst>
                <a:ext uri="{FF2B5EF4-FFF2-40B4-BE49-F238E27FC236}">
                  <a16:creationId xmlns:a16="http://schemas.microsoft.com/office/drawing/2014/main" id="{33ABB599-9A53-D6AD-20DB-E7B322DD71A3}"/>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71999" y="3081680"/>
              <a:ext cx="761707" cy="761707"/>
            </a:xfrm>
            <a:prstGeom prst="rect">
              <a:avLst/>
            </a:prstGeom>
          </p:spPr>
        </p:pic>
        <p:sp>
          <p:nvSpPr>
            <p:cNvPr id="10" name="Arrow: Right 9">
              <a:extLst>
                <a:ext uri="{FF2B5EF4-FFF2-40B4-BE49-F238E27FC236}">
                  <a16:creationId xmlns:a16="http://schemas.microsoft.com/office/drawing/2014/main" id="{67056C1A-3AFC-1112-ECFE-B096FF884D02}"/>
                </a:ext>
              </a:extLst>
            </p:cNvPr>
            <p:cNvSpPr/>
            <p:nvPr/>
          </p:nvSpPr>
          <p:spPr>
            <a:xfrm>
              <a:off x="1786417" y="3933501"/>
              <a:ext cx="1769518"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8A98CD7E-C855-D116-73A7-A19274ECF620}"/>
                </a:ext>
              </a:extLst>
            </p:cNvPr>
            <p:cNvSpPr/>
            <p:nvPr/>
          </p:nvSpPr>
          <p:spPr>
            <a:xfrm>
              <a:off x="1786417" y="4562234"/>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Inpatient with solid fill">
              <a:extLst>
                <a:ext uri="{FF2B5EF4-FFF2-40B4-BE49-F238E27FC236}">
                  <a16:creationId xmlns:a16="http://schemas.microsoft.com/office/drawing/2014/main" id="{F9421C21-2132-3BEA-E7A8-744284F263E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718019" y="3675405"/>
              <a:ext cx="761707" cy="761707"/>
            </a:xfrm>
            <a:prstGeom prst="rect">
              <a:avLst/>
            </a:prstGeom>
          </p:spPr>
        </p:pic>
        <p:pic>
          <p:nvPicPr>
            <p:cNvPr id="13" name="Graphic 12" descr="Inpatient with solid fill">
              <a:extLst>
                <a:ext uri="{FF2B5EF4-FFF2-40B4-BE49-F238E27FC236}">
                  <a16:creationId xmlns:a16="http://schemas.microsoft.com/office/drawing/2014/main" id="{EF2B26B4-87CE-E817-E0BA-80EC7111871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457546" y="4286584"/>
              <a:ext cx="761707" cy="761707"/>
            </a:xfrm>
            <a:prstGeom prst="rect">
              <a:avLst/>
            </a:prstGeom>
          </p:spPr>
        </p:pic>
        <p:sp>
          <p:nvSpPr>
            <p:cNvPr id="15" name="TextBox 14">
              <a:extLst>
                <a:ext uri="{FF2B5EF4-FFF2-40B4-BE49-F238E27FC236}">
                  <a16:creationId xmlns:a16="http://schemas.microsoft.com/office/drawing/2014/main" id="{2C1E9C9C-C67C-66F3-D7FB-777D552D09F2}"/>
                </a:ext>
              </a:extLst>
            </p:cNvPr>
            <p:cNvSpPr txBox="1"/>
            <p:nvPr/>
          </p:nvSpPr>
          <p:spPr>
            <a:xfrm>
              <a:off x="1423978" y="2670416"/>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82058EAD-8825-0BA5-F227-7EB505BD3B6A}"/>
                </a:ext>
              </a:extLst>
            </p:cNvPr>
            <p:cNvSpPr/>
            <p:nvPr/>
          </p:nvSpPr>
          <p:spPr>
            <a:xfrm>
              <a:off x="1786417" y="5183729"/>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Inpatient with solid fill">
              <a:extLst>
                <a:ext uri="{FF2B5EF4-FFF2-40B4-BE49-F238E27FC236}">
                  <a16:creationId xmlns:a16="http://schemas.microsoft.com/office/drawing/2014/main" id="{07073F7B-62F7-1874-2CB0-62E833A7912C}"/>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565753" y="4920551"/>
              <a:ext cx="761707" cy="761707"/>
            </a:xfrm>
            <a:prstGeom prst="rect">
              <a:avLst/>
            </a:prstGeom>
          </p:spPr>
        </p:pic>
        <p:cxnSp>
          <p:nvCxnSpPr>
            <p:cNvPr id="14" name="Straight Connector 13">
              <a:extLst>
                <a:ext uri="{FF2B5EF4-FFF2-40B4-BE49-F238E27FC236}">
                  <a16:creationId xmlns:a16="http://schemas.microsoft.com/office/drawing/2014/main" id="{BA6332BD-8FBB-78E9-0A29-C78DAE658992}"/>
                </a:ext>
              </a:extLst>
            </p:cNvPr>
            <p:cNvCxnSpPr>
              <a:cxnSpLocks/>
            </p:cNvCxnSpPr>
            <p:nvPr/>
          </p:nvCxnSpPr>
          <p:spPr>
            <a:xfrm>
              <a:off x="1786417" y="3166565"/>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6" name="Graphic 5" descr="Hospital with solid fill">
            <a:extLst>
              <a:ext uri="{FF2B5EF4-FFF2-40B4-BE49-F238E27FC236}">
                <a16:creationId xmlns:a16="http://schemas.microsoft.com/office/drawing/2014/main" id="{90A99701-FB76-28E1-3AFE-10065383A8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78591" y="3313403"/>
            <a:ext cx="914400" cy="914400"/>
          </a:xfrm>
          <a:prstGeom prst="rect">
            <a:avLst/>
          </a:prstGeom>
        </p:spPr>
      </p:pic>
      <p:pic>
        <p:nvPicPr>
          <p:cNvPr id="7" name="Graphic 6" descr="Hospital with solid fill">
            <a:extLst>
              <a:ext uri="{FF2B5EF4-FFF2-40B4-BE49-F238E27FC236}">
                <a16:creationId xmlns:a16="http://schemas.microsoft.com/office/drawing/2014/main" id="{FC9D09D2-311B-4B77-A802-CFF5DC95831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85896" y="4579106"/>
            <a:ext cx="914400" cy="914400"/>
          </a:xfrm>
          <a:prstGeom prst="rect">
            <a:avLst/>
          </a:prstGeom>
        </p:spPr>
      </p:pic>
      <p:pic>
        <p:nvPicPr>
          <p:cNvPr id="16" name="Graphic 15" descr="Close with solid fill">
            <a:extLst>
              <a:ext uri="{FF2B5EF4-FFF2-40B4-BE49-F238E27FC236}">
                <a16:creationId xmlns:a16="http://schemas.microsoft.com/office/drawing/2014/main" id="{CC52D523-D425-83F1-7030-350653564F26}"/>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6899224" y="2761407"/>
            <a:ext cx="914400" cy="914400"/>
          </a:xfrm>
          <a:prstGeom prst="rect">
            <a:avLst/>
          </a:prstGeom>
        </p:spPr>
      </p:pic>
    </p:spTree>
    <p:extLst>
      <p:ext uri="{BB962C8B-B14F-4D97-AF65-F5344CB8AC3E}">
        <p14:creationId xmlns:p14="http://schemas.microsoft.com/office/powerpoint/2010/main" val="18512574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F495E-F70F-0C04-B49E-6DE0E6C56B2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45A9117-2FC3-8B42-EA7A-FF60EDA57498}"/>
              </a:ext>
            </a:extLst>
          </p:cNvPr>
          <p:cNvSpPr>
            <a:spLocks noGrp="1"/>
          </p:cNvSpPr>
          <p:nvPr>
            <p:ph type="body" sz="quarter" idx="11"/>
          </p:nvPr>
        </p:nvSpPr>
        <p:spPr/>
        <p:txBody>
          <a:bodyPr/>
          <a:lstStyle/>
          <a:p>
            <a:pPr marL="0" indent="0">
              <a:buNone/>
            </a:pPr>
            <a:r>
              <a:rPr lang="en-GB" dirty="0"/>
              <a:t>Each “row” of the dataset (each individual) must be equally unrelated to every other row</a:t>
            </a:r>
          </a:p>
          <a:p>
            <a:pPr marL="0" indent="0">
              <a:buNone/>
            </a:pPr>
            <a:endParaRPr lang="en-GB" dirty="0"/>
          </a:p>
        </p:txBody>
      </p:sp>
      <p:sp>
        <p:nvSpPr>
          <p:cNvPr id="3" name="Title 2">
            <a:extLst>
              <a:ext uri="{FF2B5EF4-FFF2-40B4-BE49-F238E27FC236}">
                <a16:creationId xmlns:a16="http://schemas.microsoft.com/office/drawing/2014/main" id="{5C5E7104-81DC-DD6F-F12E-0FC9A3FC9DED}"/>
              </a:ext>
            </a:extLst>
          </p:cNvPr>
          <p:cNvSpPr>
            <a:spLocks noGrp="1"/>
          </p:cNvSpPr>
          <p:nvPr>
            <p:ph type="title"/>
          </p:nvPr>
        </p:nvSpPr>
        <p:spPr/>
        <p:txBody>
          <a:bodyPr/>
          <a:lstStyle/>
          <a:p>
            <a:r>
              <a:rPr lang="en-GB" dirty="0"/>
              <a:t>Independence</a:t>
            </a:r>
          </a:p>
        </p:txBody>
      </p:sp>
      <p:sp>
        <p:nvSpPr>
          <p:cNvPr id="4" name="Slide Number Placeholder 3">
            <a:extLst>
              <a:ext uri="{FF2B5EF4-FFF2-40B4-BE49-F238E27FC236}">
                <a16:creationId xmlns:a16="http://schemas.microsoft.com/office/drawing/2014/main" id="{5B845EFF-1DAA-DC35-B33B-110FA4BCC7CF}"/>
              </a:ext>
            </a:extLst>
          </p:cNvPr>
          <p:cNvSpPr>
            <a:spLocks noGrp="1"/>
          </p:cNvSpPr>
          <p:nvPr>
            <p:ph type="sldNum" sz="quarter" idx="10"/>
          </p:nvPr>
        </p:nvSpPr>
        <p:spPr/>
        <p:txBody>
          <a:bodyPr/>
          <a:lstStyle/>
          <a:p>
            <a:pPr>
              <a:defRPr/>
            </a:pPr>
            <a:fld id="{CD3FC0C4-D681-4CE5-B41E-BCE48B80373A}" type="slidenum">
              <a:rPr lang="en-GB" smtClean="0"/>
              <a:pPr>
                <a:defRPr/>
              </a:pPr>
              <a:t>47</a:t>
            </a:fld>
            <a:endParaRPr lang="en-GB"/>
          </a:p>
        </p:txBody>
      </p:sp>
      <p:grpSp>
        <p:nvGrpSpPr>
          <p:cNvPr id="28" name="Group 27">
            <a:extLst>
              <a:ext uri="{FF2B5EF4-FFF2-40B4-BE49-F238E27FC236}">
                <a16:creationId xmlns:a16="http://schemas.microsoft.com/office/drawing/2014/main" id="{BF8D67B1-A08E-2030-B8CD-29F98CD0650F}"/>
              </a:ext>
            </a:extLst>
          </p:cNvPr>
          <p:cNvGrpSpPr/>
          <p:nvPr/>
        </p:nvGrpSpPr>
        <p:grpSpPr>
          <a:xfrm>
            <a:off x="2051720" y="2687288"/>
            <a:ext cx="4795275" cy="3011842"/>
            <a:chOff x="1423978" y="2670416"/>
            <a:chExt cx="4795275" cy="3011842"/>
          </a:xfrm>
        </p:grpSpPr>
        <p:sp>
          <p:nvSpPr>
            <p:cNvPr id="8" name="Arrow: Right 7">
              <a:extLst>
                <a:ext uri="{FF2B5EF4-FFF2-40B4-BE49-F238E27FC236}">
                  <a16:creationId xmlns:a16="http://schemas.microsoft.com/office/drawing/2014/main" id="{6ED0407B-3837-6322-AC94-FE44BD3353EC}"/>
                </a:ext>
              </a:extLst>
            </p:cNvPr>
            <p:cNvSpPr/>
            <p:nvPr/>
          </p:nvSpPr>
          <p:spPr>
            <a:xfrm>
              <a:off x="1786417" y="3344858"/>
              <a:ext cx="2609290"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descr="Dental Care with solid fill">
              <a:extLst>
                <a:ext uri="{FF2B5EF4-FFF2-40B4-BE49-F238E27FC236}">
                  <a16:creationId xmlns:a16="http://schemas.microsoft.com/office/drawing/2014/main" id="{F9A8BC0D-65CC-0173-7F0F-5E50D74A895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71999" y="3081680"/>
              <a:ext cx="761707" cy="761707"/>
            </a:xfrm>
            <a:prstGeom prst="rect">
              <a:avLst/>
            </a:prstGeom>
          </p:spPr>
        </p:pic>
        <p:sp>
          <p:nvSpPr>
            <p:cNvPr id="10" name="Arrow: Right 9">
              <a:extLst>
                <a:ext uri="{FF2B5EF4-FFF2-40B4-BE49-F238E27FC236}">
                  <a16:creationId xmlns:a16="http://schemas.microsoft.com/office/drawing/2014/main" id="{3AAF70CB-7997-CD03-05F3-367C9E963266}"/>
                </a:ext>
              </a:extLst>
            </p:cNvPr>
            <p:cNvSpPr/>
            <p:nvPr/>
          </p:nvSpPr>
          <p:spPr>
            <a:xfrm>
              <a:off x="1786417" y="3933501"/>
              <a:ext cx="1769518"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61D6B50D-00B9-DB94-6A06-0315C09A8885}"/>
                </a:ext>
              </a:extLst>
            </p:cNvPr>
            <p:cNvSpPr/>
            <p:nvPr/>
          </p:nvSpPr>
          <p:spPr>
            <a:xfrm>
              <a:off x="1786417" y="4562234"/>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Dental Care with solid fill">
              <a:extLst>
                <a:ext uri="{FF2B5EF4-FFF2-40B4-BE49-F238E27FC236}">
                  <a16:creationId xmlns:a16="http://schemas.microsoft.com/office/drawing/2014/main" id="{49D01568-9BE1-9505-67DA-F43B4F44FB3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718019" y="3675405"/>
              <a:ext cx="761707" cy="761707"/>
            </a:xfrm>
            <a:prstGeom prst="rect">
              <a:avLst/>
            </a:prstGeom>
          </p:spPr>
        </p:pic>
        <p:pic>
          <p:nvPicPr>
            <p:cNvPr id="13" name="Graphic 12" descr="Dental Care with solid fill">
              <a:extLst>
                <a:ext uri="{FF2B5EF4-FFF2-40B4-BE49-F238E27FC236}">
                  <a16:creationId xmlns:a16="http://schemas.microsoft.com/office/drawing/2014/main" id="{85AA50B2-3890-F73D-428A-1F03B544C59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457546" y="4286584"/>
              <a:ext cx="761707" cy="761707"/>
            </a:xfrm>
            <a:prstGeom prst="rect">
              <a:avLst/>
            </a:prstGeom>
          </p:spPr>
        </p:pic>
        <p:sp>
          <p:nvSpPr>
            <p:cNvPr id="15" name="TextBox 14">
              <a:extLst>
                <a:ext uri="{FF2B5EF4-FFF2-40B4-BE49-F238E27FC236}">
                  <a16:creationId xmlns:a16="http://schemas.microsoft.com/office/drawing/2014/main" id="{5F307099-5F16-A610-2AAE-708FDBB072F6}"/>
                </a:ext>
              </a:extLst>
            </p:cNvPr>
            <p:cNvSpPr txBox="1"/>
            <p:nvPr/>
          </p:nvSpPr>
          <p:spPr>
            <a:xfrm>
              <a:off x="1423978" y="2670416"/>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2BB1BBE8-B8B4-1E83-35A6-8DF57BAB9BF7}"/>
                </a:ext>
              </a:extLst>
            </p:cNvPr>
            <p:cNvSpPr/>
            <p:nvPr/>
          </p:nvSpPr>
          <p:spPr>
            <a:xfrm>
              <a:off x="1780171" y="5183729"/>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Dental Care with solid fill">
              <a:extLst>
                <a:ext uri="{FF2B5EF4-FFF2-40B4-BE49-F238E27FC236}">
                  <a16:creationId xmlns:a16="http://schemas.microsoft.com/office/drawing/2014/main" id="{13E10264-CADF-5AF0-5010-8A5303ADD69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565753" y="4920551"/>
              <a:ext cx="761707" cy="761707"/>
            </a:xfrm>
            <a:prstGeom prst="rect">
              <a:avLst/>
            </a:prstGeom>
          </p:spPr>
        </p:pic>
        <p:cxnSp>
          <p:nvCxnSpPr>
            <p:cNvPr id="14" name="Straight Connector 13">
              <a:extLst>
                <a:ext uri="{FF2B5EF4-FFF2-40B4-BE49-F238E27FC236}">
                  <a16:creationId xmlns:a16="http://schemas.microsoft.com/office/drawing/2014/main" id="{C69CDB28-72CC-6580-8B65-42F4F27B641E}"/>
                </a:ext>
              </a:extLst>
            </p:cNvPr>
            <p:cNvCxnSpPr>
              <a:cxnSpLocks/>
            </p:cNvCxnSpPr>
            <p:nvPr/>
          </p:nvCxnSpPr>
          <p:spPr>
            <a:xfrm>
              <a:off x="1786417" y="3166565"/>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6" name="Graphic 5" descr="Lips with solid fill">
            <a:extLst>
              <a:ext uri="{FF2B5EF4-FFF2-40B4-BE49-F238E27FC236}">
                <a16:creationId xmlns:a16="http://schemas.microsoft.com/office/drawing/2014/main" id="{7ED71FCA-0D1D-9CCA-2E0E-2DA9979D61E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478591" y="3313403"/>
            <a:ext cx="914400" cy="914400"/>
          </a:xfrm>
          <a:prstGeom prst="rect">
            <a:avLst/>
          </a:prstGeom>
        </p:spPr>
      </p:pic>
      <p:pic>
        <p:nvPicPr>
          <p:cNvPr id="7" name="Graphic 6" descr="Lips with solid fill">
            <a:extLst>
              <a:ext uri="{FF2B5EF4-FFF2-40B4-BE49-F238E27FC236}">
                <a16:creationId xmlns:a16="http://schemas.microsoft.com/office/drawing/2014/main" id="{18E3BFBA-CC01-362C-DAFB-754AB5DB0B6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485896" y="4579106"/>
            <a:ext cx="914400" cy="914400"/>
          </a:xfrm>
          <a:prstGeom prst="rect">
            <a:avLst/>
          </a:prstGeom>
        </p:spPr>
      </p:pic>
      <p:pic>
        <p:nvPicPr>
          <p:cNvPr id="16" name="Graphic 15" descr="Close with solid fill">
            <a:extLst>
              <a:ext uri="{FF2B5EF4-FFF2-40B4-BE49-F238E27FC236}">
                <a16:creationId xmlns:a16="http://schemas.microsoft.com/office/drawing/2014/main" id="{E4E10583-B45E-49E2-8304-2CF554C888BA}"/>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6899224" y="2761407"/>
            <a:ext cx="914400" cy="914400"/>
          </a:xfrm>
          <a:prstGeom prst="rect">
            <a:avLst/>
          </a:prstGeom>
        </p:spPr>
      </p:pic>
    </p:spTree>
    <p:extLst>
      <p:ext uri="{BB962C8B-B14F-4D97-AF65-F5344CB8AC3E}">
        <p14:creationId xmlns:p14="http://schemas.microsoft.com/office/powerpoint/2010/main" val="30056518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D3319-1C2B-2F50-5E40-2F445946054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A8582BB-3835-E77F-CED8-B710380588C3}"/>
              </a:ext>
            </a:extLst>
          </p:cNvPr>
          <p:cNvSpPr>
            <a:spLocks noGrp="1"/>
          </p:cNvSpPr>
          <p:nvPr>
            <p:ph type="body" sz="quarter" idx="11"/>
          </p:nvPr>
        </p:nvSpPr>
        <p:spPr/>
        <p:txBody>
          <a:bodyPr/>
          <a:lstStyle/>
          <a:p>
            <a:pPr marL="0" indent="0">
              <a:buNone/>
            </a:pPr>
            <a:r>
              <a:rPr lang="en-GB" dirty="0"/>
              <a:t>Each “row” of the dataset (each individual) must be equally unrelated to every other row</a:t>
            </a:r>
          </a:p>
          <a:p>
            <a:pPr marL="0" indent="0">
              <a:buNone/>
            </a:pPr>
            <a:endParaRPr lang="en-GB" dirty="0"/>
          </a:p>
        </p:txBody>
      </p:sp>
      <p:sp>
        <p:nvSpPr>
          <p:cNvPr id="3" name="Title 2">
            <a:extLst>
              <a:ext uri="{FF2B5EF4-FFF2-40B4-BE49-F238E27FC236}">
                <a16:creationId xmlns:a16="http://schemas.microsoft.com/office/drawing/2014/main" id="{E12B1192-0CEE-12BC-4702-8DDFF1981E70}"/>
              </a:ext>
            </a:extLst>
          </p:cNvPr>
          <p:cNvSpPr>
            <a:spLocks noGrp="1"/>
          </p:cNvSpPr>
          <p:nvPr>
            <p:ph type="title"/>
          </p:nvPr>
        </p:nvSpPr>
        <p:spPr/>
        <p:txBody>
          <a:bodyPr/>
          <a:lstStyle/>
          <a:p>
            <a:r>
              <a:rPr lang="en-GB" dirty="0"/>
              <a:t>Independence</a:t>
            </a:r>
          </a:p>
        </p:txBody>
      </p:sp>
      <p:sp>
        <p:nvSpPr>
          <p:cNvPr id="4" name="Slide Number Placeholder 3">
            <a:extLst>
              <a:ext uri="{FF2B5EF4-FFF2-40B4-BE49-F238E27FC236}">
                <a16:creationId xmlns:a16="http://schemas.microsoft.com/office/drawing/2014/main" id="{B36DE279-C7E1-9E88-5F9A-E512DC6C777D}"/>
              </a:ext>
            </a:extLst>
          </p:cNvPr>
          <p:cNvSpPr>
            <a:spLocks noGrp="1"/>
          </p:cNvSpPr>
          <p:nvPr>
            <p:ph type="sldNum" sz="quarter" idx="10"/>
          </p:nvPr>
        </p:nvSpPr>
        <p:spPr/>
        <p:txBody>
          <a:bodyPr/>
          <a:lstStyle/>
          <a:p>
            <a:pPr>
              <a:defRPr/>
            </a:pPr>
            <a:fld id="{CD3FC0C4-D681-4CE5-B41E-BCE48B80373A}" type="slidenum">
              <a:rPr lang="en-GB" smtClean="0"/>
              <a:pPr>
                <a:defRPr/>
              </a:pPr>
              <a:t>48</a:t>
            </a:fld>
            <a:endParaRPr lang="en-GB"/>
          </a:p>
        </p:txBody>
      </p:sp>
      <p:grpSp>
        <p:nvGrpSpPr>
          <p:cNvPr id="28" name="Group 27">
            <a:extLst>
              <a:ext uri="{FF2B5EF4-FFF2-40B4-BE49-F238E27FC236}">
                <a16:creationId xmlns:a16="http://schemas.microsoft.com/office/drawing/2014/main" id="{801690D2-0001-B30E-9CF9-EB7BEA2B16C3}"/>
              </a:ext>
            </a:extLst>
          </p:cNvPr>
          <p:cNvGrpSpPr/>
          <p:nvPr/>
        </p:nvGrpSpPr>
        <p:grpSpPr>
          <a:xfrm>
            <a:off x="2051720" y="2687288"/>
            <a:ext cx="4795275" cy="3011842"/>
            <a:chOff x="1423978" y="2670416"/>
            <a:chExt cx="4795275" cy="3011842"/>
          </a:xfrm>
        </p:grpSpPr>
        <p:sp>
          <p:nvSpPr>
            <p:cNvPr id="8" name="Arrow: Right 7">
              <a:extLst>
                <a:ext uri="{FF2B5EF4-FFF2-40B4-BE49-F238E27FC236}">
                  <a16:creationId xmlns:a16="http://schemas.microsoft.com/office/drawing/2014/main" id="{476C2CE5-AFE2-2BF2-C34F-AC5668834A08}"/>
                </a:ext>
              </a:extLst>
            </p:cNvPr>
            <p:cNvSpPr/>
            <p:nvPr/>
          </p:nvSpPr>
          <p:spPr>
            <a:xfrm>
              <a:off x="1786417" y="3344858"/>
              <a:ext cx="2609290"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descr="Graduation cap with solid fill">
              <a:extLst>
                <a:ext uri="{FF2B5EF4-FFF2-40B4-BE49-F238E27FC236}">
                  <a16:creationId xmlns:a16="http://schemas.microsoft.com/office/drawing/2014/main" id="{1632A66E-46B7-DDF3-EEC0-FE01C90CCFB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71999" y="3081680"/>
              <a:ext cx="761707" cy="761707"/>
            </a:xfrm>
            <a:prstGeom prst="rect">
              <a:avLst/>
            </a:prstGeom>
          </p:spPr>
        </p:pic>
        <p:sp>
          <p:nvSpPr>
            <p:cNvPr id="10" name="Arrow: Right 9">
              <a:extLst>
                <a:ext uri="{FF2B5EF4-FFF2-40B4-BE49-F238E27FC236}">
                  <a16:creationId xmlns:a16="http://schemas.microsoft.com/office/drawing/2014/main" id="{DAC9607D-E5DF-EA9A-8BDB-4C2836A54DDD}"/>
                </a:ext>
              </a:extLst>
            </p:cNvPr>
            <p:cNvSpPr/>
            <p:nvPr/>
          </p:nvSpPr>
          <p:spPr>
            <a:xfrm>
              <a:off x="1786417" y="3933501"/>
              <a:ext cx="1769518"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5C16816F-CA1C-6220-53CB-ADD399040040}"/>
                </a:ext>
              </a:extLst>
            </p:cNvPr>
            <p:cNvSpPr/>
            <p:nvPr/>
          </p:nvSpPr>
          <p:spPr>
            <a:xfrm>
              <a:off x="1786417" y="4562234"/>
              <a:ext cx="3509045" cy="353083"/>
            </a:xfrm>
            <a:prstGeom prst="rightArrow">
              <a:avLst/>
            </a:prstGeom>
            <a:solidFill>
              <a:srgbClr val="00B1C1"/>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Graduation cap with solid fill">
              <a:extLst>
                <a:ext uri="{FF2B5EF4-FFF2-40B4-BE49-F238E27FC236}">
                  <a16:creationId xmlns:a16="http://schemas.microsoft.com/office/drawing/2014/main" id="{CE4A441A-74BB-3810-8F51-5BDAD1155FA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718019" y="3675405"/>
              <a:ext cx="761707" cy="761707"/>
            </a:xfrm>
            <a:prstGeom prst="rect">
              <a:avLst/>
            </a:prstGeom>
          </p:spPr>
        </p:pic>
        <p:pic>
          <p:nvPicPr>
            <p:cNvPr id="13" name="Graphic 12" descr="Graduation cap with solid fill">
              <a:extLst>
                <a:ext uri="{FF2B5EF4-FFF2-40B4-BE49-F238E27FC236}">
                  <a16:creationId xmlns:a16="http://schemas.microsoft.com/office/drawing/2014/main" id="{12B0869A-D3DA-48E6-148E-5915C339D45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457546" y="4286584"/>
              <a:ext cx="761707" cy="761707"/>
            </a:xfrm>
            <a:prstGeom prst="rect">
              <a:avLst/>
            </a:prstGeom>
          </p:spPr>
        </p:pic>
        <p:sp>
          <p:nvSpPr>
            <p:cNvPr id="15" name="TextBox 14">
              <a:extLst>
                <a:ext uri="{FF2B5EF4-FFF2-40B4-BE49-F238E27FC236}">
                  <a16:creationId xmlns:a16="http://schemas.microsoft.com/office/drawing/2014/main" id="{004572FC-A19A-CBE8-9639-8541E8B107FD}"/>
                </a:ext>
              </a:extLst>
            </p:cNvPr>
            <p:cNvSpPr txBox="1"/>
            <p:nvPr/>
          </p:nvSpPr>
          <p:spPr>
            <a:xfrm>
              <a:off x="1423978" y="2670416"/>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904C8547-5DA0-05A3-5882-1A12ECB65402}"/>
                </a:ext>
              </a:extLst>
            </p:cNvPr>
            <p:cNvSpPr/>
            <p:nvPr/>
          </p:nvSpPr>
          <p:spPr>
            <a:xfrm>
              <a:off x="1780171" y="5183729"/>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Graduation cap with solid fill">
              <a:extLst>
                <a:ext uri="{FF2B5EF4-FFF2-40B4-BE49-F238E27FC236}">
                  <a16:creationId xmlns:a16="http://schemas.microsoft.com/office/drawing/2014/main" id="{8C3E6956-7B77-2926-A1F5-4877AC0D067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565753" y="4920551"/>
              <a:ext cx="761707" cy="761707"/>
            </a:xfrm>
            <a:prstGeom prst="rect">
              <a:avLst/>
            </a:prstGeom>
          </p:spPr>
        </p:pic>
        <p:cxnSp>
          <p:nvCxnSpPr>
            <p:cNvPr id="14" name="Straight Connector 13">
              <a:extLst>
                <a:ext uri="{FF2B5EF4-FFF2-40B4-BE49-F238E27FC236}">
                  <a16:creationId xmlns:a16="http://schemas.microsoft.com/office/drawing/2014/main" id="{475FCA9B-4BAD-A046-6014-604F8817D900}"/>
                </a:ext>
              </a:extLst>
            </p:cNvPr>
            <p:cNvCxnSpPr>
              <a:cxnSpLocks/>
            </p:cNvCxnSpPr>
            <p:nvPr/>
          </p:nvCxnSpPr>
          <p:spPr>
            <a:xfrm>
              <a:off x="1786417" y="3166565"/>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6" name="Graphic 5" descr="Office worker female with solid fill">
            <a:extLst>
              <a:ext uri="{FF2B5EF4-FFF2-40B4-BE49-F238E27FC236}">
                <a16:creationId xmlns:a16="http://schemas.microsoft.com/office/drawing/2014/main" id="{F37FCBF8-AB9D-616A-23DD-FA78445F06D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575632" y="3388300"/>
            <a:ext cx="767238" cy="767238"/>
          </a:xfrm>
          <a:prstGeom prst="rect">
            <a:avLst/>
          </a:prstGeom>
        </p:spPr>
      </p:pic>
      <p:pic>
        <p:nvPicPr>
          <p:cNvPr id="7" name="Graphic 6" descr="Office worker female with solid fill">
            <a:extLst>
              <a:ext uri="{FF2B5EF4-FFF2-40B4-BE49-F238E27FC236}">
                <a16:creationId xmlns:a16="http://schemas.microsoft.com/office/drawing/2014/main" id="{12B73679-A7EA-3176-E585-96312F6A2239}"/>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575632" y="4962606"/>
            <a:ext cx="767238" cy="767238"/>
          </a:xfrm>
          <a:prstGeom prst="rect">
            <a:avLst/>
          </a:prstGeom>
        </p:spPr>
      </p:pic>
      <p:pic>
        <p:nvPicPr>
          <p:cNvPr id="16" name="Graphic 15" descr="Close with solid fill">
            <a:extLst>
              <a:ext uri="{FF2B5EF4-FFF2-40B4-BE49-F238E27FC236}">
                <a16:creationId xmlns:a16="http://schemas.microsoft.com/office/drawing/2014/main" id="{755BA707-D5A1-A6F3-3C76-5B6BBE76DE66}"/>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6899224" y="2761407"/>
            <a:ext cx="914400" cy="914400"/>
          </a:xfrm>
          <a:prstGeom prst="rect">
            <a:avLst/>
          </a:prstGeom>
        </p:spPr>
      </p:pic>
      <p:pic>
        <p:nvPicPr>
          <p:cNvPr id="5" name="Graphic 4" descr="Office worker female with solid fill">
            <a:extLst>
              <a:ext uri="{FF2B5EF4-FFF2-40B4-BE49-F238E27FC236}">
                <a16:creationId xmlns:a16="http://schemas.microsoft.com/office/drawing/2014/main" id="{AB4A06CE-C385-AA83-6F4E-2B0D7C61F105}"/>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575632" y="4201019"/>
            <a:ext cx="767238" cy="767238"/>
          </a:xfrm>
          <a:prstGeom prst="rect">
            <a:avLst/>
          </a:prstGeom>
        </p:spPr>
      </p:pic>
    </p:spTree>
    <p:extLst>
      <p:ext uri="{BB962C8B-B14F-4D97-AF65-F5344CB8AC3E}">
        <p14:creationId xmlns:p14="http://schemas.microsoft.com/office/powerpoint/2010/main" val="16533295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A2310-0355-0089-054F-C20D4CB7CDA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CFC22AA-DEAC-1341-C744-94610CB12831}"/>
              </a:ext>
            </a:extLst>
          </p:cNvPr>
          <p:cNvSpPr>
            <a:spLocks noGrp="1"/>
          </p:cNvSpPr>
          <p:nvPr>
            <p:ph type="body" sz="quarter" idx="11"/>
          </p:nvPr>
        </p:nvSpPr>
        <p:spPr/>
        <p:txBody>
          <a:bodyPr/>
          <a:lstStyle/>
          <a:p>
            <a:pPr marL="0" indent="0">
              <a:buNone/>
            </a:pPr>
            <a:r>
              <a:rPr lang="en-GB" dirty="0"/>
              <a:t>Each “row” of the dataset (each individual) must be equally unrelated to every other row</a:t>
            </a:r>
          </a:p>
          <a:p>
            <a:pPr marL="0" indent="0">
              <a:buNone/>
            </a:pPr>
            <a:endParaRPr lang="en-GB" dirty="0"/>
          </a:p>
        </p:txBody>
      </p:sp>
      <p:sp>
        <p:nvSpPr>
          <p:cNvPr id="3" name="Title 2">
            <a:extLst>
              <a:ext uri="{FF2B5EF4-FFF2-40B4-BE49-F238E27FC236}">
                <a16:creationId xmlns:a16="http://schemas.microsoft.com/office/drawing/2014/main" id="{CCACF026-A530-281D-B3D0-4995D491C5AF}"/>
              </a:ext>
            </a:extLst>
          </p:cNvPr>
          <p:cNvSpPr>
            <a:spLocks noGrp="1"/>
          </p:cNvSpPr>
          <p:nvPr>
            <p:ph type="title"/>
          </p:nvPr>
        </p:nvSpPr>
        <p:spPr/>
        <p:txBody>
          <a:bodyPr/>
          <a:lstStyle/>
          <a:p>
            <a:r>
              <a:rPr lang="en-GB" dirty="0"/>
              <a:t>Independence</a:t>
            </a:r>
          </a:p>
        </p:txBody>
      </p:sp>
      <p:sp>
        <p:nvSpPr>
          <p:cNvPr id="4" name="Slide Number Placeholder 3">
            <a:extLst>
              <a:ext uri="{FF2B5EF4-FFF2-40B4-BE49-F238E27FC236}">
                <a16:creationId xmlns:a16="http://schemas.microsoft.com/office/drawing/2014/main" id="{0D632F43-5801-5936-F980-8727A0B493B6}"/>
              </a:ext>
            </a:extLst>
          </p:cNvPr>
          <p:cNvSpPr>
            <a:spLocks noGrp="1"/>
          </p:cNvSpPr>
          <p:nvPr>
            <p:ph type="sldNum" sz="quarter" idx="10"/>
          </p:nvPr>
        </p:nvSpPr>
        <p:spPr/>
        <p:txBody>
          <a:bodyPr/>
          <a:lstStyle/>
          <a:p>
            <a:pPr>
              <a:defRPr/>
            </a:pPr>
            <a:fld id="{CD3FC0C4-D681-4CE5-B41E-BCE48B80373A}" type="slidenum">
              <a:rPr lang="en-GB" smtClean="0"/>
              <a:pPr>
                <a:defRPr/>
              </a:pPr>
              <a:t>49</a:t>
            </a:fld>
            <a:endParaRPr lang="en-GB"/>
          </a:p>
        </p:txBody>
      </p:sp>
      <p:grpSp>
        <p:nvGrpSpPr>
          <p:cNvPr id="28" name="Group 27">
            <a:extLst>
              <a:ext uri="{FF2B5EF4-FFF2-40B4-BE49-F238E27FC236}">
                <a16:creationId xmlns:a16="http://schemas.microsoft.com/office/drawing/2014/main" id="{BE4D240A-2176-399E-38F1-B6AD2344FE78}"/>
              </a:ext>
            </a:extLst>
          </p:cNvPr>
          <p:cNvGrpSpPr/>
          <p:nvPr/>
        </p:nvGrpSpPr>
        <p:grpSpPr>
          <a:xfrm>
            <a:off x="2051720" y="2687288"/>
            <a:ext cx="4795275" cy="3011842"/>
            <a:chOff x="1423978" y="2670416"/>
            <a:chExt cx="4795275" cy="3011842"/>
          </a:xfrm>
        </p:grpSpPr>
        <p:sp>
          <p:nvSpPr>
            <p:cNvPr id="8" name="Arrow: Right 7">
              <a:extLst>
                <a:ext uri="{FF2B5EF4-FFF2-40B4-BE49-F238E27FC236}">
                  <a16:creationId xmlns:a16="http://schemas.microsoft.com/office/drawing/2014/main" id="{DFEFDF68-FAB4-67FB-7B16-F693A44B9134}"/>
                </a:ext>
              </a:extLst>
            </p:cNvPr>
            <p:cNvSpPr/>
            <p:nvPr/>
          </p:nvSpPr>
          <p:spPr>
            <a:xfrm>
              <a:off x="1786417" y="3344858"/>
              <a:ext cx="2609290"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descr="Graduation cap with solid fill">
              <a:extLst>
                <a:ext uri="{FF2B5EF4-FFF2-40B4-BE49-F238E27FC236}">
                  <a16:creationId xmlns:a16="http://schemas.microsoft.com/office/drawing/2014/main" id="{57160445-1BF4-0C22-AFCB-C1C15221C82D}"/>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71999" y="3081680"/>
              <a:ext cx="761707" cy="761707"/>
            </a:xfrm>
            <a:prstGeom prst="rect">
              <a:avLst/>
            </a:prstGeom>
          </p:spPr>
        </p:pic>
        <p:sp>
          <p:nvSpPr>
            <p:cNvPr id="10" name="Arrow: Right 9">
              <a:extLst>
                <a:ext uri="{FF2B5EF4-FFF2-40B4-BE49-F238E27FC236}">
                  <a16:creationId xmlns:a16="http://schemas.microsoft.com/office/drawing/2014/main" id="{C54C1DEA-C38D-398A-22A4-1E331C58F6F2}"/>
                </a:ext>
              </a:extLst>
            </p:cNvPr>
            <p:cNvSpPr/>
            <p:nvPr/>
          </p:nvSpPr>
          <p:spPr>
            <a:xfrm>
              <a:off x="1786417" y="3933501"/>
              <a:ext cx="1769518" cy="353083"/>
            </a:xfrm>
            <a:prstGeom prst="rightArrow">
              <a:avLst/>
            </a:prstGeom>
            <a:solidFill>
              <a:schemeClr val="bg1">
                <a:lumMod val="85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90B9B25D-57B4-9259-9C0D-ACC07BAA08A2}"/>
                </a:ext>
              </a:extLst>
            </p:cNvPr>
            <p:cNvSpPr/>
            <p:nvPr/>
          </p:nvSpPr>
          <p:spPr>
            <a:xfrm>
              <a:off x="1786417" y="4562234"/>
              <a:ext cx="3509045" cy="353083"/>
            </a:xfrm>
            <a:prstGeom prst="rightArrow">
              <a:avLst/>
            </a:prstGeom>
            <a:solidFill>
              <a:srgbClr val="00B1C1"/>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Graduation cap with solid fill">
              <a:extLst>
                <a:ext uri="{FF2B5EF4-FFF2-40B4-BE49-F238E27FC236}">
                  <a16:creationId xmlns:a16="http://schemas.microsoft.com/office/drawing/2014/main" id="{63AA7244-7FA6-50DB-82A8-BA5F51A8953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8019" y="3675405"/>
              <a:ext cx="761707" cy="761707"/>
            </a:xfrm>
            <a:prstGeom prst="rect">
              <a:avLst/>
            </a:prstGeom>
          </p:spPr>
        </p:pic>
        <p:pic>
          <p:nvPicPr>
            <p:cNvPr id="13" name="Graphic 12" descr="Graduation cap with solid fill">
              <a:extLst>
                <a:ext uri="{FF2B5EF4-FFF2-40B4-BE49-F238E27FC236}">
                  <a16:creationId xmlns:a16="http://schemas.microsoft.com/office/drawing/2014/main" id="{B301A5EF-3F4E-2108-5076-4319D91412A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457546" y="4286584"/>
              <a:ext cx="761707" cy="761707"/>
            </a:xfrm>
            <a:prstGeom prst="rect">
              <a:avLst/>
            </a:prstGeom>
          </p:spPr>
        </p:pic>
        <p:sp>
          <p:nvSpPr>
            <p:cNvPr id="15" name="TextBox 14">
              <a:extLst>
                <a:ext uri="{FF2B5EF4-FFF2-40B4-BE49-F238E27FC236}">
                  <a16:creationId xmlns:a16="http://schemas.microsoft.com/office/drawing/2014/main" id="{0F03FE97-04A2-CD5F-6355-2EDEC59683DC}"/>
                </a:ext>
              </a:extLst>
            </p:cNvPr>
            <p:cNvSpPr txBox="1"/>
            <p:nvPr/>
          </p:nvSpPr>
          <p:spPr>
            <a:xfrm>
              <a:off x="1423978" y="2670416"/>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4DD5CE54-6A7A-5665-CE15-6E4C52AB1E08}"/>
                </a:ext>
              </a:extLst>
            </p:cNvPr>
            <p:cNvSpPr/>
            <p:nvPr/>
          </p:nvSpPr>
          <p:spPr>
            <a:xfrm>
              <a:off x="1780171" y="5183729"/>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Graduation cap with solid fill">
              <a:extLst>
                <a:ext uri="{FF2B5EF4-FFF2-40B4-BE49-F238E27FC236}">
                  <a16:creationId xmlns:a16="http://schemas.microsoft.com/office/drawing/2014/main" id="{15EFEC19-CEF9-AF57-F45D-C8ED8D2C7B0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4565753" y="4920551"/>
              <a:ext cx="761707" cy="761707"/>
            </a:xfrm>
            <a:prstGeom prst="rect">
              <a:avLst/>
            </a:prstGeom>
          </p:spPr>
        </p:pic>
        <p:cxnSp>
          <p:nvCxnSpPr>
            <p:cNvPr id="14" name="Straight Connector 13">
              <a:extLst>
                <a:ext uri="{FF2B5EF4-FFF2-40B4-BE49-F238E27FC236}">
                  <a16:creationId xmlns:a16="http://schemas.microsoft.com/office/drawing/2014/main" id="{F8E2E8D0-9A47-CB5C-FD89-4C77178DD861}"/>
                </a:ext>
              </a:extLst>
            </p:cNvPr>
            <p:cNvCxnSpPr>
              <a:cxnSpLocks/>
            </p:cNvCxnSpPr>
            <p:nvPr/>
          </p:nvCxnSpPr>
          <p:spPr>
            <a:xfrm>
              <a:off x="1786417" y="3166565"/>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6" name="Graphic 5" descr="Office worker female with solid fill">
            <a:extLst>
              <a:ext uri="{FF2B5EF4-FFF2-40B4-BE49-F238E27FC236}">
                <a16:creationId xmlns:a16="http://schemas.microsoft.com/office/drawing/2014/main" id="{812DCDFF-092A-C8F5-D54E-65C03C13B37A}"/>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575632" y="3388300"/>
            <a:ext cx="767238" cy="767238"/>
          </a:xfrm>
          <a:prstGeom prst="rect">
            <a:avLst/>
          </a:prstGeom>
        </p:spPr>
      </p:pic>
      <p:pic>
        <p:nvPicPr>
          <p:cNvPr id="7" name="Graphic 6" descr="Office worker female with solid fill">
            <a:extLst>
              <a:ext uri="{FF2B5EF4-FFF2-40B4-BE49-F238E27FC236}">
                <a16:creationId xmlns:a16="http://schemas.microsoft.com/office/drawing/2014/main" id="{78DD3747-05CC-80E3-FAC2-835AFC905FDE}"/>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575632" y="4962606"/>
            <a:ext cx="767238" cy="767238"/>
          </a:xfrm>
          <a:prstGeom prst="rect">
            <a:avLst/>
          </a:prstGeom>
        </p:spPr>
      </p:pic>
      <p:pic>
        <p:nvPicPr>
          <p:cNvPr id="5" name="Graphic 4" descr="Office worker female with solid fill">
            <a:extLst>
              <a:ext uri="{FF2B5EF4-FFF2-40B4-BE49-F238E27FC236}">
                <a16:creationId xmlns:a16="http://schemas.microsoft.com/office/drawing/2014/main" id="{62F90522-598D-543E-ADE1-F2BE37AF0B40}"/>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575632" y="4201019"/>
            <a:ext cx="767238" cy="767238"/>
          </a:xfrm>
          <a:prstGeom prst="rect">
            <a:avLst/>
          </a:prstGeom>
        </p:spPr>
      </p:pic>
      <p:pic>
        <p:nvPicPr>
          <p:cNvPr id="17" name="Graphic 16" descr="Checkmark with solid fill">
            <a:extLst>
              <a:ext uri="{FF2B5EF4-FFF2-40B4-BE49-F238E27FC236}">
                <a16:creationId xmlns:a16="http://schemas.microsoft.com/office/drawing/2014/main" id="{F3D4CFA9-9928-41BF-69BA-FF2335D6DE2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899224" y="2761407"/>
            <a:ext cx="914400" cy="914400"/>
          </a:xfrm>
          <a:prstGeom prst="rect">
            <a:avLst/>
          </a:prstGeom>
        </p:spPr>
      </p:pic>
    </p:spTree>
    <p:extLst>
      <p:ext uri="{BB962C8B-B14F-4D97-AF65-F5344CB8AC3E}">
        <p14:creationId xmlns:p14="http://schemas.microsoft.com/office/powerpoint/2010/main" val="265185150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02A1B-BF37-10B6-B36B-016FE766E7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E1A5783-DBF2-DDDD-C485-BE76CB0D1EFF}"/>
              </a:ext>
            </a:extLst>
          </p:cNvPr>
          <p:cNvSpPr>
            <a:spLocks noGrp="1"/>
          </p:cNvSpPr>
          <p:nvPr>
            <p:ph type="body" sz="quarter" idx="11"/>
          </p:nvPr>
        </p:nvSpPr>
        <p:spPr/>
        <p:txBody>
          <a:bodyPr/>
          <a:lstStyle/>
          <a:p>
            <a:pPr marL="0" indent="0">
              <a:buNone/>
            </a:pPr>
            <a:r>
              <a:rPr lang="en-GB" dirty="0"/>
              <a:t>Like all significance tests, there are </a:t>
            </a:r>
            <a:r>
              <a:rPr lang="en-GB" b="1" dirty="0"/>
              <a:t>assumptions</a:t>
            </a:r>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p:txBody>
      </p:sp>
      <p:sp>
        <p:nvSpPr>
          <p:cNvPr id="3" name="Title 2">
            <a:extLst>
              <a:ext uri="{FF2B5EF4-FFF2-40B4-BE49-F238E27FC236}">
                <a16:creationId xmlns:a16="http://schemas.microsoft.com/office/drawing/2014/main" id="{F11FE0E8-BCF4-6492-8B82-B91731D1A6C4}"/>
              </a:ext>
            </a:extLst>
          </p:cNvPr>
          <p:cNvSpPr>
            <a:spLocks noGrp="1"/>
          </p:cNvSpPr>
          <p:nvPr>
            <p:ph type="title"/>
          </p:nvPr>
        </p:nvSpPr>
        <p:spPr/>
        <p:txBody>
          <a:bodyPr/>
          <a:lstStyle/>
          <a:p>
            <a:r>
              <a:rPr lang="en-GB" dirty="0"/>
              <a:t>Assumptions of log-rank test</a:t>
            </a:r>
          </a:p>
        </p:txBody>
      </p:sp>
      <p:sp>
        <p:nvSpPr>
          <p:cNvPr id="4" name="Slide Number Placeholder 3">
            <a:extLst>
              <a:ext uri="{FF2B5EF4-FFF2-40B4-BE49-F238E27FC236}">
                <a16:creationId xmlns:a16="http://schemas.microsoft.com/office/drawing/2014/main" id="{927EE8CE-AB60-A63D-E98D-9F9E03C63570}"/>
              </a:ext>
            </a:extLst>
          </p:cNvPr>
          <p:cNvSpPr>
            <a:spLocks noGrp="1"/>
          </p:cNvSpPr>
          <p:nvPr>
            <p:ph type="sldNum" sz="quarter" idx="10"/>
          </p:nvPr>
        </p:nvSpPr>
        <p:spPr/>
        <p:txBody>
          <a:bodyPr/>
          <a:lstStyle/>
          <a:p>
            <a:pPr>
              <a:defRPr/>
            </a:pPr>
            <a:fld id="{CD3FC0C4-D681-4CE5-B41E-BCE48B80373A}" type="slidenum">
              <a:rPr lang="en-GB" smtClean="0"/>
              <a:pPr>
                <a:defRPr/>
              </a:pPr>
              <a:t>50</a:t>
            </a:fld>
            <a:endParaRPr lang="en-GB"/>
          </a:p>
        </p:txBody>
      </p:sp>
      <p:sp>
        <p:nvSpPr>
          <p:cNvPr id="5" name="Rectangle 4">
            <a:extLst>
              <a:ext uri="{FF2B5EF4-FFF2-40B4-BE49-F238E27FC236}">
                <a16:creationId xmlns:a16="http://schemas.microsoft.com/office/drawing/2014/main" id="{41708DEB-EE77-3246-6CB1-9E123E0D78FA}"/>
              </a:ext>
            </a:extLst>
          </p:cNvPr>
          <p:cNvSpPr/>
          <p:nvPr/>
        </p:nvSpPr>
        <p:spPr>
          <a:xfrm>
            <a:off x="384175" y="2564904"/>
            <a:ext cx="2747665" cy="423862"/>
          </a:xfrm>
          <a:prstGeom prst="rect">
            <a:avLst/>
          </a:prstGeom>
          <a:solidFill>
            <a:srgbClr val="FFFF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625A96AE-D238-F1A4-3B47-2842AA1284FB}"/>
              </a:ext>
            </a:extLst>
          </p:cNvPr>
          <p:cNvSpPr/>
          <p:nvPr/>
        </p:nvSpPr>
        <p:spPr>
          <a:xfrm>
            <a:off x="467544" y="3425031"/>
            <a:ext cx="3240360" cy="423862"/>
          </a:xfrm>
          <a:prstGeom prst="rect">
            <a:avLst/>
          </a:prstGeom>
          <a:solidFill>
            <a:srgbClr val="FFFF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881028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45F66-5402-80EE-316A-3ABF73965C40}"/>
            </a:ext>
          </a:extLst>
        </p:cNvPr>
        <p:cNvGrpSpPr/>
        <p:nvPr/>
      </p:nvGrpSpPr>
      <p:grpSpPr>
        <a:xfrm>
          <a:off x="0" y="0"/>
          <a:ext cx="0" cy="0"/>
          <a:chOff x="0" y="0"/>
          <a:chExt cx="0" cy="0"/>
        </a:xfrm>
      </p:grpSpPr>
      <p:pic>
        <p:nvPicPr>
          <p:cNvPr id="7" name="Graphic 6" descr="Close with solid fill">
            <a:extLst>
              <a:ext uri="{FF2B5EF4-FFF2-40B4-BE49-F238E27FC236}">
                <a16:creationId xmlns:a16="http://schemas.microsoft.com/office/drawing/2014/main" id="{A7F924C1-25AF-1137-2220-C0C9897A9FE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899224" y="2783039"/>
            <a:ext cx="914400" cy="914400"/>
          </a:xfrm>
          <a:prstGeom prst="rect">
            <a:avLst/>
          </a:prstGeom>
        </p:spPr>
      </p:pic>
      <p:sp>
        <p:nvSpPr>
          <p:cNvPr id="2" name="Text Placeholder 1">
            <a:extLst>
              <a:ext uri="{FF2B5EF4-FFF2-40B4-BE49-F238E27FC236}">
                <a16:creationId xmlns:a16="http://schemas.microsoft.com/office/drawing/2014/main" id="{0A7E7FBD-CB8C-286F-C221-A6A55CCE4931}"/>
              </a:ext>
            </a:extLst>
          </p:cNvPr>
          <p:cNvSpPr>
            <a:spLocks noGrp="1"/>
          </p:cNvSpPr>
          <p:nvPr>
            <p:ph type="body" sz="quarter" idx="11"/>
          </p:nvPr>
        </p:nvSpPr>
        <p:spPr/>
        <p:txBody>
          <a:bodyPr/>
          <a:lstStyle/>
          <a:p>
            <a:pPr marL="0" indent="0">
              <a:buNone/>
            </a:pPr>
            <a:r>
              <a:rPr lang="en-GB" dirty="0"/>
              <a:t>Censoring is not related to survival/event probability;</a:t>
            </a:r>
            <a:br>
              <a:rPr lang="en-GB" dirty="0"/>
            </a:br>
            <a:r>
              <a:rPr lang="en-GB" dirty="0"/>
              <a:t>Probability of being censored is equal for all individuals</a:t>
            </a:r>
          </a:p>
          <a:p>
            <a:pPr marL="0" indent="0">
              <a:buNone/>
            </a:pPr>
            <a:endParaRPr lang="en-GB" dirty="0"/>
          </a:p>
        </p:txBody>
      </p:sp>
      <p:sp>
        <p:nvSpPr>
          <p:cNvPr id="3" name="Title 2">
            <a:extLst>
              <a:ext uri="{FF2B5EF4-FFF2-40B4-BE49-F238E27FC236}">
                <a16:creationId xmlns:a16="http://schemas.microsoft.com/office/drawing/2014/main" id="{4B0928F6-B6CA-E86E-87BB-C995CCB1FF36}"/>
              </a:ext>
            </a:extLst>
          </p:cNvPr>
          <p:cNvSpPr>
            <a:spLocks noGrp="1"/>
          </p:cNvSpPr>
          <p:nvPr>
            <p:ph type="title"/>
          </p:nvPr>
        </p:nvSpPr>
        <p:spPr/>
        <p:txBody>
          <a:bodyPr/>
          <a:lstStyle/>
          <a:p>
            <a:r>
              <a:rPr lang="en-GB" dirty="0"/>
              <a:t>Non-informative censoring</a:t>
            </a:r>
          </a:p>
        </p:txBody>
      </p:sp>
      <p:sp>
        <p:nvSpPr>
          <p:cNvPr id="4" name="Slide Number Placeholder 3">
            <a:extLst>
              <a:ext uri="{FF2B5EF4-FFF2-40B4-BE49-F238E27FC236}">
                <a16:creationId xmlns:a16="http://schemas.microsoft.com/office/drawing/2014/main" id="{05442904-91B5-711C-3EE8-751BF99E79A2}"/>
              </a:ext>
            </a:extLst>
          </p:cNvPr>
          <p:cNvSpPr>
            <a:spLocks noGrp="1"/>
          </p:cNvSpPr>
          <p:nvPr>
            <p:ph type="sldNum" sz="quarter" idx="10"/>
          </p:nvPr>
        </p:nvSpPr>
        <p:spPr/>
        <p:txBody>
          <a:bodyPr/>
          <a:lstStyle/>
          <a:p>
            <a:pPr>
              <a:defRPr/>
            </a:pPr>
            <a:fld id="{CD3FC0C4-D681-4CE5-B41E-BCE48B80373A}" type="slidenum">
              <a:rPr lang="en-GB" smtClean="0"/>
              <a:pPr>
                <a:defRPr/>
              </a:pPr>
              <a:t>51</a:t>
            </a:fld>
            <a:endParaRPr lang="en-GB"/>
          </a:p>
        </p:txBody>
      </p:sp>
      <p:sp>
        <p:nvSpPr>
          <p:cNvPr id="8" name="Arrow: Right 7">
            <a:extLst>
              <a:ext uri="{FF2B5EF4-FFF2-40B4-BE49-F238E27FC236}">
                <a16:creationId xmlns:a16="http://schemas.microsoft.com/office/drawing/2014/main" id="{7CEBAF8D-E801-4733-AC9D-65D10447CEF6}"/>
              </a:ext>
            </a:extLst>
          </p:cNvPr>
          <p:cNvSpPr/>
          <p:nvPr/>
        </p:nvSpPr>
        <p:spPr>
          <a:xfrm>
            <a:off x="2414159" y="3383363"/>
            <a:ext cx="2609290"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2B282C1F-9676-E7CF-AEDF-CE2702539C11}"/>
              </a:ext>
            </a:extLst>
          </p:cNvPr>
          <p:cNvSpPr/>
          <p:nvPr/>
        </p:nvSpPr>
        <p:spPr>
          <a:xfrm>
            <a:off x="2414159" y="4322290"/>
            <a:ext cx="3509045"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9FE9333F-52DD-D670-C668-7D4E3C8D25AD}"/>
              </a:ext>
            </a:extLst>
          </p:cNvPr>
          <p:cNvSpPr txBox="1"/>
          <p:nvPr/>
        </p:nvSpPr>
        <p:spPr>
          <a:xfrm>
            <a:off x="2051720" y="2708920"/>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2077F0AC-4D83-8CE2-F687-977B356719B7}"/>
              </a:ext>
            </a:extLst>
          </p:cNvPr>
          <p:cNvSpPr/>
          <p:nvPr/>
        </p:nvSpPr>
        <p:spPr>
          <a:xfrm>
            <a:off x="2407913" y="5268451"/>
            <a:ext cx="2844000"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Lights On with solid fill">
            <a:extLst>
              <a:ext uri="{FF2B5EF4-FFF2-40B4-BE49-F238E27FC236}">
                <a16:creationId xmlns:a16="http://schemas.microsoft.com/office/drawing/2014/main" id="{7B8D5626-F1D6-92DA-8D18-6971699EAAA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319632" y="3933153"/>
            <a:ext cx="864000" cy="864000"/>
          </a:xfrm>
          <a:prstGeom prst="rect">
            <a:avLst/>
          </a:prstGeom>
        </p:spPr>
      </p:pic>
      <p:sp>
        <p:nvSpPr>
          <p:cNvPr id="5" name="Rectangle 4">
            <a:extLst>
              <a:ext uri="{FF2B5EF4-FFF2-40B4-BE49-F238E27FC236}">
                <a16:creationId xmlns:a16="http://schemas.microsoft.com/office/drawing/2014/main" id="{2DE3EF52-15A8-FDE6-70A8-B145A9FC5A26}"/>
              </a:ext>
            </a:extLst>
          </p:cNvPr>
          <p:cNvSpPr/>
          <p:nvPr/>
        </p:nvSpPr>
        <p:spPr>
          <a:xfrm>
            <a:off x="2407913" y="3878727"/>
            <a:ext cx="2196000"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Graphic 5" descr="Close with solid fill">
            <a:extLst>
              <a:ext uri="{FF2B5EF4-FFF2-40B4-BE49-F238E27FC236}">
                <a16:creationId xmlns:a16="http://schemas.microsoft.com/office/drawing/2014/main" id="{22DFFAD0-30ED-8008-AB94-E6D5FA26481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287738" y="3645024"/>
            <a:ext cx="584727" cy="584727"/>
          </a:xfrm>
          <a:prstGeom prst="rect">
            <a:avLst/>
          </a:prstGeom>
        </p:spPr>
      </p:pic>
      <p:sp>
        <p:nvSpPr>
          <p:cNvPr id="10" name="Rectangle 9">
            <a:extLst>
              <a:ext uri="{FF2B5EF4-FFF2-40B4-BE49-F238E27FC236}">
                <a16:creationId xmlns:a16="http://schemas.microsoft.com/office/drawing/2014/main" id="{4109C8C0-48D1-2A42-6085-3552C6499FBA}"/>
              </a:ext>
            </a:extLst>
          </p:cNvPr>
          <p:cNvSpPr/>
          <p:nvPr/>
        </p:nvSpPr>
        <p:spPr>
          <a:xfrm>
            <a:off x="2428542" y="4854651"/>
            <a:ext cx="2448000"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Close with solid fill">
            <a:extLst>
              <a:ext uri="{FF2B5EF4-FFF2-40B4-BE49-F238E27FC236}">
                <a16:creationId xmlns:a16="http://schemas.microsoft.com/office/drawing/2014/main" id="{B9E94518-D013-8D2F-8A20-E1A40ED2ED6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600730" y="4611045"/>
            <a:ext cx="584727" cy="584727"/>
          </a:xfrm>
          <a:prstGeom prst="rect">
            <a:avLst/>
          </a:prstGeom>
        </p:spPr>
      </p:pic>
      <p:cxnSp>
        <p:nvCxnSpPr>
          <p:cNvPr id="14" name="Straight Connector 13">
            <a:extLst>
              <a:ext uri="{FF2B5EF4-FFF2-40B4-BE49-F238E27FC236}">
                <a16:creationId xmlns:a16="http://schemas.microsoft.com/office/drawing/2014/main" id="{40FA6BE7-8B0A-7733-756D-A32EC1F053AF}"/>
              </a:ext>
            </a:extLst>
          </p:cNvPr>
          <p:cNvCxnSpPr>
            <a:cxnSpLocks/>
          </p:cNvCxnSpPr>
          <p:nvPr/>
        </p:nvCxnSpPr>
        <p:spPr>
          <a:xfrm>
            <a:off x="2414159" y="3205069"/>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2" name="Group 31">
            <a:extLst>
              <a:ext uri="{FF2B5EF4-FFF2-40B4-BE49-F238E27FC236}">
                <a16:creationId xmlns:a16="http://schemas.microsoft.com/office/drawing/2014/main" id="{D180E227-3B0A-3FDA-7B28-A937F5A8277F}"/>
              </a:ext>
            </a:extLst>
          </p:cNvPr>
          <p:cNvGrpSpPr/>
          <p:nvPr/>
        </p:nvGrpSpPr>
        <p:grpSpPr>
          <a:xfrm>
            <a:off x="5133329" y="3195255"/>
            <a:ext cx="474651" cy="572629"/>
            <a:chOff x="5187978" y="3208259"/>
            <a:chExt cx="474651" cy="572629"/>
          </a:xfrm>
        </p:grpSpPr>
        <p:sp>
          <p:nvSpPr>
            <p:cNvPr id="19" name="Freeform: Shape 18">
              <a:extLst>
                <a:ext uri="{FF2B5EF4-FFF2-40B4-BE49-F238E27FC236}">
                  <a16:creationId xmlns:a16="http://schemas.microsoft.com/office/drawing/2014/main" id="{0E050F07-378D-6CA6-0F90-43AB1257046F}"/>
                </a:ext>
              </a:extLst>
            </p:cNvPr>
            <p:cNvSpPr/>
            <p:nvPr/>
          </p:nvSpPr>
          <p:spPr>
            <a:xfrm>
              <a:off x="5341286" y="3667250"/>
              <a:ext cx="168050" cy="42160"/>
            </a:xfrm>
            <a:custGeom>
              <a:avLst/>
              <a:gdLst>
                <a:gd name="csX0" fmla="*/ 146970 w 168050"/>
                <a:gd name="csY0" fmla="*/ 0 h 42160"/>
                <a:gd name="csX1" fmla="*/ 21080 w 168050"/>
                <a:gd name="csY1" fmla="*/ 0 h 42160"/>
                <a:gd name="csX2" fmla="*/ 0 w 168050"/>
                <a:gd name="csY2" fmla="*/ 21080 h 42160"/>
                <a:gd name="csX3" fmla="*/ 21080 w 168050"/>
                <a:gd name="csY3" fmla="*/ 42161 h 42160"/>
                <a:gd name="csX4" fmla="*/ 146970 w 168050"/>
                <a:gd name="csY4" fmla="*/ 42161 h 42160"/>
                <a:gd name="csX5" fmla="*/ 168051 w 168050"/>
                <a:gd name="csY5" fmla="*/ 21080 h 42160"/>
                <a:gd name="csX6" fmla="*/ 146970 w 168050"/>
                <a:gd name="csY6" fmla="*/ 0 h 4216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8050" h="42160">
                  <a:moveTo>
                    <a:pt x="146970" y="0"/>
                  </a:moveTo>
                  <a:lnTo>
                    <a:pt x="21080" y="0"/>
                  </a:lnTo>
                  <a:cubicBezTo>
                    <a:pt x="9438" y="0"/>
                    <a:pt x="0" y="9438"/>
                    <a:pt x="0" y="21080"/>
                  </a:cubicBezTo>
                  <a:cubicBezTo>
                    <a:pt x="0" y="32723"/>
                    <a:pt x="9438" y="42161"/>
                    <a:pt x="21080" y="42161"/>
                  </a:cubicBezTo>
                  <a:lnTo>
                    <a:pt x="146970" y="42161"/>
                  </a:lnTo>
                  <a:cubicBezTo>
                    <a:pt x="158613" y="42161"/>
                    <a:pt x="168051" y="32723"/>
                    <a:pt x="168051" y="21080"/>
                  </a:cubicBezTo>
                  <a:cubicBezTo>
                    <a:pt x="168051" y="9438"/>
                    <a:pt x="158613" y="0"/>
                    <a:pt x="146970" y="0"/>
                  </a:cubicBezTo>
                  <a:close/>
                </a:path>
              </a:pathLst>
            </a:custGeom>
            <a:solidFill>
              <a:srgbClr val="8F2BBC"/>
            </a:solidFill>
            <a:ln w="7243" cap="flat">
              <a:noFill/>
              <a:prstDash val="solid"/>
              <a:miter/>
            </a:ln>
          </p:spPr>
          <p:txBody>
            <a:bodyPr/>
            <a:lstStyle/>
            <a:p>
              <a:endParaRPr lang="en-GB"/>
            </a:p>
          </p:txBody>
        </p:sp>
        <p:sp>
          <p:nvSpPr>
            <p:cNvPr id="20" name="Freeform: Shape 19">
              <a:extLst>
                <a:ext uri="{FF2B5EF4-FFF2-40B4-BE49-F238E27FC236}">
                  <a16:creationId xmlns:a16="http://schemas.microsoft.com/office/drawing/2014/main" id="{DA2FB4B5-F669-BEBC-16B1-9A57EC024667}"/>
                </a:ext>
              </a:extLst>
            </p:cNvPr>
            <p:cNvSpPr/>
            <p:nvPr/>
          </p:nvSpPr>
          <p:spPr>
            <a:xfrm>
              <a:off x="5379643" y="3738669"/>
              <a:ext cx="91336" cy="42219"/>
            </a:xfrm>
            <a:custGeom>
              <a:avLst/>
              <a:gdLst>
                <a:gd name="csX0" fmla="*/ 45672 w 91336"/>
                <a:gd name="csY0" fmla="*/ 42219 h 42219"/>
                <a:gd name="csX1" fmla="*/ 91336 w 91336"/>
                <a:gd name="csY1" fmla="*/ 0 h 42219"/>
                <a:gd name="csX2" fmla="*/ 0 w 91336"/>
                <a:gd name="csY2" fmla="*/ 0 h 42219"/>
                <a:gd name="csX3" fmla="*/ 45672 w 91336"/>
                <a:gd name="csY3" fmla="*/ 42219 h 42219"/>
              </a:gdLst>
              <a:ahLst/>
              <a:cxnLst>
                <a:cxn ang="0">
                  <a:pos x="csX0" y="csY0"/>
                </a:cxn>
                <a:cxn ang="0">
                  <a:pos x="csX1" y="csY1"/>
                </a:cxn>
                <a:cxn ang="0">
                  <a:pos x="csX2" y="csY2"/>
                </a:cxn>
                <a:cxn ang="0">
                  <a:pos x="csX3" y="csY3"/>
                </a:cxn>
              </a:cxnLst>
              <a:rect l="l" t="t" r="r" b="b"/>
              <a:pathLst>
                <a:path w="91336" h="42219">
                  <a:moveTo>
                    <a:pt x="45672" y="42219"/>
                  </a:moveTo>
                  <a:cubicBezTo>
                    <a:pt x="69578" y="42216"/>
                    <a:pt x="89462" y="23832"/>
                    <a:pt x="91336" y="0"/>
                  </a:cubicBezTo>
                  <a:lnTo>
                    <a:pt x="0" y="0"/>
                  </a:lnTo>
                  <a:cubicBezTo>
                    <a:pt x="1875" y="23835"/>
                    <a:pt x="21764" y="42220"/>
                    <a:pt x="45672" y="42219"/>
                  </a:cubicBezTo>
                  <a:close/>
                </a:path>
              </a:pathLst>
            </a:custGeom>
            <a:solidFill>
              <a:srgbClr val="8F2BBC"/>
            </a:solidFill>
            <a:ln w="7243" cap="flat">
              <a:noFill/>
              <a:prstDash val="solid"/>
              <a:miter/>
            </a:ln>
          </p:spPr>
          <p:txBody>
            <a:bodyPr/>
            <a:lstStyle/>
            <a:p>
              <a:endParaRPr lang="en-GB"/>
            </a:p>
          </p:txBody>
        </p:sp>
        <p:sp>
          <p:nvSpPr>
            <p:cNvPr id="21" name="Freeform: Shape 20">
              <a:extLst>
                <a:ext uri="{FF2B5EF4-FFF2-40B4-BE49-F238E27FC236}">
                  <a16:creationId xmlns:a16="http://schemas.microsoft.com/office/drawing/2014/main" id="{0F534B56-638D-279C-FB04-CA03130EB0E6}"/>
                </a:ext>
              </a:extLst>
            </p:cNvPr>
            <p:cNvSpPr/>
            <p:nvPr/>
          </p:nvSpPr>
          <p:spPr>
            <a:xfrm>
              <a:off x="5242628" y="3258603"/>
              <a:ext cx="365352" cy="379396"/>
            </a:xfrm>
            <a:custGeom>
              <a:avLst/>
              <a:gdLst>
                <a:gd name="csX0" fmla="*/ 365352 w 365352"/>
                <a:gd name="csY0" fmla="*/ 186886 h 379396"/>
                <a:gd name="csX1" fmla="*/ 365352 w 365352"/>
                <a:gd name="csY1" fmla="*/ 180566 h 379396"/>
                <a:gd name="csX2" fmla="*/ 182687 w 365352"/>
                <a:gd name="csY2" fmla="*/ 0 h 379396"/>
                <a:gd name="csX3" fmla="*/ 182687 w 365352"/>
                <a:gd name="csY3" fmla="*/ 0 h 379396"/>
                <a:gd name="csX4" fmla="*/ 0 w 365352"/>
                <a:gd name="csY4" fmla="*/ 180566 h 379396"/>
                <a:gd name="csX5" fmla="*/ 0 w 365352"/>
                <a:gd name="csY5" fmla="*/ 186886 h 379396"/>
                <a:gd name="csX6" fmla="*/ 12720 w 365352"/>
                <a:gd name="csY6" fmla="*/ 250120 h 379396"/>
                <a:gd name="csX7" fmla="*/ 44472 w 365352"/>
                <a:gd name="csY7" fmla="*/ 302111 h 379396"/>
                <a:gd name="csX8" fmla="*/ 87262 w 365352"/>
                <a:gd name="csY8" fmla="*/ 371599 h 379396"/>
                <a:gd name="csX9" fmla="*/ 99836 w 365352"/>
                <a:gd name="csY9" fmla="*/ 379396 h 379396"/>
                <a:gd name="csX10" fmla="*/ 265517 w 365352"/>
                <a:gd name="csY10" fmla="*/ 379396 h 379396"/>
                <a:gd name="csX11" fmla="*/ 278098 w 365352"/>
                <a:gd name="csY11" fmla="*/ 371599 h 379396"/>
                <a:gd name="csX12" fmla="*/ 320880 w 365352"/>
                <a:gd name="csY12" fmla="*/ 302111 h 379396"/>
                <a:gd name="csX13" fmla="*/ 352633 w 365352"/>
                <a:gd name="csY13" fmla="*/ 250120 h 379396"/>
                <a:gd name="csX14" fmla="*/ 365352 w 365352"/>
                <a:gd name="csY14" fmla="*/ 186886 h 379396"/>
                <a:gd name="csX15" fmla="*/ 323199 w 365352"/>
                <a:gd name="csY15" fmla="*/ 186154 h 379396"/>
                <a:gd name="csX16" fmla="*/ 313134 w 365352"/>
                <a:gd name="csY16" fmla="*/ 235352 h 379396"/>
                <a:gd name="csX17" fmla="*/ 289384 w 365352"/>
                <a:gd name="csY17" fmla="*/ 273994 h 379396"/>
                <a:gd name="csX18" fmla="*/ 248284 w 365352"/>
                <a:gd name="csY18" fmla="*/ 337221 h 379396"/>
                <a:gd name="csX19" fmla="*/ 117047 w 365352"/>
                <a:gd name="csY19" fmla="*/ 337221 h 379396"/>
                <a:gd name="csX20" fmla="*/ 75947 w 365352"/>
                <a:gd name="csY20" fmla="*/ 273994 h 379396"/>
                <a:gd name="csX21" fmla="*/ 52204 w 365352"/>
                <a:gd name="csY21" fmla="*/ 235352 h 379396"/>
                <a:gd name="csX22" fmla="*/ 42154 w 365352"/>
                <a:gd name="csY22" fmla="*/ 186169 h 379396"/>
                <a:gd name="csX23" fmla="*/ 42154 w 365352"/>
                <a:gd name="csY23" fmla="*/ 180902 h 379396"/>
                <a:gd name="csX24" fmla="*/ 182673 w 365352"/>
                <a:gd name="csY24" fmla="*/ 42154 h 379396"/>
                <a:gd name="csX25" fmla="*/ 182673 w 365352"/>
                <a:gd name="csY25" fmla="*/ 42154 h 379396"/>
                <a:gd name="csX26" fmla="*/ 323184 w 365352"/>
                <a:gd name="csY26" fmla="*/ 180917 h 3793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5352" h="379396">
                  <a:moveTo>
                    <a:pt x="365352" y="186886"/>
                  </a:moveTo>
                  <a:lnTo>
                    <a:pt x="365352" y="180566"/>
                  </a:lnTo>
                  <a:cubicBezTo>
                    <a:pt x="363529" y="80790"/>
                    <a:pt x="282477" y="670"/>
                    <a:pt x="182687" y="0"/>
                  </a:cubicBezTo>
                  <a:lnTo>
                    <a:pt x="182687" y="0"/>
                  </a:lnTo>
                  <a:cubicBezTo>
                    <a:pt x="82890" y="662"/>
                    <a:pt x="1827" y="80784"/>
                    <a:pt x="0" y="180566"/>
                  </a:cubicBezTo>
                  <a:lnTo>
                    <a:pt x="0" y="186886"/>
                  </a:lnTo>
                  <a:cubicBezTo>
                    <a:pt x="682" y="208526"/>
                    <a:pt x="4981" y="229899"/>
                    <a:pt x="12720" y="250120"/>
                  </a:cubicBezTo>
                  <a:cubicBezTo>
                    <a:pt x="20125" y="269202"/>
                    <a:pt x="30878" y="286809"/>
                    <a:pt x="44472" y="302111"/>
                  </a:cubicBezTo>
                  <a:cubicBezTo>
                    <a:pt x="61193" y="320398"/>
                    <a:pt x="79531" y="355858"/>
                    <a:pt x="87262" y="371599"/>
                  </a:cubicBezTo>
                  <a:cubicBezTo>
                    <a:pt x="89632" y="376375"/>
                    <a:pt x="94503" y="379396"/>
                    <a:pt x="99836" y="379396"/>
                  </a:cubicBezTo>
                  <a:lnTo>
                    <a:pt x="265517" y="379396"/>
                  </a:lnTo>
                  <a:cubicBezTo>
                    <a:pt x="270850" y="379394"/>
                    <a:pt x="275723" y="376374"/>
                    <a:pt x="278098" y="371599"/>
                  </a:cubicBezTo>
                  <a:cubicBezTo>
                    <a:pt x="285822" y="355866"/>
                    <a:pt x="304159" y="320398"/>
                    <a:pt x="320880" y="302111"/>
                  </a:cubicBezTo>
                  <a:cubicBezTo>
                    <a:pt x="334474" y="286809"/>
                    <a:pt x="345227" y="269202"/>
                    <a:pt x="352633" y="250120"/>
                  </a:cubicBezTo>
                  <a:cubicBezTo>
                    <a:pt x="360368" y="229898"/>
                    <a:pt x="364667" y="208526"/>
                    <a:pt x="365352" y="186886"/>
                  </a:cubicBezTo>
                  <a:close/>
                  <a:moveTo>
                    <a:pt x="323199" y="186154"/>
                  </a:moveTo>
                  <a:cubicBezTo>
                    <a:pt x="322563" y="202994"/>
                    <a:pt x="319164" y="219615"/>
                    <a:pt x="313134" y="235352"/>
                  </a:cubicBezTo>
                  <a:cubicBezTo>
                    <a:pt x="307561" y="249534"/>
                    <a:pt x="299520" y="262617"/>
                    <a:pt x="289384" y="273994"/>
                  </a:cubicBezTo>
                  <a:cubicBezTo>
                    <a:pt x="273280" y="293406"/>
                    <a:pt x="259488" y="314624"/>
                    <a:pt x="248284" y="337221"/>
                  </a:cubicBezTo>
                  <a:lnTo>
                    <a:pt x="117047" y="337221"/>
                  </a:lnTo>
                  <a:cubicBezTo>
                    <a:pt x="105845" y="314623"/>
                    <a:pt x="92052" y="293405"/>
                    <a:pt x="75947" y="273994"/>
                  </a:cubicBezTo>
                  <a:cubicBezTo>
                    <a:pt x="65810" y="262618"/>
                    <a:pt x="57771" y="249535"/>
                    <a:pt x="52204" y="235352"/>
                  </a:cubicBezTo>
                  <a:cubicBezTo>
                    <a:pt x="46178" y="219620"/>
                    <a:pt x="42783" y="203003"/>
                    <a:pt x="42154" y="186169"/>
                  </a:cubicBezTo>
                  <a:lnTo>
                    <a:pt x="42154" y="180902"/>
                  </a:lnTo>
                  <a:cubicBezTo>
                    <a:pt x="43573" y="104181"/>
                    <a:pt x="105939" y="42601"/>
                    <a:pt x="182673" y="42154"/>
                  </a:cubicBezTo>
                  <a:lnTo>
                    <a:pt x="182673" y="42154"/>
                  </a:lnTo>
                  <a:cubicBezTo>
                    <a:pt x="259412" y="42598"/>
                    <a:pt x="321780" y="104189"/>
                    <a:pt x="323184" y="180917"/>
                  </a:cubicBezTo>
                  <a:close/>
                </a:path>
              </a:pathLst>
            </a:custGeom>
            <a:solidFill>
              <a:srgbClr val="8F2BBC"/>
            </a:solidFill>
            <a:ln w="7243" cap="flat">
              <a:noFill/>
              <a:prstDash val="solid"/>
              <a:miter/>
            </a:ln>
          </p:spPr>
          <p:txBody>
            <a:bodyPr/>
            <a:lstStyle/>
            <a:p>
              <a:endParaRPr lang="en-GB"/>
            </a:p>
          </p:txBody>
        </p:sp>
        <p:pic>
          <p:nvPicPr>
            <p:cNvPr id="31" name="Graphic 30" descr="Close with solid fill">
              <a:extLst>
                <a:ext uri="{FF2B5EF4-FFF2-40B4-BE49-F238E27FC236}">
                  <a16:creationId xmlns:a16="http://schemas.microsoft.com/office/drawing/2014/main" id="{9A69FEFF-F166-C8BD-EB36-FBBEF27CCDCB}"/>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5187978" y="3208259"/>
              <a:ext cx="474651" cy="474651"/>
            </a:xfrm>
            <a:prstGeom prst="rect">
              <a:avLst/>
            </a:prstGeom>
          </p:spPr>
        </p:pic>
      </p:grpSp>
      <p:grpSp>
        <p:nvGrpSpPr>
          <p:cNvPr id="33" name="Group 32">
            <a:extLst>
              <a:ext uri="{FF2B5EF4-FFF2-40B4-BE49-F238E27FC236}">
                <a16:creationId xmlns:a16="http://schemas.microsoft.com/office/drawing/2014/main" id="{7C5EFF27-619A-032E-3B73-33B3DC8AAFDC}"/>
              </a:ext>
            </a:extLst>
          </p:cNvPr>
          <p:cNvGrpSpPr/>
          <p:nvPr/>
        </p:nvGrpSpPr>
        <p:grpSpPr>
          <a:xfrm>
            <a:off x="6028117" y="4134182"/>
            <a:ext cx="474651" cy="572629"/>
            <a:chOff x="5187978" y="3208259"/>
            <a:chExt cx="474651" cy="572629"/>
          </a:xfrm>
        </p:grpSpPr>
        <p:sp>
          <p:nvSpPr>
            <p:cNvPr id="34" name="Freeform: Shape 33">
              <a:extLst>
                <a:ext uri="{FF2B5EF4-FFF2-40B4-BE49-F238E27FC236}">
                  <a16:creationId xmlns:a16="http://schemas.microsoft.com/office/drawing/2014/main" id="{BA3536DF-3C35-7EDE-9CA5-BD472DFE3688}"/>
                </a:ext>
              </a:extLst>
            </p:cNvPr>
            <p:cNvSpPr/>
            <p:nvPr/>
          </p:nvSpPr>
          <p:spPr>
            <a:xfrm>
              <a:off x="5341286" y="3667250"/>
              <a:ext cx="168050" cy="42160"/>
            </a:xfrm>
            <a:custGeom>
              <a:avLst/>
              <a:gdLst>
                <a:gd name="csX0" fmla="*/ 146970 w 168050"/>
                <a:gd name="csY0" fmla="*/ 0 h 42160"/>
                <a:gd name="csX1" fmla="*/ 21080 w 168050"/>
                <a:gd name="csY1" fmla="*/ 0 h 42160"/>
                <a:gd name="csX2" fmla="*/ 0 w 168050"/>
                <a:gd name="csY2" fmla="*/ 21080 h 42160"/>
                <a:gd name="csX3" fmla="*/ 21080 w 168050"/>
                <a:gd name="csY3" fmla="*/ 42161 h 42160"/>
                <a:gd name="csX4" fmla="*/ 146970 w 168050"/>
                <a:gd name="csY4" fmla="*/ 42161 h 42160"/>
                <a:gd name="csX5" fmla="*/ 168051 w 168050"/>
                <a:gd name="csY5" fmla="*/ 21080 h 42160"/>
                <a:gd name="csX6" fmla="*/ 146970 w 168050"/>
                <a:gd name="csY6" fmla="*/ 0 h 4216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8050" h="42160">
                  <a:moveTo>
                    <a:pt x="146970" y="0"/>
                  </a:moveTo>
                  <a:lnTo>
                    <a:pt x="21080" y="0"/>
                  </a:lnTo>
                  <a:cubicBezTo>
                    <a:pt x="9438" y="0"/>
                    <a:pt x="0" y="9438"/>
                    <a:pt x="0" y="21080"/>
                  </a:cubicBezTo>
                  <a:cubicBezTo>
                    <a:pt x="0" y="32723"/>
                    <a:pt x="9438" y="42161"/>
                    <a:pt x="21080" y="42161"/>
                  </a:cubicBezTo>
                  <a:lnTo>
                    <a:pt x="146970" y="42161"/>
                  </a:lnTo>
                  <a:cubicBezTo>
                    <a:pt x="158613" y="42161"/>
                    <a:pt x="168051" y="32723"/>
                    <a:pt x="168051" y="21080"/>
                  </a:cubicBezTo>
                  <a:cubicBezTo>
                    <a:pt x="168051" y="9438"/>
                    <a:pt x="158613" y="0"/>
                    <a:pt x="146970" y="0"/>
                  </a:cubicBezTo>
                  <a:close/>
                </a:path>
              </a:pathLst>
            </a:custGeom>
            <a:solidFill>
              <a:srgbClr val="8F2BBC"/>
            </a:solidFill>
            <a:ln w="7243" cap="flat">
              <a:noFill/>
              <a:prstDash val="solid"/>
              <a:miter/>
            </a:ln>
          </p:spPr>
          <p:txBody>
            <a:bodyPr/>
            <a:lstStyle/>
            <a:p>
              <a:endParaRPr lang="en-GB"/>
            </a:p>
          </p:txBody>
        </p:sp>
        <p:sp>
          <p:nvSpPr>
            <p:cNvPr id="35" name="Freeform: Shape 34">
              <a:extLst>
                <a:ext uri="{FF2B5EF4-FFF2-40B4-BE49-F238E27FC236}">
                  <a16:creationId xmlns:a16="http://schemas.microsoft.com/office/drawing/2014/main" id="{ECF117D2-05D0-D579-7D30-87494C902B4A}"/>
                </a:ext>
              </a:extLst>
            </p:cNvPr>
            <p:cNvSpPr/>
            <p:nvPr/>
          </p:nvSpPr>
          <p:spPr>
            <a:xfrm>
              <a:off x="5379643" y="3738669"/>
              <a:ext cx="91336" cy="42219"/>
            </a:xfrm>
            <a:custGeom>
              <a:avLst/>
              <a:gdLst>
                <a:gd name="csX0" fmla="*/ 45672 w 91336"/>
                <a:gd name="csY0" fmla="*/ 42219 h 42219"/>
                <a:gd name="csX1" fmla="*/ 91336 w 91336"/>
                <a:gd name="csY1" fmla="*/ 0 h 42219"/>
                <a:gd name="csX2" fmla="*/ 0 w 91336"/>
                <a:gd name="csY2" fmla="*/ 0 h 42219"/>
                <a:gd name="csX3" fmla="*/ 45672 w 91336"/>
                <a:gd name="csY3" fmla="*/ 42219 h 42219"/>
              </a:gdLst>
              <a:ahLst/>
              <a:cxnLst>
                <a:cxn ang="0">
                  <a:pos x="csX0" y="csY0"/>
                </a:cxn>
                <a:cxn ang="0">
                  <a:pos x="csX1" y="csY1"/>
                </a:cxn>
                <a:cxn ang="0">
                  <a:pos x="csX2" y="csY2"/>
                </a:cxn>
                <a:cxn ang="0">
                  <a:pos x="csX3" y="csY3"/>
                </a:cxn>
              </a:cxnLst>
              <a:rect l="l" t="t" r="r" b="b"/>
              <a:pathLst>
                <a:path w="91336" h="42219">
                  <a:moveTo>
                    <a:pt x="45672" y="42219"/>
                  </a:moveTo>
                  <a:cubicBezTo>
                    <a:pt x="69578" y="42216"/>
                    <a:pt x="89462" y="23832"/>
                    <a:pt x="91336" y="0"/>
                  </a:cubicBezTo>
                  <a:lnTo>
                    <a:pt x="0" y="0"/>
                  </a:lnTo>
                  <a:cubicBezTo>
                    <a:pt x="1875" y="23835"/>
                    <a:pt x="21764" y="42220"/>
                    <a:pt x="45672" y="42219"/>
                  </a:cubicBezTo>
                  <a:close/>
                </a:path>
              </a:pathLst>
            </a:custGeom>
            <a:solidFill>
              <a:srgbClr val="8F2BBC"/>
            </a:solidFill>
            <a:ln w="7243" cap="flat">
              <a:noFill/>
              <a:prstDash val="solid"/>
              <a:miter/>
            </a:ln>
          </p:spPr>
          <p:txBody>
            <a:bodyPr/>
            <a:lstStyle/>
            <a:p>
              <a:endParaRPr lang="en-GB"/>
            </a:p>
          </p:txBody>
        </p:sp>
        <p:sp>
          <p:nvSpPr>
            <p:cNvPr id="36" name="Freeform: Shape 35">
              <a:extLst>
                <a:ext uri="{FF2B5EF4-FFF2-40B4-BE49-F238E27FC236}">
                  <a16:creationId xmlns:a16="http://schemas.microsoft.com/office/drawing/2014/main" id="{4D53F863-E033-A107-352D-EF1C0EE89626}"/>
                </a:ext>
              </a:extLst>
            </p:cNvPr>
            <p:cNvSpPr/>
            <p:nvPr/>
          </p:nvSpPr>
          <p:spPr>
            <a:xfrm>
              <a:off x="5242628" y="3258603"/>
              <a:ext cx="365352" cy="379396"/>
            </a:xfrm>
            <a:custGeom>
              <a:avLst/>
              <a:gdLst>
                <a:gd name="csX0" fmla="*/ 365352 w 365352"/>
                <a:gd name="csY0" fmla="*/ 186886 h 379396"/>
                <a:gd name="csX1" fmla="*/ 365352 w 365352"/>
                <a:gd name="csY1" fmla="*/ 180566 h 379396"/>
                <a:gd name="csX2" fmla="*/ 182687 w 365352"/>
                <a:gd name="csY2" fmla="*/ 0 h 379396"/>
                <a:gd name="csX3" fmla="*/ 182687 w 365352"/>
                <a:gd name="csY3" fmla="*/ 0 h 379396"/>
                <a:gd name="csX4" fmla="*/ 0 w 365352"/>
                <a:gd name="csY4" fmla="*/ 180566 h 379396"/>
                <a:gd name="csX5" fmla="*/ 0 w 365352"/>
                <a:gd name="csY5" fmla="*/ 186886 h 379396"/>
                <a:gd name="csX6" fmla="*/ 12720 w 365352"/>
                <a:gd name="csY6" fmla="*/ 250120 h 379396"/>
                <a:gd name="csX7" fmla="*/ 44472 w 365352"/>
                <a:gd name="csY7" fmla="*/ 302111 h 379396"/>
                <a:gd name="csX8" fmla="*/ 87262 w 365352"/>
                <a:gd name="csY8" fmla="*/ 371599 h 379396"/>
                <a:gd name="csX9" fmla="*/ 99836 w 365352"/>
                <a:gd name="csY9" fmla="*/ 379396 h 379396"/>
                <a:gd name="csX10" fmla="*/ 265517 w 365352"/>
                <a:gd name="csY10" fmla="*/ 379396 h 379396"/>
                <a:gd name="csX11" fmla="*/ 278098 w 365352"/>
                <a:gd name="csY11" fmla="*/ 371599 h 379396"/>
                <a:gd name="csX12" fmla="*/ 320880 w 365352"/>
                <a:gd name="csY12" fmla="*/ 302111 h 379396"/>
                <a:gd name="csX13" fmla="*/ 352633 w 365352"/>
                <a:gd name="csY13" fmla="*/ 250120 h 379396"/>
                <a:gd name="csX14" fmla="*/ 365352 w 365352"/>
                <a:gd name="csY14" fmla="*/ 186886 h 379396"/>
                <a:gd name="csX15" fmla="*/ 323199 w 365352"/>
                <a:gd name="csY15" fmla="*/ 186154 h 379396"/>
                <a:gd name="csX16" fmla="*/ 313134 w 365352"/>
                <a:gd name="csY16" fmla="*/ 235352 h 379396"/>
                <a:gd name="csX17" fmla="*/ 289384 w 365352"/>
                <a:gd name="csY17" fmla="*/ 273994 h 379396"/>
                <a:gd name="csX18" fmla="*/ 248284 w 365352"/>
                <a:gd name="csY18" fmla="*/ 337221 h 379396"/>
                <a:gd name="csX19" fmla="*/ 117047 w 365352"/>
                <a:gd name="csY19" fmla="*/ 337221 h 379396"/>
                <a:gd name="csX20" fmla="*/ 75947 w 365352"/>
                <a:gd name="csY20" fmla="*/ 273994 h 379396"/>
                <a:gd name="csX21" fmla="*/ 52204 w 365352"/>
                <a:gd name="csY21" fmla="*/ 235352 h 379396"/>
                <a:gd name="csX22" fmla="*/ 42154 w 365352"/>
                <a:gd name="csY22" fmla="*/ 186169 h 379396"/>
                <a:gd name="csX23" fmla="*/ 42154 w 365352"/>
                <a:gd name="csY23" fmla="*/ 180902 h 379396"/>
                <a:gd name="csX24" fmla="*/ 182673 w 365352"/>
                <a:gd name="csY24" fmla="*/ 42154 h 379396"/>
                <a:gd name="csX25" fmla="*/ 182673 w 365352"/>
                <a:gd name="csY25" fmla="*/ 42154 h 379396"/>
                <a:gd name="csX26" fmla="*/ 323184 w 365352"/>
                <a:gd name="csY26" fmla="*/ 180917 h 3793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5352" h="379396">
                  <a:moveTo>
                    <a:pt x="365352" y="186886"/>
                  </a:moveTo>
                  <a:lnTo>
                    <a:pt x="365352" y="180566"/>
                  </a:lnTo>
                  <a:cubicBezTo>
                    <a:pt x="363529" y="80790"/>
                    <a:pt x="282477" y="670"/>
                    <a:pt x="182687" y="0"/>
                  </a:cubicBezTo>
                  <a:lnTo>
                    <a:pt x="182687" y="0"/>
                  </a:lnTo>
                  <a:cubicBezTo>
                    <a:pt x="82890" y="662"/>
                    <a:pt x="1827" y="80784"/>
                    <a:pt x="0" y="180566"/>
                  </a:cubicBezTo>
                  <a:lnTo>
                    <a:pt x="0" y="186886"/>
                  </a:lnTo>
                  <a:cubicBezTo>
                    <a:pt x="682" y="208526"/>
                    <a:pt x="4981" y="229899"/>
                    <a:pt x="12720" y="250120"/>
                  </a:cubicBezTo>
                  <a:cubicBezTo>
                    <a:pt x="20125" y="269202"/>
                    <a:pt x="30878" y="286809"/>
                    <a:pt x="44472" y="302111"/>
                  </a:cubicBezTo>
                  <a:cubicBezTo>
                    <a:pt x="61193" y="320398"/>
                    <a:pt x="79531" y="355858"/>
                    <a:pt x="87262" y="371599"/>
                  </a:cubicBezTo>
                  <a:cubicBezTo>
                    <a:pt x="89632" y="376375"/>
                    <a:pt x="94503" y="379396"/>
                    <a:pt x="99836" y="379396"/>
                  </a:cubicBezTo>
                  <a:lnTo>
                    <a:pt x="265517" y="379396"/>
                  </a:lnTo>
                  <a:cubicBezTo>
                    <a:pt x="270850" y="379394"/>
                    <a:pt x="275723" y="376374"/>
                    <a:pt x="278098" y="371599"/>
                  </a:cubicBezTo>
                  <a:cubicBezTo>
                    <a:pt x="285822" y="355866"/>
                    <a:pt x="304159" y="320398"/>
                    <a:pt x="320880" y="302111"/>
                  </a:cubicBezTo>
                  <a:cubicBezTo>
                    <a:pt x="334474" y="286809"/>
                    <a:pt x="345227" y="269202"/>
                    <a:pt x="352633" y="250120"/>
                  </a:cubicBezTo>
                  <a:cubicBezTo>
                    <a:pt x="360368" y="229898"/>
                    <a:pt x="364667" y="208526"/>
                    <a:pt x="365352" y="186886"/>
                  </a:cubicBezTo>
                  <a:close/>
                  <a:moveTo>
                    <a:pt x="323199" y="186154"/>
                  </a:moveTo>
                  <a:cubicBezTo>
                    <a:pt x="322563" y="202994"/>
                    <a:pt x="319164" y="219615"/>
                    <a:pt x="313134" y="235352"/>
                  </a:cubicBezTo>
                  <a:cubicBezTo>
                    <a:pt x="307561" y="249534"/>
                    <a:pt x="299520" y="262617"/>
                    <a:pt x="289384" y="273994"/>
                  </a:cubicBezTo>
                  <a:cubicBezTo>
                    <a:pt x="273280" y="293406"/>
                    <a:pt x="259488" y="314624"/>
                    <a:pt x="248284" y="337221"/>
                  </a:cubicBezTo>
                  <a:lnTo>
                    <a:pt x="117047" y="337221"/>
                  </a:lnTo>
                  <a:cubicBezTo>
                    <a:pt x="105845" y="314623"/>
                    <a:pt x="92052" y="293405"/>
                    <a:pt x="75947" y="273994"/>
                  </a:cubicBezTo>
                  <a:cubicBezTo>
                    <a:pt x="65810" y="262618"/>
                    <a:pt x="57771" y="249535"/>
                    <a:pt x="52204" y="235352"/>
                  </a:cubicBezTo>
                  <a:cubicBezTo>
                    <a:pt x="46178" y="219620"/>
                    <a:pt x="42783" y="203003"/>
                    <a:pt x="42154" y="186169"/>
                  </a:cubicBezTo>
                  <a:lnTo>
                    <a:pt x="42154" y="180902"/>
                  </a:lnTo>
                  <a:cubicBezTo>
                    <a:pt x="43573" y="104181"/>
                    <a:pt x="105939" y="42601"/>
                    <a:pt x="182673" y="42154"/>
                  </a:cubicBezTo>
                  <a:lnTo>
                    <a:pt x="182673" y="42154"/>
                  </a:lnTo>
                  <a:cubicBezTo>
                    <a:pt x="259412" y="42598"/>
                    <a:pt x="321780" y="104189"/>
                    <a:pt x="323184" y="180917"/>
                  </a:cubicBezTo>
                  <a:close/>
                </a:path>
              </a:pathLst>
            </a:custGeom>
            <a:solidFill>
              <a:srgbClr val="8F2BBC"/>
            </a:solidFill>
            <a:ln w="7243" cap="flat">
              <a:noFill/>
              <a:prstDash val="solid"/>
              <a:miter/>
            </a:ln>
          </p:spPr>
          <p:txBody>
            <a:bodyPr/>
            <a:lstStyle/>
            <a:p>
              <a:endParaRPr lang="en-GB"/>
            </a:p>
          </p:txBody>
        </p:sp>
        <p:pic>
          <p:nvPicPr>
            <p:cNvPr id="37" name="Graphic 36" descr="Close with solid fill">
              <a:extLst>
                <a:ext uri="{FF2B5EF4-FFF2-40B4-BE49-F238E27FC236}">
                  <a16:creationId xmlns:a16="http://schemas.microsoft.com/office/drawing/2014/main" id="{A157E7D3-D9C6-3E0B-6A73-C28F35881D17}"/>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87978" y="3208259"/>
              <a:ext cx="474651" cy="474651"/>
            </a:xfrm>
            <a:prstGeom prst="rect">
              <a:avLst/>
            </a:prstGeom>
          </p:spPr>
        </p:pic>
      </p:grpSp>
      <p:grpSp>
        <p:nvGrpSpPr>
          <p:cNvPr id="38" name="Group 37">
            <a:extLst>
              <a:ext uri="{FF2B5EF4-FFF2-40B4-BE49-F238E27FC236}">
                <a16:creationId xmlns:a16="http://schemas.microsoft.com/office/drawing/2014/main" id="{A138B6D5-D810-3D8D-E52E-7D219342B50F}"/>
              </a:ext>
            </a:extLst>
          </p:cNvPr>
          <p:cNvGrpSpPr/>
          <p:nvPr/>
        </p:nvGrpSpPr>
        <p:grpSpPr>
          <a:xfrm>
            <a:off x="5372918" y="5092243"/>
            <a:ext cx="474651" cy="572629"/>
            <a:chOff x="5187978" y="3208259"/>
            <a:chExt cx="474651" cy="572629"/>
          </a:xfrm>
        </p:grpSpPr>
        <p:sp>
          <p:nvSpPr>
            <p:cNvPr id="39" name="Freeform: Shape 38">
              <a:extLst>
                <a:ext uri="{FF2B5EF4-FFF2-40B4-BE49-F238E27FC236}">
                  <a16:creationId xmlns:a16="http://schemas.microsoft.com/office/drawing/2014/main" id="{CFB17186-B31D-ED86-D8AB-8EAFB17C9811}"/>
                </a:ext>
              </a:extLst>
            </p:cNvPr>
            <p:cNvSpPr/>
            <p:nvPr/>
          </p:nvSpPr>
          <p:spPr>
            <a:xfrm>
              <a:off x="5341286" y="3667250"/>
              <a:ext cx="168050" cy="42160"/>
            </a:xfrm>
            <a:custGeom>
              <a:avLst/>
              <a:gdLst>
                <a:gd name="csX0" fmla="*/ 146970 w 168050"/>
                <a:gd name="csY0" fmla="*/ 0 h 42160"/>
                <a:gd name="csX1" fmla="*/ 21080 w 168050"/>
                <a:gd name="csY1" fmla="*/ 0 h 42160"/>
                <a:gd name="csX2" fmla="*/ 0 w 168050"/>
                <a:gd name="csY2" fmla="*/ 21080 h 42160"/>
                <a:gd name="csX3" fmla="*/ 21080 w 168050"/>
                <a:gd name="csY3" fmla="*/ 42161 h 42160"/>
                <a:gd name="csX4" fmla="*/ 146970 w 168050"/>
                <a:gd name="csY4" fmla="*/ 42161 h 42160"/>
                <a:gd name="csX5" fmla="*/ 168051 w 168050"/>
                <a:gd name="csY5" fmla="*/ 21080 h 42160"/>
                <a:gd name="csX6" fmla="*/ 146970 w 168050"/>
                <a:gd name="csY6" fmla="*/ 0 h 4216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8050" h="42160">
                  <a:moveTo>
                    <a:pt x="146970" y="0"/>
                  </a:moveTo>
                  <a:lnTo>
                    <a:pt x="21080" y="0"/>
                  </a:lnTo>
                  <a:cubicBezTo>
                    <a:pt x="9438" y="0"/>
                    <a:pt x="0" y="9438"/>
                    <a:pt x="0" y="21080"/>
                  </a:cubicBezTo>
                  <a:cubicBezTo>
                    <a:pt x="0" y="32723"/>
                    <a:pt x="9438" y="42161"/>
                    <a:pt x="21080" y="42161"/>
                  </a:cubicBezTo>
                  <a:lnTo>
                    <a:pt x="146970" y="42161"/>
                  </a:lnTo>
                  <a:cubicBezTo>
                    <a:pt x="158613" y="42161"/>
                    <a:pt x="168051" y="32723"/>
                    <a:pt x="168051" y="21080"/>
                  </a:cubicBezTo>
                  <a:cubicBezTo>
                    <a:pt x="168051" y="9438"/>
                    <a:pt x="158613" y="0"/>
                    <a:pt x="146970" y="0"/>
                  </a:cubicBezTo>
                  <a:close/>
                </a:path>
              </a:pathLst>
            </a:custGeom>
            <a:solidFill>
              <a:srgbClr val="8F2BBC"/>
            </a:solidFill>
            <a:ln w="7243" cap="flat">
              <a:noFill/>
              <a:prstDash val="solid"/>
              <a:miter/>
            </a:ln>
          </p:spPr>
          <p:txBody>
            <a:bodyPr/>
            <a:lstStyle/>
            <a:p>
              <a:endParaRPr lang="en-GB"/>
            </a:p>
          </p:txBody>
        </p:sp>
        <p:sp>
          <p:nvSpPr>
            <p:cNvPr id="40" name="Freeform: Shape 39">
              <a:extLst>
                <a:ext uri="{FF2B5EF4-FFF2-40B4-BE49-F238E27FC236}">
                  <a16:creationId xmlns:a16="http://schemas.microsoft.com/office/drawing/2014/main" id="{30BB6EC6-4850-3E9D-8612-82DF5D1514FB}"/>
                </a:ext>
              </a:extLst>
            </p:cNvPr>
            <p:cNvSpPr/>
            <p:nvPr/>
          </p:nvSpPr>
          <p:spPr>
            <a:xfrm>
              <a:off x="5379643" y="3738669"/>
              <a:ext cx="91336" cy="42219"/>
            </a:xfrm>
            <a:custGeom>
              <a:avLst/>
              <a:gdLst>
                <a:gd name="csX0" fmla="*/ 45672 w 91336"/>
                <a:gd name="csY0" fmla="*/ 42219 h 42219"/>
                <a:gd name="csX1" fmla="*/ 91336 w 91336"/>
                <a:gd name="csY1" fmla="*/ 0 h 42219"/>
                <a:gd name="csX2" fmla="*/ 0 w 91336"/>
                <a:gd name="csY2" fmla="*/ 0 h 42219"/>
                <a:gd name="csX3" fmla="*/ 45672 w 91336"/>
                <a:gd name="csY3" fmla="*/ 42219 h 42219"/>
              </a:gdLst>
              <a:ahLst/>
              <a:cxnLst>
                <a:cxn ang="0">
                  <a:pos x="csX0" y="csY0"/>
                </a:cxn>
                <a:cxn ang="0">
                  <a:pos x="csX1" y="csY1"/>
                </a:cxn>
                <a:cxn ang="0">
                  <a:pos x="csX2" y="csY2"/>
                </a:cxn>
                <a:cxn ang="0">
                  <a:pos x="csX3" y="csY3"/>
                </a:cxn>
              </a:cxnLst>
              <a:rect l="l" t="t" r="r" b="b"/>
              <a:pathLst>
                <a:path w="91336" h="42219">
                  <a:moveTo>
                    <a:pt x="45672" y="42219"/>
                  </a:moveTo>
                  <a:cubicBezTo>
                    <a:pt x="69578" y="42216"/>
                    <a:pt x="89462" y="23832"/>
                    <a:pt x="91336" y="0"/>
                  </a:cubicBezTo>
                  <a:lnTo>
                    <a:pt x="0" y="0"/>
                  </a:lnTo>
                  <a:cubicBezTo>
                    <a:pt x="1875" y="23835"/>
                    <a:pt x="21764" y="42220"/>
                    <a:pt x="45672" y="42219"/>
                  </a:cubicBezTo>
                  <a:close/>
                </a:path>
              </a:pathLst>
            </a:custGeom>
            <a:solidFill>
              <a:srgbClr val="8F2BBC"/>
            </a:solidFill>
            <a:ln w="7243" cap="flat">
              <a:noFill/>
              <a:prstDash val="solid"/>
              <a:miter/>
            </a:ln>
          </p:spPr>
          <p:txBody>
            <a:bodyPr/>
            <a:lstStyle/>
            <a:p>
              <a:endParaRPr lang="en-GB"/>
            </a:p>
          </p:txBody>
        </p:sp>
        <p:sp>
          <p:nvSpPr>
            <p:cNvPr id="41" name="Freeform: Shape 40">
              <a:extLst>
                <a:ext uri="{FF2B5EF4-FFF2-40B4-BE49-F238E27FC236}">
                  <a16:creationId xmlns:a16="http://schemas.microsoft.com/office/drawing/2014/main" id="{70F9BC4F-FBFA-F9A4-EEC9-1827A010C4E3}"/>
                </a:ext>
              </a:extLst>
            </p:cNvPr>
            <p:cNvSpPr/>
            <p:nvPr/>
          </p:nvSpPr>
          <p:spPr>
            <a:xfrm>
              <a:off x="5242628" y="3258603"/>
              <a:ext cx="365352" cy="379396"/>
            </a:xfrm>
            <a:custGeom>
              <a:avLst/>
              <a:gdLst>
                <a:gd name="csX0" fmla="*/ 365352 w 365352"/>
                <a:gd name="csY0" fmla="*/ 186886 h 379396"/>
                <a:gd name="csX1" fmla="*/ 365352 w 365352"/>
                <a:gd name="csY1" fmla="*/ 180566 h 379396"/>
                <a:gd name="csX2" fmla="*/ 182687 w 365352"/>
                <a:gd name="csY2" fmla="*/ 0 h 379396"/>
                <a:gd name="csX3" fmla="*/ 182687 w 365352"/>
                <a:gd name="csY3" fmla="*/ 0 h 379396"/>
                <a:gd name="csX4" fmla="*/ 0 w 365352"/>
                <a:gd name="csY4" fmla="*/ 180566 h 379396"/>
                <a:gd name="csX5" fmla="*/ 0 w 365352"/>
                <a:gd name="csY5" fmla="*/ 186886 h 379396"/>
                <a:gd name="csX6" fmla="*/ 12720 w 365352"/>
                <a:gd name="csY6" fmla="*/ 250120 h 379396"/>
                <a:gd name="csX7" fmla="*/ 44472 w 365352"/>
                <a:gd name="csY7" fmla="*/ 302111 h 379396"/>
                <a:gd name="csX8" fmla="*/ 87262 w 365352"/>
                <a:gd name="csY8" fmla="*/ 371599 h 379396"/>
                <a:gd name="csX9" fmla="*/ 99836 w 365352"/>
                <a:gd name="csY9" fmla="*/ 379396 h 379396"/>
                <a:gd name="csX10" fmla="*/ 265517 w 365352"/>
                <a:gd name="csY10" fmla="*/ 379396 h 379396"/>
                <a:gd name="csX11" fmla="*/ 278098 w 365352"/>
                <a:gd name="csY11" fmla="*/ 371599 h 379396"/>
                <a:gd name="csX12" fmla="*/ 320880 w 365352"/>
                <a:gd name="csY12" fmla="*/ 302111 h 379396"/>
                <a:gd name="csX13" fmla="*/ 352633 w 365352"/>
                <a:gd name="csY13" fmla="*/ 250120 h 379396"/>
                <a:gd name="csX14" fmla="*/ 365352 w 365352"/>
                <a:gd name="csY14" fmla="*/ 186886 h 379396"/>
                <a:gd name="csX15" fmla="*/ 323199 w 365352"/>
                <a:gd name="csY15" fmla="*/ 186154 h 379396"/>
                <a:gd name="csX16" fmla="*/ 313134 w 365352"/>
                <a:gd name="csY16" fmla="*/ 235352 h 379396"/>
                <a:gd name="csX17" fmla="*/ 289384 w 365352"/>
                <a:gd name="csY17" fmla="*/ 273994 h 379396"/>
                <a:gd name="csX18" fmla="*/ 248284 w 365352"/>
                <a:gd name="csY18" fmla="*/ 337221 h 379396"/>
                <a:gd name="csX19" fmla="*/ 117047 w 365352"/>
                <a:gd name="csY19" fmla="*/ 337221 h 379396"/>
                <a:gd name="csX20" fmla="*/ 75947 w 365352"/>
                <a:gd name="csY20" fmla="*/ 273994 h 379396"/>
                <a:gd name="csX21" fmla="*/ 52204 w 365352"/>
                <a:gd name="csY21" fmla="*/ 235352 h 379396"/>
                <a:gd name="csX22" fmla="*/ 42154 w 365352"/>
                <a:gd name="csY22" fmla="*/ 186169 h 379396"/>
                <a:gd name="csX23" fmla="*/ 42154 w 365352"/>
                <a:gd name="csY23" fmla="*/ 180902 h 379396"/>
                <a:gd name="csX24" fmla="*/ 182673 w 365352"/>
                <a:gd name="csY24" fmla="*/ 42154 h 379396"/>
                <a:gd name="csX25" fmla="*/ 182673 w 365352"/>
                <a:gd name="csY25" fmla="*/ 42154 h 379396"/>
                <a:gd name="csX26" fmla="*/ 323184 w 365352"/>
                <a:gd name="csY26" fmla="*/ 180917 h 3793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5352" h="379396">
                  <a:moveTo>
                    <a:pt x="365352" y="186886"/>
                  </a:moveTo>
                  <a:lnTo>
                    <a:pt x="365352" y="180566"/>
                  </a:lnTo>
                  <a:cubicBezTo>
                    <a:pt x="363529" y="80790"/>
                    <a:pt x="282477" y="670"/>
                    <a:pt x="182687" y="0"/>
                  </a:cubicBezTo>
                  <a:lnTo>
                    <a:pt x="182687" y="0"/>
                  </a:lnTo>
                  <a:cubicBezTo>
                    <a:pt x="82890" y="662"/>
                    <a:pt x="1827" y="80784"/>
                    <a:pt x="0" y="180566"/>
                  </a:cubicBezTo>
                  <a:lnTo>
                    <a:pt x="0" y="186886"/>
                  </a:lnTo>
                  <a:cubicBezTo>
                    <a:pt x="682" y="208526"/>
                    <a:pt x="4981" y="229899"/>
                    <a:pt x="12720" y="250120"/>
                  </a:cubicBezTo>
                  <a:cubicBezTo>
                    <a:pt x="20125" y="269202"/>
                    <a:pt x="30878" y="286809"/>
                    <a:pt x="44472" y="302111"/>
                  </a:cubicBezTo>
                  <a:cubicBezTo>
                    <a:pt x="61193" y="320398"/>
                    <a:pt x="79531" y="355858"/>
                    <a:pt x="87262" y="371599"/>
                  </a:cubicBezTo>
                  <a:cubicBezTo>
                    <a:pt x="89632" y="376375"/>
                    <a:pt x="94503" y="379396"/>
                    <a:pt x="99836" y="379396"/>
                  </a:cubicBezTo>
                  <a:lnTo>
                    <a:pt x="265517" y="379396"/>
                  </a:lnTo>
                  <a:cubicBezTo>
                    <a:pt x="270850" y="379394"/>
                    <a:pt x="275723" y="376374"/>
                    <a:pt x="278098" y="371599"/>
                  </a:cubicBezTo>
                  <a:cubicBezTo>
                    <a:pt x="285822" y="355866"/>
                    <a:pt x="304159" y="320398"/>
                    <a:pt x="320880" y="302111"/>
                  </a:cubicBezTo>
                  <a:cubicBezTo>
                    <a:pt x="334474" y="286809"/>
                    <a:pt x="345227" y="269202"/>
                    <a:pt x="352633" y="250120"/>
                  </a:cubicBezTo>
                  <a:cubicBezTo>
                    <a:pt x="360368" y="229898"/>
                    <a:pt x="364667" y="208526"/>
                    <a:pt x="365352" y="186886"/>
                  </a:cubicBezTo>
                  <a:close/>
                  <a:moveTo>
                    <a:pt x="323199" y="186154"/>
                  </a:moveTo>
                  <a:cubicBezTo>
                    <a:pt x="322563" y="202994"/>
                    <a:pt x="319164" y="219615"/>
                    <a:pt x="313134" y="235352"/>
                  </a:cubicBezTo>
                  <a:cubicBezTo>
                    <a:pt x="307561" y="249534"/>
                    <a:pt x="299520" y="262617"/>
                    <a:pt x="289384" y="273994"/>
                  </a:cubicBezTo>
                  <a:cubicBezTo>
                    <a:pt x="273280" y="293406"/>
                    <a:pt x="259488" y="314624"/>
                    <a:pt x="248284" y="337221"/>
                  </a:cubicBezTo>
                  <a:lnTo>
                    <a:pt x="117047" y="337221"/>
                  </a:lnTo>
                  <a:cubicBezTo>
                    <a:pt x="105845" y="314623"/>
                    <a:pt x="92052" y="293405"/>
                    <a:pt x="75947" y="273994"/>
                  </a:cubicBezTo>
                  <a:cubicBezTo>
                    <a:pt x="65810" y="262618"/>
                    <a:pt x="57771" y="249535"/>
                    <a:pt x="52204" y="235352"/>
                  </a:cubicBezTo>
                  <a:cubicBezTo>
                    <a:pt x="46178" y="219620"/>
                    <a:pt x="42783" y="203003"/>
                    <a:pt x="42154" y="186169"/>
                  </a:cubicBezTo>
                  <a:lnTo>
                    <a:pt x="42154" y="180902"/>
                  </a:lnTo>
                  <a:cubicBezTo>
                    <a:pt x="43573" y="104181"/>
                    <a:pt x="105939" y="42601"/>
                    <a:pt x="182673" y="42154"/>
                  </a:cubicBezTo>
                  <a:lnTo>
                    <a:pt x="182673" y="42154"/>
                  </a:lnTo>
                  <a:cubicBezTo>
                    <a:pt x="259412" y="42598"/>
                    <a:pt x="321780" y="104189"/>
                    <a:pt x="323184" y="180917"/>
                  </a:cubicBezTo>
                  <a:close/>
                </a:path>
              </a:pathLst>
            </a:custGeom>
            <a:solidFill>
              <a:srgbClr val="8F2BBC"/>
            </a:solidFill>
            <a:ln w="7243" cap="flat">
              <a:noFill/>
              <a:prstDash val="solid"/>
              <a:miter/>
            </a:ln>
          </p:spPr>
          <p:txBody>
            <a:bodyPr/>
            <a:lstStyle/>
            <a:p>
              <a:endParaRPr lang="en-GB"/>
            </a:p>
          </p:txBody>
        </p:sp>
        <p:pic>
          <p:nvPicPr>
            <p:cNvPr id="42" name="Graphic 41" descr="Close with solid fill">
              <a:extLst>
                <a:ext uri="{FF2B5EF4-FFF2-40B4-BE49-F238E27FC236}">
                  <a16:creationId xmlns:a16="http://schemas.microsoft.com/office/drawing/2014/main" id="{8F10CDF6-D686-CFF2-7677-4C40F552AE07}"/>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87978" y="3208259"/>
              <a:ext cx="474651" cy="474651"/>
            </a:xfrm>
            <a:prstGeom prst="rect">
              <a:avLst/>
            </a:prstGeom>
          </p:spPr>
        </p:pic>
      </p:grpSp>
    </p:spTree>
    <p:extLst>
      <p:ext uri="{BB962C8B-B14F-4D97-AF65-F5344CB8AC3E}">
        <p14:creationId xmlns:p14="http://schemas.microsoft.com/office/powerpoint/2010/main" val="20141370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53F24-C8A1-BF65-1B41-EB653879A283}"/>
            </a:ext>
          </a:extLst>
        </p:cNvPr>
        <p:cNvGrpSpPr/>
        <p:nvPr/>
      </p:nvGrpSpPr>
      <p:grpSpPr>
        <a:xfrm>
          <a:off x="0" y="0"/>
          <a:ext cx="0" cy="0"/>
          <a:chOff x="0" y="0"/>
          <a:chExt cx="0" cy="0"/>
        </a:xfrm>
      </p:grpSpPr>
      <p:pic>
        <p:nvPicPr>
          <p:cNvPr id="7" name="Graphic 6" descr="Close with solid fill">
            <a:extLst>
              <a:ext uri="{FF2B5EF4-FFF2-40B4-BE49-F238E27FC236}">
                <a16:creationId xmlns:a16="http://schemas.microsoft.com/office/drawing/2014/main" id="{F8C98214-8611-ED68-7F21-BDC619DB41D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899224" y="2783039"/>
            <a:ext cx="914400" cy="914400"/>
          </a:xfrm>
          <a:prstGeom prst="rect">
            <a:avLst/>
          </a:prstGeom>
        </p:spPr>
      </p:pic>
      <p:sp>
        <p:nvSpPr>
          <p:cNvPr id="2" name="Text Placeholder 1">
            <a:extLst>
              <a:ext uri="{FF2B5EF4-FFF2-40B4-BE49-F238E27FC236}">
                <a16:creationId xmlns:a16="http://schemas.microsoft.com/office/drawing/2014/main" id="{41232A02-CD90-3A72-C55D-22E84EDCECEC}"/>
              </a:ext>
            </a:extLst>
          </p:cNvPr>
          <p:cNvSpPr>
            <a:spLocks noGrp="1"/>
          </p:cNvSpPr>
          <p:nvPr>
            <p:ph type="body" sz="quarter" idx="11"/>
          </p:nvPr>
        </p:nvSpPr>
        <p:spPr/>
        <p:txBody>
          <a:bodyPr/>
          <a:lstStyle/>
          <a:p>
            <a:pPr marL="0" indent="0">
              <a:buNone/>
            </a:pPr>
            <a:r>
              <a:rPr lang="en-GB" dirty="0"/>
              <a:t>Censoring is not related to survival/event probability;</a:t>
            </a:r>
            <a:br>
              <a:rPr lang="en-GB" dirty="0"/>
            </a:br>
            <a:r>
              <a:rPr lang="en-GB" dirty="0"/>
              <a:t>Probability of being censored is equal for all individuals</a:t>
            </a:r>
          </a:p>
          <a:p>
            <a:pPr marL="0" indent="0">
              <a:buNone/>
            </a:pPr>
            <a:endParaRPr lang="en-GB" dirty="0"/>
          </a:p>
        </p:txBody>
      </p:sp>
      <p:sp>
        <p:nvSpPr>
          <p:cNvPr id="3" name="Title 2">
            <a:extLst>
              <a:ext uri="{FF2B5EF4-FFF2-40B4-BE49-F238E27FC236}">
                <a16:creationId xmlns:a16="http://schemas.microsoft.com/office/drawing/2014/main" id="{EE1E884D-9A86-43EE-E4FB-251F7A90FB1B}"/>
              </a:ext>
            </a:extLst>
          </p:cNvPr>
          <p:cNvSpPr>
            <a:spLocks noGrp="1"/>
          </p:cNvSpPr>
          <p:nvPr>
            <p:ph type="title"/>
          </p:nvPr>
        </p:nvSpPr>
        <p:spPr/>
        <p:txBody>
          <a:bodyPr/>
          <a:lstStyle/>
          <a:p>
            <a:r>
              <a:rPr lang="en-GB" dirty="0"/>
              <a:t>Non-informative censoring</a:t>
            </a:r>
          </a:p>
        </p:txBody>
      </p:sp>
      <p:sp>
        <p:nvSpPr>
          <p:cNvPr id="4" name="Slide Number Placeholder 3">
            <a:extLst>
              <a:ext uri="{FF2B5EF4-FFF2-40B4-BE49-F238E27FC236}">
                <a16:creationId xmlns:a16="http://schemas.microsoft.com/office/drawing/2014/main" id="{4931E6CC-5319-F5B8-8CE9-3305DFD9031C}"/>
              </a:ext>
            </a:extLst>
          </p:cNvPr>
          <p:cNvSpPr>
            <a:spLocks noGrp="1"/>
          </p:cNvSpPr>
          <p:nvPr>
            <p:ph type="sldNum" sz="quarter" idx="10"/>
          </p:nvPr>
        </p:nvSpPr>
        <p:spPr/>
        <p:txBody>
          <a:bodyPr/>
          <a:lstStyle/>
          <a:p>
            <a:pPr>
              <a:defRPr/>
            </a:pPr>
            <a:fld id="{CD3FC0C4-D681-4CE5-B41E-BCE48B80373A}" type="slidenum">
              <a:rPr lang="en-GB" smtClean="0"/>
              <a:pPr>
                <a:defRPr/>
              </a:pPr>
              <a:t>52</a:t>
            </a:fld>
            <a:endParaRPr lang="en-GB"/>
          </a:p>
        </p:txBody>
      </p:sp>
      <p:grpSp>
        <p:nvGrpSpPr>
          <p:cNvPr id="47" name="Group 46">
            <a:extLst>
              <a:ext uri="{FF2B5EF4-FFF2-40B4-BE49-F238E27FC236}">
                <a16:creationId xmlns:a16="http://schemas.microsoft.com/office/drawing/2014/main" id="{113A2813-1B03-FC50-C510-899940C3E1E3}"/>
              </a:ext>
            </a:extLst>
          </p:cNvPr>
          <p:cNvGrpSpPr/>
          <p:nvPr/>
        </p:nvGrpSpPr>
        <p:grpSpPr>
          <a:xfrm>
            <a:off x="1302207" y="2636912"/>
            <a:ext cx="5185219" cy="3241671"/>
            <a:chOff x="1302207" y="2636912"/>
            <a:chExt cx="5185219" cy="3241671"/>
          </a:xfrm>
        </p:grpSpPr>
        <p:sp>
          <p:nvSpPr>
            <p:cNvPr id="15" name="TextBox 14">
              <a:extLst>
                <a:ext uri="{FF2B5EF4-FFF2-40B4-BE49-F238E27FC236}">
                  <a16:creationId xmlns:a16="http://schemas.microsoft.com/office/drawing/2014/main" id="{6F4BABAC-2B3E-D076-D297-C1C49CD21B93}"/>
                </a:ext>
              </a:extLst>
            </p:cNvPr>
            <p:cNvSpPr txBox="1"/>
            <p:nvPr/>
          </p:nvSpPr>
          <p:spPr>
            <a:xfrm>
              <a:off x="2051720" y="2636912"/>
              <a:ext cx="724878" cy="400110"/>
            </a:xfrm>
            <a:prstGeom prst="rect">
              <a:avLst/>
            </a:prstGeom>
            <a:noFill/>
          </p:spPr>
          <p:txBody>
            <a:bodyPr wrap="none" rtlCol="0">
              <a:spAutoFit/>
            </a:bodyPr>
            <a:lstStyle/>
            <a:p>
              <a:r>
                <a:rPr lang="en-GB" sz="2000" dirty="0"/>
                <a:t>Start</a:t>
              </a:r>
            </a:p>
          </p:txBody>
        </p:sp>
        <p:sp>
          <p:nvSpPr>
            <p:cNvPr id="5" name="Rectangle 4">
              <a:extLst>
                <a:ext uri="{FF2B5EF4-FFF2-40B4-BE49-F238E27FC236}">
                  <a16:creationId xmlns:a16="http://schemas.microsoft.com/office/drawing/2014/main" id="{6D55D597-CB52-3D06-B14F-2EB59351194F}"/>
                </a:ext>
              </a:extLst>
            </p:cNvPr>
            <p:cNvSpPr/>
            <p:nvPr/>
          </p:nvSpPr>
          <p:spPr>
            <a:xfrm>
              <a:off x="2425608" y="3556141"/>
              <a:ext cx="2196000"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Graphic 5" descr="Close with solid fill">
              <a:extLst>
                <a:ext uri="{FF2B5EF4-FFF2-40B4-BE49-F238E27FC236}">
                  <a16:creationId xmlns:a16="http://schemas.microsoft.com/office/drawing/2014/main" id="{31A354F1-4096-1A3D-BF95-9A717FDF3B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367271" y="3364025"/>
              <a:ext cx="504000" cy="504000"/>
            </a:xfrm>
            <a:prstGeom prst="rect">
              <a:avLst/>
            </a:prstGeom>
          </p:spPr>
        </p:pic>
        <p:pic>
          <p:nvPicPr>
            <p:cNvPr id="17" name="Graphic 16" descr="Inpatient with solid fill">
              <a:extLst>
                <a:ext uri="{FF2B5EF4-FFF2-40B4-BE49-F238E27FC236}">
                  <a16:creationId xmlns:a16="http://schemas.microsoft.com/office/drawing/2014/main" id="{BB584774-C921-86E9-3A15-0FEB5B2157A4}"/>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302207" y="3148739"/>
              <a:ext cx="914400" cy="914400"/>
            </a:xfrm>
            <a:prstGeom prst="rect">
              <a:avLst/>
            </a:prstGeom>
          </p:spPr>
        </p:pic>
        <p:pic>
          <p:nvPicPr>
            <p:cNvPr id="18" name="Graphic 17" descr="Man with solid fill">
              <a:extLst>
                <a:ext uri="{FF2B5EF4-FFF2-40B4-BE49-F238E27FC236}">
                  <a16:creationId xmlns:a16="http://schemas.microsoft.com/office/drawing/2014/main" id="{283C9B70-2BC5-4BD0-8F20-8D74C1404D44}"/>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307152" y="4858653"/>
              <a:ext cx="914400" cy="914400"/>
            </a:xfrm>
            <a:prstGeom prst="rect">
              <a:avLst/>
            </a:prstGeom>
          </p:spPr>
        </p:pic>
        <p:sp>
          <p:nvSpPr>
            <p:cNvPr id="10" name="Arrow: Right 9">
              <a:extLst>
                <a:ext uri="{FF2B5EF4-FFF2-40B4-BE49-F238E27FC236}">
                  <a16:creationId xmlns:a16="http://schemas.microsoft.com/office/drawing/2014/main" id="{956F6F30-81D3-FAB3-C586-29E1572DF7A1}"/>
                </a:ext>
              </a:extLst>
            </p:cNvPr>
            <p:cNvSpPr/>
            <p:nvPr/>
          </p:nvSpPr>
          <p:spPr>
            <a:xfrm>
              <a:off x="2425608" y="3841143"/>
              <a:ext cx="1385922"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8FD9588E-A9DA-DD52-0E69-F6937A851404}"/>
                </a:ext>
              </a:extLst>
            </p:cNvPr>
            <p:cNvSpPr/>
            <p:nvPr/>
          </p:nvSpPr>
          <p:spPr>
            <a:xfrm>
              <a:off x="2419931" y="4215096"/>
              <a:ext cx="2495371"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Graphic 18" descr="Close with solid fill">
              <a:extLst>
                <a:ext uri="{FF2B5EF4-FFF2-40B4-BE49-F238E27FC236}">
                  <a16:creationId xmlns:a16="http://schemas.microsoft.com/office/drawing/2014/main" id="{E56CB2FE-5F3D-CB35-DE0E-4B274EAEDDC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660965" y="4022980"/>
              <a:ext cx="504000" cy="504000"/>
            </a:xfrm>
            <a:prstGeom prst="rect">
              <a:avLst/>
            </a:prstGeom>
          </p:spPr>
        </p:pic>
        <p:sp>
          <p:nvSpPr>
            <p:cNvPr id="20" name="Arrow: Right 19">
              <a:extLst>
                <a:ext uri="{FF2B5EF4-FFF2-40B4-BE49-F238E27FC236}">
                  <a16:creationId xmlns:a16="http://schemas.microsoft.com/office/drawing/2014/main" id="{80E80534-561C-C5E2-8F3B-6CC27E5FC873}"/>
                </a:ext>
              </a:extLst>
            </p:cNvPr>
            <p:cNvSpPr/>
            <p:nvPr/>
          </p:nvSpPr>
          <p:spPr>
            <a:xfrm>
              <a:off x="2425608" y="4499805"/>
              <a:ext cx="3442536"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Arrow: Right 21">
              <a:extLst>
                <a:ext uri="{FF2B5EF4-FFF2-40B4-BE49-F238E27FC236}">
                  <a16:creationId xmlns:a16="http://schemas.microsoft.com/office/drawing/2014/main" id="{14298C7A-9315-9FB5-CD6D-87620C01BBEE}"/>
                </a:ext>
              </a:extLst>
            </p:cNvPr>
            <p:cNvSpPr/>
            <p:nvPr/>
          </p:nvSpPr>
          <p:spPr>
            <a:xfrm>
              <a:off x="2425608" y="4826876"/>
              <a:ext cx="1584000"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extLst>
                <a:ext uri="{FF2B5EF4-FFF2-40B4-BE49-F238E27FC236}">
                  <a16:creationId xmlns:a16="http://schemas.microsoft.com/office/drawing/2014/main" id="{CDB3497F-9309-1C39-7421-62709218D9B3}"/>
                </a:ext>
              </a:extLst>
            </p:cNvPr>
            <p:cNvSpPr/>
            <p:nvPr/>
          </p:nvSpPr>
          <p:spPr>
            <a:xfrm>
              <a:off x="2419932" y="5198528"/>
              <a:ext cx="2654912"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Graphic 26" descr="Close with solid fill">
              <a:extLst>
                <a:ext uri="{FF2B5EF4-FFF2-40B4-BE49-F238E27FC236}">
                  <a16:creationId xmlns:a16="http://schemas.microsoft.com/office/drawing/2014/main" id="{D378F023-B33A-12D8-717C-2F633065D43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820506" y="5006412"/>
              <a:ext cx="504000" cy="504000"/>
            </a:xfrm>
            <a:prstGeom prst="rect">
              <a:avLst/>
            </a:prstGeom>
          </p:spPr>
        </p:pic>
        <p:sp>
          <p:nvSpPr>
            <p:cNvPr id="28" name="Arrow: Right 27">
              <a:extLst>
                <a:ext uri="{FF2B5EF4-FFF2-40B4-BE49-F238E27FC236}">
                  <a16:creationId xmlns:a16="http://schemas.microsoft.com/office/drawing/2014/main" id="{7E2A4C63-9B83-49FF-7EC0-E49E9FCB6047}"/>
                </a:ext>
              </a:extLst>
            </p:cNvPr>
            <p:cNvSpPr/>
            <p:nvPr/>
          </p:nvSpPr>
          <p:spPr>
            <a:xfrm>
              <a:off x="2414159" y="5468785"/>
              <a:ext cx="3485818"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70ACB9B2-5CCB-039E-0C42-89AAC6BAB88E}"/>
                </a:ext>
              </a:extLst>
            </p:cNvPr>
            <p:cNvSpPr/>
            <p:nvPr/>
          </p:nvSpPr>
          <p:spPr>
            <a:xfrm>
              <a:off x="2419931" y="3234925"/>
              <a:ext cx="2713396"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3" name="Graphic 32" descr="Close with solid fill">
              <a:extLst>
                <a:ext uri="{FF2B5EF4-FFF2-40B4-BE49-F238E27FC236}">
                  <a16:creationId xmlns:a16="http://schemas.microsoft.com/office/drawing/2014/main" id="{3730F6F4-2CF9-313B-9336-D9B9A8B2CE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878990" y="3042809"/>
              <a:ext cx="504000" cy="504000"/>
            </a:xfrm>
            <a:prstGeom prst="rect">
              <a:avLst/>
            </a:prstGeom>
          </p:spPr>
        </p:pic>
        <p:cxnSp>
          <p:nvCxnSpPr>
            <p:cNvPr id="14" name="Straight Connector 13">
              <a:extLst>
                <a:ext uri="{FF2B5EF4-FFF2-40B4-BE49-F238E27FC236}">
                  <a16:creationId xmlns:a16="http://schemas.microsoft.com/office/drawing/2014/main" id="{FDB19232-1EBE-3191-0011-F6B711C9CFC7}"/>
                </a:ext>
              </a:extLst>
            </p:cNvPr>
            <p:cNvCxnSpPr>
              <a:cxnSpLocks/>
            </p:cNvCxnSpPr>
            <p:nvPr/>
          </p:nvCxnSpPr>
          <p:spPr>
            <a:xfrm flipH="1">
              <a:off x="2411760" y="3133061"/>
              <a:ext cx="2399" cy="262800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7C384A3-B2E9-7B20-725D-E6B2D774F38E}"/>
                </a:ext>
              </a:extLst>
            </p:cNvPr>
            <p:cNvCxnSpPr/>
            <p:nvPr/>
          </p:nvCxnSpPr>
          <p:spPr>
            <a:xfrm>
              <a:off x="1763688" y="4063139"/>
              <a:ext cx="0" cy="662005"/>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grpSp>
          <p:nvGrpSpPr>
            <p:cNvPr id="9" name="Group 8">
              <a:extLst>
                <a:ext uri="{FF2B5EF4-FFF2-40B4-BE49-F238E27FC236}">
                  <a16:creationId xmlns:a16="http://schemas.microsoft.com/office/drawing/2014/main" id="{3B295F97-F000-B0A0-C40F-B330A7667A07}"/>
                </a:ext>
              </a:extLst>
            </p:cNvPr>
            <p:cNvGrpSpPr/>
            <p:nvPr/>
          </p:nvGrpSpPr>
          <p:grpSpPr>
            <a:xfrm>
              <a:off x="3822979" y="3674941"/>
              <a:ext cx="576000" cy="576000"/>
              <a:chOff x="3822979" y="3674941"/>
              <a:chExt cx="576000" cy="576000"/>
            </a:xfrm>
          </p:grpSpPr>
          <p:pic>
            <p:nvPicPr>
              <p:cNvPr id="12" name="Graphic 11" descr="Kidneys with solid fill">
                <a:extLst>
                  <a:ext uri="{FF2B5EF4-FFF2-40B4-BE49-F238E27FC236}">
                    <a16:creationId xmlns:a16="http://schemas.microsoft.com/office/drawing/2014/main" id="{D77A4796-62F6-D093-9FA7-711D7A0C3288}"/>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3822979" y="3674941"/>
                <a:ext cx="576000" cy="576000"/>
              </a:xfrm>
              <a:prstGeom prst="rect">
                <a:avLst/>
              </a:prstGeom>
            </p:spPr>
          </p:pic>
          <p:sp>
            <p:nvSpPr>
              <p:cNvPr id="8" name="Star: 4 Points 7">
                <a:extLst>
                  <a:ext uri="{FF2B5EF4-FFF2-40B4-BE49-F238E27FC236}">
                    <a16:creationId xmlns:a16="http://schemas.microsoft.com/office/drawing/2014/main" id="{0921E5BC-BFE6-2538-BD7A-53285AF3D223}"/>
                  </a:ext>
                </a:extLst>
              </p:cNvPr>
              <p:cNvSpPr/>
              <p:nvPr/>
            </p:nvSpPr>
            <p:spPr>
              <a:xfrm>
                <a:off x="4247822" y="3769530"/>
                <a:ext cx="108000" cy="108000"/>
              </a:xfrm>
              <a:prstGeom prst="star4">
                <a:avLst/>
              </a:prstGeom>
              <a:solidFill>
                <a:srgbClr val="FFFFFF"/>
              </a:solidFill>
              <a:ln w="3175">
                <a:solidFill>
                  <a:srgbClr val="FF66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0" name="Group 29">
              <a:extLst>
                <a:ext uri="{FF2B5EF4-FFF2-40B4-BE49-F238E27FC236}">
                  <a16:creationId xmlns:a16="http://schemas.microsoft.com/office/drawing/2014/main" id="{17031254-5B87-082B-DB42-B35A367C9344}"/>
                </a:ext>
              </a:extLst>
            </p:cNvPr>
            <p:cNvGrpSpPr/>
            <p:nvPr/>
          </p:nvGrpSpPr>
          <p:grpSpPr>
            <a:xfrm>
              <a:off x="5879593" y="4333896"/>
              <a:ext cx="576000" cy="576000"/>
              <a:chOff x="3822979" y="3674941"/>
              <a:chExt cx="576000" cy="576000"/>
            </a:xfrm>
          </p:grpSpPr>
          <p:pic>
            <p:nvPicPr>
              <p:cNvPr id="31" name="Graphic 30" descr="Kidneys with solid fill">
                <a:extLst>
                  <a:ext uri="{FF2B5EF4-FFF2-40B4-BE49-F238E27FC236}">
                    <a16:creationId xmlns:a16="http://schemas.microsoft.com/office/drawing/2014/main" id="{FBAE79CD-EB7D-3D31-D62D-99E3D5F1AD9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3822979" y="3674941"/>
                <a:ext cx="576000" cy="576000"/>
              </a:xfrm>
              <a:prstGeom prst="rect">
                <a:avLst/>
              </a:prstGeom>
            </p:spPr>
          </p:pic>
          <p:sp>
            <p:nvSpPr>
              <p:cNvPr id="34" name="Star: 4 Points 33">
                <a:extLst>
                  <a:ext uri="{FF2B5EF4-FFF2-40B4-BE49-F238E27FC236}">
                    <a16:creationId xmlns:a16="http://schemas.microsoft.com/office/drawing/2014/main" id="{4C9F2A35-EF0A-9C09-39DD-56E412B39CDC}"/>
                  </a:ext>
                </a:extLst>
              </p:cNvPr>
              <p:cNvSpPr/>
              <p:nvPr/>
            </p:nvSpPr>
            <p:spPr>
              <a:xfrm>
                <a:off x="4247822" y="3769530"/>
                <a:ext cx="108000" cy="108000"/>
              </a:xfrm>
              <a:prstGeom prst="star4">
                <a:avLst/>
              </a:prstGeom>
              <a:solidFill>
                <a:srgbClr val="FFFFFF"/>
              </a:solidFill>
              <a:ln w="3175">
                <a:solidFill>
                  <a:srgbClr val="FF66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8" name="Group 37">
              <a:extLst>
                <a:ext uri="{FF2B5EF4-FFF2-40B4-BE49-F238E27FC236}">
                  <a16:creationId xmlns:a16="http://schemas.microsoft.com/office/drawing/2014/main" id="{DF7762D4-7B4B-1CC5-6857-25977B95D426}"/>
                </a:ext>
              </a:extLst>
            </p:cNvPr>
            <p:cNvGrpSpPr/>
            <p:nvPr/>
          </p:nvGrpSpPr>
          <p:grpSpPr>
            <a:xfrm>
              <a:off x="4020793" y="4660674"/>
              <a:ext cx="576000" cy="576000"/>
              <a:chOff x="3822979" y="3674941"/>
              <a:chExt cx="576000" cy="576000"/>
            </a:xfrm>
          </p:grpSpPr>
          <p:pic>
            <p:nvPicPr>
              <p:cNvPr id="39" name="Graphic 38" descr="Kidneys with solid fill">
                <a:extLst>
                  <a:ext uri="{FF2B5EF4-FFF2-40B4-BE49-F238E27FC236}">
                    <a16:creationId xmlns:a16="http://schemas.microsoft.com/office/drawing/2014/main" id="{44506071-2739-17A1-8B87-AB88CE01BC5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3822979" y="3674941"/>
                <a:ext cx="576000" cy="576000"/>
              </a:xfrm>
              <a:prstGeom prst="rect">
                <a:avLst/>
              </a:prstGeom>
            </p:spPr>
          </p:pic>
          <p:sp>
            <p:nvSpPr>
              <p:cNvPr id="40" name="Star: 4 Points 39">
                <a:extLst>
                  <a:ext uri="{FF2B5EF4-FFF2-40B4-BE49-F238E27FC236}">
                    <a16:creationId xmlns:a16="http://schemas.microsoft.com/office/drawing/2014/main" id="{2D54EE6E-F1FF-3599-154D-68DF4E7730D4}"/>
                  </a:ext>
                </a:extLst>
              </p:cNvPr>
              <p:cNvSpPr/>
              <p:nvPr/>
            </p:nvSpPr>
            <p:spPr>
              <a:xfrm>
                <a:off x="4247822" y="3769530"/>
                <a:ext cx="108000" cy="108000"/>
              </a:xfrm>
              <a:prstGeom prst="star4">
                <a:avLst/>
              </a:prstGeom>
              <a:solidFill>
                <a:srgbClr val="FFFFFF"/>
              </a:solidFill>
              <a:ln w="3175">
                <a:solidFill>
                  <a:srgbClr val="FF66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4" name="Group 43">
              <a:extLst>
                <a:ext uri="{FF2B5EF4-FFF2-40B4-BE49-F238E27FC236}">
                  <a16:creationId xmlns:a16="http://schemas.microsoft.com/office/drawing/2014/main" id="{22239EE9-4D67-8C5F-CACE-D362B33FD424}"/>
                </a:ext>
              </a:extLst>
            </p:cNvPr>
            <p:cNvGrpSpPr/>
            <p:nvPr/>
          </p:nvGrpSpPr>
          <p:grpSpPr>
            <a:xfrm>
              <a:off x="5911426" y="5302583"/>
              <a:ext cx="576000" cy="576000"/>
              <a:chOff x="3822979" y="3674941"/>
              <a:chExt cx="576000" cy="576000"/>
            </a:xfrm>
          </p:grpSpPr>
          <p:pic>
            <p:nvPicPr>
              <p:cNvPr id="45" name="Graphic 44" descr="Kidneys with solid fill">
                <a:extLst>
                  <a:ext uri="{FF2B5EF4-FFF2-40B4-BE49-F238E27FC236}">
                    <a16:creationId xmlns:a16="http://schemas.microsoft.com/office/drawing/2014/main" id="{7D3D12A3-E891-45E3-8813-A1B1FCD0B3D5}"/>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3822979" y="3674941"/>
                <a:ext cx="576000" cy="576000"/>
              </a:xfrm>
              <a:prstGeom prst="rect">
                <a:avLst/>
              </a:prstGeom>
            </p:spPr>
          </p:pic>
          <p:sp>
            <p:nvSpPr>
              <p:cNvPr id="46" name="Star: 4 Points 45">
                <a:extLst>
                  <a:ext uri="{FF2B5EF4-FFF2-40B4-BE49-F238E27FC236}">
                    <a16:creationId xmlns:a16="http://schemas.microsoft.com/office/drawing/2014/main" id="{E6F3C9BA-C4D0-A4B8-AB57-91AA3B1552B6}"/>
                  </a:ext>
                </a:extLst>
              </p:cNvPr>
              <p:cNvSpPr/>
              <p:nvPr/>
            </p:nvSpPr>
            <p:spPr>
              <a:xfrm>
                <a:off x="4247822" y="3769530"/>
                <a:ext cx="108000" cy="108000"/>
              </a:xfrm>
              <a:prstGeom prst="star4">
                <a:avLst/>
              </a:prstGeom>
              <a:solidFill>
                <a:srgbClr val="FFFFFF"/>
              </a:solidFill>
              <a:ln w="3175">
                <a:solidFill>
                  <a:srgbClr val="FF66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Tree>
    <p:extLst>
      <p:ext uri="{BB962C8B-B14F-4D97-AF65-F5344CB8AC3E}">
        <p14:creationId xmlns:p14="http://schemas.microsoft.com/office/powerpoint/2010/main" val="319151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F2251-3183-544B-630C-9344CBF1F1E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3EED56C-1697-765D-5F3F-C8A4CA7EA0BB}"/>
              </a:ext>
            </a:extLst>
          </p:cNvPr>
          <p:cNvSpPr>
            <a:spLocks noGrp="1"/>
          </p:cNvSpPr>
          <p:nvPr>
            <p:ph type="body" sz="quarter" idx="11"/>
          </p:nvPr>
        </p:nvSpPr>
        <p:spPr/>
        <p:txBody>
          <a:bodyPr/>
          <a:lstStyle/>
          <a:p>
            <a:pPr marL="0" indent="0">
              <a:buNone/>
            </a:pPr>
            <a:r>
              <a:rPr lang="en-GB" dirty="0"/>
              <a:t>Like all significance tests, there are </a:t>
            </a:r>
            <a:r>
              <a:rPr lang="en-GB" b="1" dirty="0"/>
              <a:t>assumptions</a:t>
            </a:r>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p:txBody>
      </p:sp>
      <p:sp>
        <p:nvSpPr>
          <p:cNvPr id="3" name="Title 2">
            <a:extLst>
              <a:ext uri="{FF2B5EF4-FFF2-40B4-BE49-F238E27FC236}">
                <a16:creationId xmlns:a16="http://schemas.microsoft.com/office/drawing/2014/main" id="{A2A13BEE-969D-D9BE-E1E3-7E6500F08E63}"/>
              </a:ext>
            </a:extLst>
          </p:cNvPr>
          <p:cNvSpPr>
            <a:spLocks noGrp="1"/>
          </p:cNvSpPr>
          <p:nvPr>
            <p:ph type="title"/>
          </p:nvPr>
        </p:nvSpPr>
        <p:spPr/>
        <p:txBody>
          <a:bodyPr/>
          <a:lstStyle/>
          <a:p>
            <a:r>
              <a:rPr lang="en-GB" dirty="0"/>
              <a:t>Assumptions of log-rank test</a:t>
            </a:r>
          </a:p>
        </p:txBody>
      </p:sp>
      <p:sp>
        <p:nvSpPr>
          <p:cNvPr id="4" name="Slide Number Placeholder 3">
            <a:extLst>
              <a:ext uri="{FF2B5EF4-FFF2-40B4-BE49-F238E27FC236}">
                <a16:creationId xmlns:a16="http://schemas.microsoft.com/office/drawing/2014/main" id="{3DFFE061-D61B-1E40-7D2D-7A0F2CA3F91E}"/>
              </a:ext>
            </a:extLst>
          </p:cNvPr>
          <p:cNvSpPr>
            <a:spLocks noGrp="1"/>
          </p:cNvSpPr>
          <p:nvPr>
            <p:ph type="sldNum" sz="quarter" idx="10"/>
          </p:nvPr>
        </p:nvSpPr>
        <p:spPr/>
        <p:txBody>
          <a:bodyPr/>
          <a:lstStyle/>
          <a:p>
            <a:pPr>
              <a:defRPr/>
            </a:pPr>
            <a:fld id="{CD3FC0C4-D681-4CE5-B41E-BCE48B80373A}" type="slidenum">
              <a:rPr lang="en-GB" smtClean="0"/>
              <a:pPr>
                <a:defRPr/>
              </a:pPr>
              <a:t>53</a:t>
            </a:fld>
            <a:endParaRPr lang="en-GB"/>
          </a:p>
        </p:txBody>
      </p:sp>
      <p:sp>
        <p:nvSpPr>
          <p:cNvPr id="5" name="Rectangle 4">
            <a:extLst>
              <a:ext uri="{FF2B5EF4-FFF2-40B4-BE49-F238E27FC236}">
                <a16:creationId xmlns:a16="http://schemas.microsoft.com/office/drawing/2014/main" id="{1C7FC337-433A-1B03-2E82-ADFC876C57BD}"/>
              </a:ext>
            </a:extLst>
          </p:cNvPr>
          <p:cNvSpPr/>
          <p:nvPr/>
        </p:nvSpPr>
        <p:spPr>
          <a:xfrm>
            <a:off x="384175" y="2564904"/>
            <a:ext cx="4043809" cy="792088"/>
          </a:xfrm>
          <a:prstGeom prst="rect">
            <a:avLst/>
          </a:prstGeom>
          <a:solidFill>
            <a:srgbClr val="FFFF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442936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D027A3D-5E02-99B2-3A7C-9C95C28F5EAD}"/>
              </a:ext>
            </a:extLst>
          </p:cNvPr>
          <p:cNvSpPr>
            <a:spLocks noGrp="1"/>
          </p:cNvSpPr>
          <p:nvPr>
            <p:ph type="body" sz="quarter" idx="11"/>
          </p:nvPr>
        </p:nvSpPr>
        <p:spPr/>
        <p:txBody>
          <a:bodyPr/>
          <a:lstStyle/>
          <a:p>
            <a:pPr marL="0" indent="0">
              <a:buNone/>
            </a:pPr>
            <a:r>
              <a:rPr lang="en-GB" dirty="0"/>
              <a:t>The effect of predictor on event occurring is consistent over time</a:t>
            </a:r>
          </a:p>
          <a:p>
            <a:pPr marL="0" indent="0">
              <a:buNone/>
            </a:pPr>
            <a:endParaRPr lang="en-GB" dirty="0"/>
          </a:p>
          <a:p>
            <a:pPr marL="0" indent="0">
              <a:buNone/>
            </a:pPr>
            <a:endParaRPr lang="en-GB" dirty="0"/>
          </a:p>
          <a:p>
            <a:pPr marL="0" indent="0">
              <a:buNone/>
            </a:pPr>
            <a:endParaRPr lang="en-GB" dirty="0"/>
          </a:p>
          <a:p>
            <a:pPr marL="0" indent="0">
              <a:buNone/>
            </a:pPr>
            <a:endParaRPr lang="en-GB" dirty="0"/>
          </a:p>
        </p:txBody>
      </p:sp>
      <p:sp>
        <p:nvSpPr>
          <p:cNvPr id="3" name="Title 2">
            <a:extLst>
              <a:ext uri="{FF2B5EF4-FFF2-40B4-BE49-F238E27FC236}">
                <a16:creationId xmlns:a16="http://schemas.microsoft.com/office/drawing/2014/main" id="{9416B10C-9356-57EA-9527-D37F03696AE2}"/>
              </a:ext>
            </a:extLst>
          </p:cNvPr>
          <p:cNvSpPr>
            <a:spLocks noGrp="1"/>
          </p:cNvSpPr>
          <p:nvPr>
            <p:ph type="title"/>
          </p:nvPr>
        </p:nvSpPr>
        <p:spPr/>
        <p:txBody>
          <a:bodyPr/>
          <a:lstStyle/>
          <a:p>
            <a:r>
              <a:rPr lang="en-GB" dirty="0"/>
              <a:t>Proportional hazards</a:t>
            </a:r>
          </a:p>
        </p:txBody>
      </p:sp>
      <p:sp>
        <p:nvSpPr>
          <p:cNvPr id="4" name="Slide Number Placeholder 3">
            <a:extLst>
              <a:ext uri="{FF2B5EF4-FFF2-40B4-BE49-F238E27FC236}">
                <a16:creationId xmlns:a16="http://schemas.microsoft.com/office/drawing/2014/main" id="{55899FED-122D-EBEE-2EBB-7CFA13E0DBD9}"/>
              </a:ext>
            </a:extLst>
          </p:cNvPr>
          <p:cNvSpPr>
            <a:spLocks noGrp="1"/>
          </p:cNvSpPr>
          <p:nvPr>
            <p:ph type="sldNum" sz="quarter" idx="10"/>
          </p:nvPr>
        </p:nvSpPr>
        <p:spPr/>
        <p:txBody>
          <a:bodyPr/>
          <a:lstStyle/>
          <a:p>
            <a:pPr>
              <a:defRPr/>
            </a:pPr>
            <a:fld id="{CD3FC0C4-D681-4CE5-B41E-BCE48B80373A}" type="slidenum">
              <a:rPr lang="en-GB" smtClean="0"/>
              <a:pPr>
                <a:defRPr/>
              </a:pPr>
              <a:t>54</a:t>
            </a:fld>
            <a:endParaRPr lang="en-GB"/>
          </a:p>
        </p:txBody>
      </p:sp>
      <p:pic>
        <p:nvPicPr>
          <p:cNvPr id="6" name="Picture 5">
            <a:extLst>
              <a:ext uri="{FF2B5EF4-FFF2-40B4-BE49-F238E27FC236}">
                <a16:creationId xmlns:a16="http://schemas.microsoft.com/office/drawing/2014/main" id="{3DBAD098-CD2B-2A8D-7393-30DA4D49E767}"/>
              </a:ext>
            </a:extLst>
          </p:cNvPr>
          <p:cNvPicPr>
            <a:picLocks noChangeAspect="1"/>
          </p:cNvPicPr>
          <p:nvPr/>
        </p:nvPicPr>
        <p:blipFill>
          <a:blip r:embed="rId3" cstate="print">
            <a:extLst>
              <a:ext uri="{28A0092B-C50C-407E-A947-70E740481C1C}">
                <a14:useLocalDpi xmlns:a14="http://schemas.microsoft.com/office/drawing/2010/main" val="0"/>
              </a:ext>
            </a:extLst>
          </a:blip>
          <a:srcRect r="50000"/>
          <a:stretch>
            <a:fillRect/>
          </a:stretch>
        </p:blipFill>
        <p:spPr>
          <a:xfrm>
            <a:off x="457191" y="2348880"/>
            <a:ext cx="4114809" cy="3657607"/>
          </a:xfrm>
          <a:prstGeom prst="rect">
            <a:avLst/>
          </a:prstGeom>
        </p:spPr>
      </p:pic>
      <p:pic>
        <p:nvPicPr>
          <p:cNvPr id="8" name="Picture 7">
            <a:extLst>
              <a:ext uri="{FF2B5EF4-FFF2-40B4-BE49-F238E27FC236}">
                <a16:creationId xmlns:a16="http://schemas.microsoft.com/office/drawing/2014/main" id="{8F5AECE2-EA3B-0D07-11A9-BC26DB2C72E0}"/>
              </a:ext>
            </a:extLst>
          </p:cNvPr>
          <p:cNvPicPr>
            <a:picLocks noChangeAspect="1"/>
          </p:cNvPicPr>
          <p:nvPr/>
        </p:nvPicPr>
        <p:blipFill>
          <a:blip r:embed="rId4" cstate="print">
            <a:extLst>
              <a:ext uri="{28A0092B-C50C-407E-A947-70E740481C1C}">
                <a14:useLocalDpi xmlns:a14="http://schemas.microsoft.com/office/drawing/2010/main" val="0"/>
              </a:ext>
            </a:extLst>
          </a:blip>
          <a:srcRect r="50000"/>
          <a:stretch>
            <a:fillRect/>
          </a:stretch>
        </p:blipFill>
        <p:spPr>
          <a:xfrm>
            <a:off x="457191" y="2348880"/>
            <a:ext cx="4114809" cy="3657607"/>
          </a:xfrm>
          <a:prstGeom prst="rect">
            <a:avLst/>
          </a:prstGeom>
        </p:spPr>
      </p:pic>
    </p:spTree>
    <p:extLst>
      <p:ext uri="{BB962C8B-B14F-4D97-AF65-F5344CB8AC3E}">
        <p14:creationId xmlns:p14="http://schemas.microsoft.com/office/powerpoint/2010/main" val="40847397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071DA-F25A-42F9-1645-333F510FFDE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8DE4AD1-F433-0CB6-800E-41FDAC14FF2B}"/>
              </a:ext>
            </a:extLst>
          </p:cNvPr>
          <p:cNvSpPr>
            <a:spLocks noGrp="1"/>
          </p:cNvSpPr>
          <p:nvPr>
            <p:ph type="body" sz="quarter" idx="11"/>
          </p:nvPr>
        </p:nvSpPr>
        <p:spPr/>
        <p:txBody>
          <a:bodyPr/>
          <a:lstStyle/>
          <a:p>
            <a:pPr marL="0" indent="0">
              <a:buNone/>
            </a:pPr>
            <a:r>
              <a:rPr lang="en-GB" dirty="0"/>
              <a:t>The effect of predictor on event occurring is consistent over time</a:t>
            </a:r>
          </a:p>
          <a:p>
            <a:pPr marL="0" indent="0">
              <a:buNone/>
            </a:pPr>
            <a:endParaRPr lang="en-GB" dirty="0"/>
          </a:p>
          <a:p>
            <a:pPr marL="0" indent="0">
              <a:buNone/>
            </a:pPr>
            <a:endParaRPr lang="en-GB" dirty="0"/>
          </a:p>
          <a:p>
            <a:pPr marL="0" indent="0">
              <a:buNone/>
            </a:pPr>
            <a:endParaRPr lang="en-GB" dirty="0"/>
          </a:p>
          <a:p>
            <a:pPr marL="0" indent="0">
              <a:buNone/>
            </a:pPr>
            <a:endParaRPr lang="en-GB" dirty="0"/>
          </a:p>
        </p:txBody>
      </p:sp>
      <p:sp>
        <p:nvSpPr>
          <p:cNvPr id="3" name="Title 2">
            <a:extLst>
              <a:ext uri="{FF2B5EF4-FFF2-40B4-BE49-F238E27FC236}">
                <a16:creationId xmlns:a16="http://schemas.microsoft.com/office/drawing/2014/main" id="{E2509517-BFAC-16B1-A436-279B5505F422}"/>
              </a:ext>
            </a:extLst>
          </p:cNvPr>
          <p:cNvSpPr>
            <a:spLocks noGrp="1"/>
          </p:cNvSpPr>
          <p:nvPr>
            <p:ph type="title"/>
          </p:nvPr>
        </p:nvSpPr>
        <p:spPr/>
        <p:txBody>
          <a:bodyPr/>
          <a:lstStyle/>
          <a:p>
            <a:r>
              <a:rPr lang="en-GB" dirty="0"/>
              <a:t>Proportional hazards</a:t>
            </a:r>
          </a:p>
        </p:txBody>
      </p:sp>
      <p:sp>
        <p:nvSpPr>
          <p:cNvPr id="4" name="Slide Number Placeholder 3">
            <a:extLst>
              <a:ext uri="{FF2B5EF4-FFF2-40B4-BE49-F238E27FC236}">
                <a16:creationId xmlns:a16="http://schemas.microsoft.com/office/drawing/2014/main" id="{D325EB20-2348-5047-8D2F-231E8ECCEB12}"/>
              </a:ext>
            </a:extLst>
          </p:cNvPr>
          <p:cNvSpPr>
            <a:spLocks noGrp="1"/>
          </p:cNvSpPr>
          <p:nvPr>
            <p:ph type="sldNum" sz="quarter" idx="10"/>
          </p:nvPr>
        </p:nvSpPr>
        <p:spPr/>
        <p:txBody>
          <a:bodyPr/>
          <a:lstStyle/>
          <a:p>
            <a:pPr>
              <a:defRPr/>
            </a:pPr>
            <a:fld id="{CD3FC0C4-D681-4CE5-B41E-BCE48B80373A}" type="slidenum">
              <a:rPr lang="en-GB" smtClean="0"/>
              <a:pPr>
                <a:defRPr/>
              </a:pPr>
              <a:t>55</a:t>
            </a:fld>
            <a:endParaRPr lang="en-GB"/>
          </a:p>
        </p:txBody>
      </p:sp>
      <p:pic>
        <p:nvPicPr>
          <p:cNvPr id="6" name="Picture 5">
            <a:extLst>
              <a:ext uri="{FF2B5EF4-FFF2-40B4-BE49-F238E27FC236}">
                <a16:creationId xmlns:a16="http://schemas.microsoft.com/office/drawing/2014/main" id="{03685615-DC5D-A000-DC65-3ABDF7190D0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228648454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FE77A-896E-E6E7-B4BA-324FE615801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192E16B-B614-BA40-0326-A03822ED4851}"/>
              </a:ext>
            </a:extLst>
          </p:cNvPr>
          <p:cNvSpPr>
            <a:spLocks noGrp="1"/>
          </p:cNvSpPr>
          <p:nvPr>
            <p:ph type="body" sz="quarter" idx="11"/>
          </p:nvPr>
        </p:nvSpPr>
        <p:spPr/>
        <p:txBody>
          <a:bodyPr/>
          <a:lstStyle/>
          <a:p>
            <a:pPr marL="0" indent="0">
              <a:buNone/>
            </a:pPr>
            <a:r>
              <a:rPr lang="en-GB" dirty="0"/>
              <a:t>The effect of predictor on event occurring is consistent over time</a:t>
            </a:r>
          </a:p>
          <a:p>
            <a:pPr marL="0" indent="0">
              <a:buNone/>
            </a:pPr>
            <a:endParaRPr lang="en-GB" dirty="0"/>
          </a:p>
          <a:p>
            <a:pPr marL="0" indent="0">
              <a:buNone/>
            </a:pPr>
            <a:endParaRPr lang="en-GB" dirty="0"/>
          </a:p>
          <a:p>
            <a:pPr marL="0" indent="0">
              <a:buNone/>
            </a:pPr>
            <a:endParaRPr lang="en-GB" dirty="0"/>
          </a:p>
          <a:p>
            <a:pPr marL="0" indent="0">
              <a:buNone/>
            </a:pPr>
            <a:endParaRPr lang="en-GB" dirty="0"/>
          </a:p>
        </p:txBody>
      </p:sp>
      <p:sp>
        <p:nvSpPr>
          <p:cNvPr id="3" name="Title 2">
            <a:extLst>
              <a:ext uri="{FF2B5EF4-FFF2-40B4-BE49-F238E27FC236}">
                <a16:creationId xmlns:a16="http://schemas.microsoft.com/office/drawing/2014/main" id="{090F38FA-919E-DB38-7F1A-F479E24A31AD}"/>
              </a:ext>
            </a:extLst>
          </p:cNvPr>
          <p:cNvSpPr>
            <a:spLocks noGrp="1"/>
          </p:cNvSpPr>
          <p:nvPr>
            <p:ph type="title"/>
          </p:nvPr>
        </p:nvSpPr>
        <p:spPr/>
        <p:txBody>
          <a:bodyPr/>
          <a:lstStyle/>
          <a:p>
            <a:r>
              <a:rPr lang="en-GB" dirty="0"/>
              <a:t>Proportional hazards</a:t>
            </a:r>
          </a:p>
        </p:txBody>
      </p:sp>
      <p:sp>
        <p:nvSpPr>
          <p:cNvPr id="4" name="Slide Number Placeholder 3">
            <a:extLst>
              <a:ext uri="{FF2B5EF4-FFF2-40B4-BE49-F238E27FC236}">
                <a16:creationId xmlns:a16="http://schemas.microsoft.com/office/drawing/2014/main" id="{2D0FF032-B92D-1E71-1B63-2306CE0DCE4D}"/>
              </a:ext>
            </a:extLst>
          </p:cNvPr>
          <p:cNvSpPr>
            <a:spLocks noGrp="1"/>
          </p:cNvSpPr>
          <p:nvPr>
            <p:ph type="sldNum" sz="quarter" idx="10"/>
          </p:nvPr>
        </p:nvSpPr>
        <p:spPr/>
        <p:txBody>
          <a:bodyPr/>
          <a:lstStyle/>
          <a:p>
            <a:pPr>
              <a:defRPr/>
            </a:pPr>
            <a:fld id="{CD3FC0C4-D681-4CE5-B41E-BCE48B80373A}" type="slidenum">
              <a:rPr lang="en-GB" smtClean="0"/>
              <a:pPr>
                <a:defRPr/>
              </a:pPr>
              <a:t>56</a:t>
            </a:fld>
            <a:endParaRPr lang="en-GB"/>
          </a:p>
        </p:txBody>
      </p:sp>
      <p:pic>
        <p:nvPicPr>
          <p:cNvPr id="6" name="Picture 5">
            <a:extLst>
              <a:ext uri="{FF2B5EF4-FFF2-40B4-BE49-F238E27FC236}">
                <a16:creationId xmlns:a16="http://schemas.microsoft.com/office/drawing/2014/main" id="{0830BC06-FD0E-2474-CF35-D9C8AC91EBCB}"/>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317062215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4145F-5F56-213A-AB42-4F57A3E2041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19EF7BD-28CC-2194-7D5C-D8E3BFB3EE6F}"/>
              </a:ext>
            </a:extLst>
          </p:cNvPr>
          <p:cNvSpPr>
            <a:spLocks noGrp="1"/>
          </p:cNvSpPr>
          <p:nvPr>
            <p:ph type="body" sz="quarter" idx="11"/>
          </p:nvPr>
        </p:nvSpPr>
        <p:spPr/>
        <p:txBody>
          <a:bodyPr/>
          <a:lstStyle/>
          <a:p>
            <a:pPr marL="0" indent="0">
              <a:buNone/>
            </a:pPr>
            <a:r>
              <a:rPr lang="en-GB" dirty="0"/>
              <a:t>The effect of predictor on event occurring is consistent over time</a:t>
            </a:r>
          </a:p>
          <a:p>
            <a:pPr marL="0" indent="0">
              <a:buNone/>
            </a:pPr>
            <a:endParaRPr lang="en-GB" dirty="0"/>
          </a:p>
          <a:p>
            <a:pPr marL="0" indent="0">
              <a:buNone/>
            </a:pPr>
            <a:endParaRPr lang="en-GB" dirty="0"/>
          </a:p>
          <a:p>
            <a:pPr marL="0" indent="0">
              <a:buNone/>
            </a:pPr>
            <a:endParaRPr lang="en-GB" dirty="0"/>
          </a:p>
          <a:p>
            <a:pPr marL="0" indent="0">
              <a:buNone/>
            </a:pPr>
            <a:endParaRPr lang="en-GB" dirty="0"/>
          </a:p>
        </p:txBody>
      </p:sp>
      <p:sp>
        <p:nvSpPr>
          <p:cNvPr id="3" name="Title 2">
            <a:extLst>
              <a:ext uri="{FF2B5EF4-FFF2-40B4-BE49-F238E27FC236}">
                <a16:creationId xmlns:a16="http://schemas.microsoft.com/office/drawing/2014/main" id="{5ABC81B0-8B38-A481-A9D2-FC74A2C268DE}"/>
              </a:ext>
            </a:extLst>
          </p:cNvPr>
          <p:cNvSpPr>
            <a:spLocks noGrp="1"/>
          </p:cNvSpPr>
          <p:nvPr>
            <p:ph type="title"/>
          </p:nvPr>
        </p:nvSpPr>
        <p:spPr/>
        <p:txBody>
          <a:bodyPr/>
          <a:lstStyle/>
          <a:p>
            <a:r>
              <a:rPr lang="en-GB" dirty="0"/>
              <a:t>Proportional hazards</a:t>
            </a:r>
          </a:p>
        </p:txBody>
      </p:sp>
      <p:sp>
        <p:nvSpPr>
          <p:cNvPr id="4" name="Slide Number Placeholder 3">
            <a:extLst>
              <a:ext uri="{FF2B5EF4-FFF2-40B4-BE49-F238E27FC236}">
                <a16:creationId xmlns:a16="http://schemas.microsoft.com/office/drawing/2014/main" id="{8E8AE3B3-FFA2-8B7F-59DE-AEF33E1A02BB}"/>
              </a:ext>
            </a:extLst>
          </p:cNvPr>
          <p:cNvSpPr>
            <a:spLocks noGrp="1"/>
          </p:cNvSpPr>
          <p:nvPr>
            <p:ph type="sldNum" sz="quarter" idx="10"/>
          </p:nvPr>
        </p:nvSpPr>
        <p:spPr/>
        <p:txBody>
          <a:bodyPr/>
          <a:lstStyle/>
          <a:p>
            <a:pPr>
              <a:defRPr/>
            </a:pPr>
            <a:fld id="{CD3FC0C4-D681-4CE5-B41E-BCE48B80373A}" type="slidenum">
              <a:rPr lang="en-GB" smtClean="0"/>
              <a:pPr>
                <a:defRPr/>
              </a:pPr>
              <a:t>57</a:t>
            </a:fld>
            <a:endParaRPr lang="en-GB"/>
          </a:p>
        </p:txBody>
      </p:sp>
      <p:pic>
        <p:nvPicPr>
          <p:cNvPr id="6" name="Picture 5">
            <a:extLst>
              <a:ext uri="{FF2B5EF4-FFF2-40B4-BE49-F238E27FC236}">
                <a16:creationId xmlns:a16="http://schemas.microsoft.com/office/drawing/2014/main" id="{E3A671A5-4580-B8E8-9536-D90185081486}"/>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4667794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CB035-AA94-822C-3883-AC37B419F9F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CA56463-B913-3100-44D0-3E7D0C6250E6}"/>
              </a:ext>
            </a:extLst>
          </p:cNvPr>
          <p:cNvSpPr>
            <a:spLocks noGrp="1"/>
          </p:cNvSpPr>
          <p:nvPr>
            <p:ph type="body" sz="quarter" idx="11"/>
          </p:nvPr>
        </p:nvSpPr>
        <p:spPr/>
        <p:txBody>
          <a:bodyPr/>
          <a:lstStyle/>
          <a:p>
            <a:pPr marL="0" indent="0">
              <a:buNone/>
            </a:pPr>
            <a:r>
              <a:rPr lang="en-GB" b="1" dirty="0">
                <a:solidFill>
                  <a:schemeClr val="accent2"/>
                </a:solidFill>
              </a:rPr>
              <a:t>Note: </a:t>
            </a:r>
            <a:r>
              <a:rPr lang="en-GB" dirty="0"/>
              <a:t>it won’t always be foolproof!</a:t>
            </a:r>
          </a:p>
        </p:txBody>
      </p:sp>
      <p:sp>
        <p:nvSpPr>
          <p:cNvPr id="3" name="Title 2">
            <a:extLst>
              <a:ext uri="{FF2B5EF4-FFF2-40B4-BE49-F238E27FC236}">
                <a16:creationId xmlns:a16="http://schemas.microsoft.com/office/drawing/2014/main" id="{6AFAFC48-3591-F027-3F27-36B61EA014F9}"/>
              </a:ext>
            </a:extLst>
          </p:cNvPr>
          <p:cNvSpPr>
            <a:spLocks noGrp="1"/>
          </p:cNvSpPr>
          <p:nvPr>
            <p:ph type="title"/>
          </p:nvPr>
        </p:nvSpPr>
        <p:spPr/>
        <p:txBody>
          <a:bodyPr/>
          <a:lstStyle/>
          <a:p>
            <a:r>
              <a:rPr lang="en-GB" dirty="0"/>
              <a:t>Proportional hazards</a:t>
            </a:r>
          </a:p>
        </p:txBody>
      </p:sp>
      <p:sp>
        <p:nvSpPr>
          <p:cNvPr id="4" name="Slide Number Placeholder 3">
            <a:extLst>
              <a:ext uri="{FF2B5EF4-FFF2-40B4-BE49-F238E27FC236}">
                <a16:creationId xmlns:a16="http://schemas.microsoft.com/office/drawing/2014/main" id="{B11FECE9-10AD-BC04-5DA8-A85F49F44C49}"/>
              </a:ext>
            </a:extLst>
          </p:cNvPr>
          <p:cNvSpPr>
            <a:spLocks noGrp="1"/>
          </p:cNvSpPr>
          <p:nvPr>
            <p:ph type="sldNum" sz="quarter" idx="10"/>
          </p:nvPr>
        </p:nvSpPr>
        <p:spPr/>
        <p:txBody>
          <a:bodyPr/>
          <a:lstStyle/>
          <a:p>
            <a:pPr>
              <a:defRPr/>
            </a:pPr>
            <a:fld id="{CD3FC0C4-D681-4CE5-B41E-BCE48B80373A}" type="slidenum">
              <a:rPr lang="en-GB" smtClean="0"/>
              <a:pPr>
                <a:defRPr/>
              </a:pPr>
              <a:t>58</a:t>
            </a:fld>
            <a:endParaRPr lang="en-GB"/>
          </a:p>
        </p:txBody>
      </p:sp>
      <p:pic>
        <p:nvPicPr>
          <p:cNvPr id="7" name="Picture 6">
            <a:extLst>
              <a:ext uri="{FF2B5EF4-FFF2-40B4-BE49-F238E27FC236}">
                <a16:creationId xmlns:a16="http://schemas.microsoft.com/office/drawing/2014/main" id="{2CEA7346-2FE0-7A28-39A7-045AF93B602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195886245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165EBD-5DB0-D3ED-3F3D-8F4477451AE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8D39EC0-F1C8-879F-A37D-97CD4A1E4F49}"/>
              </a:ext>
            </a:extLst>
          </p:cNvPr>
          <p:cNvSpPr>
            <a:spLocks noGrp="1"/>
          </p:cNvSpPr>
          <p:nvPr>
            <p:ph type="body" sz="quarter" idx="11"/>
          </p:nvPr>
        </p:nvSpPr>
        <p:spPr/>
        <p:txBody>
          <a:bodyPr/>
          <a:lstStyle/>
          <a:p>
            <a:pPr marL="0" indent="0">
              <a:buNone/>
            </a:pPr>
            <a:r>
              <a:rPr lang="en-GB" b="1" dirty="0">
                <a:solidFill>
                  <a:schemeClr val="accent2"/>
                </a:solidFill>
              </a:rPr>
              <a:t>Note: </a:t>
            </a:r>
            <a:r>
              <a:rPr lang="en-GB" dirty="0"/>
              <a:t>it won’t always be foolproof!</a:t>
            </a:r>
          </a:p>
        </p:txBody>
      </p:sp>
      <p:sp>
        <p:nvSpPr>
          <p:cNvPr id="3" name="Title 2">
            <a:extLst>
              <a:ext uri="{FF2B5EF4-FFF2-40B4-BE49-F238E27FC236}">
                <a16:creationId xmlns:a16="http://schemas.microsoft.com/office/drawing/2014/main" id="{D3B113AD-9D45-8D0F-F835-F13522D38523}"/>
              </a:ext>
            </a:extLst>
          </p:cNvPr>
          <p:cNvSpPr>
            <a:spLocks noGrp="1"/>
          </p:cNvSpPr>
          <p:nvPr>
            <p:ph type="title"/>
          </p:nvPr>
        </p:nvSpPr>
        <p:spPr/>
        <p:txBody>
          <a:bodyPr/>
          <a:lstStyle/>
          <a:p>
            <a:r>
              <a:rPr lang="en-GB" dirty="0"/>
              <a:t>Proportional hazards</a:t>
            </a:r>
          </a:p>
        </p:txBody>
      </p:sp>
      <p:sp>
        <p:nvSpPr>
          <p:cNvPr id="4" name="Slide Number Placeholder 3">
            <a:extLst>
              <a:ext uri="{FF2B5EF4-FFF2-40B4-BE49-F238E27FC236}">
                <a16:creationId xmlns:a16="http://schemas.microsoft.com/office/drawing/2014/main" id="{827BBCDD-7A5E-D943-301E-8FD5CC986E57}"/>
              </a:ext>
            </a:extLst>
          </p:cNvPr>
          <p:cNvSpPr>
            <a:spLocks noGrp="1"/>
          </p:cNvSpPr>
          <p:nvPr>
            <p:ph type="sldNum" sz="quarter" idx="10"/>
          </p:nvPr>
        </p:nvSpPr>
        <p:spPr/>
        <p:txBody>
          <a:bodyPr/>
          <a:lstStyle/>
          <a:p>
            <a:pPr>
              <a:defRPr/>
            </a:pPr>
            <a:fld id="{CD3FC0C4-D681-4CE5-B41E-BCE48B80373A}" type="slidenum">
              <a:rPr lang="en-GB" smtClean="0"/>
              <a:pPr>
                <a:defRPr/>
              </a:pPr>
              <a:t>59</a:t>
            </a:fld>
            <a:endParaRPr lang="en-GB"/>
          </a:p>
        </p:txBody>
      </p:sp>
      <p:pic>
        <p:nvPicPr>
          <p:cNvPr id="7" name="Picture 6">
            <a:extLst>
              <a:ext uri="{FF2B5EF4-FFF2-40B4-BE49-F238E27FC236}">
                <a16:creationId xmlns:a16="http://schemas.microsoft.com/office/drawing/2014/main" id="{570EFD56-9A53-264A-E72A-88CD5FF456E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417016105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DB33D-84EF-A34A-6C96-C2C3A283C48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7486ACD-90C6-3701-25E1-FAE25B2DF07C}"/>
              </a:ext>
            </a:extLst>
          </p:cNvPr>
          <p:cNvSpPr>
            <a:spLocks noGrp="1"/>
          </p:cNvSpPr>
          <p:nvPr>
            <p:ph type="body" sz="quarter" idx="11"/>
          </p:nvPr>
        </p:nvSpPr>
        <p:spPr/>
        <p:txBody>
          <a:bodyPr/>
          <a:lstStyle/>
          <a:p>
            <a:pPr marL="0" indent="0">
              <a:buNone/>
            </a:pPr>
            <a:r>
              <a:rPr lang="en-GB" b="1" dirty="0">
                <a:solidFill>
                  <a:schemeClr val="accent2"/>
                </a:solidFill>
              </a:rPr>
              <a:t>Note: </a:t>
            </a:r>
            <a:r>
              <a:rPr lang="en-GB" dirty="0"/>
              <a:t>we care about the underlying population</a:t>
            </a:r>
          </a:p>
        </p:txBody>
      </p:sp>
      <p:sp>
        <p:nvSpPr>
          <p:cNvPr id="3" name="Title 2">
            <a:extLst>
              <a:ext uri="{FF2B5EF4-FFF2-40B4-BE49-F238E27FC236}">
                <a16:creationId xmlns:a16="http://schemas.microsoft.com/office/drawing/2014/main" id="{45858896-D0C6-5F14-C26E-50D6FC2D46AC}"/>
              </a:ext>
            </a:extLst>
          </p:cNvPr>
          <p:cNvSpPr>
            <a:spLocks noGrp="1"/>
          </p:cNvSpPr>
          <p:nvPr>
            <p:ph type="title"/>
          </p:nvPr>
        </p:nvSpPr>
        <p:spPr/>
        <p:txBody>
          <a:bodyPr/>
          <a:lstStyle/>
          <a:p>
            <a:r>
              <a:rPr lang="en-GB" dirty="0"/>
              <a:t>Proportional hazards</a:t>
            </a:r>
          </a:p>
        </p:txBody>
      </p:sp>
      <p:sp>
        <p:nvSpPr>
          <p:cNvPr id="4" name="Slide Number Placeholder 3">
            <a:extLst>
              <a:ext uri="{FF2B5EF4-FFF2-40B4-BE49-F238E27FC236}">
                <a16:creationId xmlns:a16="http://schemas.microsoft.com/office/drawing/2014/main" id="{0088F4E1-B069-B593-5DA2-5A357716B509}"/>
              </a:ext>
            </a:extLst>
          </p:cNvPr>
          <p:cNvSpPr>
            <a:spLocks noGrp="1"/>
          </p:cNvSpPr>
          <p:nvPr>
            <p:ph type="sldNum" sz="quarter" idx="10"/>
          </p:nvPr>
        </p:nvSpPr>
        <p:spPr/>
        <p:txBody>
          <a:bodyPr/>
          <a:lstStyle/>
          <a:p>
            <a:pPr>
              <a:defRPr/>
            </a:pPr>
            <a:fld id="{CD3FC0C4-D681-4CE5-B41E-BCE48B80373A}" type="slidenum">
              <a:rPr lang="en-GB" smtClean="0"/>
              <a:pPr>
                <a:defRPr/>
              </a:pPr>
              <a:t>60</a:t>
            </a:fld>
            <a:endParaRPr lang="en-GB"/>
          </a:p>
        </p:txBody>
      </p:sp>
      <p:pic>
        <p:nvPicPr>
          <p:cNvPr id="7" name="Picture 6">
            <a:extLst>
              <a:ext uri="{FF2B5EF4-FFF2-40B4-BE49-F238E27FC236}">
                <a16:creationId xmlns:a16="http://schemas.microsoft.com/office/drawing/2014/main" id="{EA2C4E0B-41A2-BCA8-F2D3-542B00C0946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22804208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27520B9-E77B-DC86-59EC-D98F2A53AA42}"/>
              </a:ext>
            </a:extLst>
          </p:cNvPr>
          <p:cNvSpPr>
            <a:spLocks noGrp="1"/>
          </p:cNvSpPr>
          <p:nvPr>
            <p:ph type="body" sz="quarter" idx="11"/>
          </p:nvPr>
        </p:nvSpPr>
        <p:spPr/>
        <p:txBody>
          <a:bodyPr/>
          <a:lstStyle/>
          <a:p>
            <a:pPr marL="0" indent="0">
              <a:buNone/>
            </a:pPr>
            <a:r>
              <a:rPr lang="en-GB" b="1" dirty="0"/>
              <a:t>Is time to hatch predicted by dragon scale colour?</a:t>
            </a:r>
          </a:p>
          <a:p>
            <a:pPr marL="0" indent="0">
              <a:buNone/>
            </a:pPr>
            <a:endParaRPr lang="en-GB" dirty="0"/>
          </a:p>
          <a:p>
            <a:pPr marL="0" indent="0">
              <a:buNone/>
            </a:pPr>
            <a:r>
              <a:rPr lang="en-GB" dirty="0"/>
              <a:t>Are the assumptions met?</a:t>
            </a:r>
          </a:p>
          <a:p>
            <a:pPr marL="457200" indent="-457200">
              <a:buAutoNum type="arabicPeriod"/>
            </a:pPr>
            <a:r>
              <a:rPr lang="en-GB" dirty="0"/>
              <a:t>Independence</a:t>
            </a:r>
          </a:p>
          <a:p>
            <a:pPr marL="457200" indent="-457200">
              <a:buAutoNum type="arabicPeriod"/>
            </a:pPr>
            <a:r>
              <a:rPr lang="en-GB" dirty="0"/>
              <a:t>Non-informative censoring</a:t>
            </a:r>
          </a:p>
          <a:p>
            <a:pPr marL="457200" indent="-457200">
              <a:buAutoNum type="arabicPeriod"/>
            </a:pPr>
            <a:r>
              <a:rPr lang="en-GB" dirty="0"/>
              <a:t>Proportional hazards</a:t>
            </a:r>
          </a:p>
          <a:p>
            <a:pPr marL="457200" indent="-457200">
              <a:buAutoNum type="arabicPeriod"/>
            </a:pPr>
            <a:endParaRPr lang="en-GB" dirty="0"/>
          </a:p>
          <a:p>
            <a:pPr marL="0" indent="0">
              <a:buNone/>
            </a:pPr>
            <a:r>
              <a:rPr lang="en-GB" dirty="0"/>
              <a:t>If yes, what could be changed to make them fail?</a:t>
            </a:r>
          </a:p>
          <a:p>
            <a:pPr marL="0" indent="0">
              <a:buNone/>
            </a:pPr>
            <a:endParaRPr lang="en-GB" dirty="0"/>
          </a:p>
        </p:txBody>
      </p:sp>
      <p:sp>
        <p:nvSpPr>
          <p:cNvPr id="3" name="Title 2">
            <a:extLst>
              <a:ext uri="{FF2B5EF4-FFF2-40B4-BE49-F238E27FC236}">
                <a16:creationId xmlns:a16="http://schemas.microsoft.com/office/drawing/2014/main" id="{45394A3B-15C5-BDDE-9E0B-145462AFFC59}"/>
              </a:ext>
            </a:extLst>
          </p:cNvPr>
          <p:cNvSpPr>
            <a:spLocks noGrp="1"/>
          </p:cNvSpPr>
          <p:nvPr>
            <p:ph type="title"/>
          </p:nvPr>
        </p:nvSpPr>
        <p:spPr/>
        <p:txBody>
          <a:bodyPr/>
          <a:lstStyle/>
          <a:p>
            <a:r>
              <a:rPr lang="en-GB" dirty="0"/>
              <a:t>Dragon egg example: are assumptions met?</a:t>
            </a:r>
          </a:p>
        </p:txBody>
      </p:sp>
      <p:sp>
        <p:nvSpPr>
          <p:cNvPr id="4" name="Slide Number Placeholder 3">
            <a:extLst>
              <a:ext uri="{FF2B5EF4-FFF2-40B4-BE49-F238E27FC236}">
                <a16:creationId xmlns:a16="http://schemas.microsoft.com/office/drawing/2014/main" id="{71D17F03-D9B0-0CCC-FA34-1CA0D4FF0A6B}"/>
              </a:ext>
            </a:extLst>
          </p:cNvPr>
          <p:cNvSpPr>
            <a:spLocks noGrp="1"/>
          </p:cNvSpPr>
          <p:nvPr>
            <p:ph type="sldNum" sz="quarter" idx="10"/>
          </p:nvPr>
        </p:nvSpPr>
        <p:spPr/>
        <p:txBody>
          <a:bodyPr/>
          <a:lstStyle/>
          <a:p>
            <a:pPr>
              <a:defRPr/>
            </a:pPr>
            <a:fld id="{CD3FC0C4-D681-4CE5-B41E-BCE48B80373A}" type="slidenum">
              <a:rPr lang="en-GB" smtClean="0"/>
              <a:pPr>
                <a:defRPr/>
              </a:pPr>
              <a:t>61</a:t>
            </a:fld>
            <a:endParaRPr lang="en-GB"/>
          </a:p>
        </p:txBody>
      </p:sp>
      <p:pic>
        <p:nvPicPr>
          <p:cNvPr id="5" name="Graphic 4" descr="Dragon with solid fill">
            <a:extLst>
              <a:ext uri="{FF2B5EF4-FFF2-40B4-BE49-F238E27FC236}">
                <a16:creationId xmlns:a16="http://schemas.microsoft.com/office/drawing/2014/main" id="{5B69FB61-298A-6FC7-5AE8-7D5F47503F29}"/>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7236296" y="1697663"/>
            <a:ext cx="1440000" cy="1440000"/>
          </a:xfrm>
          <a:prstGeom prst="rect">
            <a:avLst/>
          </a:prstGeom>
        </p:spPr>
      </p:pic>
      <p:pic>
        <p:nvPicPr>
          <p:cNvPr id="6" name="Graphic 5" descr="Dinosaur Egg with solid fill">
            <a:extLst>
              <a:ext uri="{FF2B5EF4-FFF2-40B4-BE49-F238E27FC236}">
                <a16:creationId xmlns:a16="http://schemas.microsoft.com/office/drawing/2014/main" id="{9F874B1A-1C9C-CB9C-ADB3-F6A6D155B501}"/>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232484" y="3209831"/>
            <a:ext cx="1440000" cy="1440000"/>
          </a:xfrm>
          <a:prstGeom prst="rect">
            <a:avLst/>
          </a:prstGeom>
        </p:spPr>
      </p:pic>
    </p:spTree>
    <p:extLst>
      <p:ext uri="{BB962C8B-B14F-4D97-AF65-F5344CB8AC3E}">
        <p14:creationId xmlns:p14="http://schemas.microsoft.com/office/powerpoint/2010/main" val="201147492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48FCF-244C-33AF-799A-2F6BE493851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9EBD8F1-1777-E8FF-4DCD-5FB970FD6B0B}"/>
              </a:ext>
            </a:extLst>
          </p:cNvPr>
          <p:cNvSpPr>
            <a:spLocks noGrp="1"/>
          </p:cNvSpPr>
          <p:nvPr>
            <p:ph type="body" sz="quarter" idx="11"/>
          </p:nvPr>
        </p:nvSpPr>
        <p:spPr/>
        <p:txBody>
          <a:bodyPr/>
          <a:lstStyle/>
          <a:p>
            <a:pPr marL="0" indent="0">
              <a:buNone/>
            </a:pPr>
            <a:r>
              <a:rPr lang="en-GB" dirty="0"/>
              <a:t>Independence:</a:t>
            </a:r>
          </a:p>
          <a:p>
            <a:r>
              <a:rPr lang="en-GB" dirty="0"/>
              <a:t>Can eggs “affect” each other?</a:t>
            </a:r>
          </a:p>
          <a:p>
            <a:r>
              <a:rPr lang="en-GB" dirty="0"/>
              <a:t>Are eggs grouped into nests/clutches?</a:t>
            </a:r>
          </a:p>
          <a:p>
            <a:endParaRPr lang="en-GB" dirty="0"/>
          </a:p>
          <a:p>
            <a:pPr marL="0" indent="0">
              <a:buNone/>
            </a:pPr>
            <a:endParaRPr lang="en-GB" dirty="0"/>
          </a:p>
          <a:p>
            <a:pPr marL="0" indent="0">
              <a:buNone/>
            </a:pPr>
            <a:endParaRPr lang="en-GB" dirty="0"/>
          </a:p>
          <a:p>
            <a:pPr marL="457200" indent="-457200">
              <a:buAutoNum type="arabicPeriod"/>
            </a:pPr>
            <a:endParaRPr lang="en-GB" dirty="0"/>
          </a:p>
          <a:p>
            <a:pPr marL="457200" indent="-457200">
              <a:buAutoNum type="arabicPeriod"/>
            </a:pPr>
            <a:endParaRPr lang="en-GB" dirty="0"/>
          </a:p>
        </p:txBody>
      </p:sp>
      <p:sp>
        <p:nvSpPr>
          <p:cNvPr id="3" name="Title 2">
            <a:extLst>
              <a:ext uri="{FF2B5EF4-FFF2-40B4-BE49-F238E27FC236}">
                <a16:creationId xmlns:a16="http://schemas.microsoft.com/office/drawing/2014/main" id="{6EA424FF-A1F9-CA5B-1384-298C85C5D075}"/>
              </a:ext>
            </a:extLst>
          </p:cNvPr>
          <p:cNvSpPr>
            <a:spLocks noGrp="1"/>
          </p:cNvSpPr>
          <p:nvPr>
            <p:ph type="title"/>
          </p:nvPr>
        </p:nvSpPr>
        <p:spPr/>
        <p:txBody>
          <a:bodyPr/>
          <a:lstStyle/>
          <a:p>
            <a:r>
              <a:rPr lang="en-GB" dirty="0"/>
              <a:t>Dragon egg example: are assumptions met?</a:t>
            </a:r>
          </a:p>
        </p:txBody>
      </p:sp>
      <p:sp>
        <p:nvSpPr>
          <p:cNvPr id="4" name="Slide Number Placeholder 3">
            <a:extLst>
              <a:ext uri="{FF2B5EF4-FFF2-40B4-BE49-F238E27FC236}">
                <a16:creationId xmlns:a16="http://schemas.microsoft.com/office/drawing/2014/main" id="{ECDC0003-B16A-51D2-6790-3B4BCE580C6A}"/>
              </a:ext>
            </a:extLst>
          </p:cNvPr>
          <p:cNvSpPr>
            <a:spLocks noGrp="1"/>
          </p:cNvSpPr>
          <p:nvPr>
            <p:ph type="sldNum" sz="quarter" idx="10"/>
          </p:nvPr>
        </p:nvSpPr>
        <p:spPr/>
        <p:txBody>
          <a:bodyPr/>
          <a:lstStyle/>
          <a:p>
            <a:pPr>
              <a:defRPr/>
            </a:pPr>
            <a:fld id="{CD3FC0C4-D681-4CE5-B41E-BCE48B80373A}" type="slidenum">
              <a:rPr lang="en-GB" smtClean="0"/>
              <a:pPr>
                <a:defRPr/>
              </a:pPr>
              <a:t>62</a:t>
            </a:fld>
            <a:endParaRPr lang="en-GB"/>
          </a:p>
        </p:txBody>
      </p:sp>
      <p:pic>
        <p:nvPicPr>
          <p:cNvPr id="5" name="Graphic 4" descr="Dragon with solid fill">
            <a:extLst>
              <a:ext uri="{FF2B5EF4-FFF2-40B4-BE49-F238E27FC236}">
                <a16:creationId xmlns:a16="http://schemas.microsoft.com/office/drawing/2014/main" id="{00D85DFA-D91D-C438-819C-0BF45286FF50}"/>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7236296" y="1697663"/>
            <a:ext cx="1440000" cy="1440000"/>
          </a:xfrm>
          <a:prstGeom prst="rect">
            <a:avLst/>
          </a:prstGeom>
        </p:spPr>
      </p:pic>
      <p:pic>
        <p:nvPicPr>
          <p:cNvPr id="6" name="Graphic 5" descr="Dinosaur Egg with solid fill">
            <a:extLst>
              <a:ext uri="{FF2B5EF4-FFF2-40B4-BE49-F238E27FC236}">
                <a16:creationId xmlns:a16="http://schemas.microsoft.com/office/drawing/2014/main" id="{7AA80CBF-E87B-9E8D-CF14-36E04C74CFF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232484" y="3209831"/>
            <a:ext cx="1440000" cy="1440000"/>
          </a:xfrm>
          <a:prstGeom prst="rect">
            <a:avLst/>
          </a:prstGeom>
        </p:spPr>
      </p:pic>
    </p:spTree>
    <p:extLst>
      <p:ext uri="{BB962C8B-B14F-4D97-AF65-F5344CB8AC3E}">
        <p14:creationId xmlns:p14="http://schemas.microsoft.com/office/powerpoint/2010/main" val="303840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8BA2E-E4A3-ABCA-D0DE-FF28157909D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9CA4BB1-748F-C0F6-D50C-AB4090784AE3}"/>
              </a:ext>
            </a:extLst>
          </p:cNvPr>
          <p:cNvSpPr>
            <a:spLocks noGrp="1"/>
          </p:cNvSpPr>
          <p:nvPr>
            <p:ph type="body" sz="quarter" idx="11"/>
          </p:nvPr>
        </p:nvSpPr>
        <p:spPr>
          <a:xfrm>
            <a:off x="515649" y="1772918"/>
            <a:ext cx="6216592" cy="4002407"/>
          </a:xfrm>
        </p:spPr>
        <p:txBody>
          <a:bodyPr/>
          <a:lstStyle/>
          <a:p>
            <a:pPr marL="0" indent="0">
              <a:buNone/>
            </a:pPr>
            <a:r>
              <a:rPr lang="en-GB" dirty="0"/>
              <a:t>Non-informative censoring:</a:t>
            </a:r>
          </a:p>
          <a:p>
            <a:r>
              <a:rPr lang="en-GB" dirty="0"/>
              <a:t>Are eggs are “removed” from the study if they look unhealthy or slow to hatch?</a:t>
            </a:r>
          </a:p>
          <a:p>
            <a:r>
              <a:rPr lang="en-GB" dirty="0"/>
              <a:t>Are there any over-protective dragon parents who hide/move eggs while also incubating better?</a:t>
            </a:r>
          </a:p>
          <a:p>
            <a:pPr marL="0" indent="0">
              <a:buNone/>
            </a:pPr>
            <a:endParaRPr lang="en-GB" dirty="0"/>
          </a:p>
          <a:p>
            <a:pPr marL="0" indent="0">
              <a:buNone/>
            </a:pPr>
            <a:endParaRPr lang="en-GB" dirty="0"/>
          </a:p>
          <a:p>
            <a:pPr marL="457200" indent="-457200">
              <a:buAutoNum type="arabicPeriod"/>
            </a:pPr>
            <a:endParaRPr lang="en-GB" dirty="0"/>
          </a:p>
          <a:p>
            <a:pPr marL="457200" indent="-457200">
              <a:buAutoNum type="arabicPeriod"/>
            </a:pPr>
            <a:endParaRPr lang="en-GB" dirty="0"/>
          </a:p>
        </p:txBody>
      </p:sp>
      <p:sp>
        <p:nvSpPr>
          <p:cNvPr id="3" name="Title 2">
            <a:extLst>
              <a:ext uri="{FF2B5EF4-FFF2-40B4-BE49-F238E27FC236}">
                <a16:creationId xmlns:a16="http://schemas.microsoft.com/office/drawing/2014/main" id="{2BA53CC4-D6CA-40BE-8FF4-2BCF982C97C5}"/>
              </a:ext>
            </a:extLst>
          </p:cNvPr>
          <p:cNvSpPr>
            <a:spLocks noGrp="1"/>
          </p:cNvSpPr>
          <p:nvPr>
            <p:ph type="title"/>
          </p:nvPr>
        </p:nvSpPr>
        <p:spPr/>
        <p:txBody>
          <a:bodyPr/>
          <a:lstStyle/>
          <a:p>
            <a:r>
              <a:rPr lang="en-GB" dirty="0"/>
              <a:t>Dragon egg example: are assumptions met?</a:t>
            </a:r>
          </a:p>
        </p:txBody>
      </p:sp>
      <p:sp>
        <p:nvSpPr>
          <p:cNvPr id="4" name="Slide Number Placeholder 3">
            <a:extLst>
              <a:ext uri="{FF2B5EF4-FFF2-40B4-BE49-F238E27FC236}">
                <a16:creationId xmlns:a16="http://schemas.microsoft.com/office/drawing/2014/main" id="{173CA018-F96C-80DA-F9F1-7B56A0320823}"/>
              </a:ext>
            </a:extLst>
          </p:cNvPr>
          <p:cNvSpPr>
            <a:spLocks noGrp="1"/>
          </p:cNvSpPr>
          <p:nvPr>
            <p:ph type="sldNum" sz="quarter" idx="10"/>
          </p:nvPr>
        </p:nvSpPr>
        <p:spPr/>
        <p:txBody>
          <a:bodyPr/>
          <a:lstStyle/>
          <a:p>
            <a:pPr>
              <a:defRPr/>
            </a:pPr>
            <a:fld id="{CD3FC0C4-D681-4CE5-B41E-BCE48B80373A}" type="slidenum">
              <a:rPr lang="en-GB" smtClean="0"/>
              <a:pPr>
                <a:defRPr/>
              </a:pPr>
              <a:t>63</a:t>
            </a:fld>
            <a:endParaRPr lang="en-GB"/>
          </a:p>
        </p:txBody>
      </p:sp>
      <p:pic>
        <p:nvPicPr>
          <p:cNvPr id="5" name="Graphic 4" descr="Dragon with solid fill">
            <a:extLst>
              <a:ext uri="{FF2B5EF4-FFF2-40B4-BE49-F238E27FC236}">
                <a16:creationId xmlns:a16="http://schemas.microsoft.com/office/drawing/2014/main" id="{C28A87FC-BD13-0D1F-1E89-4F047BF6E710}"/>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7236296" y="1697663"/>
            <a:ext cx="1440000" cy="1440000"/>
          </a:xfrm>
          <a:prstGeom prst="rect">
            <a:avLst/>
          </a:prstGeom>
        </p:spPr>
      </p:pic>
      <p:pic>
        <p:nvPicPr>
          <p:cNvPr id="6" name="Graphic 5" descr="Dinosaur Egg with solid fill">
            <a:extLst>
              <a:ext uri="{FF2B5EF4-FFF2-40B4-BE49-F238E27FC236}">
                <a16:creationId xmlns:a16="http://schemas.microsoft.com/office/drawing/2014/main" id="{A45C5AE3-68F4-D420-1205-0719167EFE0D}"/>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232484" y="3209831"/>
            <a:ext cx="1440000" cy="1440000"/>
          </a:xfrm>
          <a:prstGeom prst="rect">
            <a:avLst/>
          </a:prstGeom>
        </p:spPr>
      </p:pic>
    </p:spTree>
    <p:extLst>
      <p:ext uri="{BB962C8B-B14F-4D97-AF65-F5344CB8AC3E}">
        <p14:creationId xmlns:p14="http://schemas.microsoft.com/office/powerpoint/2010/main" val="23254723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7F724-2343-836F-1A9A-3BF34E10D3C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F7BB6C7-7C2C-C1E5-9694-11357230A72F}"/>
              </a:ext>
            </a:extLst>
          </p:cNvPr>
          <p:cNvSpPr>
            <a:spLocks noGrp="1"/>
          </p:cNvSpPr>
          <p:nvPr>
            <p:ph type="body" sz="quarter" idx="11"/>
          </p:nvPr>
        </p:nvSpPr>
        <p:spPr>
          <a:xfrm>
            <a:off x="515649" y="1772918"/>
            <a:ext cx="6216592" cy="4002407"/>
          </a:xfrm>
        </p:spPr>
        <p:txBody>
          <a:bodyPr/>
          <a:lstStyle/>
          <a:p>
            <a:pPr marL="0" indent="0">
              <a:buNone/>
            </a:pPr>
            <a:r>
              <a:rPr lang="en-GB" dirty="0"/>
              <a:t>Proportional hazards:</a:t>
            </a:r>
          </a:p>
          <a:p>
            <a:r>
              <a:rPr lang="en-GB" dirty="0"/>
              <a:t>Is the chromatic vs metallic (scale colour) effect consistent at all times?</a:t>
            </a:r>
          </a:p>
          <a:p>
            <a:r>
              <a:rPr lang="en-GB" dirty="0"/>
              <a:t>What if metallic dragon eggs hatch slowly but steadily, while chromatic dragon eggs hatch quickly but with more late-stage complications?</a:t>
            </a:r>
          </a:p>
          <a:p>
            <a:pPr marL="0" indent="0">
              <a:buNone/>
            </a:pPr>
            <a:endParaRPr lang="en-GB" dirty="0"/>
          </a:p>
          <a:p>
            <a:pPr marL="0" indent="0">
              <a:buNone/>
            </a:pPr>
            <a:endParaRPr lang="en-GB" dirty="0"/>
          </a:p>
          <a:p>
            <a:pPr marL="457200" indent="-457200">
              <a:buAutoNum type="arabicPeriod"/>
            </a:pPr>
            <a:endParaRPr lang="en-GB" dirty="0"/>
          </a:p>
          <a:p>
            <a:pPr marL="457200" indent="-457200">
              <a:buAutoNum type="arabicPeriod"/>
            </a:pPr>
            <a:endParaRPr lang="en-GB" dirty="0"/>
          </a:p>
        </p:txBody>
      </p:sp>
      <p:sp>
        <p:nvSpPr>
          <p:cNvPr id="3" name="Title 2">
            <a:extLst>
              <a:ext uri="{FF2B5EF4-FFF2-40B4-BE49-F238E27FC236}">
                <a16:creationId xmlns:a16="http://schemas.microsoft.com/office/drawing/2014/main" id="{3AF5D4DB-F2B9-3155-3EAA-A0A7336DCF1A}"/>
              </a:ext>
            </a:extLst>
          </p:cNvPr>
          <p:cNvSpPr>
            <a:spLocks noGrp="1"/>
          </p:cNvSpPr>
          <p:nvPr>
            <p:ph type="title"/>
          </p:nvPr>
        </p:nvSpPr>
        <p:spPr/>
        <p:txBody>
          <a:bodyPr/>
          <a:lstStyle/>
          <a:p>
            <a:r>
              <a:rPr lang="en-GB" dirty="0"/>
              <a:t>Dragon egg example: are assumptions met?</a:t>
            </a:r>
          </a:p>
        </p:txBody>
      </p:sp>
      <p:sp>
        <p:nvSpPr>
          <p:cNvPr id="4" name="Slide Number Placeholder 3">
            <a:extLst>
              <a:ext uri="{FF2B5EF4-FFF2-40B4-BE49-F238E27FC236}">
                <a16:creationId xmlns:a16="http://schemas.microsoft.com/office/drawing/2014/main" id="{120F6852-201E-FDEB-B8EB-3DB9B0B91C0A}"/>
              </a:ext>
            </a:extLst>
          </p:cNvPr>
          <p:cNvSpPr>
            <a:spLocks noGrp="1"/>
          </p:cNvSpPr>
          <p:nvPr>
            <p:ph type="sldNum" sz="quarter" idx="10"/>
          </p:nvPr>
        </p:nvSpPr>
        <p:spPr/>
        <p:txBody>
          <a:bodyPr/>
          <a:lstStyle/>
          <a:p>
            <a:pPr>
              <a:defRPr/>
            </a:pPr>
            <a:fld id="{CD3FC0C4-D681-4CE5-B41E-BCE48B80373A}" type="slidenum">
              <a:rPr lang="en-GB" smtClean="0"/>
              <a:pPr>
                <a:defRPr/>
              </a:pPr>
              <a:t>64</a:t>
            </a:fld>
            <a:endParaRPr lang="en-GB"/>
          </a:p>
        </p:txBody>
      </p:sp>
      <p:pic>
        <p:nvPicPr>
          <p:cNvPr id="5" name="Graphic 4" descr="Dragon with solid fill">
            <a:extLst>
              <a:ext uri="{FF2B5EF4-FFF2-40B4-BE49-F238E27FC236}">
                <a16:creationId xmlns:a16="http://schemas.microsoft.com/office/drawing/2014/main" id="{A02D4431-CA18-CAF0-1146-C1F8BA783C17}"/>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236296" y="1697663"/>
            <a:ext cx="1440000" cy="1440000"/>
          </a:xfrm>
          <a:prstGeom prst="rect">
            <a:avLst/>
          </a:prstGeom>
        </p:spPr>
      </p:pic>
      <p:pic>
        <p:nvPicPr>
          <p:cNvPr id="6" name="Graphic 5" descr="Dinosaur Egg with solid fill">
            <a:extLst>
              <a:ext uri="{FF2B5EF4-FFF2-40B4-BE49-F238E27FC236}">
                <a16:creationId xmlns:a16="http://schemas.microsoft.com/office/drawing/2014/main" id="{7FCB7728-9A04-F574-432F-11DCA2F4AB4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7232484" y="3209831"/>
            <a:ext cx="1440000" cy="1440000"/>
          </a:xfrm>
          <a:prstGeom prst="rect">
            <a:avLst/>
          </a:prstGeom>
        </p:spPr>
      </p:pic>
    </p:spTree>
    <p:extLst>
      <p:ext uri="{BB962C8B-B14F-4D97-AF65-F5344CB8AC3E}">
        <p14:creationId xmlns:p14="http://schemas.microsoft.com/office/powerpoint/2010/main" val="259067159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C43F3-897F-5E5F-7094-F65C54F652A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05CFB6F-241F-CCE9-6673-B45530CFA2BF}"/>
              </a:ext>
            </a:extLst>
          </p:cNvPr>
          <p:cNvSpPr>
            <a:spLocks noGrp="1"/>
          </p:cNvSpPr>
          <p:nvPr>
            <p:ph type="title"/>
          </p:nvPr>
        </p:nvSpPr>
        <p:spPr/>
        <p:txBody>
          <a:bodyPr/>
          <a:lstStyle/>
          <a:p>
            <a:r>
              <a:rPr lang="en-GB" dirty="0"/>
              <a:t>Two dragon populations</a:t>
            </a:r>
          </a:p>
        </p:txBody>
      </p:sp>
      <p:sp>
        <p:nvSpPr>
          <p:cNvPr id="4" name="Slide Number Placeholder 3">
            <a:extLst>
              <a:ext uri="{FF2B5EF4-FFF2-40B4-BE49-F238E27FC236}">
                <a16:creationId xmlns:a16="http://schemas.microsoft.com/office/drawing/2014/main" id="{2DB0F16E-20FC-A222-B511-D0B584F344B3}"/>
              </a:ext>
            </a:extLst>
          </p:cNvPr>
          <p:cNvSpPr>
            <a:spLocks noGrp="1"/>
          </p:cNvSpPr>
          <p:nvPr>
            <p:ph type="sldNum" sz="quarter" idx="10"/>
          </p:nvPr>
        </p:nvSpPr>
        <p:spPr/>
        <p:txBody>
          <a:bodyPr/>
          <a:lstStyle/>
          <a:p>
            <a:pPr>
              <a:defRPr/>
            </a:pPr>
            <a:fld id="{E5717E7F-5007-4559-A9EA-6621C16865F0}" type="slidenum">
              <a:rPr lang="en-GB" smtClean="0"/>
              <a:pPr>
                <a:defRPr/>
              </a:pPr>
              <a:t>65</a:t>
            </a:fld>
            <a:endParaRPr lang="en-GB"/>
          </a:p>
        </p:txBody>
      </p:sp>
      <p:pic>
        <p:nvPicPr>
          <p:cNvPr id="3" name="Picture 2">
            <a:extLst>
              <a:ext uri="{FF2B5EF4-FFF2-40B4-BE49-F238E27FC236}">
                <a16:creationId xmlns:a16="http://schemas.microsoft.com/office/drawing/2014/main" id="{E65A14CA-8DC7-2C28-67BE-6AE7BFD275D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873244" y="1556637"/>
            <a:ext cx="7397510" cy="4572008"/>
          </a:xfrm>
          <a:prstGeom prst="rect">
            <a:avLst/>
          </a:prstGeom>
        </p:spPr>
      </p:pic>
    </p:spTree>
    <p:extLst>
      <p:ext uri="{BB962C8B-B14F-4D97-AF65-F5344CB8AC3E}">
        <p14:creationId xmlns:p14="http://schemas.microsoft.com/office/powerpoint/2010/main" val="63766989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2434F-58D4-C709-3EF9-EFDFE471A11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1FC889C-7AEE-39DA-51F6-1EE9CCD8534C}"/>
              </a:ext>
            </a:extLst>
          </p:cNvPr>
          <p:cNvSpPr>
            <a:spLocks noGrp="1"/>
          </p:cNvSpPr>
          <p:nvPr>
            <p:ph type="title"/>
          </p:nvPr>
        </p:nvSpPr>
        <p:spPr/>
        <p:txBody>
          <a:bodyPr/>
          <a:lstStyle/>
          <a:p>
            <a:r>
              <a:rPr lang="en-GB" dirty="0"/>
              <a:t>Multiple dragon populations</a:t>
            </a:r>
          </a:p>
        </p:txBody>
      </p:sp>
      <p:sp>
        <p:nvSpPr>
          <p:cNvPr id="4" name="Slide Number Placeholder 3">
            <a:extLst>
              <a:ext uri="{FF2B5EF4-FFF2-40B4-BE49-F238E27FC236}">
                <a16:creationId xmlns:a16="http://schemas.microsoft.com/office/drawing/2014/main" id="{56BDD64A-3D97-DC07-22B7-ABD2E0AEDE23}"/>
              </a:ext>
            </a:extLst>
          </p:cNvPr>
          <p:cNvSpPr>
            <a:spLocks noGrp="1"/>
          </p:cNvSpPr>
          <p:nvPr>
            <p:ph type="sldNum" sz="quarter" idx="10"/>
          </p:nvPr>
        </p:nvSpPr>
        <p:spPr/>
        <p:txBody>
          <a:bodyPr/>
          <a:lstStyle/>
          <a:p>
            <a:pPr>
              <a:defRPr/>
            </a:pPr>
            <a:fld id="{E5717E7F-5007-4559-A9EA-6621C16865F0}" type="slidenum">
              <a:rPr lang="en-GB" smtClean="0"/>
              <a:pPr>
                <a:defRPr/>
              </a:pPr>
              <a:t>66</a:t>
            </a:fld>
            <a:endParaRPr lang="en-GB"/>
          </a:p>
        </p:txBody>
      </p:sp>
      <p:pic>
        <p:nvPicPr>
          <p:cNvPr id="3" name="Picture 2">
            <a:extLst>
              <a:ext uri="{FF2B5EF4-FFF2-40B4-BE49-F238E27FC236}">
                <a16:creationId xmlns:a16="http://schemas.microsoft.com/office/drawing/2014/main" id="{2A2BD339-F3D4-329C-C433-9304C84F2E71}"/>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873244" y="1556637"/>
            <a:ext cx="7397509" cy="4572008"/>
          </a:xfrm>
          <a:prstGeom prst="rect">
            <a:avLst/>
          </a:prstGeom>
        </p:spPr>
      </p:pic>
    </p:spTree>
    <p:extLst>
      <p:ext uri="{BB962C8B-B14F-4D97-AF65-F5344CB8AC3E}">
        <p14:creationId xmlns:p14="http://schemas.microsoft.com/office/powerpoint/2010/main" val="344384744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D7382-2C2B-3EB7-71AF-437D95077375}"/>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EFA31752-448E-A487-D64E-3C152ACE84AB}"/>
              </a:ext>
            </a:extLst>
          </p:cNvPr>
          <p:cNvSpPr>
            <a:spLocks noGrp="1"/>
          </p:cNvSpPr>
          <p:nvPr>
            <p:ph type="body" sz="quarter" idx="11"/>
          </p:nvPr>
        </p:nvSpPr>
        <p:spPr/>
        <p:txBody>
          <a:bodyPr/>
          <a:lstStyle/>
          <a:p>
            <a:pPr>
              <a:buClr>
                <a:schemeClr val="tx1"/>
              </a:buClr>
            </a:pPr>
            <a:r>
              <a:rPr lang="en-GB" dirty="0">
                <a:latin typeface="+mj-lt"/>
              </a:rPr>
              <a:t>Allows us to </a:t>
            </a:r>
            <a:r>
              <a:rPr lang="en-GB" b="1" dirty="0">
                <a:latin typeface="+mj-lt"/>
              </a:rPr>
              <a:t>compare groups </a:t>
            </a:r>
            <a:r>
              <a:rPr lang="en-GB" dirty="0">
                <a:latin typeface="+mj-lt"/>
              </a:rPr>
              <a:t>like a t-test or one-way ANOVA </a:t>
            </a:r>
            <a:r>
              <a:rPr lang="en-GB" dirty="0"/>
              <a:t>(i.e., single categorical predictor) </a:t>
            </a:r>
            <a:endParaRPr lang="en-GB" dirty="0">
              <a:latin typeface="+mj-lt"/>
            </a:endParaRPr>
          </a:p>
          <a:p>
            <a:pPr>
              <a:buClr>
                <a:schemeClr val="tx1"/>
              </a:buClr>
            </a:pPr>
            <a:endParaRPr lang="en-GB" dirty="0">
              <a:latin typeface="+mj-lt"/>
            </a:endParaRPr>
          </a:p>
          <a:p>
            <a:pPr>
              <a:buClr>
                <a:schemeClr val="tx1"/>
              </a:buClr>
            </a:pPr>
            <a:r>
              <a:rPr lang="en-GB" dirty="0">
                <a:latin typeface="+mj-lt"/>
              </a:rPr>
              <a:t>The </a:t>
            </a:r>
            <a:r>
              <a:rPr lang="en-GB" b="1" dirty="0">
                <a:latin typeface="+mj-lt"/>
              </a:rPr>
              <a:t>null hypothesis</a:t>
            </a:r>
            <a:r>
              <a:rPr lang="en-GB" dirty="0">
                <a:latin typeface="+mj-lt"/>
              </a:rPr>
              <a:t> is that all groups share the same underlying survival curve</a:t>
            </a:r>
          </a:p>
          <a:p>
            <a:pPr>
              <a:buClr>
                <a:schemeClr val="tx1"/>
              </a:buClr>
            </a:pPr>
            <a:endParaRPr lang="en-GB" noProof="0" dirty="0">
              <a:latin typeface="+mj-lt"/>
            </a:endParaRPr>
          </a:p>
          <a:p>
            <a:pPr>
              <a:buClr>
                <a:schemeClr val="tx1"/>
              </a:buClr>
            </a:pPr>
            <a:r>
              <a:rPr lang="en-GB" noProof="0" dirty="0">
                <a:latin typeface="+mj-lt"/>
              </a:rPr>
              <a:t>Makes </a:t>
            </a:r>
            <a:r>
              <a:rPr lang="en-GB" b="1" dirty="0">
                <a:latin typeface="+mj-lt"/>
              </a:rPr>
              <a:t>assumptions</a:t>
            </a:r>
            <a:r>
              <a:rPr lang="en-GB" dirty="0">
                <a:latin typeface="+mj-lt"/>
              </a:rPr>
              <a:t> about:</a:t>
            </a:r>
          </a:p>
          <a:p>
            <a:pPr lvl="1">
              <a:buClr>
                <a:schemeClr val="tx1"/>
              </a:buClr>
            </a:pPr>
            <a:r>
              <a:rPr lang="en-GB" sz="2000" noProof="0" dirty="0">
                <a:latin typeface="+mj-lt"/>
              </a:rPr>
              <a:t>Independence</a:t>
            </a:r>
          </a:p>
          <a:p>
            <a:pPr lvl="1">
              <a:buClr>
                <a:schemeClr val="tx1"/>
              </a:buClr>
            </a:pPr>
            <a:r>
              <a:rPr lang="en-GB" sz="2000" noProof="0" dirty="0">
                <a:latin typeface="+mj-lt"/>
              </a:rPr>
              <a:t>Non-informative censoring</a:t>
            </a:r>
          </a:p>
          <a:p>
            <a:pPr lvl="1">
              <a:buClr>
                <a:schemeClr val="tx1"/>
              </a:buClr>
            </a:pPr>
            <a:r>
              <a:rPr lang="en-GB" sz="2000" dirty="0">
                <a:latin typeface="+mj-lt"/>
              </a:rPr>
              <a:t>Proportional hazards</a:t>
            </a:r>
            <a:endParaRPr lang="en-GB" sz="2000" noProof="0" dirty="0">
              <a:latin typeface="+mj-lt"/>
            </a:endParaRPr>
          </a:p>
          <a:p>
            <a:endParaRPr lang="en-GB" noProof="0" dirty="0"/>
          </a:p>
        </p:txBody>
      </p:sp>
      <p:sp>
        <p:nvSpPr>
          <p:cNvPr id="5" name="Title 4">
            <a:extLst>
              <a:ext uri="{FF2B5EF4-FFF2-40B4-BE49-F238E27FC236}">
                <a16:creationId xmlns:a16="http://schemas.microsoft.com/office/drawing/2014/main" id="{4539CA94-4387-937D-F856-0295029463DB}"/>
              </a:ext>
            </a:extLst>
          </p:cNvPr>
          <p:cNvSpPr>
            <a:spLocks noGrp="1"/>
          </p:cNvSpPr>
          <p:nvPr>
            <p:ph type="title"/>
          </p:nvPr>
        </p:nvSpPr>
        <p:spPr/>
        <p:txBody>
          <a:bodyPr/>
          <a:lstStyle/>
          <a:p>
            <a:r>
              <a:rPr lang="en-GB" noProof="0" dirty="0"/>
              <a:t>Summary: Log-rank test</a:t>
            </a:r>
          </a:p>
        </p:txBody>
      </p:sp>
      <p:sp>
        <p:nvSpPr>
          <p:cNvPr id="2" name="Slide Number Placeholder 1">
            <a:extLst>
              <a:ext uri="{FF2B5EF4-FFF2-40B4-BE49-F238E27FC236}">
                <a16:creationId xmlns:a16="http://schemas.microsoft.com/office/drawing/2014/main" id="{298BD9B6-CBF4-CB6F-F96C-730D9EDC742D}"/>
              </a:ext>
            </a:extLst>
          </p:cNvPr>
          <p:cNvSpPr>
            <a:spLocks noGrp="1"/>
          </p:cNvSpPr>
          <p:nvPr>
            <p:ph type="sldNum" sz="quarter" idx="10"/>
          </p:nvPr>
        </p:nvSpPr>
        <p:spPr/>
        <p:txBody>
          <a:bodyPr/>
          <a:lstStyle/>
          <a:p>
            <a:pPr>
              <a:defRPr/>
            </a:pPr>
            <a:fld id="{CD3FC0C4-D681-4CE5-B41E-BCE48B80373A}" type="slidenum">
              <a:rPr lang="en-GB" noProof="0" smtClean="0"/>
              <a:pPr>
                <a:defRPr/>
              </a:pPr>
              <a:t>67</a:t>
            </a:fld>
            <a:endParaRPr lang="en-GB" noProof="0" dirty="0"/>
          </a:p>
        </p:txBody>
      </p:sp>
    </p:spTree>
    <p:extLst>
      <p:ext uri="{BB962C8B-B14F-4D97-AF65-F5344CB8AC3E}">
        <p14:creationId xmlns:p14="http://schemas.microsoft.com/office/powerpoint/2010/main" val="27974599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C4EAD-9F9C-5DF4-1305-0965F02AB3AD}"/>
            </a:ext>
          </a:extLst>
        </p:cNvPr>
        <p:cNvGrpSpPr/>
        <p:nvPr/>
      </p:nvGrpSpPr>
      <p:grpSpPr>
        <a:xfrm>
          <a:off x="0" y="0"/>
          <a:ext cx="0" cy="0"/>
          <a:chOff x="0" y="0"/>
          <a:chExt cx="0" cy="0"/>
        </a:xfrm>
      </p:grpSpPr>
      <p:sp>
        <p:nvSpPr>
          <p:cNvPr id="15364" name="Slide Number Placeholder 4">
            <a:extLst>
              <a:ext uri="{FF2B5EF4-FFF2-40B4-BE49-F238E27FC236}">
                <a16:creationId xmlns:a16="http://schemas.microsoft.com/office/drawing/2014/main" id="{B9DF6458-EAB6-6DBC-0EBC-4332D841202C}"/>
              </a:ext>
            </a:extLst>
          </p:cNvPr>
          <p:cNvSpPr>
            <a:spLocks noGrp="1"/>
          </p:cNvSpPr>
          <p:nvPr>
            <p:ph type="sldNum" sz="quarter" idx="10"/>
          </p:nvPr>
        </p:nvSpPr>
        <p:spPr>
          <a:noFill/>
        </p:spPr>
        <p:txBody>
          <a:bodyPr/>
          <a:lstStyle/>
          <a:p>
            <a:fld id="{E036465C-945F-44BE-994D-AFC5D4629323}" type="slidenum">
              <a:rPr lang="en-GB" noProof="0" smtClean="0">
                <a:cs typeface="Arial" charset="0"/>
              </a:rPr>
              <a:pPr/>
              <a:t>68</a:t>
            </a:fld>
            <a:endParaRPr lang="en-GB" noProof="0" dirty="0">
              <a:cs typeface="Arial" charset="0"/>
            </a:endParaRPr>
          </a:p>
        </p:txBody>
      </p:sp>
      <p:sp>
        <p:nvSpPr>
          <p:cNvPr id="6" name="Rectangle 2">
            <a:extLst>
              <a:ext uri="{FF2B5EF4-FFF2-40B4-BE49-F238E27FC236}">
                <a16:creationId xmlns:a16="http://schemas.microsoft.com/office/drawing/2014/main" id="{B205E37A-E6B9-A1E5-B20F-04C683E09C35}"/>
              </a:ext>
            </a:extLst>
          </p:cNvPr>
          <p:cNvSpPr txBox="1">
            <a:spLocks noChangeArrowheads="1"/>
          </p:cNvSpPr>
          <p:nvPr/>
        </p:nvSpPr>
        <p:spPr bwMode="auto">
          <a:xfrm>
            <a:off x="683569" y="2060645"/>
            <a:ext cx="7560840" cy="57626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0" fontAlgn="base" hangingPunct="0">
              <a:spcBef>
                <a:spcPct val="0"/>
              </a:spcBef>
              <a:spcAft>
                <a:spcPct val="0"/>
              </a:spcAft>
              <a:defRPr sz="3600" b="1">
                <a:solidFill>
                  <a:schemeClr val="tx2"/>
                </a:solidFill>
                <a:latin typeface="+mj-lt"/>
                <a:ea typeface="+mj-ea"/>
                <a:cs typeface="+mj-cs"/>
              </a:defRPr>
            </a:lvl1pPr>
            <a:lvl2pPr algn="l" rtl="0" eaLnBrk="0" fontAlgn="base" hangingPunct="0">
              <a:spcBef>
                <a:spcPct val="0"/>
              </a:spcBef>
              <a:spcAft>
                <a:spcPct val="0"/>
              </a:spcAft>
              <a:defRPr sz="2600" b="1">
                <a:solidFill>
                  <a:schemeClr val="tx2"/>
                </a:solidFill>
                <a:latin typeface="Arial" charset="0"/>
              </a:defRPr>
            </a:lvl2pPr>
            <a:lvl3pPr algn="l" rtl="0" eaLnBrk="0" fontAlgn="base" hangingPunct="0">
              <a:spcBef>
                <a:spcPct val="0"/>
              </a:spcBef>
              <a:spcAft>
                <a:spcPct val="0"/>
              </a:spcAft>
              <a:defRPr sz="2600" b="1">
                <a:solidFill>
                  <a:schemeClr val="tx2"/>
                </a:solidFill>
                <a:latin typeface="Arial" charset="0"/>
              </a:defRPr>
            </a:lvl3pPr>
            <a:lvl4pPr algn="l" rtl="0" eaLnBrk="0" fontAlgn="base" hangingPunct="0">
              <a:spcBef>
                <a:spcPct val="0"/>
              </a:spcBef>
              <a:spcAft>
                <a:spcPct val="0"/>
              </a:spcAft>
              <a:defRPr sz="2600" b="1">
                <a:solidFill>
                  <a:schemeClr val="tx2"/>
                </a:solidFill>
                <a:latin typeface="Arial" charset="0"/>
              </a:defRPr>
            </a:lvl4pPr>
            <a:lvl5pPr algn="l" rtl="0" eaLnBrk="0" fontAlgn="base" hangingPunct="0">
              <a:spcBef>
                <a:spcPct val="0"/>
              </a:spcBef>
              <a:spcAft>
                <a:spcPct val="0"/>
              </a:spcAft>
              <a:defRPr sz="2600" b="1">
                <a:solidFill>
                  <a:schemeClr val="tx2"/>
                </a:solidFill>
                <a:latin typeface="Arial" charset="0"/>
              </a:defRPr>
            </a:lvl5pPr>
            <a:lvl6pPr marL="457200" algn="l" rtl="0" fontAlgn="base">
              <a:spcBef>
                <a:spcPct val="0"/>
              </a:spcBef>
              <a:spcAft>
                <a:spcPct val="0"/>
              </a:spcAft>
              <a:defRPr sz="2600" b="1">
                <a:solidFill>
                  <a:schemeClr val="tx2"/>
                </a:solidFill>
                <a:latin typeface="Arial" charset="0"/>
              </a:defRPr>
            </a:lvl6pPr>
            <a:lvl7pPr marL="914400" algn="l" rtl="0" fontAlgn="base">
              <a:spcBef>
                <a:spcPct val="0"/>
              </a:spcBef>
              <a:spcAft>
                <a:spcPct val="0"/>
              </a:spcAft>
              <a:defRPr sz="2600" b="1">
                <a:solidFill>
                  <a:schemeClr val="tx2"/>
                </a:solidFill>
                <a:latin typeface="Arial" charset="0"/>
              </a:defRPr>
            </a:lvl7pPr>
            <a:lvl8pPr marL="1371600" algn="l" rtl="0" fontAlgn="base">
              <a:spcBef>
                <a:spcPct val="0"/>
              </a:spcBef>
              <a:spcAft>
                <a:spcPct val="0"/>
              </a:spcAft>
              <a:defRPr sz="2600" b="1">
                <a:solidFill>
                  <a:schemeClr val="tx2"/>
                </a:solidFill>
                <a:latin typeface="Arial" charset="0"/>
              </a:defRPr>
            </a:lvl8pPr>
            <a:lvl9pPr marL="1828800" algn="l" rtl="0" fontAlgn="base">
              <a:spcBef>
                <a:spcPct val="0"/>
              </a:spcBef>
              <a:spcAft>
                <a:spcPct val="0"/>
              </a:spcAft>
              <a:defRPr sz="2600" b="1">
                <a:solidFill>
                  <a:schemeClr val="tx2"/>
                </a:solidFill>
                <a:latin typeface="Arial" charset="0"/>
              </a:defRPr>
            </a:lvl9pPr>
          </a:lstStyle>
          <a:p>
            <a:pPr eaLnBrk="1" hangingPunct="1"/>
            <a:r>
              <a:rPr lang="en-GB" sz="3500" kern="0" noProof="0" dirty="0"/>
              <a:t>Survival (time-to-event) analysis</a:t>
            </a:r>
          </a:p>
        </p:txBody>
      </p:sp>
      <p:sp>
        <p:nvSpPr>
          <p:cNvPr id="7" name="Rectangle 3">
            <a:extLst>
              <a:ext uri="{FF2B5EF4-FFF2-40B4-BE49-F238E27FC236}">
                <a16:creationId xmlns:a16="http://schemas.microsoft.com/office/drawing/2014/main" id="{AF93F975-18B4-F3F0-35B3-ABC32D026FB8}"/>
              </a:ext>
            </a:extLst>
          </p:cNvPr>
          <p:cNvSpPr txBox="1">
            <a:spLocks noChangeArrowheads="1"/>
          </p:cNvSpPr>
          <p:nvPr/>
        </p:nvSpPr>
        <p:spPr bwMode="auto">
          <a:xfrm>
            <a:off x="683567" y="2780928"/>
            <a:ext cx="7179321" cy="223224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0" indent="0" algn="l" rtl="0" eaLnBrk="0" fontAlgn="base" hangingPunct="0">
              <a:spcBef>
                <a:spcPct val="0"/>
              </a:spcBef>
              <a:spcAft>
                <a:spcPct val="75000"/>
              </a:spcAft>
              <a:buFontTx/>
              <a:buNone/>
              <a:defRPr sz="1800" b="1">
                <a:solidFill>
                  <a:schemeClr val="tx2"/>
                </a:solidFill>
                <a:latin typeface="+mn-lt"/>
                <a:ea typeface="+mn-ea"/>
                <a:cs typeface="+mn-cs"/>
              </a:defRPr>
            </a:lvl1pPr>
            <a:lvl2pPr marL="538163" indent="-266700" algn="l" rtl="0" eaLnBrk="0" fontAlgn="base" hangingPunct="0">
              <a:spcBef>
                <a:spcPct val="0"/>
              </a:spcBef>
              <a:spcAft>
                <a:spcPct val="75000"/>
              </a:spcAft>
              <a:buChar char="•"/>
              <a:defRPr sz="2000">
                <a:solidFill>
                  <a:schemeClr val="tx1"/>
                </a:solidFill>
                <a:latin typeface="+mn-lt"/>
              </a:defRPr>
            </a:lvl2pPr>
            <a:lvl3pPr marL="809625" indent="-269875" algn="l" rtl="0" eaLnBrk="0" fontAlgn="base" hangingPunct="0">
              <a:spcBef>
                <a:spcPct val="0"/>
              </a:spcBef>
              <a:spcAft>
                <a:spcPct val="75000"/>
              </a:spcAft>
              <a:buChar char="•"/>
              <a:defRPr sz="2000">
                <a:solidFill>
                  <a:schemeClr val="tx1"/>
                </a:solidFill>
                <a:latin typeface="+mn-lt"/>
              </a:defRPr>
            </a:lvl3pPr>
            <a:lvl4pPr marL="1079500" indent="-268288" algn="l" rtl="0" eaLnBrk="0" fontAlgn="base" hangingPunct="0">
              <a:spcBef>
                <a:spcPct val="0"/>
              </a:spcBef>
              <a:spcAft>
                <a:spcPct val="75000"/>
              </a:spcAft>
              <a:buChar char="•"/>
              <a:defRPr sz="2000">
                <a:solidFill>
                  <a:schemeClr val="tx1"/>
                </a:solidFill>
                <a:latin typeface="+mn-lt"/>
              </a:defRPr>
            </a:lvl4pPr>
            <a:lvl5pPr marL="1350963" indent="-269875" algn="l" rtl="0" eaLnBrk="0" fontAlgn="base" hangingPunct="0">
              <a:spcBef>
                <a:spcPct val="0"/>
              </a:spcBef>
              <a:spcAft>
                <a:spcPct val="75000"/>
              </a:spcAft>
              <a:buChar char="•"/>
              <a:defRPr sz="20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eaLnBrk="1" hangingPunct="1"/>
            <a:r>
              <a:rPr lang="en-GB" kern="0" noProof="0" dirty="0"/>
              <a:t> </a:t>
            </a:r>
          </a:p>
          <a:p>
            <a:pPr eaLnBrk="1" hangingPunct="1"/>
            <a:endParaRPr lang="en-GB" kern="0" noProof="0" dirty="0"/>
          </a:p>
          <a:p>
            <a:pPr eaLnBrk="1" hangingPunct="1"/>
            <a:endParaRPr lang="en-GB" kern="0" noProof="0" dirty="0"/>
          </a:p>
          <a:p>
            <a:pPr eaLnBrk="1" hangingPunct="1"/>
            <a:endParaRPr lang="en-GB" kern="0" noProof="0" dirty="0"/>
          </a:p>
          <a:p>
            <a:pPr eaLnBrk="1" hangingPunct="1"/>
            <a:r>
              <a:rPr lang="en-GB" kern="0" noProof="0" dirty="0"/>
              <a:t>Cambridge Centre for Research Informatics Training</a:t>
            </a:r>
          </a:p>
        </p:txBody>
      </p:sp>
    </p:spTree>
    <p:extLst>
      <p:ext uri="{BB962C8B-B14F-4D97-AF65-F5344CB8AC3E}">
        <p14:creationId xmlns:p14="http://schemas.microsoft.com/office/powerpoint/2010/main" val="32844377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B0744-5690-72B8-0851-DA127904809A}"/>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22B32869-880E-4BBA-D638-956B15961F7F}"/>
              </a:ext>
            </a:extLst>
          </p:cNvPr>
          <p:cNvSpPr>
            <a:spLocks noGrp="1"/>
          </p:cNvSpPr>
          <p:nvPr>
            <p:ph type="body" sz="quarter" idx="11"/>
          </p:nvPr>
        </p:nvSpPr>
        <p:spPr/>
        <p:txBody>
          <a:bodyPr/>
          <a:lstStyle/>
          <a:p>
            <a:pPr marL="0" indent="0">
              <a:buClr>
                <a:schemeClr val="tx1"/>
              </a:buClr>
              <a:buNone/>
            </a:pPr>
            <a:r>
              <a:rPr lang="en-GB" sz="2200" b="1" noProof="0" dirty="0">
                <a:latin typeface="+mj-lt"/>
              </a:rPr>
              <a:t>In session 1:</a:t>
            </a:r>
          </a:p>
          <a:p>
            <a:pPr>
              <a:buClr>
                <a:schemeClr val="tx1"/>
              </a:buClr>
            </a:pPr>
            <a:endParaRPr lang="en-GB" sz="2200" noProof="0" dirty="0">
              <a:latin typeface="+mj-lt"/>
            </a:endParaRPr>
          </a:p>
          <a:p>
            <a:pPr marL="457200" indent="-457200">
              <a:spcAft>
                <a:spcPts val="600"/>
              </a:spcAft>
              <a:buFont typeface="+mj-lt"/>
              <a:buAutoNum type="arabicPeriod"/>
            </a:pPr>
            <a:r>
              <a:rPr lang="en-GB" sz="2200" noProof="0" dirty="0"/>
              <a:t>What’s special about survival/time-to-event data?</a:t>
            </a:r>
          </a:p>
          <a:p>
            <a:pPr marL="457200" indent="-457200">
              <a:spcAft>
                <a:spcPts val="600"/>
              </a:spcAft>
              <a:buFont typeface="+mj-lt"/>
              <a:buAutoNum type="arabicPeriod"/>
            </a:pPr>
            <a:r>
              <a:rPr lang="en-GB" sz="2200" noProof="0" dirty="0"/>
              <a:t>Survival curves (Kaplan-Meier estimation)</a:t>
            </a:r>
          </a:p>
          <a:p>
            <a:pPr marL="457200" indent="-457200">
              <a:spcAft>
                <a:spcPts val="600"/>
              </a:spcAft>
              <a:buFont typeface="+mj-lt"/>
              <a:buAutoNum type="arabicPeriod"/>
            </a:pPr>
            <a:r>
              <a:rPr lang="en-GB" sz="2200" noProof="0" dirty="0"/>
              <a:t>Comparing two curves (log rank test)</a:t>
            </a:r>
          </a:p>
        </p:txBody>
      </p:sp>
      <p:sp>
        <p:nvSpPr>
          <p:cNvPr id="5" name="Title 4">
            <a:extLst>
              <a:ext uri="{FF2B5EF4-FFF2-40B4-BE49-F238E27FC236}">
                <a16:creationId xmlns:a16="http://schemas.microsoft.com/office/drawing/2014/main" id="{78FAD750-35FF-6176-E937-E4046A7DB908}"/>
              </a:ext>
            </a:extLst>
          </p:cNvPr>
          <p:cNvSpPr>
            <a:spLocks noGrp="1"/>
          </p:cNvSpPr>
          <p:nvPr>
            <p:ph type="title"/>
          </p:nvPr>
        </p:nvSpPr>
        <p:spPr/>
        <p:txBody>
          <a:bodyPr/>
          <a:lstStyle/>
          <a:p>
            <a:r>
              <a:rPr lang="en-GB" noProof="0" dirty="0"/>
              <a:t>Session 1</a:t>
            </a:r>
          </a:p>
        </p:txBody>
      </p:sp>
      <p:sp>
        <p:nvSpPr>
          <p:cNvPr id="4" name="Slide Number Placeholder 3">
            <a:extLst>
              <a:ext uri="{FF2B5EF4-FFF2-40B4-BE49-F238E27FC236}">
                <a16:creationId xmlns:a16="http://schemas.microsoft.com/office/drawing/2014/main" id="{40E345A3-7F3F-00AC-B499-4C5CE7545626}"/>
              </a:ext>
            </a:extLst>
          </p:cNvPr>
          <p:cNvSpPr>
            <a:spLocks noGrp="1"/>
          </p:cNvSpPr>
          <p:nvPr>
            <p:ph type="sldNum" sz="quarter" idx="10"/>
          </p:nvPr>
        </p:nvSpPr>
        <p:spPr/>
        <p:txBody>
          <a:bodyPr/>
          <a:lstStyle/>
          <a:p>
            <a:pPr>
              <a:defRPr/>
            </a:pPr>
            <a:fld id="{E5717E7F-5007-4559-A9EA-6621C16865F0}" type="slidenum">
              <a:rPr lang="en-GB" noProof="0" smtClean="0"/>
              <a:pPr>
                <a:defRPr/>
              </a:pPr>
              <a:t>69</a:t>
            </a:fld>
            <a:endParaRPr lang="en-GB" noProof="0" dirty="0"/>
          </a:p>
        </p:txBody>
      </p:sp>
    </p:spTree>
    <p:extLst>
      <p:ext uri="{BB962C8B-B14F-4D97-AF65-F5344CB8AC3E}">
        <p14:creationId xmlns:p14="http://schemas.microsoft.com/office/powerpoint/2010/main" val="35292752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44311-3063-1993-4F40-9B61212F4AAF}"/>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96F8902B-EE77-ED75-CCDE-F0EACB404BA8}"/>
              </a:ext>
            </a:extLst>
          </p:cNvPr>
          <p:cNvSpPr>
            <a:spLocks noGrp="1"/>
          </p:cNvSpPr>
          <p:nvPr>
            <p:ph type="body" sz="quarter" idx="11"/>
          </p:nvPr>
        </p:nvSpPr>
        <p:spPr/>
        <p:txBody>
          <a:bodyPr/>
          <a:lstStyle/>
          <a:p>
            <a:pPr marL="0" indent="0">
              <a:buClr>
                <a:schemeClr val="tx1"/>
              </a:buClr>
              <a:buNone/>
            </a:pPr>
            <a:r>
              <a:rPr lang="en-GB" sz="2200" b="1" noProof="0" dirty="0">
                <a:latin typeface="+mj-lt"/>
              </a:rPr>
              <a:t>In session 2:</a:t>
            </a:r>
          </a:p>
          <a:p>
            <a:pPr>
              <a:buClr>
                <a:schemeClr val="tx1"/>
              </a:buClr>
            </a:pPr>
            <a:endParaRPr lang="en-GB" sz="2200" noProof="0" dirty="0">
              <a:latin typeface="+mj-lt"/>
            </a:endParaRPr>
          </a:p>
          <a:p>
            <a:pPr marL="457200" indent="-457200">
              <a:buFont typeface="+mj-lt"/>
              <a:buAutoNum type="arabicPeriod" startAt="4"/>
            </a:pPr>
            <a:r>
              <a:rPr lang="en-GB" dirty="0"/>
              <a:t>Continuous predictor variables</a:t>
            </a:r>
          </a:p>
          <a:p>
            <a:pPr marL="457200" indent="-457200">
              <a:buFont typeface="+mj-lt"/>
              <a:buAutoNum type="arabicPeriod" startAt="4"/>
            </a:pPr>
            <a:r>
              <a:rPr lang="en-GB" dirty="0"/>
              <a:t>Multiple predictor variables (Cox regression)</a:t>
            </a:r>
          </a:p>
          <a:p>
            <a:pPr marL="457200" indent="-457200">
              <a:buFont typeface="+mj-lt"/>
              <a:buAutoNum type="arabicPeriod" startAt="4"/>
            </a:pPr>
            <a:r>
              <a:rPr lang="en-GB" dirty="0"/>
              <a:t>Evaluating &amp; comparing models</a:t>
            </a:r>
          </a:p>
          <a:p>
            <a:pPr marL="0" indent="0">
              <a:buNone/>
            </a:pPr>
            <a:endParaRPr lang="en-GB" dirty="0"/>
          </a:p>
        </p:txBody>
      </p:sp>
      <p:sp>
        <p:nvSpPr>
          <p:cNvPr id="5" name="Title 4">
            <a:extLst>
              <a:ext uri="{FF2B5EF4-FFF2-40B4-BE49-F238E27FC236}">
                <a16:creationId xmlns:a16="http://schemas.microsoft.com/office/drawing/2014/main" id="{3F5C9375-DDD8-3495-5F4B-CCFED445E40E}"/>
              </a:ext>
            </a:extLst>
          </p:cNvPr>
          <p:cNvSpPr>
            <a:spLocks noGrp="1"/>
          </p:cNvSpPr>
          <p:nvPr>
            <p:ph type="title"/>
          </p:nvPr>
        </p:nvSpPr>
        <p:spPr/>
        <p:txBody>
          <a:bodyPr/>
          <a:lstStyle/>
          <a:p>
            <a:r>
              <a:rPr lang="en-GB" noProof="0" dirty="0"/>
              <a:t>Session 2</a:t>
            </a:r>
          </a:p>
        </p:txBody>
      </p:sp>
      <p:sp>
        <p:nvSpPr>
          <p:cNvPr id="4" name="Slide Number Placeholder 3">
            <a:extLst>
              <a:ext uri="{FF2B5EF4-FFF2-40B4-BE49-F238E27FC236}">
                <a16:creationId xmlns:a16="http://schemas.microsoft.com/office/drawing/2014/main" id="{C672C46F-F659-A8A0-D845-B7D333FD4C1C}"/>
              </a:ext>
            </a:extLst>
          </p:cNvPr>
          <p:cNvSpPr>
            <a:spLocks noGrp="1"/>
          </p:cNvSpPr>
          <p:nvPr>
            <p:ph type="sldNum" sz="quarter" idx="10"/>
          </p:nvPr>
        </p:nvSpPr>
        <p:spPr/>
        <p:txBody>
          <a:bodyPr/>
          <a:lstStyle/>
          <a:p>
            <a:pPr>
              <a:defRPr/>
            </a:pPr>
            <a:fld id="{E5717E7F-5007-4559-A9EA-6621C16865F0}" type="slidenum">
              <a:rPr lang="en-GB" noProof="0" smtClean="0"/>
              <a:pPr>
                <a:defRPr/>
              </a:pPr>
              <a:t>70</a:t>
            </a:fld>
            <a:endParaRPr lang="en-GB" noProof="0" dirty="0"/>
          </a:p>
        </p:txBody>
      </p:sp>
    </p:spTree>
    <p:extLst>
      <p:ext uri="{BB962C8B-B14F-4D97-AF65-F5344CB8AC3E}">
        <p14:creationId xmlns:p14="http://schemas.microsoft.com/office/powerpoint/2010/main" val="370341529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CF99B-DED4-9DAF-D140-B506D2B2239E}"/>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B6ABD0B8-B0A3-4E1B-A33A-5E9522029E85}"/>
              </a:ext>
            </a:extLst>
          </p:cNvPr>
          <p:cNvSpPr>
            <a:spLocks noGrp="1"/>
          </p:cNvSpPr>
          <p:nvPr>
            <p:ph type="body" sz="quarter" idx="12"/>
          </p:nvPr>
        </p:nvSpPr>
        <p:spPr/>
        <p:txBody>
          <a:bodyPr/>
          <a:lstStyle/>
          <a:p>
            <a:r>
              <a:rPr lang="en-GB" noProof="0" dirty="0"/>
              <a:t>Introducing Cox proportional hazards regression</a:t>
            </a:r>
          </a:p>
        </p:txBody>
      </p:sp>
      <p:sp>
        <p:nvSpPr>
          <p:cNvPr id="5" name="Text Placeholder 4">
            <a:extLst>
              <a:ext uri="{FF2B5EF4-FFF2-40B4-BE49-F238E27FC236}">
                <a16:creationId xmlns:a16="http://schemas.microsoft.com/office/drawing/2014/main" id="{11CF2F2B-D7CC-6171-4126-9AB86160B78D}"/>
              </a:ext>
            </a:extLst>
          </p:cNvPr>
          <p:cNvSpPr>
            <a:spLocks noGrp="1"/>
          </p:cNvSpPr>
          <p:nvPr>
            <p:ph type="body" sz="quarter" idx="11"/>
          </p:nvPr>
        </p:nvSpPr>
        <p:spPr/>
        <p:txBody>
          <a:bodyPr/>
          <a:lstStyle/>
          <a:p>
            <a:r>
              <a:rPr lang="en-GB" noProof="0" dirty="0"/>
              <a:t>4. Continuous predictors</a:t>
            </a:r>
          </a:p>
        </p:txBody>
      </p:sp>
      <p:sp>
        <p:nvSpPr>
          <p:cNvPr id="4" name="Slide Number Placeholder 3">
            <a:extLst>
              <a:ext uri="{FF2B5EF4-FFF2-40B4-BE49-F238E27FC236}">
                <a16:creationId xmlns:a16="http://schemas.microsoft.com/office/drawing/2014/main" id="{C029C296-32B6-9A02-7A98-0F4434431C47}"/>
              </a:ext>
            </a:extLst>
          </p:cNvPr>
          <p:cNvSpPr>
            <a:spLocks noGrp="1"/>
          </p:cNvSpPr>
          <p:nvPr>
            <p:ph type="sldNum" sz="quarter" idx="10"/>
          </p:nvPr>
        </p:nvSpPr>
        <p:spPr/>
        <p:txBody>
          <a:bodyPr/>
          <a:lstStyle/>
          <a:p>
            <a:pPr>
              <a:defRPr/>
            </a:pPr>
            <a:fld id="{CD3FC0C4-D681-4CE5-B41E-BCE48B80373A}" type="slidenum">
              <a:rPr lang="en-GB" noProof="0" smtClean="0"/>
              <a:pPr>
                <a:defRPr/>
              </a:pPr>
              <a:t>71</a:t>
            </a:fld>
            <a:endParaRPr lang="en-GB" noProof="0" dirty="0"/>
          </a:p>
        </p:txBody>
      </p:sp>
    </p:spTree>
    <p:extLst>
      <p:ext uri="{BB962C8B-B14F-4D97-AF65-F5344CB8AC3E}">
        <p14:creationId xmlns:p14="http://schemas.microsoft.com/office/powerpoint/2010/main" val="320488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950563-B236-3325-BB60-4677AAFFD905}"/>
              </a:ext>
            </a:extLst>
          </p:cNvPr>
          <p:cNvSpPr>
            <a:spLocks noGrp="1"/>
          </p:cNvSpPr>
          <p:nvPr>
            <p:ph type="body" sz="quarter" idx="11"/>
          </p:nvPr>
        </p:nvSpPr>
        <p:spPr/>
        <p:txBody>
          <a:bodyPr/>
          <a:lstStyle/>
          <a:p>
            <a:pPr marL="0" indent="0">
              <a:buNone/>
            </a:pPr>
            <a:r>
              <a:rPr lang="en-GB" dirty="0"/>
              <a:t>What’s the “risk” of a </a:t>
            </a:r>
            <a:r>
              <a:rPr lang="en-GB" dirty="0">
                <a:solidFill>
                  <a:schemeClr val="accent5"/>
                </a:solidFill>
              </a:rPr>
              <a:t>random lightbulb </a:t>
            </a:r>
            <a:r>
              <a:rPr lang="en-GB" dirty="0"/>
              <a:t>failing </a:t>
            </a:r>
            <a:r>
              <a:rPr lang="en-GB" b="1" dirty="0">
                <a:solidFill>
                  <a:schemeClr val="accent4"/>
                </a:solidFill>
              </a:rPr>
              <a:t>right now</a:t>
            </a:r>
            <a:r>
              <a:rPr lang="en-GB" dirty="0"/>
              <a:t>?</a:t>
            </a:r>
          </a:p>
        </p:txBody>
      </p:sp>
      <p:sp>
        <p:nvSpPr>
          <p:cNvPr id="3" name="Title 2">
            <a:extLst>
              <a:ext uri="{FF2B5EF4-FFF2-40B4-BE49-F238E27FC236}">
                <a16:creationId xmlns:a16="http://schemas.microsoft.com/office/drawing/2014/main" id="{F45739C1-908F-CF81-17F8-0F036904F61B}"/>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EF3C5F73-0649-D7A3-360C-719441859757}"/>
              </a:ext>
            </a:extLst>
          </p:cNvPr>
          <p:cNvSpPr>
            <a:spLocks noGrp="1"/>
          </p:cNvSpPr>
          <p:nvPr>
            <p:ph type="sldNum" sz="quarter" idx="10"/>
          </p:nvPr>
        </p:nvSpPr>
        <p:spPr/>
        <p:txBody>
          <a:bodyPr/>
          <a:lstStyle/>
          <a:p>
            <a:pPr>
              <a:defRPr/>
            </a:pPr>
            <a:fld id="{CD3FC0C4-D681-4CE5-B41E-BCE48B80373A}" type="slidenum">
              <a:rPr lang="en-GB" smtClean="0"/>
              <a:pPr>
                <a:defRPr/>
              </a:pPr>
              <a:t>72</a:t>
            </a:fld>
            <a:endParaRPr lang="en-GB"/>
          </a:p>
        </p:txBody>
      </p:sp>
      <p:grpSp>
        <p:nvGrpSpPr>
          <p:cNvPr id="36" name="Group 35">
            <a:extLst>
              <a:ext uri="{FF2B5EF4-FFF2-40B4-BE49-F238E27FC236}">
                <a16:creationId xmlns:a16="http://schemas.microsoft.com/office/drawing/2014/main" id="{4C3B953B-FD32-4245-BF46-371C130E0E60}"/>
              </a:ext>
            </a:extLst>
          </p:cNvPr>
          <p:cNvGrpSpPr/>
          <p:nvPr/>
        </p:nvGrpSpPr>
        <p:grpSpPr>
          <a:xfrm>
            <a:off x="1961434" y="2515271"/>
            <a:ext cx="5221130" cy="3047322"/>
            <a:chOff x="1625865" y="2687288"/>
            <a:chExt cx="5221130" cy="3047322"/>
          </a:xfrm>
        </p:grpSpPr>
        <p:sp>
          <p:nvSpPr>
            <p:cNvPr id="21" name="Arrow: Right 20">
              <a:extLst>
                <a:ext uri="{FF2B5EF4-FFF2-40B4-BE49-F238E27FC236}">
                  <a16:creationId xmlns:a16="http://schemas.microsoft.com/office/drawing/2014/main" id="{A3D11FD8-7C8A-635E-9151-8114B9BE3022}"/>
                </a:ext>
              </a:extLst>
            </p:cNvPr>
            <p:cNvSpPr/>
            <p:nvPr/>
          </p:nvSpPr>
          <p:spPr>
            <a:xfrm>
              <a:off x="2414159" y="3361730"/>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2" name="Graphic 21" descr="Lightbulb with solid fill">
              <a:extLst>
                <a:ext uri="{FF2B5EF4-FFF2-40B4-BE49-F238E27FC236}">
                  <a16:creationId xmlns:a16="http://schemas.microsoft.com/office/drawing/2014/main" id="{F373A7BA-2A56-2DF6-D06E-3B4A5970AA1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199741" y="3098552"/>
              <a:ext cx="761707" cy="761707"/>
            </a:xfrm>
            <a:prstGeom prst="rect">
              <a:avLst/>
            </a:prstGeom>
          </p:spPr>
        </p:pic>
        <p:sp>
          <p:nvSpPr>
            <p:cNvPr id="23" name="Arrow: Right 22">
              <a:extLst>
                <a:ext uri="{FF2B5EF4-FFF2-40B4-BE49-F238E27FC236}">
                  <a16:creationId xmlns:a16="http://schemas.microsoft.com/office/drawing/2014/main" id="{6C05A971-34C8-4835-D416-2C7E82E54452}"/>
                </a:ext>
              </a:extLst>
            </p:cNvPr>
            <p:cNvSpPr/>
            <p:nvPr/>
          </p:nvSpPr>
          <p:spPr>
            <a:xfrm>
              <a:off x="2414159" y="3950373"/>
              <a:ext cx="1769518"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Arrow: Right 23">
              <a:extLst>
                <a:ext uri="{FF2B5EF4-FFF2-40B4-BE49-F238E27FC236}">
                  <a16:creationId xmlns:a16="http://schemas.microsoft.com/office/drawing/2014/main" id="{437DE9E8-A179-2C4B-026F-E69741BCAC0F}"/>
                </a:ext>
              </a:extLst>
            </p:cNvPr>
            <p:cNvSpPr/>
            <p:nvPr/>
          </p:nvSpPr>
          <p:spPr>
            <a:xfrm>
              <a:off x="2414159" y="4579106"/>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Lightbulb with solid fill">
              <a:extLst>
                <a:ext uri="{FF2B5EF4-FFF2-40B4-BE49-F238E27FC236}">
                  <a16:creationId xmlns:a16="http://schemas.microsoft.com/office/drawing/2014/main" id="{D841F6FB-6989-DF3C-4FEA-C6980F7787AA}"/>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345761" y="3775414"/>
              <a:ext cx="761707" cy="761707"/>
            </a:xfrm>
            <a:prstGeom prst="rect">
              <a:avLst/>
            </a:prstGeom>
          </p:spPr>
        </p:pic>
        <p:pic>
          <p:nvPicPr>
            <p:cNvPr id="26" name="Graphic 25" descr="Lightbulb with solid fill">
              <a:extLst>
                <a:ext uri="{FF2B5EF4-FFF2-40B4-BE49-F238E27FC236}">
                  <a16:creationId xmlns:a16="http://schemas.microsoft.com/office/drawing/2014/main" id="{ABF231CF-077B-DCBF-AC65-A466A78AE65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085288" y="4303456"/>
              <a:ext cx="761707" cy="761707"/>
            </a:xfrm>
            <a:prstGeom prst="rect">
              <a:avLst/>
            </a:prstGeom>
          </p:spPr>
        </p:pic>
        <p:sp>
          <p:nvSpPr>
            <p:cNvPr id="27" name="TextBox 26">
              <a:extLst>
                <a:ext uri="{FF2B5EF4-FFF2-40B4-BE49-F238E27FC236}">
                  <a16:creationId xmlns:a16="http://schemas.microsoft.com/office/drawing/2014/main" id="{A14DA2A7-3404-1885-0439-53D4986B94D4}"/>
                </a:ext>
              </a:extLst>
            </p:cNvPr>
            <p:cNvSpPr txBox="1"/>
            <p:nvPr/>
          </p:nvSpPr>
          <p:spPr>
            <a:xfrm>
              <a:off x="2051720" y="2687288"/>
              <a:ext cx="724878" cy="400110"/>
            </a:xfrm>
            <a:prstGeom prst="rect">
              <a:avLst/>
            </a:prstGeom>
            <a:noFill/>
          </p:spPr>
          <p:txBody>
            <a:bodyPr wrap="none" rtlCol="0">
              <a:spAutoFit/>
            </a:bodyPr>
            <a:lstStyle/>
            <a:p>
              <a:r>
                <a:rPr lang="en-GB" sz="2000" dirty="0"/>
                <a:t>Start</a:t>
              </a:r>
            </a:p>
          </p:txBody>
        </p:sp>
        <p:sp>
          <p:nvSpPr>
            <p:cNvPr id="28" name="Arrow: Right 27">
              <a:extLst>
                <a:ext uri="{FF2B5EF4-FFF2-40B4-BE49-F238E27FC236}">
                  <a16:creationId xmlns:a16="http://schemas.microsoft.com/office/drawing/2014/main" id="{AF3814F3-7370-AE1E-852A-8DF79676738B}"/>
                </a:ext>
              </a:extLst>
            </p:cNvPr>
            <p:cNvSpPr/>
            <p:nvPr/>
          </p:nvSpPr>
          <p:spPr>
            <a:xfrm>
              <a:off x="2407913" y="5200601"/>
              <a:ext cx="2609290" cy="353083"/>
            </a:xfrm>
            <a:prstGeom prst="rightArrow">
              <a:avLst/>
            </a:prstGeom>
            <a:solidFill>
              <a:srgbClr val="00B1C1"/>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29" name="Graphic 28" descr="Question Mark with solid fill">
              <a:extLst>
                <a:ext uri="{FF2B5EF4-FFF2-40B4-BE49-F238E27FC236}">
                  <a16:creationId xmlns:a16="http://schemas.microsoft.com/office/drawing/2014/main" id="{CC986507-C5DE-99AD-D908-6AD20E53649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7203" y="4972903"/>
              <a:ext cx="761707" cy="761707"/>
            </a:xfrm>
            <a:prstGeom prst="rect">
              <a:avLst/>
            </a:prstGeom>
          </p:spPr>
        </p:pic>
        <p:cxnSp>
          <p:nvCxnSpPr>
            <p:cNvPr id="30" name="Straight Connector 29">
              <a:extLst>
                <a:ext uri="{FF2B5EF4-FFF2-40B4-BE49-F238E27FC236}">
                  <a16:creationId xmlns:a16="http://schemas.microsoft.com/office/drawing/2014/main" id="{238058AF-1B7C-C0D8-962C-D611CF08FB24}"/>
                </a:ext>
              </a:extLst>
            </p:cNvPr>
            <p:cNvCxnSpPr>
              <a:cxnSpLocks/>
            </p:cNvCxnSpPr>
            <p:nvPr/>
          </p:nvCxnSpPr>
          <p:spPr>
            <a:xfrm>
              <a:off x="2414159" y="3183437"/>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31" name="Graphic 30" descr="Lights On with solid fill">
              <a:extLst>
                <a:ext uri="{FF2B5EF4-FFF2-40B4-BE49-F238E27FC236}">
                  <a16:creationId xmlns:a16="http://schemas.microsoft.com/office/drawing/2014/main" id="{3D8C131B-0A86-0070-C3C3-A1295DA55CB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7" y="3204373"/>
              <a:ext cx="612000" cy="612000"/>
            </a:xfrm>
            <a:prstGeom prst="rect">
              <a:avLst/>
            </a:prstGeom>
          </p:spPr>
        </p:pic>
        <p:pic>
          <p:nvPicPr>
            <p:cNvPr id="32" name="Graphic 31" descr="Lights On with solid fill">
              <a:extLst>
                <a:ext uri="{FF2B5EF4-FFF2-40B4-BE49-F238E27FC236}">
                  <a16:creationId xmlns:a16="http://schemas.microsoft.com/office/drawing/2014/main" id="{119F3518-EEF2-342F-2082-184E2C3A2CB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5" y="4421841"/>
              <a:ext cx="612000" cy="612000"/>
            </a:xfrm>
            <a:prstGeom prst="rect">
              <a:avLst/>
            </a:prstGeom>
          </p:spPr>
        </p:pic>
        <p:pic>
          <p:nvPicPr>
            <p:cNvPr id="33" name="Graphic 32" descr="Lights On with solid fill">
              <a:extLst>
                <a:ext uri="{FF2B5EF4-FFF2-40B4-BE49-F238E27FC236}">
                  <a16:creationId xmlns:a16="http://schemas.microsoft.com/office/drawing/2014/main" id="{04C242AF-EF9E-B30B-F26C-29265DC872C7}"/>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6" y="3809841"/>
              <a:ext cx="612000" cy="612000"/>
            </a:xfrm>
            <a:prstGeom prst="rect">
              <a:avLst/>
            </a:prstGeom>
          </p:spPr>
        </p:pic>
        <p:pic>
          <p:nvPicPr>
            <p:cNvPr id="35" name="Graphic 34" descr="Lights On with solid fill">
              <a:extLst>
                <a:ext uri="{FF2B5EF4-FFF2-40B4-BE49-F238E27FC236}">
                  <a16:creationId xmlns:a16="http://schemas.microsoft.com/office/drawing/2014/main" id="{F250AB61-76D1-D817-B259-1066D5C243C1}"/>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625867" y="5064471"/>
              <a:ext cx="612000" cy="612000"/>
            </a:xfrm>
            <a:prstGeom prst="rect">
              <a:avLst/>
            </a:prstGeom>
          </p:spPr>
        </p:pic>
      </p:grpSp>
      <p:pic>
        <p:nvPicPr>
          <p:cNvPr id="38" name="Graphic 37" descr="Close with solid fill">
            <a:extLst>
              <a:ext uri="{FF2B5EF4-FFF2-40B4-BE49-F238E27FC236}">
                <a16:creationId xmlns:a16="http://schemas.microsoft.com/office/drawing/2014/main" id="{FB6E9107-F8F1-F5D8-1993-032B6C3175F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10163" y="2876608"/>
            <a:ext cx="612000" cy="612000"/>
          </a:xfrm>
          <a:prstGeom prst="rect">
            <a:avLst/>
          </a:prstGeom>
        </p:spPr>
      </p:pic>
      <p:pic>
        <p:nvPicPr>
          <p:cNvPr id="40" name="Graphic 39" descr="Close with solid fill">
            <a:extLst>
              <a:ext uri="{FF2B5EF4-FFF2-40B4-BE49-F238E27FC236}">
                <a16:creationId xmlns:a16="http://schemas.microsoft.com/office/drawing/2014/main" id="{94CC94E9-A173-E328-7A8F-EED3D872491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758619" y="3570710"/>
            <a:ext cx="612000" cy="612000"/>
          </a:xfrm>
          <a:prstGeom prst="rect">
            <a:avLst/>
          </a:prstGeom>
        </p:spPr>
      </p:pic>
      <p:pic>
        <p:nvPicPr>
          <p:cNvPr id="42" name="Graphic 41" descr="Close with solid fill">
            <a:extLst>
              <a:ext uri="{FF2B5EF4-FFF2-40B4-BE49-F238E27FC236}">
                <a16:creationId xmlns:a16="http://schemas.microsoft.com/office/drawing/2014/main" id="{CE40E666-E384-5A40-1AFA-EEE6860943C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5710" y="4101089"/>
            <a:ext cx="612000" cy="612000"/>
          </a:xfrm>
          <a:prstGeom prst="rect">
            <a:avLst/>
          </a:prstGeom>
        </p:spPr>
      </p:pic>
    </p:spTree>
    <p:extLst>
      <p:ext uri="{BB962C8B-B14F-4D97-AF65-F5344CB8AC3E}">
        <p14:creationId xmlns:p14="http://schemas.microsoft.com/office/powerpoint/2010/main" val="30394822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764402-83C1-7BC8-4D92-2904C210198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781090E-7C70-48CA-CDDC-6F1BF52D274C}"/>
              </a:ext>
            </a:extLst>
          </p:cNvPr>
          <p:cNvSpPr>
            <a:spLocks noGrp="1"/>
          </p:cNvSpPr>
          <p:nvPr>
            <p:ph type="body" sz="quarter" idx="11"/>
          </p:nvPr>
        </p:nvSpPr>
        <p:spPr/>
        <p:txBody>
          <a:bodyPr/>
          <a:lstStyle/>
          <a:p>
            <a:pPr marL="0" indent="0">
              <a:buNone/>
            </a:pPr>
            <a:r>
              <a:rPr lang="en-GB" dirty="0"/>
              <a:t>What’s the “risk” of a </a:t>
            </a:r>
            <a:r>
              <a:rPr lang="en-GB" dirty="0">
                <a:solidFill>
                  <a:schemeClr val="accent5"/>
                </a:solidFill>
              </a:rPr>
              <a:t>random customer </a:t>
            </a:r>
            <a:r>
              <a:rPr lang="en-GB" dirty="0"/>
              <a:t>cancelling </a:t>
            </a:r>
            <a:r>
              <a:rPr lang="en-GB" b="1" dirty="0">
                <a:solidFill>
                  <a:schemeClr val="accent4"/>
                </a:solidFill>
              </a:rPr>
              <a:t>right now</a:t>
            </a:r>
            <a:r>
              <a:rPr lang="en-GB" dirty="0"/>
              <a:t>?</a:t>
            </a:r>
          </a:p>
        </p:txBody>
      </p:sp>
      <p:sp>
        <p:nvSpPr>
          <p:cNvPr id="3" name="Title 2">
            <a:extLst>
              <a:ext uri="{FF2B5EF4-FFF2-40B4-BE49-F238E27FC236}">
                <a16:creationId xmlns:a16="http://schemas.microsoft.com/office/drawing/2014/main" id="{18418E33-94AD-19B5-CC77-7D1F46D5C2A1}"/>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53E5D3CE-C3F6-B0E6-B8FB-A4F676C984F0}"/>
              </a:ext>
            </a:extLst>
          </p:cNvPr>
          <p:cNvSpPr>
            <a:spLocks noGrp="1"/>
          </p:cNvSpPr>
          <p:nvPr>
            <p:ph type="sldNum" sz="quarter" idx="10"/>
          </p:nvPr>
        </p:nvSpPr>
        <p:spPr/>
        <p:txBody>
          <a:bodyPr/>
          <a:lstStyle/>
          <a:p>
            <a:pPr>
              <a:defRPr/>
            </a:pPr>
            <a:fld id="{CD3FC0C4-D681-4CE5-B41E-BCE48B80373A}" type="slidenum">
              <a:rPr lang="en-GB" smtClean="0"/>
              <a:pPr>
                <a:defRPr/>
              </a:pPr>
              <a:t>73</a:t>
            </a:fld>
            <a:endParaRPr lang="en-GB"/>
          </a:p>
        </p:txBody>
      </p:sp>
      <p:grpSp>
        <p:nvGrpSpPr>
          <p:cNvPr id="36" name="Group 35">
            <a:extLst>
              <a:ext uri="{FF2B5EF4-FFF2-40B4-BE49-F238E27FC236}">
                <a16:creationId xmlns:a16="http://schemas.microsoft.com/office/drawing/2014/main" id="{F2148D7A-01F4-9E87-DCAE-505520675E67}"/>
              </a:ext>
            </a:extLst>
          </p:cNvPr>
          <p:cNvGrpSpPr/>
          <p:nvPr/>
        </p:nvGrpSpPr>
        <p:grpSpPr>
          <a:xfrm>
            <a:off x="1961434" y="2515271"/>
            <a:ext cx="5221130" cy="3047322"/>
            <a:chOff x="1625865" y="2687288"/>
            <a:chExt cx="5221130" cy="3047322"/>
          </a:xfrm>
        </p:grpSpPr>
        <p:sp>
          <p:nvSpPr>
            <p:cNvPr id="21" name="Arrow: Right 20">
              <a:extLst>
                <a:ext uri="{FF2B5EF4-FFF2-40B4-BE49-F238E27FC236}">
                  <a16:creationId xmlns:a16="http://schemas.microsoft.com/office/drawing/2014/main" id="{FCF2CE2E-08F4-F06D-31D0-DEDBB409FF2B}"/>
                </a:ext>
              </a:extLst>
            </p:cNvPr>
            <p:cNvSpPr/>
            <p:nvPr/>
          </p:nvSpPr>
          <p:spPr>
            <a:xfrm>
              <a:off x="2414159" y="3361730"/>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2" name="Graphic 21" descr="Debt with solid fill">
              <a:extLst>
                <a:ext uri="{FF2B5EF4-FFF2-40B4-BE49-F238E27FC236}">
                  <a16:creationId xmlns:a16="http://schemas.microsoft.com/office/drawing/2014/main" id="{88075984-5721-4716-E321-513D6E9D84F2}"/>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199741" y="3098552"/>
              <a:ext cx="761707" cy="761707"/>
            </a:xfrm>
            <a:prstGeom prst="rect">
              <a:avLst/>
            </a:prstGeom>
          </p:spPr>
        </p:pic>
        <p:sp>
          <p:nvSpPr>
            <p:cNvPr id="23" name="Arrow: Right 22">
              <a:extLst>
                <a:ext uri="{FF2B5EF4-FFF2-40B4-BE49-F238E27FC236}">
                  <a16:creationId xmlns:a16="http://schemas.microsoft.com/office/drawing/2014/main" id="{5896DA57-097E-0FDE-05CA-E760650B35E5}"/>
                </a:ext>
              </a:extLst>
            </p:cNvPr>
            <p:cNvSpPr/>
            <p:nvPr/>
          </p:nvSpPr>
          <p:spPr>
            <a:xfrm>
              <a:off x="2414159" y="3950373"/>
              <a:ext cx="1769518"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Arrow: Right 23">
              <a:extLst>
                <a:ext uri="{FF2B5EF4-FFF2-40B4-BE49-F238E27FC236}">
                  <a16:creationId xmlns:a16="http://schemas.microsoft.com/office/drawing/2014/main" id="{F87B407B-6138-3FC5-C392-C184566CCDD8}"/>
                </a:ext>
              </a:extLst>
            </p:cNvPr>
            <p:cNvSpPr/>
            <p:nvPr/>
          </p:nvSpPr>
          <p:spPr>
            <a:xfrm>
              <a:off x="2414159" y="4579106"/>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Debt with solid fill">
              <a:extLst>
                <a:ext uri="{FF2B5EF4-FFF2-40B4-BE49-F238E27FC236}">
                  <a16:creationId xmlns:a16="http://schemas.microsoft.com/office/drawing/2014/main" id="{50685176-61D2-147E-6017-B27C9833CFD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345761" y="3741951"/>
              <a:ext cx="761707" cy="761707"/>
            </a:xfrm>
            <a:prstGeom prst="rect">
              <a:avLst/>
            </a:prstGeom>
          </p:spPr>
        </p:pic>
        <p:pic>
          <p:nvPicPr>
            <p:cNvPr id="26" name="Graphic 25" descr="Debt with solid fill">
              <a:extLst>
                <a:ext uri="{FF2B5EF4-FFF2-40B4-BE49-F238E27FC236}">
                  <a16:creationId xmlns:a16="http://schemas.microsoft.com/office/drawing/2014/main" id="{61123073-B75B-0E74-5737-55D449C3122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085288" y="4303456"/>
              <a:ext cx="761707" cy="761707"/>
            </a:xfrm>
            <a:prstGeom prst="rect">
              <a:avLst/>
            </a:prstGeom>
          </p:spPr>
        </p:pic>
        <p:sp>
          <p:nvSpPr>
            <p:cNvPr id="27" name="TextBox 26">
              <a:extLst>
                <a:ext uri="{FF2B5EF4-FFF2-40B4-BE49-F238E27FC236}">
                  <a16:creationId xmlns:a16="http://schemas.microsoft.com/office/drawing/2014/main" id="{88872FDD-C94B-168F-6A6C-C42971AA8520}"/>
                </a:ext>
              </a:extLst>
            </p:cNvPr>
            <p:cNvSpPr txBox="1"/>
            <p:nvPr/>
          </p:nvSpPr>
          <p:spPr>
            <a:xfrm>
              <a:off x="2051720" y="2687288"/>
              <a:ext cx="724878" cy="400110"/>
            </a:xfrm>
            <a:prstGeom prst="rect">
              <a:avLst/>
            </a:prstGeom>
            <a:noFill/>
          </p:spPr>
          <p:txBody>
            <a:bodyPr wrap="none" rtlCol="0">
              <a:spAutoFit/>
            </a:bodyPr>
            <a:lstStyle/>
            <a:p>
              <a:r>
                <a:rPr lang="en-GB" sz="2000" dirty="0"/>
                <a:t>Start</a:t>
              </a:r>
            </a:p>
          </p:txBody>
        </p:sp>
        <p:sp>
          <p:nvSpPr>
            <p:cNvPr id="28" name="Arrow: Right 27">
              <a:extLst>
                <a:ext uri="{FF2B5EF4-FFF2-40B4-BE49-F238E27FC236}">
                  <a16:creationId xmlns:a16="http://schemas.microsoft.com/office/drawing/2014/main" id="{CDFC5AF6-04EC-A230-ED4B-2374FDF37886}"/>
                </a:ext>
              </a:extLst>
            </p:cNvPr>
            <p:cNvSpPr/>
            <p:nvPr/>
          </p:nvSpPr>
          <p:spPr>
            <a:xfrm>
              <a:off x="2407913" y="5200601"/>
              <a:ext cx="2609290" cy="353083"/>
            </a:xfrm>
            <a:prstGeom prst="rightArrow">
              <a:avLst/>
            </a:prstGeom>
            <a:solidFill>
              <a:srgbClr val="00B1C1"/>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29" name="Graphic 28" descr="Question Mark with solid fill">
              <a:extLst>
                <a:ext uri="{FF2B5EF4-FFF2-40B4-BE49-F238E27FC236}">
                  <a16:creationId xmlns:a16="http://schemas.microsoft.com/office/drawing/2014/main" id="{6EE10659-1328-F73F-16C5-D2B5CAEFF42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7203" y="4972903"/>
              <a:ext cx="761707" cy="761707"/>
            </a:xfrm>
            <a:prstGeom prst="rect">
              <a:avLst/>
            </a:prstGeom>
          </p:spPr>
        </p:pic>
        <p:cxnSp>
          <p:nvCxnSpPr>
            <p:cNvPr id="30" name="Straight Connector 29">
              <a:extLst>
                <a:ext uri="{FF2B5EF4-FFF2-40B4-BE49-F238E27FC236}">
                  <a16:creationId xmlns:a16="http://schemas.microsoft.com/office/drawing/2014/main" id="{7216D423-03E0-D17F-87B1-4CB069FB1C48}"/>
                </a:ext>
              </a:extLst>
            </p:cNvPr>
            <p:cNvCxnSpPr>
              <a:cxnSpLocks/>
            </p:cNvCxnSpPr>
            <p:nvPr/>
          </p:nvCxnSpPr>
          <p:spPr>
            <a:xfrm>
              <a:off x="2414159" y="3183437"/>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31" name="Graphic 30" descr="User with solid fill">
              <a:extLst>
                <a:ext uri="{FF2B5EF4-FFF2-40B4-BE49-F238E27FC236}">
                  <a16:creationId xmlns:a16="http://schemas.microsoft.com/office/drawing/2014/main" id="{AF49860C-42C7-0BBC-3D34-A8440330826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7" y="3204373"/>
              <a:ext cx="612000" cy="612000"/>
            </a:xfrm>
            <a:prstGeom prst="rect">
              <a:avLst/>
            </a:prstGeom>
          </p:spPr>
        </p:pic>
        <p:pic>
          <p:nvPicPr>
            <p:cNvPr id="32" name="Graphic 31" descr="User with solid fill">
              <a:extLst>
                <a:ext uri="{FF2B5EF4-FFF2-40B4-BE49-F238E27FC236}">
                  <a16:creationId xmlns:a16="http://schemas.microsoft.com/office/drawing/2014/main" id="{8D7F46EC-FFCD-BC2C-BE7D-3FBF86EDE20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5" y="4421841"/>
              <a:ext cx="612000" cy="612000"/>
            </a:xfrm>
            <a:prstGeom prst="rect">
              <a:avLst/>
            </a:prstGeom>
          </p:spPr>
        </p:pic>
        <p:pic>
          <p:nvPicPr>
            <p:cNvPr id="33" name="Graphic 32" descr="User with solid fill">
              <a:extLst>
                <a:ext uri="{FF2B5EF4-FFF2-40B4-BE49-F238E27FC236}">
                  <a16:creationId xmlns:a16="http://schemas.microsoft.com/office/drawing/2014/main" id="{4AA3DBA1-8C3F-B237-801B-4E8D80FC0EC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6" y="3809841"/>
              <a:ext cx="612000" cy="612000"/>
            </a:xfrm>
            <a:prstGeom prst="rect">
              <a:avLst/>
            </a:prstGeom>
          </p:spPr>
        </p:pic>
        <p:pic>
          <p:nvPicPr>
            <p:cNvPr id="35" name="Graphic 34" descr="User with solid fill">
              <a:extLst>
                <a:ext uri="{FF2B5EF4-FFF2-40B4-BE49-F238E27FC236}">
                  <a16:creationId xmlns:a16="http://schemas.microsoft.com/office/drawing/2014/main" id="{2DA1FED0-FFC7-FE55-D631-2DB92AA60907}"/>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625867" y="5064471"/>
              <a:ext cx="612000" cy="612000"/>
            </a:xfrm>
            <a:prstGeom prst="rect">
              <a:avLst/>
            </a:prstGeom>
          </p:spPr>
        </p:pic>
      </p:grpSp>
    </p:spTree>
    <p:extLst>
      <p:ext uri="{BB962C8B-B14F-4D97-AF65-F5344CB8AC3E}">
        <p14:creationId xmlns:p14="http://schemas.microsoft.com/office/powerpoint/2010/main" val="350196485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76411-4573-43AC-8A71-2F88CAAB90F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8152ACB-C1E2-CBD9-ED12-D7B30E69918F}"/>
              </a:ext>
            </a:extLst>
          </p:cNvPr>
          <p:cNvSpPr>
            <a:spLocks noGrp="1"/>
          </p:cNvSpPr>
          <p:nvPr>
            <p:ph type="body" sz="quarter" idx="11"/>
          </p:nvPr>
        </p:nvSpPr>
        <p:spPr/>
        <p:txBody>
          <a:bodyPr/>
          <a:lstStyle/>
          <a:p>
            <a:pPr marL="0" indent="0">
              <a:buNone/>
            </a:pPr>
            <a:r>
              <a:rPr lang="en-GB" dirty="0"/>
              <a:t>What’s the “risk” of a </a:t>
            </a:r>
            <a:r>
              <a:rPr lang="en-GB" dirty="0">
                <a:solidFill>
                  <a:schemeClr val="accent5"/>
                </a:solidFill>
              </a:rPr>
              <a:t>random patient </a:t>
            </a:r>
            <a:r>
              <a:rPr lang="en-GB" dirty="0"/>
              <a:t>dying </a:t>
            </a:r>
            <a:r>
              <a:rPr lang="en-GB" b="1" dirty="0">
                <a:solidFill>
                  <a:schemeClr val="accent4"/>
                </a:solidFill>
              </a:rPr>
              <a:t>right now</a:t>
            </a:r>
            <a:r>
              <a:rPr lang="en-GB" dirty="0"/>
              <a:t>?</a:t>
            </a:r>
          </a:p>
        </p:txBody>
      </p:sp>
      <p:sp>
        <p:nvSpPr>
          <p:cNvPr id="3" name="Title 2">
            <a:extLst>
              <a:ext uri="{FF2B5EF4-FFF2-40B4-BE49-F238E27FC236}">
                <a16:creationId xmlns:a16="http://schemas.microsoft.com/office/drawing/2014/main" id="{54640456-307E-A655-F16D-12328EAF14D2}"/>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93BE17FF-B2A6-B60F-8A30-565C19B80BC9}"/>
              </a:ext>
            </a:extLst>
          </p:cNvPr>
          <p:cNvSpPr>
            <a:spLocks noGrp="1"/>
          </p:cNvSpPr>
          <p:nvPr>
            <p:ph type="sldNum" sz="quarter" idx="10"/>
          </p:nvPr>
        </p:nvSpPr>
        <p:spPr/>
        <p:txBody>
          <a:bodyPr/>
          <a:lstStyle/>
          <a:p>
            <a:pPr>
              <a:defRPr/>
            </a:pPr>
            <a:fld id="{CD3FC0C4-D681-4CE5-B41E-BCE48B80373A}" type="slidenum">
              <a:rPr lang="en-GB" smtClean="0"/>
              <a:pPr>
                <a:defRPr/>
              </a:pPr>
              <a:t>74</a:t>
            </a:fld>
            <a:endParaRPr lang="en-GB"/>
          </a:p>
        </p:txBody>
      </p:sp>
      <p:grpSp>
        <p:nvGrpSpPr>
          <p:cNvPr id="36" name="Group 35">
            <a:extLst>
              <a:ext uri="{FF2B5EF4-FFF2-40B4-BE49-F238E27FC236}">
                <a16:creationId xmlns:a16="http://schemas.microsoft.com/office/drawing/2014/main" id="{3C009B45-6046-B368-ADC2-AEE6D59B63D2}"/>
              </a:ext>
            </a:extLst>
          </p:cNvPr>
          <p:cNvGrpSpPr/>
          <p:nvPr/>
        </p:nvGrpSpPr>
        <p:grpSpPr>
          <a:xfrm>
            <a:off x="1961434" y="2515271"/>
            <a:ext cx="5221130" cy="3047322"/>
            <a:chOff x="1625865" y="2687288"/>
            <a:chExt cx="5221130" cy="3047322"/>
          </a:xfrm>
        </p:grpSpPr>
        <p:sp>
          <p:nvSpPr>
            <p:cNvPr id="21" name="Arrow: Right 20">
              <a:extLst>
                <a:ext uri="{FF2B5EF4-FFF2-40B4-BE49-F238E27FC236}">
                  <a16:creationId xmlns:a16="http://schemas.microsoft.com/office/drawing/2014/main" id="{555D1193-BBBE-C178-E635-B58BB39E0EF6}"/>
                </a:ext>
              </a:extLst>
            </p:cNvPr>
            <p:cNvSpPr/>
            <p:nvPr/>
          </p:nvSpPr>
          <p:spPr>
            <a:xfrm>
              <a:off x="2414159" y="3361730"/>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2" name="Graphic 21" descr="Skull with solid fill">
              <a:extLst>
                <a:ext uri="{FF2B5EF4-FFF2-40B4-BE49-F238E27FC236}">
                  <a16:creationId xmlns:a16="http://schemas.microsoft.com/office/drawing/2014/main" id="{9F074969-4935-ECA6-DF7D-14ACEC69055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199741" y="3098552"/>
              <a:ext cx="761707" cy="761707"/>
            </a:xfrm>
            <a:prstGeom prst="rect">
              <a:avLst/>
            </a:prstGeom>
          </p:spPr>
        </p:pic>
        <p:sp>
          <p:nvSpPr>
            <p:cNvPr id="23" name="Arrow: Right 22">
              <a:extLst>
                <a:ext uri="{FF2B5EF4-FFF2-40B4-BE49-F238E27FC236}">
                  <a16:creationId xmlns:a16="http://schemas.microsoft.com/office/drawing/2014/main" id="{503FCBAE-2DE1-95D5-ED75-DD0E02AF8BEC}"/>
                </a:ext>
              </a:extLst>
            </p:cNvPr>
            <p:cNvSpPr/>
            <p:nvPr/>
          </p:nvSpPr>
          <p:spPr>
            <a:xfrm>
              <a:off x="2414159" y="3950373"/>
              <a:ext cx="1769518"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Arrow: Right 23">
              <a:extLst>
                <a:ext uri="{FF2B5EF4-FFF2-40B4-BE49-F238E27FC236}">
                  <a16:creationId xmlns:a16="http://schemas.microsoft.com/office/drawing/2014/main" id="{DB6AE8F1-A1AC-B534-70EC-64F4C31666D6}"/>
                </a:ext>
              </a:extLst>
            </p:cNvPr>
            <p:cNvSpPr/>
            <p:nvPr/>
          </p:nvSpPr>
          <p:spPr>
            <a:xfrm>
              <a:off x="2414159" y="4579106"/>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Skull with solid fill">
              <a:extLst>
                <a:ext uri="{FF2B5EF4-FFF2-40B4-BE49-F238E27FC236}">
                  <a16:creationId xmlns:a16="http://schemas.microsoft.com/office/drawing/2014/main" id="{C2C791CF-E713-6A8E-D9CD-15AB7FA05EC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345761" y="3746060"/>
              <a:ext cx="761707" cy="761707"/>
            </a:xfrm>
            <a:prstGeom prst="rect">
              <a:avLst/>
            </a:prstGeom>
          </p:spPr>
        </p:pic>
        <p:pic>
          <p:nvPicPr>
            <p:cNvPr id="26" name="Graphic 25" descr="Skull with solid fill">
              <a:extLst>
                <a:ext uri="{FF2B5EF4-FFF2-40B4-BE49-F238E27FC236}">
                  <a16:creationId xmlns:a16="http://schemas.microsoft.com/office/drawing/2014/main" id="{812AF1A0-343E-C4F3-6CF2-DC252AFD2521}"/>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085288" y="4303456"/>
              <a:ext cx="761707" cy="761707"/>
            </a:xfrm>
            <a:prstGeom prst="rect">
              <a:avLst/>
            </a:prstGeom>
          </p:spPr>
        </p:pic>
        <p:sp>
          <p:nvSpPr>
            <p:cNvPr id="27" name="TextBox 26">
              <a:extLst>
                <a:ext uri="{FF2B5EF4-FFF2-40B4-BE49-F238E27FC236}">
                  <a16:creationId xmlns:a16="http://schemas.microsoft.com/office/drawing/2014/main" id="{6353E6EB-C8C2-76B0-0531-9B2A7E1A7C1D}"/>
                </a:ext>
              </a:extLst>
            </p:cNvPr>
            <p:cNvSpPr txBox="1"/>
            <p:nvPr/>
          </p:nvSpPr>
          <p:spPr>
            <a:xfrm>
              <a:off x="2051720" y="2687288"/>
              <a:ext cx="724878" cy="400110"/>
            </a:xfrm>
            <a:prstGeom prst="rect">
              <a:avLst/>
            </a:prstGeom>
            <a:noFill/>
          </p:spPr>
          <p:txBody>
            <a:bodyPr wrap="none" rtlCol="0">
              <a:spAutoFit/>
            </a:bodyPr>
            <a:lstStyle/>
            <a:p>
              <a:r>
                <a:rPr lang="en-GB" sz="2000" dirty="0"/>
                <a:t>Start</a:t>
              </a:r>
            </a:p>
          </p:txBody>
        </p:sp>
        <p:sp>
          <p:nvSpPr>
            <p:cNvPr id="28" name="Arrow: Right 27">
              <a:extLst>
                <a:ext uri="{FF2B5EF4-FFF2-40B4-BE49-F238E27FC236}">
                  <a16:creationId xmlns:a16="http://schemas.microsoft.com/office/drawing/2014/main" id="{53D1CA05-3E1C-1AB7-F24D-F5FE64DDA7D5}"/>
                </a:ext>
              </a:extLst>
            </p:cNvPr>
            <p:cNvSpPr/>
            <p:nvPr/>
          </p:nvSpPr>
          <p:spPr>
            <a:xfrm>
              <a:off x="2407913" y="5200601"/>
              <a:ext cx="2609290" cy="353083"/>
            </a:xfrm>
            <a:prstGeom prst="rightArrow">
              <a:avLst/>
            </a:prstGeom>
            <a:solidFill>
              <a:srgbClr val="00B1C1"/>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29" name="Graphic 28" descr="Question Mark with solid fill">
              <a:extLst>
                <a:ext uri="{FF2B5EF4-FFF2-40B4-BE49-F238E27FC236}">
                  <a16:creationId xmlns:a16="http://schemas.microsoft.com/office/drawing/2014/main" id="{132B196D-EB23-E1B8-819E-062BFE098F4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7203" y="4972903"/>
              <a:ext cx="761707" cy="761707"/>
            </a:xfrm>
            <a:prstGeom prst="rect">
              <a:avLst/>
            </a:prstGeom>
          </p:spPr>
        </p:pic>
        <p:cxnSp>
          <p:nvCxnSpPr>
            <p:cNvPr id="30" name="Straight Connector 29">
              <a:extLst>
                <a:ext uri="{FF2B5EF4-FFF2-40B4-BE49-F238E27FC236}">
                  <a16:creationId xmlns:a16="http://schemas.microsoft.com/office/drawing/2014/main" id="{A4792D08-F969-1FB3-E37D-272CC0E485F9}"/>
                </a:ext>
              </a:extLst>
            </p:cNvPr>
            <p:cNvCxnSpPr>
              <a:cxnSpLocks/>
            </p:cNvCxnSpPr>
            <p:nvPr/>
          </p:nvCxnSpPr>
          <p:spPr>
            <a:xfrm>
              <a:off x="2414159" y="3183437"/>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31" name="Graphic 30" descr="Inpatient with solid fill">
              <a:extLst>
                <a:ext uri="{FF2B5EF4-FFF2-40B4-BE49-F238E27FC236}">
                  <a16:creationId xmlns:a16="http://schemas.microsoft.com/office/drawing/2014/main" id="{D2707042-4B4A-BBC1-D0B3-FF2B82E37EB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7" y="3204373"/>
              <a:ext cx="612000" cy="612000"/>
            </a:xfrm>
            <a:prstGeom prst="rect">
              <a:avLst/>
            </a:prstGeom>
          </p:spPr>
        </p:pic>
        <p:pic>
          <p:nvPicPr>
            <p:cNvPr id="32" name="Graphic 31" descr="Inpatient with solid fill">
              <a:extLst>
                <a:ext uri="{FF2B5EF4-FFF2-40B4-BE49-F238E27FC236}">
                  <a16:creationId xmlns:a16="http://schemas.microsoft.com/office/drawing/2014/main" id="{C3F25398-726C-ED6A-E8F7-86E33E79ED4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5" y="4421841"/>
              <a:ext cx="612000" cy="612000"/>
            </a:xfrm>
            <a:prstGeom prst="rect">
              <a:avLst/>
            </a:prstGeom>
          </p:spPr>
        </p:pic>
        <p:pic>
          <p:nvPicPr>
            <p:cNvPr id="33" name="Graphic 32" descr="Inpatient with solid fill">
              <a:extLst>
                <a:ext uri="{FF2B5EF4-FFF2-40B4-BE49-F238E27FC236}">
                  <a16:creationId xmlns:a16="http://schemas.microsoft.com/office/drawing/2014/main" id="{12D40CF3-F3DC-F21D-0B67-99318E15AB2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6" y="3809841"/>
              <a:ext cx="612000" cy="612000"/>
            </a:xfrm>
            <a:prstGeom prst="rect">
              <a:avLst/>
            </a:prstGeom>
          </p:spPr>
        </p:pic>
        <p:pic>
          <p:nvPicPr>
            <p:cNvPr id="35" name="Graphic 34" descr="Inpatient with solid fill">
              <a:extLst>
                <a:ext uri="{FF2B5EF4-FFF2-40B4-BE49-F238E27FC236}">
                  <a16:creationId xmlns:a16="http://schemas.microsoft.com/office/drawing/2014/main" id="{D9EDC3F2-86AE-321F-769A-5736A88696D1}"/>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625867" y="5064471"/>
              <a:ext cx="612000" cy="612000"/>
            </a:xfrm>
            <a:prstGeom prst="rect">
              <a:avLst/>
            </a:prstGeom>
          </p:spPr>
        </p:pic>
      </p:grpSp>
    </p:spTree>
    <p:extLst>
      <p:ext uri="{BB962C8B-B14F-4D97-AF65-F5344CB8AC3E}">
        <p14:creationId xmlns:p14="http://schemas.microsoft.com/office/powerpoint/2010/main" val="210109107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2B7ACF-EEF6-A1AF-946C-D1B65DF7FE0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E67452E-9E5D-29C8-75A7-D4580DF48BBF}"/>
              </a:ext>
            </a:extLst>
          </p:cNvPr>
          <p:cNvSpPr>
            <a:spLocks noGrp="1"/>
          </p:cNvSpPr>
          <p:nvPr>
            <p:ph type="body" sz="quarter" idx="11"/>
          </p:nvPr>
        </p:nvSpPr>
        <p:spPr>
          <a:xfrm>
            <a:off x="515649" y="2527133"/>
            <a:ext cx="3328914" cy="3248192"/>
          </a:xfrm>
        </p:spPr>
        <p:txBody>
          <a:bodyPr/>
          <a:lstStyle/>
          <a:p>
            <a:r>
              <a:rPr lang="en-GB" dirty="0"/>
              <a:t>We know nothing specific about this egg</a:t>
            </a:r>
          </a:p>
          <a:p>
            <a:pPr lvl="1"/>
            <a:r>
              <a:rPr lang="en-GB" dirty="0"/>
              <a:t>i.e., no predictors</a:t>
            </a:r>
          </a:p>
          <a:p>
            <a:pPr lvl="1"/>
            <a:r>
              <a:rPr lang="en-GB" dirty="0"/>
              <a:t>(yet!)</a:t>
            </a:r>
          </a:p>
          <a:p>
            <a:endParaRPr lang="en-GB" dirty="0"/>
          </a:p>
          <a:p>
            <a:r>
              <a:rPr lang="en-GB" b="1" dirty="0"/>
              <a:t>But</a:t>
            </a:r>
            <a:r>
              <a:rPr lang="en-GB" dirty="0"/>
              <a:t> we do know something about the general baseline hazard</a:t>
            </a:r>
          </a:p>
          <a:p>
            <a:pPr marL="0" indent="0">
              <a:buNone/>
            </a:pPr>
            <a:endParaRPr lang="en-GB" dirty="0"/>
          </a:p>
          <a:p>
            <a:endParaRPr lang="en-GB" dirty="0"/>
          </a:p>
        </p:txBody>
      </p:sp>
      <p:sp>
        <p:nvSpPr>
          <p:cNvPr id="3" name="Title 2">
            <a:extLst>
              <a:ext uri="{FF2B5EF4-FFF2-40B4-BE49-F238E27FC236}">
                <a16:creationId xmlns:a16="http://schemas.microsoft.com/office/drawing/2014/main" id="{72FCC753-89BF-0B68-B28C-1AF23BEAC6AE}"/>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2B41E761-8310-F9CD-CB4D-AE5932224F8A}"/>
              </a:ext>
            </a:extLst>
          </p:cNvPr>
          <p:cNvSpPr>
            <a:spLocks noGrp="1"/>
          </p:cNvSpPr>
          <p:nvPr>
            <p:ph type="sldNum" sz="quarter" idx="10"/>
          </p:nvPr>
        </p:nvSpPr>
        <p:spPr/>
        <p:txBody>
          <a:bodyPr/>
          <a:lstStyle/>
          <a:p>
            <a:pPr>
              <a:defRPr/>
            </a:pPr>
            <a:fld id="{CD3FC0C4-D681-4CE5-B41E-BCE48B80373A}" type="slidenum">
              <a:rPr lang="en-GB" smtClean="0"/>
              <a:pPr>
                <a:defRPr/>
              </a:pPr>
              <a:t>75</a:t>
            </a:fld>
            <a:endParaRPr lang="en-GB"/>
          </a:p>
        </p:txBody>
      </p:sp>
      <p:grpSp>
        <p:nvGrpSpPr>
          <p:cNvPr id="36" name="Group 35">
            <a:extLst>
              <a:ext uri="{FF2B5EF4-FFF2-40B4-BE49-F238E27FC236}">
                <a16:creationId xmlns:a16="http://schemas.microsoft.com/office/drawing/2014/main" id="{E3BCDC6B-6B1F-3D3E-648B-EB899CD7A567}"/>
              </a:ext>
            </a:extLst>
          </p:cNvPr>
          <p:cNvGrpSpPr/>
          <p:nvPr/>
        </p:nvGrpSpPr>
        <p:grpSpPr>
          <a:xfrm>
            <a:off x="4498813" y="2853825"/>
            <a:ext cx="4156411" cy="2425897"/>
            <a:chOff x="1625865" y="2687288"/>
            <a:chExt cx="5221130" cy="3047322"/>
          </a:xfrm>
        </p:grpSpPr>
        <p:sp>
          <p:nvSpPr>
            <p:cNvPr id="21" name="Arrow: Right 20">
              <a:extLst>
                <a:ext uri="{FF2B5EF4-FFF2-40B4-BE49-F238E27FC236}">
                  <a16:creationId xmlns:a16="http://schemas.microsoft.com/office/drawing/2014/main" id="{AD3F5338-2492-920C-9D50-EB97493B6736}"/>
                </a:ext>
              </a:extLst>
            </p:cNvPr>
            <p:cNvSpPr/>
            <p:nvPr/>
          </p:nvSpPr>
          <p:spPr>
            <a:xfrm>
              <a:off x="2414159" y="3361730"/>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2" name="Graphic 21" descr="Dinosaur Egg with solid fill">
              <a:extLst>
                <a:ext uri="{FF2B5EF4-FFF2-40B4-BE49-F238E27FC236}">
                  <a16:creationId xmlns:a16="http://schemas.microsoft.com/office/drawing/2014/main" id="{447B88A6-7664-3C6E-BFC6-6C1AC512616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199741" y="3098552"/>
              <a:ext cx="761707" cy="761707"/>
            </a:xfrm>
            <a:prstGeom prst="rect">
              <a:avLst/>
            </a:prstGeom>
          </p:spPr>
        </p:pic>
        <p:sp>
          <p:nvSpPr>
            <p:cNvPr id="23" name="Arrow: Right 22">
              <a:extLst>
                <a:ext uri="{FF2B5EF4-FFF2-40B4-BE49-F238E27FC236}">
                  <a16:creationId xmlns:a16="http://schemas.microsoft.com/office/drawing/2014/main" id="{936A7A86-E931-6530-8AB7-5691F9B1DF9E}"/>
                </a:ext>
              </a:extLst>
            </p:cNvPr>
            <p:cNvSpPr/>
            <p:nvPr/>
          </p:nvSpPr>
          <p:spPr>
            <a:xfrm>
              <a:off x="2414159" y="3950373"/>
              <a:ext cx="1769518"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Arrow: Right 23">
              <a:extLst>
                <a:ext uri="{FF2B5EF4-FFF2-40B4-BE49-F238E27FC236}">
                  <a16:creationId xmlns:a16="http://schemas.microsoft.com/office/drawing/2014/main" id="{851ECC99-76D8-8D7C-6345-8A1E9B911964}"/>
                </a:ext>
              </a:extLst>
            </p:cNvPr>
            <p:cNvSpPr/>
            <p:nvPr/>
          </p:nvSpPr>
          <p:spPr>
            <a:xfrm>
              <a:off x="2414159" y="4579106"/>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Dinosaur Egg with solid fill">
              <a:extLst>
                <a:ext uri="{FF2B5EF4-FFF2-40B4-BE49-F238E27FC236}">
                  <a16:creationId xmlns:a16="http://schemas.microsoft.com/office/drawing/2014/main" id="{79E3ACE4-F9F0-08C3-65AF-17A77E316857}"/>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345761" y="3771617"/>
              <a:ext cx="761707" cy="761707"/>
            </a:xfrm>
            <a:prstGeom prst="rect">
              <a:avLst/>
            </a:prstGeom>
          </p:spPr>
        </p:pic>
        <p:pic>
          <p:nvPicPr>
            <p:cNvPr id="26" name="Graphic 25" descr="Dinosaur Egg with solid fill">
              <a:extLst>
                <a:ext uri="{FF2B5EF4-FFF2-40B4-BE49-F238E27FC236}">
                  <a16:creationId xmlns:a16="http://schemas.microsoft.com/office/drawing/2014/main" id="{A8881DDC-5A51-05EC-7989-173CE8E7136D}"/>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085288" y="4303456"/>
              <a:ext cx="761707" cy="761707"/>
            </a:xfrm>
            <a:prstGeom prst="rect">
              <a:avLst/>
            </a:prstGeom>
          </p:spPr>
        </p:pic>
        <p:sp>
          <p:nvSpPr>
            <p:cNvPr id="27" name="TextBox 26">
              <a:extLst>
                <a:ext uri="{FF2B5EF4-FFF2-40B4-BE49-F238E27FC236}">
                  <a16:creationId xmlns:a16="http://schemas.microsoft.com/office/drawing/2014/main" id="{B06B89C2-70BC-01FE-CC80-104BBAF19C0A}"/>
                </a:ext>
              </a:extLst>
            </p:cNvPr>
            <p:cNvSpPr txBox="1"/>
            <p:nvPr/>
          </p:nvSpPr>
          <p:spPr>
            <a:xfrm>
              <a:off x="2051721" y="2687288"/>
              <a:ext cx="777665" cy="425279"/>
            </a:xfrm>
            <a:prstGeom prst="rect">
              <a:avLst/>
            </a:prstGeom>
            <a:noFill/>
          </p:spPr>
          <p:txBody>
            <a:bodyPr wrap="none" rtlCol="0">
              <a:spAutoFit/>
            </a:bodyPr>
            <a:lstStyle/>
            <a:p>
              <a:r>
                <a:rPr lang="en-GB" sz="1600" dirty="0"/>
                <a:t>Start</a:t>
              </a:r>
            </a:p>
          </p:txBody>
        </p:sp>
        <p:sp>
          <p:nvSpPr>
            <p:cNvPr id="28" name="Arrow: Right 27">
              <a:extLst>
                <a:ext uri="{FF2B5EF4-FFF2-40B4-BE49-F238E27FC236}">
                  <a16:creationId xmlns:a16="http://schemas.microsoft.com/office/drawing/2014/main" id="{5CB2DDF0-9533-6E1A-B3C1-0A6D18A56DEC}"/>
                </a:ext>
              </a:extLst>
            </p:cNvPr>
            <p:cNvSpPr/>
            <p:nvPr/>
          </p:nvSpPr>
          <p:spPr>
            <a:xfrm>
              <a:off x="2407913" y="5200601"/>
              <a:ext cx="2609290" cy="353083"/>
            </a:xfrm>
            <a:prstGeom prst="rightArrow">
              <a:avLst/>
            </a:prstGeom>
            <a:solidFill>
              <a:srgbClr val="00B1C1"/>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29" name="Graphic 28" descr="Question Mark with solid fill">
              <a:extLst>
                <a:ext uri="{FF2B5EF4-FFF2-40B4-BE49-F238E27FC236}">
                  <a16:creationId xmlns:a16="http://schemas.microsoft.com/office/drawing/2014/main" id="{E2F34BCE-473F-2AE9-709B-CC13211961A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7203" y="4972903"/>
              <a:ext cx="761707" cy="761707"/>
            </a:xfrm>
            <a:prstGeom prst="rect">
              <a:avLst/>
            </a:prstGeom>
          </p:spPr>
        </p:pic>
        <p:cxnSp>
          <p:nvCxnSpPr>
            <p:cNvPr id="30" name="Straight Connector 29">
              <a:extLst>
                <a:ext uri="{FF2B5EF4-FFF2-40B4-BE49-F238E27FC236}">
                  <a16:creationId xmlns:a16="http://schemas.microsoft.com/office/drawing/2014/main" id="{F30846B9-D00F-5E0D-1304-057E5E6D5BBE}"/>
                </a:ext>
              </a:extLst>
            </p:cNvPr>
            <p:cNvCxnSpPr>
              <a:cxnSpLocks/>
            </p:cNvCxnSpPr>
            <p:nvPr/>
          </p:nvCxnSpPr>
          <p:spPr>
            <a:xfrm>
              <a:off x="2414159" y="3183437"/>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31" name="Graphic 30" descr="Dinosaur Egg with solid fill">
              <a:extLst>
                <a:ext uri="{FF2B5EF4-FFF2-40B4-BE49-F238E27FC236}">
                  <a16:creationId xmlns:a16="http://schemas.microsoft.com/office/drawing/2014/main" id="{4AD17DD5-0216-5C4B-E0BE-F9D2160FFF6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8" y="3204372"/>
              <a:ext cx="612000" cy="612000"/>
            </a:xfrm>
            <a:prstGeom prst="rect">
              <a:avLst/>
            </a:prstGeom>
          </p:spPr>
        </p:pic>
        <p:pic>
          <p:nvPicPr>
            <p:cNvPr id="32" name="Graphic 31" descr="Dinosaur Egg with solid fill">
              <a:extLst>
                <a:ext uri="{FF2B5EF4-FFF2-40B4-BE49-F238E27FC236}">
                  <a16:creationId xmlns:a16="http://schemas.microsoft.com/office/drawing/2014/main" id="{32849804-B1BE-DB9C-9184-9ED394C114F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5" y="4421841"/>
              <a:ext cx="612000" cy="612000"/>
            </a:xfrm>
            <a:prstGeom prst="rect">
              <a:avLst/>
            </a:prstGeom>
          </p:spPr>
        </p:pic>
        <p:pic>
          <p:nvPicPr>
            <p:cNvPr id="33" name="Graphic 32" descr="Dinosaur Egg with solid fill">
              <a:extLst>
                <a:ext uri="{FF2B5EF4-FFF2-40B4-BE49-F238E27FC236}">
                  <a16:creationId xmlns:a16="http://schemas.microsoft.com/office/drawing/2014/main" id="{F2EFA344-BEBA-4D90-6C19-A38500BD0A6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6" y="3809840"/>
              <a:ext cx="612000" cy="612000"/>
            </a:xfrm>
            <a:prstGeom prst="rect">
              <a:avLst/>
            </a:prstGeom>
          </p:spPr>
        </p:pic>
        <p:pic>
          <p:nvPicPr>
            <p:cNvPr id="35" name="Graphic 34" descr="Dinosaur Egg with solid fill">
              <a:extLst>
                <a:ext uri="{FF2B5EF4-FFF2-40B4-BE49-F238E27FC236}">
                  <a16:creationId xmlns:a16="http://schemas.microsoft.com/office/drawing/2014/main" id="{ABAE3956-D709-9C44-A6D8-39DCBAFC2F28}"/>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625868" y="5064471"/>
              <a:ext cx="612000" cy="612000"/>
            </a:xfrm>
            <a:prstGeom prst="rect">
              <a:avLst/>
            </a:prstGeom>
          </p:spPr>
        </p:pic>
      </p:grpSp>
      <p:sp>
        <p:nvSpPr>
          <p:cNvPr id="5" name="Text Placeholder 1">
            <a:extLst>
              <a:ext uri="{FF2B5EF4-FFF2-40B4-BE49-F238E27FC236}">
                <a16:creationId xmlns:a16="http://schemas.microsoft.com/office/drawing/2014/main" id="{AA84693C-89BC-DAE2-37BF-3B633BB46A0A}"/>
              </a:ext>
            </a:extLst>
          </p:cNvPr>
          <p:cNvSpPr txBox="1">
            <a:spLocks/>
          </p:cNvSpPr>
          <p:nvPr/>
        </p:nvSpPr>
        <p:spPr bwMode="auto">
          <a:xfrm>
            <a:off x="515648" y="1772919"/>
            <a:ext cx="8112703" cy="63843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GB" kern="0" dirty="0"/>
              <a:t>What’s the “risk” of a </a:t>
            </a:r>
            <a:r>
              <a:rPr lang="en-GB" kern="0" dirty="0">
                <a:solidFill>
                  <a:schemeClr val="accent5"/>
                </a:solidFill>
              </a:rPr>
              <a:t>random egg </a:t>
            </a:r>
            <a:r>
              <a:rPr lang="en-GB" kern="0" dirty="0"/>
              <a:t>hatching </a:t>
            </a:r>
            <a:r>
              <a:rPr lang="en-GB" b="1" kern="0" dirty="0">
                <a:solidFill>
                  <a:schemeClr val="accent2"/>
                </a:solidFill>
              </a:rPr>
              <a:t>right now</a:t>
            </a:r>
            <a:r>
              <a:rPr lang="en-GB" kern="0" dirty="0"/>
              <a:t>?</a:t>
            </a:r>
          </a:p>
        </p:txBody>
      </p:sp>
    </p:spTree>
    <p:extLst>
      <p:ext uri="{BB962C8B-B14F-4D97-AF65-F5344CB8AC3E}">
        <p14:creationId xmlns:p14="http://schemas.microsoft.com/office/powerpoint/2010/main" val="1979646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B0719F4-EE6B-E067-B412-0C618EE8D326}"/>
              </a:ext>
            </a:extLst>
          </p:cNvPr>
          <p:cNvSpPr>
            <a:spLocks noGrp="1"/>
          </p:cNvSpPr>
          <p:nvPr>
            <p:ph type="body" sz="quarter" idx="11"/>
          </p:nvPr>
        </p:nvSpPr>
        <p:spPr/>
        <p:txBody>
          <a:bodyPr/>
          <a:lstStyle/>
          <a:p>
            <a:pPr marL="0" indent="0">
              <a:buNone/>
            </a:pPr>
            <a:r>
              <a:rPr lang="en-GB" dirty="0"/>
              <a:t>Baseline hazard may change over time, even without predictors</a:t>
            </a:r>
          </a:p>
        </p:txBody>
      </p:sp>
      <p:sp>
        <p:nvSpPr>
          <p:cNvPr id="3" name="Title 2">
            <a:extLst>
              <a:ext uri="{FF2B5EF4-FFF2-40B4-BE49-F238E27FC236}">
                <a16:creationId xmlns:a16="http://schemas.microsoft.com/office/drawing/2014/main" id="{1906687A-4CD1-3F10-F3ED-6ED80D68B389}"/>
              </a:ext>
            </a:extLst>
          </p:cNvPr>
          <p:cNvSpPr>
            <a:spLocks noGrp="1"/>
          </p:cNvSpPr>
          <p:nvPr>
            <p:ph type="title"/>
          </p:nvPr>
        </p:nvSpPr>
        <p:spPr/>
        <p:txBody>
          <a:bodyPr/>
          <a:lstStyle/>
          <a:p>
            <a:r>
              <a:rPr lang="en-GB" dirty="0"/>
              <a:t>Baseline hazard</a:t>
            </a:r>
          </a:p>
        </p:txBody>
      </p:sp>
      <p:sp>
        <p:nvSpPr>
          <p:cNvPr id="4" name="Slide Number Placeholder 3">
            <a:extLst>
              <a:ext uri="{FF2B5EF4-FFF2-40B4-BE49-F238E27FC236}">
                <a16:creationId xmlns:a16="http://schemas.microsoft.com/office/drawing/2014/main" id="{F7A97544-3DA1-8E75-80FD-9A1AC123AB19}"/>
              </a:ext>
            </a:extLst>
          </p:cNvPr>
          <p:cNvSpPr>
            <a:spLocks noGrp="1"/>
          </p:cNvSpPr>
          <p:nvPr>
            <p:ph type="sldNum" sz="quarter" idx="10"/>
          </p:nvPr>
        </p:nvSpPr>
        <p:spPr/>
        <p:txBody>
          <a:bodyPr/>
          <a:lstStyle/>
          <a:p>
            <a:pPr>
              <a:defRPr/>
            </a:pPr>
            <a:fld id="{CD3FC0C4-D681-4CE5-B41E-BCE48B80373A}" type="slidenum">
              <a:rPr lang="en-GB" smtClean="0"/>
              <a:pPr>
                <a:defRPr/>
              </a:pPr>
              <a:t>76</a:t>
            </a:fld>
            <a:endParaRPr lang="en-GB"/>
          </a:p>
        </p:txBody>
      </p:sp>
      <p:pic>
        <p:nvPicPr>
          <p:cNvPr id="14" name="Picture 13">
            <a:extLst>
              <a:ext uri="{FF2B5EF4-FFF2-40B4-BE49-F238E27FC236}">
                <a16:creationId xmlns:a16="http://schemas.microsoft.com/office/drawing/2014/main" id="{98420132-BF9C-7707-6C7C-C99013D8F14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5648" y="2574918"/>
            <a:ext cx="6400813" cy="3200407"/>
          </a:xfrm>
          <a:prstGeom prst="rect">
            <a:avLst/>
          </a:prstGeom>
        </p:spPr>
      </p:pic>
      <p:pic>
        <p:nvPicPr>
          <p:cNvPr id="18" name="Graphic 17" descr="Lightbulb with solid fill">
            <a:extLst>
              <a:ext uri="{FF2B5EF4-FFF2-40B4-BE49-F238E27FC236}">
                <a16:creationId xmlns:a16="http://schemas.microsoft.com/office/drawing/2014/main" id="{33B2111D-668E-8566-30F9-52370919496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7429564" y="3794267"/>
            <a:ext cx="761707" cy="761707"/>
          </a:xfrm>
          <a:prstGeom prst="rect">
            <a:avLst/>
          </a:prstGeom>
        </p:spPr>
      </p:pic>
      <p:pic>
        <p:nvPicPr>
          <p:cNvPr id="20" name="Graphic 19" descr="Lights On with solid fill">
            <a:extLst>
              <a:ext uri="{FF2B5EF4-FFF2-40B4-BE49-F238E27FC236}">
                <a16:creationId xmlns:a16="http://schemas.microsoft.com/office/drawing/2014/main" id="{C0FBCC9C-5796-9A8C-5DF2-9DBD1E24D46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7504417" y="3185316"/>
            <a:ext cx="612000" cy="612000"/>
          </a:xfrm>
          <a:prstGeom prst="rect">
            <a:avLst/>
          </a:prstGeom>
        </p:spPr>
      </p:pic>
      <p:pic>
        <p:nvPicPr>
          <p:cNvPr id="22" name="Graphic 21" descr="Close with solid fill">
            <a:extLst>
              <a:ext uri="{FF2B5EF4-FFF2-40B4-BE49-F238E27FC236}">
                <a16:creationId xmlns:a16="http://schemas.microsoft.com/office/drawing/2014/main" id="{9B3D723B-D715-B8E3-FE87-0F17B1D8F09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04417" y="3746680"/>
            <a:ext cx="612000" cy="612000"/>
          </a:xfrm>
          <a:prstGeom prst="rect">
            <a:avLst/>
          </a:prstGeom>
        </p:spPr>
      </p:pic>
    </p:spTree>
    <p:extLst>
      <p:ext uri="{BB962C8B-B14F-4D97-AF65-F5344CB8AC3E}">
        <p14:creationId xmlns:p14="http://schemas.microsoft.com/office/powerpoint/2010/main" val="163656320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0950F-AAE1-A99A-D57F-0A67734691F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92406C6-7C9C-852B-56EC-B9836632CEC7}"/>
              </a:ext>
            </a:extLst>
          </p:cNvPr>
          <p:cNvSpPr>
            <a:spLocks noGrp="1"/>
          </p:cNvSpPr>
          <p:nvPr>
            <p:ph type="body" sz="quarter" idx="11"/>
          </p:nvPr>
        </p:nvSpPr>
        <p:spPr/>
        <p:txBody>
          <a:bodyPr/>
          <a:lstStyle/>
          <a:p>
            <a:pPr marL="0" indent="0">
              <a:buNone/>
            </a:pPr>
            <a:r>
              <a:rPr lang="en-GB" dirty="0"/>
              <a:t>Baseline hazard may change over time, even without predictors</a:t>
            </a:r>
          </a:p>
        </p:txBody>
      </p:sp>
      <p:sp>
        <p:nvSpPr>
          <p:cNvPr id="3" name="Title 2">
            <a:extLst>
              <a:ext uri="{FF2B5EF4-FFF2-40B4-BE49-F238E27FC236}">
                <a16:creationId xmlns:a16="http://schemas.microsoft.com/office/drawing/2014/main" id="{5B64F5EE-4B19-66A6-392E-5AE011B5B738}"/>
              </a:ext>
            </a:extLst>
          </p:cNvPr>
          <p:cNvSpPr>
            <a:spLocks noGrp="1"/>
          </p:cNvSpPr>
          <p:nvPr>
            <p:ph type="title"/>
          </p:nvPr>
        </p:nvSpPr>
        <p:spPr/>
        <p:txBody>
          <a:bodyPr/>
          <a:lstStyle/>
          <a:p>
            <a:r>
              <a:rPr lang="en-GB" dirty="0"/>
              <a:t>Baseline hazard</a:t>
            </a:r>
          </a:p>
        </p:txBody>
      </p:sp>
      <p:sp>
        <p:nvSpPr>
          <p:cNvPr id="4" name="Slide Number Placeholder 3">
            <a:extLst>
              <a:ext uri="{FF2B5EF4-FFF2-40B4-BE49-F238E27FC236}">
                <a16:creationId xmlns:a16="http://schemas.microsoft.com/office/drawing/2014/main" id="{53C00696-5FC4-1E0B-C142-608110932140}"/>
              </a:ext>
            </a:extLst>
          </p:cNvPr>
          <p:cNvSpPr>
            <a:spLocks noGrp="1"/>
          </p:cNvSpPr>
          <p:nvPr>
            <p:ph type="sldNum" sz="quarter" idx="10"/>
          </p:nvPr>
        </p:nvSpPr>
        <p:spPr/>
        <p:txBody>
          <a:bodyPr/>
          <a:lstStyle/>
          <a:p>
            <a:pPr>
              <a:defRPr/>
            </a:pPr>
            <a:fld id="{CD3FC0C4-D681-4CE5-B41E-BCE48B80373A}" type="slidenum">
              <a:rPr lang="en-GB" smtClean="0"/>
              <a:pPr>
                <a:defRPr/>
              </a:pPr>
              <a:t>77</a:t>
            </a:fld>
            <a:endParaRPr lang="en-GB"/>
          </a:p>
        </p:txBody>
      </p:sp>
      <p:pic>
        <p:nvPicPr>
          <p:cNvPr id="6" name="Picture 5">
            <a:extLst>
              <a:ext uri="{FF2B5EF4-FFF2-40B4-BE49-F238E27FC236}">
                <a16:creationId xmlns:a16="http://schemas.microsoft.com/office/drawing/2014/main" id="{02CEE953-E3FF-63C2-B2B3-09F6CF5928F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5648" y="2574918"/>
            <a:ext cx="6400813" cy="3200407"/>
          </a:xfrm>
          <a:prstGeom prst="rect">
            <a:avLst/>
          </a:prstGeom>
        </p:spPr>
      </p:pic>
      <p:pic>
        <p:nvPicPr>
          <p:cNvPr id="10" name="Graphic 9" descr="Debt with solid fill">
            <a:extLst>
              <a:ext uri="{FF2B5EF4-FFF2-40B4-BE49-F238E27FC236}">
                <a16:creationId xmlns:a16="http://schemas.microsoft.com/office/drawing/2014/main" id="{A144C69A-1D54-8D3B-DCBC-4BC96B2C426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7429564" y="3794267"/>
            <a:ext cx="761707" cy="761707"/>
          </a:xfrm>
          <a:prstGeom prst="rect">
            <a:avLst/>
          </a:prstGeom>
        </p:spPr>
      </p:pic>
      <p:pic>
        <p:nvPicPr>
          <p:cNvPr id="12" name="Graphic 11" descr="User with solid fill">
            <a:extLst>
              <a:ext uri="{FF2B5EF4-FFF2-40B4-BE49-F238E27FC236}">
                <a16:creationId xmlns:a16="http://schemas.microsoft.com/office/drawing/2014/main" id="{C00D1361-9665-77EF-E108-48D73EDCDBA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7504417" y="3185316"/>
            <a:ext cx="612000" cy="612000"/>
          </a:xfrm>
          <a:prstGeom prst="rect">
            <a:avLst/>
          </a:prstGeom>
        </p:spPr>
      </p:pic>
    </p:spTree>
    <p:extLst>
      <p:ext uri="{BB962C8B-B14F-4D97-AF65-F5344CB8AC3E}">
        <p14:creationId xmlns:p14="http://schemas.microsoft.com/office/powerpoint/2010/main" val="59501894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523222-689E-5028-97D1-BD601C3298D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E635628-0C53-5CD0-5D26-A54929124215}"/>
              </a:ext>
            </a:extLst>
          </p:cNvPr>
          <p:cNvSpPr>
            <a:spLocks noGrp="1"/>
          </p:cNvSpPr>
          <p:nvPr>
            <p:ph type="body" sz="quarter" idx="11"/>
          </p:nvPr>
        </p:nvSpPr>
        <p:spPr/>
        <p:txBody>
          <a:bodyPr/>
          <a:lstStyle/>
          <a:p>
            <a:pPr marL="0" indent="0">
              <a:buNone/>
            </a:pPr>
            <a:r>
              <a:rPr lang="en-GB" dirty="0"/>
              <a:t>Baseline hazard may change over time, even without predictors</a:t>
            </a:r>
          </a:p>
        </p:txBody>
      </p:sp>
      <p:sp>
        <p:nvSpPr>
          <p:cNvPr id="3" name="Title 2">
            <a:extLst>
              <a:ext uri="{FF2B5EF4-FFF2-40B4-BE49-F238E27FC236}">
                <a16:creationId xmlns:a16="http://schemas.microsoft.com/office/drawing/2014/main" id="{824200B3-9712-4298-1EAD-A2732AE90FB4}"/>
              </a:ext>
            </a:extLst>
          </p:cNvPr>
          <p:cNvSpPr>
            <a:spLocks noGrp="1"/>
          </p:cNvSpPr>
          <p:nvPr>
            <p:ph type="title"/>
          </p:nvPr>
        </p:nvSpPr>
        <p:spPr/>
        <p:txBody>
          <a:bodyPr/>
          <a:lstStyle/>
          <a:p>
            <a:r>
              <a:rPr lang="en-GB" dirty="0"/>
              <a:t>Baseline hazard</a:t>
            </a:r>
          </a:p>
        </p:txBody>
      </p:sp>
      <p:sp>
        <p:nvSpPr>
          <p:cNvPr id="4" name="Slide Number Placeholder 3">
            <a:extLst>
              <a:ext uri="{FF2B5EF4-FFF2-40B4-BE49-F238E27FC236}">
                <a16:creationId xmlns:a16="http://schemas.microsoft.com/office/drawing/2014/main" id="{BE5600CD-C719-B323-ECA1-F02585AAC84A}"/>
              </a:ext>
            </a:extLst>
          </p:cNvPr>
          <p:cNvSpPr>
            <a:spLocks noGrp="1"/>
          </p:cNvSpPr>
          <p:nvPr>
            <p:ph type="sldNum" sz="quarter" idx="10"/>
          </p:nvPr>
        </p:nvSpPr>
        <p:spPr/>
        <p:txBody>
          <a:bodyPr/>
          <a:lstStyle/>
          <a:p>
            <a:pPr>
              <a:defRPr/>
            </a:pPr>
            <a:fld id="{CD3FC0C4-D681-4CE5-B41E-BCE48B80373A}" type="slidenum">
              <a:rPr lang="en-GB" smtClean="0"/>
              <a:pPr>
                <a:defRPr/>
              </a:pPr>
              <a:t>78</a:t>
            </a:fld>
            <a:endParaRPr lang="en-GB"/>
          </a:p>
        </p:txBody>
      </p:sp>
      <p:pic>
        <p:nvPicPr>
          <p:cNvPr id="6" name="Picture 5">
            <a:extLst>
              <a:ext uri="{FF2B5EF4-FFF2-40B4-BE49-F238E27FC236}">
                <a16:creationId xmlns:a16="http://schemas.microsoft.com/office/drawing/2014/main" id="{A8EA9C07-B60F-CAB4-C750-D82415B5D3F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5647" y="2574918"/>
            <a:ext cx="6400813" cy="3200407"/>
          </a:xfrm>
          <a:prstGeom prst="rect">
            <a:avLst/>
          </a:prstGeom>
        </p:spPr>
      </p:pic>
      <p:pic>
        <p:nvPicPr>
          <p:cNvPr id="8" name="Graphic 7" descr="Skull with solid fill">
            <a:extLst>
              <a:ext uri="{FF2B5EF4-FFF2-40B4-BE49-F238E27FC236}">
                <a16:creationId xmlns:a16="http://schemas.microsoft.com/office/drawing/2014/main" id="{69D85BAC-D4AC-2A21-E55A-93AB93F3171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7429564" y="3794267"/>
            <a:ext cx="761707" cy="761707"/>
          </a:xfrm>
          <a:prstGeom prst="rect">
            <a:avLst/>
          </a:prstGeom>
        </p:spPr>
      </p:pic>
      <p:pic>
        <p:nvPicPr>
          <p:cNvPr id="10" name="Graphic 9" descr="Inpatient with solid fill">
            <a:extLst>
              <a:ext uri="{FF2B5EF4-FFF2-40B4-BE49-F238E27FC236}">
                <a16:creationId xmlns:a16="http://schemas.microsoft.com/office/drawing/2014/main" id="{DBCE5F78-19E1-E748-6782-CFF3A22FF11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7504417" y="3185316"/>
            <a:ext cx="612000" cy="612000"/>
          </a:xfrm>
          <a:prstGeom prst="rect">
            <a:avLst/>
          </a:prstGeom>
        </p:spPr>
      </p:pic>
    </p:spTree>
    <p:extLst>
      <p:ext uri="{BB962C8B-B14F-4D97-AF65-F5344CB8AC3E}">
        <p14:creationId xmlns:p14="http://schemas.microsoft.com/office/powerpoint/2010/main" val="13675168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B13C16-5F35-1D0A-73F2-2A77E9724F2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7C8938E-9951-94A7-49E4-946503A52897}"/>
              </a:ext>
            </a:extLst>
          </p:cNvPr>
          <p:cNvSpPr>
            <a:spLocks noGrp="1"/>
          </p:cNvSpPr>
          <p:nvPr>
            <p:ph type="body" sz="quarter" idx="11"/>
          </p:nvPr>
        </p:nvSpPr>
        <p:spPr/>
        <p:txBody>
          <a:bodyPr/>
          <a:lstStyle/>
          <a:p>
            <a:pPr marL="0" indent="0">
              <a:buNone/>
            </a:pPr>
            <a:r>
              <a:rPr lang="en-GB" dirty="0"/>
              <a:t>Baseline hazard may change over time, even without predictors</a:t>
            </a:r>
          </a:p>
        </p:txBody>
      </p:sp>
      <p:sp>
        <p:nvSpPr>
          <p:cNvPr id="3" name="Title 2">
            <a:extLst>
              <a:ext uri="{FF2B5EF4-FFF2-40B4-BE49-F238E27FC236}">
                <a16:creationId xmlns:a16="http://schemas.microsoft.com/office/drawing/2014/main" id="{760C3E4E-0C51-79D2-1AA2-3492944C6433}"/>
              </a:ext>
            </a:extLst>
          </p:cNvPr>
          <p:cNvSpPr>
            <a:spLocks noGrp="1"/>
          </p:cNvSpPr>
          <p:nvPr>
            <p:ph type="title"/>
          </p:nvPr>
        </p:nvSpPr>
        <p:spPr/>
        <p:txBody>
          <a:bodyPr/>
          <a:lstStyle/>
          <a:p>
            <a:r>
              <a:rPr lang="en-GB" dirty="0"/>
              <a:t>Baseline hazard</a:t>
            </a:r>
          </a:p>
        </p:txBody>
      </p:sp>
      <p:sp>
        <p:nvSpPr>
          <p:cNvPr id="4" name="Slide Number Placeholder 3">
            <a:extLst>
              <a:ext uri="{FF2B5EF4-FFF2-40B4-BE49-F238E27FC236}">
                <a16:creationId xmlns:a16="http://schemas.microsoft.com/office/drawing/2014/main" id="{2B4200FF-20BC-143D-8410-3113140C6651}"/>
              </a:ext>
            </a:extLst>
          </p:cNvPr>
          <p:cNvSpPr>
            <a:spLocks noGrp="1"/>
          </p:cNvSpPr>
          <p:nvPr>
            <p:ph type="sldNum" sz="quarter" idx="10"/>
          </p:nvPr>
        </p:nvSpPr>
        <p:spPr/>
        <p:txBody>
          <a:bodyPr/>
          <a:lstStyle/>
          <a:p>
            <a:pPr>
              <a:defRPr/>
            </a:pPr>
            <a:fld id="{CD3FC0C4-D681-4CE5-B41E-BCE48B80373A}" type="slidenum">
              <a:rPr lang="en-GB" smtClean="0"/>
              <a:pPr>
                <a:defRPr/>
              </a:pPr>
              <a:t>79</a:t>
            </a:fld>
            <a:endParaRPr lang="en-GB"/>
          </a:p>
        </p:txBody>
      </p:sp>
      <p:pic>
        <p:nvPicPr>
          <p:cNvPr id="6" name="Picture 5">
            <a:extLst>
              <a:ext uri="{FF2B5EF4-FFF2-40B4-BE49-F238E27FC236}">
                <a16:creationId xmlns:a16="http://schemas.microsoft.com/office/drawing/2014/main" id="{F3B7C2BF-9410-7A4D-6085-174B2B121A3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5647" y="2574918"/>
            <a:ext cx="6400813" cy="3200407"/>
          </a:xfrm>
          <a:prstGeom prst="rect">
            <a:avLst/>
          </a:prstGeom>
        </p:spPr>
      </p:pic>
      <p:pic>
        <p:nvPicPr>
          <p:cNvPr id="7" name="Graphic 6" descr="Man with cane with solid fill">
            <a:extLst>
              <a:ext uri="{FF2B5EF4-FFF2-40B4-BE49-F238E27FC236}">
                <a16:creationId xmlns:a16="http://schemas.microsoft.com/office/drawing/2014/main" id="{6E90C99B-124C-E2A9-5D5C-CB4838AA16F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7471271" y="3815120"/>
            <a:ext cx="720000" cy="720000"/>
          </a:xfrm>
          <a:prstGeom prst="rect">
            <a:avLst/>
          </a:prstGeom>
        </p:spPr>
      </p:pic>
      <p:pic>
        <p:nvPicPr>
          <p:cNvPr id="11" name="Graphic 10" descr="Baby with solid fill">
            <a:extLst>
              <a:ext uri="{FF2B5EF4-FFF2-40B4-BE49-F238E27FC236}">
                <a16:creationId xmlns:a16="http://schemas.microsoft.com/office/drawing/2014/main" id="{67C27A6B-1157-A275-CBD0-BC6BE94E377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7471271" y="3150645"/>
            <a:ext cx="720000" cy="720000"/>
          </a:xfrm>
          <a:prstGeom prst="rect">
            <a:avLst/>
          </a:prstGeom>
        </p:spPr>
      </p:pic>
    </p:spTree>
    <p:extLst>
      <p:ext uri="{BB962C8B-B14F-4D97-AF65-F5344CB8AC3E}">
        <p14:creationId xmlns:p14="http://schemas.microsoft.com/office/powerpoint/2010/main" val="37443228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CBB9D35-A5B6-6261-E0BA-4DEA64E2BAAB}"/>
              </a:ext>
            </a:extLst>
          </p:cNvPr>
          <p:cNvSpPr>
            <a:spLocks noGrp="1"/>
          </p:cNvSpPr>
          <p:nvPr>
            <p:ph type="body" sz="quarter" idx="11"/>
          </p:nvPr>
        </p:nvSpPr>
        <p:spPr/>
        <p:txBody>
          <a:bodyPr/>
          <a:lstStyle/>
          <a:p>
            <a:pPr marL="0" indent="0">
              <a:buNone/>
            </a:pPr>
            <a:r>
              <a:rPr lang="en-GB" dirty="0"/>
              <a:t>Continuous predictor: </a:t>
            </a:r>
            <a:r>
              <a:rPr lang="en-GB" b="1" dirty="0">
                <a:solidFill>
                  <a:schemeClr val="accent2"/>
                </a:solidFill>
              </a:rPr>
              <a:t>weight/size </a:t>
            </a:r>
            <a:r>
              <a:rPr lang="en-GB" dirty="0"/>
              <a:t>of the egg</a:t>
            </a:r>
          </a:p>
        </p:txBody>
      </p:sp>
      <p:sp>
        <p:nvSpPr>
          <p:cNvPr id="3" name="Title 2">
            <a:extLst>
              <a:ext uri="{FF2B5EF4-FFF2-40B4-BE49-F238E27FC236}">
                <a16:creationId xmlns:a16="http://schemas.microsoft.com/office/drawing/2014/main" id="{4F213A1F-11C9-8835-D704-320A89CC5973}"/>
              </a:ext>
            </a:extLst>
          </p:cNvPr>
          <p:cNvSpPr>
            <a:spLocks noGrp="1"/>
          </p:cNvSpPr>
          <p:nvPr>
            <p:ph type="title"/>
          </p:nvPr>
        </p:nvSpPr>
        <p:spPr/>
        <p:txBody>
          <a:bodyPr/>
          <a:lstStyle/>
          <a:p>
            <a:r>
              <a:rPr lang="en-GB" dirty="0"/>
              <a:t>Adding a predictor</a:t>
            </a:r>
          </a:p>
        </p:txBody>
      </p:sp>
      <p:sp>
        <p:nvSpPr>
          <p:cNvPr id="4" name="Slide Number Placeholder 3">
            <a:extLst>
              <a:ext uri="{FF2B5EF4-FFF2-40B4-BE49-F238E27FC236}">
                <a16:creationId xmlns:a16="http://schemas.microsoft.com/office/drawing/2014/main" id="{6786A269-F2B0-7333-B537-CB92C8FF79F8}"/>
              </a:ext>
            </a:extLst>
          </p:cNvPr>
          <p:cNvSpPr>
            <a:spLocks noGrp="1"/>
          </p:cNvSpPr>
          <p:nvPr>
            <p:ph type="sldNum" sz="quarter" idx="10"/>
          </p:nvPr>
        </p:nvSpPr>
        <p:spPr/>
        <p:txBody>
          <a:bodyPr/>
          <a:lstStyle/>
          <a:p>
            <a:pPr>
              <a:defRPr/>
            </a:pPr>
            <a:fld id="{CD3FC0C4-D681-4CE5-B41E-BCE48B80373A}" type="slidenum">
              <a:rPr lang="en-GB" smtClean="0"/>
              <a:pPr>
                <a:defRPr/>
              </a:pPr>
              <a:t>80</a:t>
            </a:fld>
            <a:endParaRPr lang="en-GB"/>
          </a:p>
        </p:txBody>
      </p:sp>
      <p:grpSp>
        <p:nvGrpSpPr>
          <p:cNvPr id="5" name="Group 4">
            <a:extLst>
              <a:ext uri="{FF2B5EF4-FFF2-40B4-BE49-F238E27FC236}">
                <a16:creationId xmlns:a16="http://schemas.microsoft.com/office/drawing/2014/main" id="{0D4F3B55-8DB2-2AC4-DDFA-6FB9886247D2}"/>
              </a:ext>
            </a:extLst>
          </p:cNvPr>
          <p:cNvGrpSpPr/>
          <p:nvPr/>
        </p:nvGrpSpPr>
        <p:grpSpPr>
          <a:xfrm>
            <a:off x="1929321" y="2515271"/>
            <a:ext cx="5253243" cy="3047322"/>
            <a:chOff x="1593752" y="2687288"/>
            <a:chExt cx="5253243" cy="3047322"/>
          </a:xfrm>
        </p:grpSpPr>
        <p:sp>
          <p:nvSpPr>
            <p:cNvPr id="6" name="Arrow: Right 5">
              <a:extLst>
                <a:ext uri="{FF2B5EF4-FFF2-40B4-BE49-F238E27FC236}">
                  <a16:creationId xmlns:a16="http://schemas.microsoft.com/office/drawing/2014/main" id="{177628B7-0609-2C1F-E30B-96E0527705C7}"/>
                </a:ext>
              </a:extLst>
            </p:cNvPr>
            <p:cNvSpPr/>
            <p:nvPr/>
          </p:nvSpPr>
          <p:spPr>
            <a:xfrm>
              <a:off x="2414159" y="3361730"/>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descr="Dinosaur Egg with solid fill">
              <a:extLst>
                <a:ext uri="{FF2B5EF4-FFF2-40B4-BE49-F238E27FC236}">
                  <a16:creationId xmlns:a16="http://schemas.microsoft.com/office/drawing/2014/main" id="{8E9EFE11-8486-0234-7511-0E617149CDA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199741" y="3098552"/>
              <a:ext cx="761707" cy="761707"/>
            </a:xfrm>
            <a:prstGeom prst="rect">
              <a:avLst/>
            </a:prstGeom>
          </p:spPr>
        </p:pic>
        <p:sp>
          <p:nvSpPr>
            <p:cNvPr id="8" name="Arrow: Right 7">
              <a:extLst>
                <a:ext uri="{FF2B5EF4-FFF2-40B4-BE49-F238E27FC236}">
                  <a16:creationId xmlns:a16="http://schemas.microsoft.com/office/drawing/2014/main" id="{A697F84C-8101-8021-6989-54D7589864ED}"/>
                </a:ext>
              </a:extLst>
            </p:cNvPr>
            <p:cNvSpPr/>
            <p:nvPr/>
          </p:nvSpPr>
          <p:spPr>
            <a:xfrm>
              <a:off x="2414159" y="3950373"/>
              <a:ext cx="1769518"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Arrow: Right 8">
              <a:extLst>
                <a:ext uri="{FF2B5EF4-FFF2-40B4-BE49-F238E27FC236}">
                  <a16:creationId xmlns:a16="http://schemas.microsoft.com/office/drawing/2014/main" id="{A2CBE52D-1043-99E8-EF89-6B0A7B638EDC}"/>
                </a:ext>
              </a:extLst>
            </p:cNvPr>
            <p:cNvSpPr/>
            <p:nvPr/>
          </p:nvSpPr>
          <p:spPr>
            <a:xfrm>
              <a:off x="2414159" y="4579106"/>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Graphic 9" descr="Dinosaur Egg with solid fill">
              <a:extLst>
                <a:ext uri="{FF2B5EF4-FFF2-40B4-BE49-F238E27FC236}">
                  <a16:creationId xmlns:a16="http://schemas.microsoft.com/office/drawing/2014/main" id="{98D8D9DC-6792-2AC4-9508-9397F0B3CD8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345761" y="3775414"/>
              <a:ext cx="761707" cy="761707"/>
            </a:xfrm>
            <a:prstGeom prst="rect">
              <a:avLst/>
            </a:prstGeom>
          </p:spPr>
        </p:pic>
        <p:pic>
          <p:nvPicPr>
            <p:cNvPr id="11" name="Graphic 10" descr="Dinosaur Egg with solid fill">
              <a:extLst>
                <a:ext uri="{FF2B5EF4-FFF2-40B4-BE49-F238E27FC236}">
                  <a16:creationId xmlns:a16="http://schemas.microsoft.com/office/drawing/2014/main" id="{5AF68CD1-4C48-0E77-E982-422241A66923}"/>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085288" y="4303456"/>
              <a:ext cx="761707" cy="761707"/>
            </a:xfrm>
            <a:prstGeom prst="rect">
              <a:avLst/>
            </a:prstGeom>
          </p:spPr>
        </p:pic>
        <p:sp>
          <p:nvSpPr>
            <p:cNvPr id="12" name="TextBox 11">
              <a:extLst>
                <a:ext uri="{FF2B5EF4-FFF2-40B4-BE49-F238E27FC236}">
                  <a16:creationId xmlns:a16="http://schemas.microsoft.com/office/drawing/2014/main" id="{2A74E241-19C0-A990-D447-5C02F80C7FF6}"/>
                </a:ext>
              </a:extLst>
            </p:cNvPr>
            <p:cNvSpPr txBox="1"/>
            <p:nvPr/>
          </p:nvSpPr>
          <p:spPr>
            <a:xfrm>
              <a:off x="2051720" y="2687288"/>
              <a:ext cx="724878" cy="400110"/>
            </a:xfrm>
            <a:prstGeom prst="rect">
              <a:avLst/>
            </a:prstGeom>
            <a:noFill/>
          </p:spPr>
          <p:txBody>
            <a:bodyPr wrap="none" rtlCol="0">
              <a:spAutoFit/>
            </a:bodyPr>
            <a:lstStyle/>
            <a:p>
              <a:r>
                <a:rPr lang="en-GB" sz="2000" dirty="0"/>
                <a:t>Start</a:t>
              </a:r>
            </a:p>
          </p:txBody>
        </p:sp>
        <p:sp>
          <p:nvSpPr>
            <p:cNvPr id="13" name="Arrow: Right 12">
              <a:extLst>
                <a:ext uri="{FF2B5EF4-FFF2-40B4-BE49-F238E27FC236}">
                  <a16:creationId xmlns:a16="http://schemas.microsoft.com/office/drawing/2014/main" id="{08A1E0E2-A017-84AD-77F6-95D141C07D96}"/>
                </a:ext>
              </a:extLst>
            </p:cNvPr>
            <p:cNvSpPr/>
            <p:nvPr/>
          </p:nvSpPr>
          <p:spPr>
            <a:xfrm>
              <a:off x="2407913" y="5200601"/>
              <a:ext cx="2609290" cy="353083"/>
            </a:xfrm>
            <a:prstGeom prst="rightArrow">
              <a:avLst/>
            </a:prstGeom>
            <a:solidFill>
              <a:srgbClr val="00B1C1"/>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14" name="Graphic 13" descr="Question Mark with solid fill">
              <a:extLst>
                <a:ext uri="{FF2B5EF4-FFF2-40B4-BE49-F238E27FC236}">
                  <a16:creationId xmlns:a16="http://schemas.microsoft.com/office/drawing/2014/main" id="{772E639F-34F9-F6C9-2D19-4CBE004918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7203" y="4972903"/>
              <a:ext cx="761707" cy="761707"/>
            </a:xfrm>
            <a:prstGeom prst="rect">
              <a:avLst/>
            </a:prstGeom>
          </p:spPr>
        </p:pic>
        <p:cxnSp>
          <p:nvCxnSpPr>
            <p:cNvPr id="15" name="Straight Connector 14">
              <a:extLst>
                <a:ext uri="{FF2B5EF4-FFF2-40B4-BE49-F238E27FC236}">
                  <a16:creationId xmlns:a16="http://schemas.microsoft.com/office/drawing/2014/main" id="{02353329-983C-8154-B2AB-D9D5D878B224}"/>
                </a:ext>
              </a:extLst>
            </p:cNvPr>
            <p:cNvCxnSpPr>
              <a:cxnSpLocks/>
            </p:cNvCxnSpPr>
            <p:nvPr/>
          </p:nvCxnSpPr>
          <p:spPr>
            <a:xfrm>
              <a:off x="2414159" y="3183437"/>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16" name="Graphic 15" descr="Dinosaur Egg with solid fill">
              <a:extLst>
                <a:ext uri="{FF2B5EF4-FFF2-40B4-BE49-F238E27FC236}">
                  <a16:creationId xmlns:a16="http://schemas.microsoft.com/office/drawing/2014/main" id="{9E2B806A-3652-0127-21AF-F2C7454C4D8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55249" y="3239878"/>
              <a:ext cx="540000" cy="540000"/>
            </a:xfrm>
            <a:prstGeom prst="rect">
              <a:avLst/>
            </a:prstGeom>
          </p:spPr>
        </p:pic>
        <p:pic>
          <p:nvPicPr>
            <p:cNvPr id="17" name="Graphic 16" descr="Dinosaur Egg with solid fill">
              <a:extLst>
                <a:ext uri="{FF2B5EF4-FFF2-40B4-BE49-F238E27FC236}">
                  <a16:creationId xmlns:a16="http://schemas.microsoft.com/office/drawing/2014/main" id="{FCC5AED7-55FB-DC98-F50A-8B411B2BA1E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91249" y="4512776"/>
              <a:ext cx="468000" cy="468000"/>
            </a:xfrm>
            <a:prstGeom prst="rect">
              <a:avLst/>
            </a:prstGeom>
          </p:spPr>
        </p:pic>
        <p:pic>
          <p:nvPicPr>
            <p:cNvPr id="18" name="Graphic 17" descr="Dinosaur Egg with solid fill">
              <a:extLst>
                <a:ext uri="{FF2B5EF4-FFF2-40B4-BE49-F238E27FC236}">
                  <a16:creationId xmlns:a16="http://schemas.microsoft.com/office/drawing/2014/main" id="{D488B381-6624-63F9-EEB3-B2708D50344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593752" y="3797280"/>
              <a:ext cx="684000" cy="684000"/>
            </a:xfrm>
            <a:prstGeom prst="rect">
              <a:avLst/>
            </a:prstGeom>
          </p:spPr>
        </p:pic>
        <p:pic>
          <p:nvPicPr>
            <p:cNvPr id="19" name="Graphic 18" descr="Dinosaur Egg with solid fill">
              <a:extLst>
                <a:ext uri="{FF2B5EF4-FFF2-40B4-BE49-F238E27FC236}">
                  <a16:creationId xmlns:a16="http://schemas.microsoft.com/office/drawing/2014/main" id="{E6132DDB-CABD-1411-8B2C-CECEF2FE8729}"/>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660013" y="5145400"/>
              <a:ext cx="540000" cy="540000"/>
            </a:xfrm>
            <a:prstGeom prst="rect">
              <a:avLst/>
            </a:prstGeom>
          </p:spPr>
        </p:pic>
      </p:grpSp>
      <p:cxnSp>
        <p:nvCxnSpPr>
          <p:cNvPr id="21" name="Straight Arrow Connector 20">
            <a:extLst>
              <a:ext uri="{FF2B5EF4-FFF2-40B4-BE49-F238E27FC236}">
                <a16:creationId xmlns:a16="http://schemas.microsoft.com/office/drawing/2014/main" id="{0076F922-1291-1A6A-2EBA-07DBB417F16B}"/>
              </a:ext>
            </a:extLst>
          </p:cNvPr>
          <p:cNvCxnSpPr/>
          <p:nvPr/>
        </p:nvCxnSpPr>
        <p:spPr>
          <a:xfrm>
            <a:off x="1691680" y="3270172"/>
            <a:ext cx="0" cy="2111495"/>
          </a:xfrm>
          <a:prstGeom prst="straightConnector1">
            <a:avLst/>
          </a:prstGeom>
          <a:ln w="57150">
            <a:solidFill>
              <a:schemeClr val="accent2"/>
            </a:solidFill>
            <a:headEnd type="triangle"/>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06000940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E74D8-1270-607D-9985-7277933352E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5A6761C-660A-D113-F7B3-3193C4CCB0B4}"/>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234CA81A-F904-3781-3D55-A96CFE64EDE7}"/>
              </a:ext>
            </a:extLst>
          </p:cNvPr>
          <p:cNvSpPr>
            <a:spLocks noGrp="1"/>
          </p:cNvSpPr>
          <p:nvPr>
            <p:ph type="sldNum" sz="quarter" idx="10"/>
          </p:nvPr>
        </p:nvSpPr>
        <p:spPr/>
        <p:txBody>
          <a:bodyPr/>
          <a:lstStyle/>
          <a:p>
            <a:pPr>
              <a:defRPr/>
            </a:pPr>
            <a:fld id="{CD3FC0C4-D681-4CE5-B41E-BCE48B80373A}" type="slidenum">
              <a:rPr lang="en-GB" smtClean="0"/>
              <a:pPr>
                <a:defRPr/>
              </a:pPr>
              <a:t>81</a:t>
            </a:fld>
            <a:endParaRPr lang="en-GB"/>
          </a:p>
        </p:txBody>
      </p:sp>
      <p:sp>
        <p:nvSpPr>
          <p:cNvPr id="5" name="Text Placeholder 1">
            <a:extLst>
              <a:ext uri="{FF2B5EF4-FFF2-40B4-BE49-F238E27FC236}">
                <a16:creationId xmlns:a16="http://schemas.microsoft.com/office/drawing/2014/main" id="{032EB7F9-69AD-0B15-C554-744054FBF804}"/>
              </a:ext>
            </a:extLst>
          </p:cNvPr>
          <p:cNvSpPr txBox="1">
            <a:spLocks/>
          </p:cNvSpPr>
          <p:nvPr/>
        </p:nvSpPr>
        <p:spPr bwMode="auto">
          <a:xfrm>
            <a:off x="515648" y="1772919"/>
            <a:ext cx="8112703" cy="63843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GB" kern="0" dirty="0"/>
              <a:t>What’s the “risk” of a </a:t>
            </a:r>
            <a:r>
              <a:rPr lang="en-GB" kern="0" dirty="0">
                <a:solidFill>
                  <a:schemeClr val="accent5"/>
                </a:solidFill>
              </a:rPr>
              <a:t>random egg </a:t>
            </a:r>
            <a:r>
              <a:rPr lang="en-GB" kern="0" dirty="0"/>
              <a:t>hatching </a:t>
            </a:r>
            <a:r>
              <a:rPr lang="en-GB" b="1" kern="0" dirty="0">
                <a:solidFill>
                  <a:schemeClr val="accent2"/>
                </a:solidFill>
              </a:rPr>
              <a:t>right now</a:t>
            </a:r>
            <a:r>
              <a:rPr lang="en-GB" kern="0" dirty="0"/>
              <a:t>?</a:t>
            </a:r>
          </a:p>
        </p:txBody>
      </p:sp>
      <p:pic>
        <p:nvPicPr>
          <p:cNvPr id="45" name="Picture 44">
            <a:extLst>
              <a:ext uri="{FF2B5EF4-FFF2-40B4-BE49-F238E27FC236}">
                <a16:creationId xmlns:a16="http://schemas.microsoft.com/office/drawing/2014/main" id="{CCA3C66A-BA40-D6DF-68A9-4DC37C7B2E0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4349" y="2536597"/>
            <a:ext cx="4572009" cy="3200407"/>
          </a:xfrm>
          <a:prstGeom prst="rect">
            <a:avLst/>
          </a:prstGeom>
        </p:spPr>
      </p:pic>
      <p:grpSp>
        <p:nvGrpSpPr>
          <p:cNvPr id="46" name="Group 45">
            <a:extLst>
              <a:ext uri="{FF2B5EF4-FFF2-40B4-BE49-F238E27FC236}">
                <a16:creationId xmlns:a16="http://schemas.microsoft.com/office/drawing/2014/main" id="{8903A8D1-1B93-384E-2C3C-2F2B578B7F58}"/>
              </a:ext>
            </a:extLst>
          </p:cNvPr>
          <p:cNvGrpSpPr/>
          <p:nvPr/>
        </p:nvGrpSpPr>
        <p:grpSpPr>
          <a:xfrm>
            <a:off x="5436096" y="2912322"/>
            <a:ext cx="3092642" cy="1793992"/>
            <a:chOff x="1593752" y="2687288"/>
            <a:chExt cx="5253243" cy="3047322"/>
          </a:xfrm>
        </p:grpSpPr>
        <p:sp>
          <p:nvSpPr>
            <p:cNvPr id="47" name="Arrow: Right 46">
              <a:extLst>
                <a:ext uri="{FF2B5EF4-FFF2-40B4-BE49-F238E27FC236}">
                  <a16:creationId xmlns:a16="http://schemas.microsoft.com/office/drawing/2014/main" id="{7F976910-61B0-18F7-0AA6-E6A31A27B006}"/>
                </a:ext>
              </a:extLst>
            </p:cNvPr>
            <p:cNvSpPr/>
            <p:nvPr/>
          </p:nvSpPr>
          <p:spPr>
            <a:xfrm>
              <a:off x="2414159" y="3361730"/>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8" name="Graphic 47" descr="Dinosaur Egg with solid fill">
              <a:extLst>
                <a:ext uri="{FF2B5EF4-FFF2-40B4-BE49-F238E27FC236}">
                  <a16:creationId xmlns:a16="http://schemas.microsoft.com/office/drawing/2014/main" id="{C936D6D2-0E82-A20F-6606-CC3DB7D865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199741" y="3098552"/>
              <a:ext cx="761707" cy="761707"/>
            </a:xfrm>
            <a:prstGeom prst="rect">
              <a:avLst/>
            </a:prstGeom>
          </p:spPr>
        </p:pic>
        <p:sp>
          <p:nvSpPr>
            <p:cNvPr id="49" name="Arrow: Right 48">
              <a:extLst>
                <a:ext uri="{FF2B5EF4-FFF2-40B4-BE49-F238E27FC236}">
                  <a16:creationId xmlns:a16="http://schemas.microsoft.com/office/drawing/2014/main" id="{C4AB5913-6D8C-E882-722A-9859CF25F54E}"/>
                </a:ext>
              </a:extLst>
            </p:cNvPr>
            <p:cNvSpPr/>
            <p:nvPr/>
          </p:nvSpPr>
          <p:spPr>
            <a:xfrm>
              <a:off x="2414159" y="3950373"/>
              <a:ext cx="1769518"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Arrow: Right 49">
              <a:extLst>
                <a:ext uri="{FF2B5EF4-FFF2-40B4-BE49-F238E27FC236}">
                  <a16:creationId xmlns:a16="http://schemas.microsoft.com/office/drawing/2014/main" id="{20FD0DDA-E056-165C-EB4B-BC24B5D1A9C1}"/>
                </a:ext>
              </a:extLst>
            </p:cNvPr>
            <p:cNvSpPr/>
            <p:nvPr/>
          </p:nvSpPr>
          <p:spPr>
            <a:xfrm>
              <a:off x="2414159" y="4579106"/>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1" name="Graphic 50" descr="Dinosaur Egg with solid fill">
              <a:extLst>
                <a:ext uri="{FF2B5EF4-FFF2-40B4-BE49-F238E27FC236}">
                  <a16:creationId xmlns:a16="http://schemas.microsoft.com/office/drawing/2014/main" id="{3F8FB72C-BE9C-845D-6212-08BE583713F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345761" y="3775414"/>
              <a:ext cx="761707" cy="761707"/>
            </a:xfrm>
            <a:prstGeom prst="rect">
              <a:avLst/>
            </a:prstGeom>
          </p:spPr>
        </p:pic>
        <p:pic>
          <p:nvPicPr>
            <p:cNvPr id="52" name="Graphic 51" descr="Dinosaur Egg with solid fill">
              <a:extLst>
                <a:ext uri="{FF2B5EF4-FFF2-40B4-BE49-F238E27FC236}">
                  <a16:creationId xmlns:a16="http://schemas.microsoft.com/office/drawing/2014/main" id="{80091D6D-FC91-DF75-FD0F-6D0779C7618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6085288" y="4303456"/>
              <a:ext cx="761707" cy="761707"/>
            </a:xfrm>
            <a:prstGeom prst="rect">
              <a:avLst/>
            </a:prstGeom>
          </p:spPr>
        </p:pic>
        <p:sp>
          <p:nvSpPr>
            <p:cNvPr id="53" name="TextBox 52">
              <a:extLst>
                <a:ext uri="{FF2B5EF4-FFF2-40B4-BE49-F238E27FC236}">
                  <a16:creationId xmlns:a16="http://schemas.microsoft.com/office/drawing/2014/main" id="{C9274838-25B9-8B47-0B56-E941618FC1B5}"/>
                </a:ext>
              </a:extLst>
            </p:cNvPr>
            <p:cNvSpPr txBox="1"/>
            <p:nvPr/>
          </p:nvSpPr>
          <p:spPr>
            <a:xfrm>
              <a:off x="2051720" y="2687288"/>
              <a:ext cx="866429" cy="470518"/>
            </a:xfrm>
            <a:prstGeom prst="rect">
              <a:avLst/>
            </a:prstGeom>
            <a:noFill/>
          </p:spPr>
          <p:txBody>
            <a:bodyPr wrap="none" rtlCol="0">
              <a:spAutoFit/>
            </a:bodyPr>
            <a:lstStyle/>
            <a:p>
              <a:r>
                <a:rPr lang="en-GB" sz="1200" dirty="0"/>
                <a:t>Start</a:t>
              </a:r>
            </a:p>
          </p:txBody>
        </p:sp>
        <p:sp>
          <p:nvSpPr>
            <p:cNvPr id="54" name="Arrow: Right 53">
              <a:extLst>
                <a:ext uri="{FF2B5EF4-FFF2-40B4-BE49-F238E27FC236}">
                  <a16:creationId xmlns:a16="http://schemas.microsoft.com/office/drawing/2014/main" id="{01772D49-B465-7ED6-E4B1-9726317A8F36}"/>
                </a:ext>
              </a:extLst>
            </p:cNvPr>
            <p:cNvSpPr/>
            <p:nvPr/>
          </p:nvSpPr>
          <p:spPr>
            <a:xfrm>
              <a:off x="2407913" y="5200601"/>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55" name="Graphic 54" descr="Dinosaur Egg with solid fill">
              <a:extLst>
                <a:ext uri="{FF2B5EF4-FFF2-40B4-BE49-F238E27FC236}">
                  <a16:creationId xmlns:a16="http://schemas.microsoft.com/office/drawing/2014/main" id="{E3C985C7-EB6B-E55B-750C-0BB35868AE6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7202" y="4972903"/>
              <a:ext cx="761706" cy="761707"/>
            </a:xfrm>
            <a:prstGeom prst="rect">
              <a:avLst/>
            </a:prstGeom>
          </p:spPr>
        </p:pic>
        <p:cxnSp>
          <p:nvCxnSpPr>
            <p:cNvPr id="56" name="Straight Connector 55">
              <a:extLst>
                <a:ext uri="{FF2B5EF4-FFF2-40B4-BE49-F238E27FC236}">
                  <a16:creationId xmlns:a16="http://schemas.microsoft.com/office/drawing/2014/main" id="{D93DF15D-A5F0-F7CF-4EA7-FACBDEF3F541}"/>
                </a:ext>
              </a:extLst>
            </p:cNvPr>
            <p:cNvCxnSpPr>
              <a:cxnSpLocks/>
            </p:cNvCxnSpPr>
            <p:nvPr/>
          </p:nvCxnSpPr>
          <p:spPr>
            <a:xfrm>
              <a:off x="2414159" y="3183437"/>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57" name="Graphic 56" descr="Dinosaur Egg with solid fill">
              <a:extLst>
                <a:ext uri="{FF2B5EF4-FFF2-40B4-BE49-F238E27FC236}">
                  <a16:creationId xmlns:a16="http://schemas.microsoft.com/office/drawing/2014/main" id="{1ADC3D0A-E468-5D2B-8437-268F7D4BA1A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55249" y="3239878"/>
              <a:ext cx="540000" cy="540000"/>
            </a:xfrm>
            <a:prstGeom prst="rect">
              <a:avLst/>
            </a:prstGeom>
          </p:spPr>
        </p:pic>
        <p:pic>
          <p:nvPicPr>
            <p:cNvPr id="58" name="Graphic 57" descr="Dinosaur Egg with solid fill">
              <a:extLst>
                <a:ext uri="{FF2B5EF4-FFF2-40B4-BE49-F238E27FC236}">
                  <a16:creationId xmlns:a16="http://schemas.microsoft.com/office/drawing/2014/main" id="{AFAB1BDA-5F5A-932F-5118-C51BD9670A14}"/>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91250" y="4549349"/>
              <a:ext cx="468000" cy="468000"/>
            </a:xfrm>
            <a:prstGeom prst="rect">
              <a:avLst/>
            </a:prstGeom>
          </p:spPr>
        </p:pic>
        <p:pic>
          <p:nvPicPr>
            <p:cNvPr id="59" name="Graphic 58" descr="Dinosaur Egg with solid fill">
              <a:extLst>
                <a:ext uri="{FF2B5EF4-FFF2-40B4-BE49-F238E27FC236}">
                  <a16:creationId xmlns:a16="http://schemas.microsoft.com/office/drawing/2014/main" id="{08039EF1-C794-163E-D362-189DF39BBCA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593752" y="3797280"/>
              <a:ext cx="684000" cy="684000"/>
            </a:xfrm>
            <a:prstGeom prst="rect">
              <a:avLst/>
            </a:prstGeom>
          </p:spPr>
        </p:pic>
        <p:pic>
          <p:nvPicPr>
            <p:cNvPr id="60" name="Graphic 59" descr="Dinosaur Egg with solid fill">
              <a:extLst>
                <a:ext uri="{FF2B5EF4-FFF2-40B4-BE49-F238E27FC236}">
                  <a16:creationId xmlns:a16="http://schemas.microsoft.com/office/drawing/2014/main" id="{82CF8645-E6A2-6EA4-4323-7ECA6C1FFB7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60014" y="5085419"/>
              <a:ext cx="540000" cy="540000"/>
            </a:xfrm>
            <a:prstGeom prst="rect">
              <a:avLst/>
            </a:prstGeom>
          </p:spPr>
        </p:pic>
      </p:grpSp>
    </p:spTree>
    <p:extLst>
      <p:ext uri="{BB962C8B-B14F-4D97-AF65-F5344CB8AC3E}">
        <p14:creationId xmlns:p14="http://schemas.microsoft.com/office/powerpoint/2010/main" val="37715408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77714-C3F5-51DE-5B13-C8886EE72B7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3185D87-09EB-525D-B5C5-E9D6A226542B}"/>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1666A77A-5416-2B0D-371B-72255AF3D33F}"/>
              </a:ext>
            </a:extLst>
          </p:cNvPr>
          <p:cNvSpPr>
            <a:spLocks noGrp="1"/>
          </p:cNvSpPr>
          <p:nvPr>
            <p:ph type="sldNum" sz="quarter" idx="10"/>
          </p:nvPr>
        </p:nvSpPr>
        <p:spPr/>
        <p:txBody>
          <a:bodyPr/>
          <a:lstStyle/>
          <a:p>
            <a:pPr>
              <a:defRPr/>
            </a:pPr>
            <a:fld id="{CD3FC0C4-D681-4CE5-B41E-BCE48B80373A}" type="slidenum">
              <a:rPr lang="en-GB" smtClean="0"/>
              <a:pPr>
                <a:defRPr/>
              </a:pPr>
              <a:t>82</a:t>
            </a:fld>
            <a:endParaRPr lang="en-GB"/>
          </a:p>
        </p:txBody>
      </p:sp>
      <p:sp>
        <p:nvSpPr>
          <p:cNvPr id="5" name="Text Placeholder 1">
            <a:extLst>
              <a:ext uri="{FF2B5EF4-FFF2-40B4-BE49-F238E27FC236}">
                <a16:creationId xmlns:a16="http://schemas.microsoft.com/office/drawing/2014/main" id="{9920A820-E046-2425-7BB5-06A7F599A299}"/>
              </a:ext>
            </a:extLst>
          </p:cNvPr>
          <p:cNvSpPr txBox="1">
            <a:spLocks/>
          </p:cNvSpPr>
          <p:nvPr/>
        </p:nvSpPr>
        <p:spPr bwMode="auto">
          <a:xfrm>
            <a:off x="515648" y="1772919"/>
            <a:ext cx="8112703" cy="63843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GB" kern="0" dirty="0"/>
              <a:t>What’s the “risk” of a </a:t>
            </a:r>
            <a:r>
              <a:rPr lang="en-GB" kern="0" dirty="0">
                <a:solidFill>
                  <a:schemeClr val="accent5"/>
                </a:solidFill>
              </a:rPr>
              <a:t>random egg </a:t>
            </a:r>
            <a:r>
              <a:rPr lang="en-GB" kern="0" dirty="0"/>
              <a:t>hatching </a:t>
            </a:r>
            <a:r>
              <a:rPr lang="en-GB" b="1" kern="0" dirty="0">
                <a:solidFill>
                  <a:schemeClr val="accent2"/>
                </a:solidFill>
              </a:rPr>
              <a:t>right now</a:t>
            </a:r>
            <a:r>
              <a:rPr lang="en-GB" kern="0" dirty="0"/>
              <a:t>?</a:t>
            </a:r>
          </a:p>
        </p:txBody>
      </p:sp>
      <p:pic>
        <p:nvPicPr>
          <p:cNvPr id="37" name="Picture 36">
            <a:extLst>
              <a:ext uri="{FF2B5EF4-FFF2-40B4-BE49-F238E27FC236}">
                <a16:creationId xmlns:a16="http://schemas.microsoft.com/office/drawing/2014/main" id="{E0302987-6867-A87F-59D2-71B718B3C0F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4349" y="2536597"/>
            <a:ext cx="4572009" cy="3200407"/>
          </a:xfrm>
          <a:prstGeom prst="rect">
            <a:avLst/>
          </a:prstGeom>
        </p:spPr>
      </p:pic>
      <p:grpSp>
        <p:nvGrpSpPr>
          <p:cNvPr id="53" name="Group 52">
            <a:extLst>
              <a:ext uri="{FF2B5EF4-FFF2-40B4-BE49-F238E27FC236}">
                <a16:creationId xmlns:a16="http://schemas.microsoft.com/office/drawing/2014/main" id="{42DD3D34-02A9-8147-5CB8-DE031DB36B51}"/>
              </a:ext>
            </a:extLst>
          </p:cNvPr>
          <p:cNvGrpSpPr/>
          <p:nvPr/>
        </p:nvGrpSpPr>
        <p:grpSpPr>
          <a:xfrm>
            <a:off x="5436096" y="2912322"/>
            <a:ext cx="3092642" cy="1793992"/>
            <a:chOff x="1593752" y="2687288"/>
            <a:chExt cx="5253243" cy="3047322"/>
          </a:xfrm>
        </p:grpSpPr>
        <p:sp>
          <p:nvSpPr>
            <p:cNvPr id="54" name="Arrow: Right 53">
              <a:extLst>
                <a:ext uri="{FF2B5EF4-FFF2-40B4-BE49-F238E27FC236}">
                  <a16:creationId xmlns:a16="http://schemas.microsoft.com/office/drawing/2014/main" id="{383D77B6-40AD-2E98-5FE2-A73F97E6D02E}"/>
                </a:ext>
              </a:extLst>
            </p:cNvPr>
            <p:cNvSpPr/>
            <p:nvPr/>
          </p:nvSpPr>
          <p:spPr>
            <a:xfrm>
              <a:off x="2414159" y="3361730"/>
              <a:ext cx="2609290" cy="353083"/>
            </a:xfrm>
            <a:prstGeom prst="rightArrow">
              <a:avLst/>
            </a:prstGeom>
            <a:solidFill>
              <a:srgbClr val="00B1C1"/>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5" name="Graphic 54" descr="Dinosaur Egg with solid fill">
              <a:extLst>
                <a:ext uri="{FF2B5EF4-FFF2-40B4-BE49-F238E27FC236}">
                  <a16:creationId xmlns:a16="http://schemas.microsoft.com/office/drawing/2014/main" id="{FDC76C14-EB73-628F-F8B5-14E3A9BF2C2C}"/>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199741" y="3098552"/>
              <a:ext cx="761707" cy="761707"/>
            </a:xfrm>
            <a:prstGeom prst="rect">
              <a:avLst/>
            </a:prstGeom>
          </p:spPr>
        </p:pic>
        <p:sp>
          <p:nvSpPr>
            <p:cNvPr id="56" name="Arrow: Right 55">
              <a:extLst>
                <a:ext uri="{FF2B5EF4-FFF2-40B4-BE49-F238E27FC236}">
                  <a16:creationId xmlns:a16="http://schemas.microsoft.com/office/drawing/2014/main" id="{2DEC49F1-CEBA-6521-620D-6852DAA255AC}"/>
                </a:ext>
              </a:extLst>
            </p:cNvPr>
            <p:cNvSpPr/>
            <p:nvPr/>
          </p:nvSpPr>
          <p:spPr>
            <a:xfrm>
              <a:off x="2414159" y="3950373"/>
              <a:ext cx="1769518" cy="353083"/>
            </a:xfrm>
            <a:prstGeom prst="rightArrow">
              <a:avLst/>
            </a:prstGeom>
            <a:solidFill>
              <a:srgbClr val="00B1C1"/>
            </a:solidFill>
            <a:ln>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Arrow: Right 56">
              <a:extLst>
                <a:ext uri="{FF2B5EF4-FFF2-40B4-BE49-F238E27FC236}">
                  <a16:creationId xmlns:a16="http://schemas.microsoft.com/office/drawing/2014/main" id="{3D9E885B-E922-0C1F-10AD-38D641EDE255}"/>
                </a:ext>
              </a:extLst>
            </p:cNvPr>
            <p:cNvSpPr/>
            <p:nvPr/>
          </p:nvSpPr>
          <p:spPr>
            <a:xfrm>
              <a:off x="2414159" y="4579106"/>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8" name="Graphic 57" descr="Dinosaur Egg with solid fill">
              <a:extLst>
                <a:ext uri="{FF2B5EF4-FFF2-40B4-BE49-F238E27FC236}">
                  <a16:creationId xmlns:a16="http://schemas.microsoft.com/office/drawing/2014/main" id="{AD63E878-FBC3-CDB9-A096-2A585153CB4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345761" y="3775414"/>
              <a:ext cx="761707" cy="761707"/>
            </a:xfrm>
            <a:prstGeom prst="rect">
              <a:avLst/>
            </a:prstGeom>
          </p:spPr>
        </p:pic>
        <p:pic>
          <p:nvPicPr>
            <p:cNvPr id="59" name="Graphic 58" descr="Dinosaur Egg with solid fill">
              <a:extLst>
                <a:ext uri="{FF2B5EF4-FFF2-40B4-BE49-F238E27FC236}">
                  <a16:creationId xmlns:a16="http://schemas.microsoft.com/office/drawing/2014/main" id="{4E353BA4-7DDA-6388-9471-584D76C61B4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6085288" y="4303456"/>
              <a:ext cx="761707" cy="761707"/>
            </a:xfrm>
            <a:prstGeom prst="rect">
              <a:avLst/>
            </a:prstGeom>
          </p:spPr>
        </p:pic>
        <p:sp>
          <p:nvSpPr>
            <p:cNvPr id="60" name="TextBox 59">
              <a:extLst>
                <a:ext uri="{FF2B5EF4-FFF2-40B4-BE49-F238E27FC236}">
                  <a16:creationId xmlns:a16="http://schemas.microsoft.com/office/drawing/2014/main" id="{C75061BE-5C81-9D22-90D1-8CC0B662D989}"/>
                </a:ext>
              </a:extLst>
            </p:cNvPr>
            <p:cNvSpPr txBox="1"/>
            <p:nvPr/>
          </p:nvSpPr>
          <p:spPr>
            <a:xfrm>
              <a:off x="2051720" y="2687288"/>
              <a:ext cx="866429" cy="470518"/>
            </a:xfrm>
            <a:prstGeom prst="rect">
              <a:avLst/>
            </a:prstGeom>
            <a:noFill/>
          </p:spPr>
          <p:txBody>
            <a:bodyPr wrap="none" rtlCol="0">
              <a:spAutoFit/>
            </a:bodyPr>
            <a:lstStyle/>
            <a:p>
              <a:r>
                <a:rPr lang="en-GB" sz="1200" dirty="0"/>
                <a:t>Start</a:t>
              </a:r>
            </a:p>
          </p:txBody>
        </p:sp>
        <p:sp>
          <p:nvSpPr>
            <p:cNvPr id="61" name="Arrow: Right 60">
              <a:extLst>
                <a:ext uri="{FF2B5EF4-FFF2-40B4-BE49-F238E27FC236}">
                  <a16:creationId xmlns:a16="http://schemas.microsoft.com/office/drawing/2014/main" id="{BC27A6CA-BACF-66DD-DE49-CC0AF42EEDA9}"/>
                </a:ext>
              </a:extLst>
            </p:cNvPr>
            <p:cNvSpPr/>
            <p:nvPr/>
          </p:nvSpPr>
          <p:spPr>
            <a:xfrm>
              <a:off x="2407913" y="5200601"/>
              <a:ext cx="2609290" cy="353083"/>
            </a:xfrm>
            <a:prstGeom prst="rightArrow">
              <a:avLst/>
            </a:prstGeom>
            <a:solidFill>
              <a:srgbClr val="00B1C1"/>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62" name="Graphic 61" descr="Dinosaur Egg with solid fill">
              <a:extLst>
                <a:ext uri="{FF2B5EF4-FFF2-40B4-BE49-F238E27FC236}">
                  <a16:creationId xmlns:a16="http://schemas.microsoft.com/office/drawing/2014/main" id="{241EC7C3-CAC4-F194-31EE-DBDD465B6338}"/>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017202" y="4972903"/>
              <a:ext cx="761706" cy="761707"/>
            </a:xfrm>
            <a:prstGeom prst="rect">
              <a:avLst/>
            </a:prstGeom>
          </p:spPr>
        </p:pic>
        <p:cxnSp>
          <p:nvCxnSpPr>
            <p:cNvPr id="63" name="Straight Connector 62">
              <a:extLst>
                <a:ext uri="{FF2B5EF4-FFF2-40B4-BE49-F238E27FC236}">
                  <a16:creationId xmlns:a16="http://schemas.microsoft.com/office/drawing/2014/main" id="{9957A9D7-63D8-7CDF-4835-8821AD138303}"/>
                </a:ext>
              </a:extLst>
            </p:cNvPr>
            <p:cNvCxnSpPr>
              <a:cxnSpLocks/>
            </p:cNvCxnSpPr>
            <p:nvPr/>
          </p:nvCxnSpPr>
          <p:spPr>
            <a:xfrm>
              <a:off x="2414159" y="3183437"/>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64" name="Graphic 63" descr="Dinosaur Egg with solid fill">
              <a:extLst>
                <a:ext uri="{FF2B5EF4-FFF2-40B4-BE49-F238E27FC236}">
                  <a16:creationId xmlns:a16="http://schemas.microsoft.com/office/drawing/2014/main" id="{24439A90-8C76-7A8D-9AD5-87DE5DA9B8F1}"/>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655249" y="3239878"/>
              <a:ext cx="540000" cy="540000"/>
            </a:xfrm>
            <a:prstGeom prst="rect">
              <a:avLst/>
            </a:prstGeom>
          </p:spPr>
        </p:pic>
        <p:pic>
          <p:nvPicPr>
            <p:cNvPr id="65" name="Graphic 64" descr="Dinosaur Egg with solid fill">
              <a:extLst>
                <a:ext uri="{FF2B5EF4-FFF2-40B4-BE49-F238E27FC236}">
                  <a16:creationId xmlns:a16="http://schemas.microsoft.com/office/drawing/2014/main" id="{3062859A-9F7E-154B-1E2D-981C5F521E63}"/>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691250" y="4549349"/>
              <a:ext cx="468000" cy="468000"/>
            </a:xfrm>
            <a:prstGeom prst="rect">
              <a:avLst/>
            </a:prstGeom>
          </p:spPr>
        </p:pic>
        <p:pic>
          <p:nvPicPr>
            <p:cNvPr id="66" name="Graphic 65" descr="Dinosaur Egg with solid fill">
              <a:extLst>
                <a:ext uri="{FF2B5EF4-FFF2-40B4-BE49-F238E27FC236}">
                  <a16:creationId xmlns:a16="http://schemas.microsoft.com/office/drawing/2014/main" id="{2D121931-DB15-1D16-B934-49A889EFDE73}"/>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593752" y="3797280"/>
              <a:ext cx="684000" cy="684000"/>
            </a:xfrm>
            <a:prstGeom prst="rect">
              <a:avLst/>
            </a:prstGeom>
          </p:spPr>
        </p:pic>
        <p:pic>
          <p:nvPicPr>
            <p:cNvPr id="67" name="Graphic 66" descr="Dinosaur Egg with solid fill">
              <a:extLst>
                <a:ext uri="{FF2B5EF4-FFF2-40B4-BE49-F238E27FC236}">
                  <a16:creationId xmlns:a16="http://schemas.microsoft.com/office/drawing/2014/main" id="{DC6CCD9B-D8B0-C165-66C9-2701D5F8C4FE}"/>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1660014" y="5085419"/>
              <a:ext cx="540000" cy="540000"/>
            </a:xfrm>
            <a:prstGeom prst="rect">
              <a:avLst/>
            </a:prstGeom>
          </p:spPr>
        </p:pic>
      </p:grpSp>
    </p:spTree>
    <p:extLst>
      <p:ext uri="{BB962C8B-B14F-4D97-AF65-F5344CB8AC3E}">
        <p14:creationId xmlns:p14="http://schemas.microsoft.com/office/powerpoint/2010/main" val="4146018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AAF60-85F9-765A-8E18-96E940424B3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E5C774C-780D-9C4E-6DFA-DF0F4E9F1653}"/>
              </a:ext>
            </a:extLst>
          </p:cNvPr>
          <p:cNvSpPr>
            <a:spLocks noGrp="1"/>
          </p:cNvSpPr>
          <p:nvPr>
            <p:ph type="body" sz="quarter" idx="11"/>
          </p:nvPr>
        </p:nvSpPr>
        <p:spPr/>
        <p:txBody>
          <a:bodyPr/>
          <a:lstStyle/>
          <a:p>
            <a:pPr marL="0" indent="0">
              <a:buNone/>
            </a:pPr>
            <a:r>
              <a:rPr lang="en-GB" sz="2400" dirty="0">
                <a:latin typeface="Arial" panose="020B0604020202020204" pitchFamily="34" charset="0"/>
              </a:rPr>
              <a:t>Predictor “multiplies” the baseline hazard</a:t>
            </a:r>
          </a:p>
          <a:p>
            <a:pPr marL="0" indent="0">
              <a:buNone/>
            </a:pPr>
            <a:endParaRPr lang="en-GB" sz="2400" dirty="0">
              <a:latin typeface="Arial" panose="020B0604020202020204" pitchFamily="34" charset="0"/>
            </a:endParaRPr>
          </a:p>
          <a:p>
            <a:pPr marL="0" indent="0" algn="r">
              <a:buNone/>
            </a:pPr>
            <a:r>
              <a:rPr lang="en-GB" sz="2400" dirty="0">
                <a:solidFill>
                  <a:schemeClr val="bg1"/>
                </a:solidFill>
                <a:latin typeface="Arial" panose="020B0604020202020204" pitchFamily="34" charset="0"/>
              </a:rPr>
              <a:t>h(t) = </a:t>
            </a:r>
            <a:r>
              <a:rPr lang="en-GB" sz="2400" dirty="0">
                <a:solidFill>
                  <a:schemeClr val="accent1"/>
                </a:solidFill>
                <a:latin typeface="Arial" panose="020B0604020202020204" pitchFamily="34" charset="0"/>
              </a:rPr>
              <a:t>h</a:t>
            </a:r>
            <a:r>
              <a:rPr lang="en-GB" sz="2400" baseline="-25000" dirty="0">
                <a:solidFill>
                  <a:schemeClr val="accent1"/>
                </a:solidFill>
                <a:latin typeface="Arial" panose="020B0604020202020204" pitchFamily="34" charset="0"/>
              </a:rPr>
              <a:t>0</a:t>
            </a:r>
            <a:r>
              <a:rPr lang="en-GB" sz="2400" dirty="0">
                <a:solidFill>
                  <a:schemeClr val="accent1"/>
                </a:solidFill>
                <a:latin typeface="Arial" panose="020B0604020202020204" pitchFamily="34" charset="0"/>
              </a:rPr>
              <a:t>(t)</a:t>
            </a:r>
            <a:r>
              <a:rPr lang="en-GB" sz="2400" dirty="0">
                <a:latin typeface="Arial" panose="020B0604020202020204" pitchFamily="34" charset="0"/>
              </a:rPr>
              <a:t> </a:t>
            </a:r>
            <a:r>
              <a:rPr lang="en-GB" sz="2400" dirty="0">
                <a:solidFill>
                  <a:schemeClr val="bg1"/>
                </a:solidFill>
                <a:latin typeface="Arial" panose="020B0604020202020204" pitchFamily="34" charset="0"/>
              </a:rPr>
              <a:t>* exp(</a:t>
            </a:r>
            <a:r>
              <a:rPr lang="el-GR" sz="2400" dirty="0">
                <a:solidFill>
                  <a:schemeClr val="bg1"/>
                </a:solidFill>
                <a:latin typeface="Arial" panose="020B0604020202020204" pitchFamily="34" charset="0"/>
              </a:rPr>
              <a:t>β</a:t>
            </a:r>
            <a:r>
              <a:rPr lang="el-GR" sz="2400" baseline="-25000" dirty="0">
                <a:solidFill>
                  <a:schemeClr val="bg1"/>
                </a:solidFill>
                <a:latin typeface="Arial" panose="020B0604020202020204" pitchFamily="34" charset="0"/>
              </a:rPr>
              <a:t>1</a:t>
            </a:r>
            <a:r>
              <a:rPr lang="en-GB" sz="2400" dirty="0">
                <a:solidFill>
                  <a:schemeClr val="bg1"/>
                </a:solidFill>
                <a:latin typeface="Arial" panose="020B0604020202020204" pitchFamily="34" charset="0"/>
              </a:rPr>
              <a:t>x</a:t>
            </a:r>
            <a:r>
              <a:rPr lang="en-GB" sz="2400" baseline="-25000" dirty="0">
                <a:solidFill>
                  <a:schemeClr val="bg1"/>
                </a:solidFill>
                <a:latin typeface="Arial" panose="020B0604020202020204" pitchFamily="34" charset="0"/>
              </a:rPr>
              <a:t>1</a:t>
            </a:r>
            <a:r>
              <a:rPr lang="en-GB" sz="2400" dirty="0">
                <a:solidFill>
                  <a:schemeClr val="bg1"/>
                </a:solidFill>
                <a:latin typeface="Arial" panose="020B0604020202020204" pitchFamily="34" charset="0"/>
              </a:rPr>
              <a:t>)</a:t>
            </a:r>
          </a:p>
          <a:p>
            <a:endParaRPr lang="en-GB" dirty="0"/>
          </a:p>
        </p:txBody>
      </p:sp>
      <p:sp>
        <p:nvSpPr>
          <p:cNvPr id="3" name="Title 2">
            <a:extLst>
              <a:ext uri="{FF2B5EF4-FFF2-40B4-BE49-F238E27FC236}">
                <a16:creationId xmlns:a16="http://schemas.microsoft.com/office/drawing/2014/main" id="{58B44673-8662-DBE2-9792-201E9F0E2837}"/>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B60D6850-2011-D40E-E980-AF9F62E8246D}"/>
              </a:ext>
            </a:extLst>
          </p:cNvPr>
          <p:cNvSpPr>
            <a:spLocks noGrp="1"/>
          </p:cNvSpPr>
          <p:nvPr>
            <p:ph type="sldNum" sz="quarter" idx="10"/>
          </p:nvPr>
        </p:nvSpPr>
        <p:spPr/>
        <p:txBody>
          <a:bodyPr/>
          <a:lstStyle/>
          <a:p>
            <a:pPr>
              <a:defRPr/>
            </a:pPr>
            <a:fld id="{CD3FC0C4-D681-4CE5-B41E-BCE48B80373A}" type="slidenum">
              <a:rPr lang="en-GB" smtClean="0"/>
              <a:pPr>
                <a:defRPr/>
              </a:pPr>
              <a:t>83</a:t>
            </a:fld>
            <a:endParaRPr lang="en-GB"/>
          </a:p>
        </p:txBody>
      </p:sp>
      <p:pic>
        <p:nvPicPr>
          <p:cNvPr id="6" name="Picture 5">
            <a:extLst>
              <a:ext uri="{FF2B5EF4-FFF2-40B4-BE49-F238E27FC236}">
                <a16:creationId xmlns:a16="http://schemas.microsoft.com/office/drawing/2014/main" id="{02D9BB71-7649-0283-9DF4-9D6445954F1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4349" y="2536597"/>
            <a:ext cx="4572009" cy="3200407"/>
          </a:xfrm>
          <a:prstGeom prst="rect">
            <a:avLst/>
          </a:prstGeom>
        </p:spPr>
      </p:pic>
      <p:cxnSp>
        <p:nvCxnSpPr>
          <p:cNvPr id="10" name="Straight Arrow Connector 9">
            <a:extLst>
              <a:ext uri="{FF2B5EF4-FFF2-40B4-BE49-F238E27FC236}">
                <a16:creationId xmlns:a16="http://schemas.microsoft.com/office/drawing/2014/main" id="{61A3B48A-6192-060D-62E6-CA3A717549B5}"/>
              </a:ext>
            </a:extLst>
          </p:cNvPr>
          <p:cNvCxnSpPr>
            <a:cxnSpLocks/>
          </p:cNvCxnSpPr>
          <p:nvPr/>
        </p:nvCxnSpPr>
        <p:spPr>
          <a:xfrm flipV="1">
            <a:off x="6804247" y="3140968"/>
            <a:ext cx="0" cy="50405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E100B1D-BCEF-406A-A66F-2509FCD32FA2}"/>
              </a:ext>
            </a:extLst>
          </p:cNvPr>
          <p:cNvSpPr txBox="1"/>
          <p:nvPr/>
        </p:nvSpPr>
        <p:spPr>
          <a:xfrm>
            <a:off x="6228184" y="3667868"/>
            <a:ext cx="1152126" cy="646331"/>
          </a:xfrm>
          <a:prstGeom prst="rect">
            <a:avLst/>
          </a:prstGeom>
          <a:noFill/>
        </p:spPr>
        <p:txBody>
          <a:bodyPr wrap="square" rtlCol="0">
            <a:spAutoFit/>
          </a:bodyPr>
          <a:lstStyle/>
          <a:p>
            <a:pPr algn="ctr"/>
            <a:r>
              <a:rPr lang="en-GB" dirty="0">
                <a:solidFill>
                  <a:schemeClr val="accent1"/>
                </a:solidFill>
              </a:rPr>
              <a:t>Baseline hazard</a:t>
            </a:r>
          </a:p>
        </p:txBody>
      </p:sp>
    </p:spTree>
    <p:extLst>
      <p:ext uri="{BB962C8B-B14F-4D97-AF65-F5344CB8AC3E}">
        <p14:creationId xmlns:p14="http://schemas.microsoft.com/office/powerpoint/2010/main" val="29504969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D909B9-ACF5-4095-93B0-9FC52B2E293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1A3EBE8-EA95-70C3-970B-FB5272ABA284}"/>
              </a:ext>
            </a:extLst>
          </p:cNvPr>
          <p:cNvSpPr>
            <a:spLocks noGrp="1"/>
          </p:cNvSpPr>
          <p:nvPr>
            <p:ph type="body" sz="quarter" idx="11"/>
          </p:nvPr>
        </p:nvSpPr>
        <p:spPr/>
        <p:txBody>
          <a:bodyPr/>
          <a:lstStyle/>
          <a:p>
            <a:pPr marL="0" indent="0">
              <a:buNone/>
            </a:pPr>
            <a:r>
              <a:rPr lang="en-GB" sz="2400" dirty="0">
                <a:latin typeface="Arial" panose="020B0604020202020204" pitchFamily="34" charset="0"/>
              </a:rPr>
              <a:t>Predictor “multiplies” the baseline hazard</a:t>
            </a:r>
          </a:p>
          <a:p>
            <a:pPr marL="0" indent="0">
              <a:buNone/>
            </a:pPr>
            <a:endParaRPr lang="en-GB" sz="2400" dirty="0">
              <a:latin typeface="Arial" panose="020B0604020202020204" pitchFamily="34" charset="0"/>
            </a:endParaRPr>
          </a:p>
          <a:p>
            <a:pPr marL="0" indent="0" algn="r">
              <a:buNone/>
            </a:pPr>
            <a:r>
              <a:rPr lang="en-GB" sz="2400" dirty="0">
                <a:solidFill>
                  <a:schemeClr val="bg1"/>
                </a:solidFill>
                <a:latin typeface="Arial" panose="020B0604020202020204" pitchFamily="34" charset="0"/>
              </a:rPr>
              <a:t>h(t) = </a:t>
            </a:r>
            <a:r>
              <a:rPr lang="en-GB" sz="2400" dirty="0">
                <a:solidFill>
                  <a:schemeClr val="accent1"/>
                </a:solidFill>
                <a:latin typeface="Arial" panose="020B0604020202020204" pitchFamily="34" charset="0"/>
              </a:rPr>
              <a:t>h</a:t>
            </a:r>
            <a:r>
              <a:rPr lang="en-GB" sz="2400" baseline="-25000" dirty="0">
                <a:solidFill>
                  <a:schemeClr val="accent1"/>
                </a:solidFill>
                <a:latin typeface="Arial" panose="020B0604020202020204" pitchFamily="34" charset="0"/>
              </a:rPr>
              <a:t>0</a:t>
            </a:r>
            <a:r>
              <a:rPr lang="en-GB" sz="2400" dirty="0">
                <a:solidFill>
                  <a:schemeClr val="accent1"/>
                </a:solidFill>
                <a:latin typeface="Arial" panose="020B0604020202020204" pitchFamily="34" charset="0"/>
              </a:rPr>
              <a:t>(t)</a:t>
            </a:r>
            <a:r>
              <a:rPr lang="en-GB" sz="2400" dirty="0">
                <a:latin typeface="Arial" panose="020B0604020202020204" pitchFamily="34" charset="0"/>
              </a:rPr>
              <a:t> * exp(</a:t>
            </a:r>
            <a:r>
              <a:rPr lang="el-GR" sz="2400" dirty="0">
                <a:latin typeface="Arial" panose="020B0604020202020204" pitchFamily="34" charset="0"/>
              </a:rPr>
              <a:t>β</a:t>
            </a:r>
            <a:r>
              <a:rPr lang="el-GR" sz="2400" baseline="-25000" dirty="0">
                <a:latin typeface="Arial" panose="020B0604020202020204" pitchFamily="34" charset="0"/>
              </a:rPr>
              <a:t>1</a:t>
            </a:r>
            <a:r>
              <a:rPr lang="en-GB" sz="2400" dirty="0">
                <a:solidFill>
                  <a:schemeClr val="accent2"/>
                </a:solidFill>
                <a:latin typeface="Arial" panose="020B0604020202020204" pitchFamily="34" charset="0"/>
              </a:rPr>
              <a:t>x</a:t>
            </a:r>
            <a:r>
              <a:rPr lang="en-GB" sz="2400" baseline="-25000" dirty="0">
                <a:solidFill>
                  <a:schemeClr val="accent2"/>
                </a:solidFill>
                <a:latin typeface="Arial" panose="020B0604020202020204" pitchFamily="34" charset="0"/>
              </a:rPr>
              <a:t>1</a:t>
            </a:r>
            <a:r>
              <a:rPr lang="en-GB" sz="2400" dirty="0">
                <a:latin typeface="Arial" panose="020B0604020202020204" pitchFamily="34" charset="0"/>
              </a:rPr>
              <a:t>)</a:t>
            </a:r>
          </a:p>
          <a:p>
            <a:endParaRPr lang="en-GB" dirty="0"/>
          </a:p>
        </p:txBody>
      </p:sp>
      <p:sp>
        <p:nvSpPr>
          <p:cNvPr id="3" name="Title 2">
            <a:extLst>
              <a:ext uri="{FF2B5EF4-FFF2-40B4-BE49-F238E27FC236}">
                <a16:creationId xmlns:a16="http://schemas.microsoft.com/office/drawing/2014/main" id="{9A72EE50-773E-489C-1163-A30F43B450EA}"/>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B9AB0C1B-0744-C9E2-3223-CA5D477EF54F}"/>
              </a:ext>
            </a:extLst>
          </p:cNvPr>
          <p:cNvSpPr>
            <a:spLocks noGrp="1"/>
          </p:cNvSpPr>
          <p:nvPr>
            <p:ph type="sldNum" sz="quarter" idx="10"/>
          </p:nvPr>
        </p:nvSpPr>
        <p:spPr/>
        <p:txBody>
          <a:bodyPr/>
          <a:lstStyle/>
          <a:p>
            <a:pPr>
              <a:defRPr/>
            </a:pPr>
            <a:fld id="{CD3FC0C4-D681-4CE5-B41E-BCE48B80373A}" type="slidenum">
              <a:rPr lang="en-GB" smtClean="0"/>
              <a:pPr>
                <a:defRPr/>
              </a:pPr>
              <a:t>84</a:t>
            </a:fld>
            <a:endParaRPr lang="en-GB"/>
          </a:p>
        </p:txBody>
      </p:sp>
      <p:cxnSp>
        <p:nvCxnSpPr>
          <p:cNvPr id="10" name="Straight Arrow Connector 9">
            <a:extLst>
              <a:ext uri="{FF2B5EF4-FFF2-40B4-BE49-F238E27FC236}">
                <a16:creationId xmlns:a16="http://schemas.microsoft.com/office/drawing/2014/main" id="{3790E70B-2502-80E1-EB78-F9C623AB0D1A}"/>
              </a:ext>
            </a:extLst>
          </p:cNvPr>
          <p:cNvCxnSpPr>
            <a:cxnSpLocks/>
          </p:cNvCxnSpPr>
          <p:nvPr/>
        </p:nvCxnSpPr>
        <p:spPr>
          <a:xfrm flipV="1">
            <a:off x="6804247" y="3140968"/>
            <a:ext cx="0" cy="50405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539FE39-CDE4-1A58-CB07-D06A7893CD2B}"/>
              </a:ext>
            </a:extLst>
          </p:cNvPr>
          <p:cNvSpPr txBox="1"/>
          <p:nvPr/>
        </p:nvSpPr>
        <p:spPr>
          <a:xfrm>
            <a:off x="6228184" y="3667868"/>
            <a:ext cx="1152126" cy="646331"/>
          </a:xfrm>
          <a:prstGeom prst="rect">
            <a:avLst/>
          </a:prstGeom>
          <a:noFill/>
        </p:spPr>
        <p:txBody>
          <a:bodyPr wrap="square" rtlCol="0">
            <a:spAutoFit/>
          </a:bodyPr>
          <a:lstStyle/>
          <a:p>
            <a:pPr algn="ctr"/>
            <a:r>
              <a:rPr lang="en-GB" dirty="0">
                <a:solidFill>
                  <a:schemeClr val="accent1"/>
                </a:solidFill>
              </a:rPr>
              <a:t>Baseline hazard</a:t>
            </a:r>
          </a:p>
        </p:txBody>
      </p:sp>
      <p:cxnSp>
        <p:nvCxnSpPr>
          <p:cNvPr id="13" name="Straight Arrow Connector 12">
            <a:extLst>
              <a:ext uri="{FF2B5EF4-FFF2-40B4-BE49-F238E27FC236}">
                <a16:creationId xmlns:a16="http://schemas.microsoft.com/office/drawing/2014/main" id="{9E4A11DB-F7C3-F2AA-7751-6090F28A1496}"/>
              </a:ext>
            </a:extLst>
          </p:cNvPr>
          <p:cNvCxnSpPr>
            <a:cxnSpLocks/>
          </p:cNvCxnSpPr>
          <p:nvPr/>
        </p:nvCxnSpPr>
        <p:spPr>
          <a:xfrm flipV="1">
            <a:off x="8378122" y="3146778"/>
            <a:ext cx="0" cy="504056"/>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9BBE97CE-D76A-CC99-575B-9B6FF855BD92}"/>
              </a:ext>
            </a:extLst>
          </p:cNvPr>
          <p:cNvSpPr txBox="1"/>
          <p:nvPr/>
        </p:nvSpPr>
        <p:spPr>
          <a:xfrm>
            <a:off x="7802059" y="3673678"/>
            <a:ext cx="1152126" cy="369332"/>
          </a:xfrm>
          <a:prstGeom prst="rect">
            <a:avLst/>
          </a:prstGeom>
          <a:solidFill>
            <a:srgbClr val="FFFFFF">
              <a:alpha val="80000"/>
            </a:srgbClr>
          </a:solidFill>
        </p:spPr>
        <p:txBody>
          <a:bodyPr wrap="square" rtlCol="0">
            <a:spAutoFit/>
          </a:bodyPr>
          <a:lstStyle/>
          <a:p>
            <a:pPr algn="ctr"/>
            <a:r>
              <a:rPr lang="en-GB" dirty="0">
                <a:solidFill>
                  <a:schemeClr val="accent2"/>
                </a:solidFill>
              </a:rPr>
              <a:t>Predictor</a:t>
            </a:r>
          </a:p>
        </p:txBody>
      </p:sp>
      <p:pic>
        <p:nvPicPr>
          <p:cNvPr id="11" name="Picture 10">
            <a:extLst>
              <a:ext uri="{FF2B5EF4-FFF2-40B4-BE49-F238E27FC236}">
                <a16:creationId xmlns:a16="http://schemas.microsoft.com/office/drawing/2014/main" id="{D2F7F5D2-B957-43B7-E119-0F75180463D6}"/>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4349" y="2536597"/>
            <a:ext cx="4572009" cy="3200407"/>
          </a:xfrm>
          <a:prstGeom prst="rect">
            <a:avLst/>
          </a:prstGeom>
        </p:spPr>
      </p:pic>
    </p:spTree>
    <p:extLst>
      <p:ext uri="{BB962C8B-B14F-4D97-AF65-F5344CB8AC3E}">
        <p14:creationId xmlns:p14="http://schemas.microsoft.com/office/powerpoint/2010/main" val="289266527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A3219-EDEE-5D4B-4CC9-1DDE9C06F7C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FC798D9-0C1A-D6EB-33C8-B459F8141C53}"/>
              </a:ext>
            </a:extLst>
          </p:cNvPr>
          <p:cNvSpPr>
            <a:spLocks noGrp="1"/>
          </p:cNvSpPr>
          <p:nvPr>
            <p:ph type="body" sz="quarter" idx="11"/>
          </p:nvPr>
        </p:nvSpPr>
        <p:spPr/>
        <p:txBody>
          <a:bodyPr/>
          <a:lstStyle/>
          <a:p>
            <a:pPr marL="0" indent="0">
              <a:buNone/>
            </a:pPr>
            <a:r>
              <a:rPr lang="en-GB" sz="2400" dirty="0">
                <a:latin typeface="Arial" panose="020B0604020202020204" pitchFamily="34" charset="0"/>
              </a:rPr>
              <a:t>Predictor “multiplies” the baseline hazard</a:t>
            </a:r>
          </a:p>
          <a:p>
            <a:pPr marL="0" indent="0">
              <a:buNone/>
            </a:pPr>
            <a:endParaRPr lang="en-GB" sz="2400" dirty="0">
              <a:latin typeface="Arial" panose="020B0604020202020204" pitchFamily="34" charset="0"/>
            </a:endParaRPr>
          </a:p>
          <a:p>
            <a:pPr marL="0" indent="0" algn="r">
              <a:buNone/>
            </a:pPr>
            <a:r>
              <a:rPr lang="en-GB" sz="2400" dirty="0">
                <a:solidFill>
                  <a:schemeClr val="bg1"/>
                </a:solidFill>
                <a:latin typeface="Arial" panose="020B0604020202020204" pitchFamily="34" charset="0"/>
              </a:rPr>
              <a:t>h(t) = </a:t>
            </a:r>
            <a:r>
              <a:rPr lang="en-GB" sz="2400" dirty="0">
                <a:solidFill>
                  <a:schemeClr val="accent1"/>
                </a:solidFill>
                <a:latin typeface="Arial" panose="020B0604020202020204" pitchFamily="34" charset="0"/>
              </a:rPr>
              <a:t>h</a:t>
            </a:r>
            <a:r>
              <a:rPr lang="en-GB" sz="2400" baseline="-25000" dirty="0">
                <a:solidFill>
                  <a:schemeClr val="accent1"/>
                </a:solidFill>
                <a:latin typeface="Arial" panose="020B0604020202020204" pitchFamily="34" charset="0"/>
              </a:rPr>
              <a:t>0</a:t>
            </a:r>
            <a:r>
              <a:rPr lang="en-GB" sz="2400" dirty="0">
                <a:solidFill>
                  <a:schemeClr val="accent1"/>
                </a:solidFill>
                <a:latin typeface="Arial" panose="020B0604020202020204" pitchFamily="34" charset="0"/>
              </a:rPr>
              <a:t>(t)</a:t>
            </a:r>
            <a:r>
              <a:rPr lang="en-GB" sz="2400" dirty="0">
                <a:latin typeface="Arial" panose="020B0604020202020204" pitchFamily="34" charset="0"/>
              </a:rPr>
              <a:t> * exp(</a:t>
            </a:r>
            <a:r>
              <a:rPr lang="el-GR" sz="2400" dirty="0">
                <a:solidFill>
                  <a:schemeClr val="accent5"/>
                </a:solidFill>
                <a:latin typeface="Arial" panose="020B0604020202020204" pitchFamily="34" charset="0"/>
              </a:rPr>
              <a:t>β</a:t>
            </a:r>
            <a:r>
              <a:rPr lang="el-GR" sz="2400" baseline="-25000" dirty="0">
                <a:solidFill>
                  <a:schemeClr val="accent5"/>
                </a:solidFill>
                <a:latin typeface="Arial" panose="020B0604020202020204" pitchFamily="34" charset="0"/>
              </a:rPr>
              <a:t>1</a:t>
            </a:r>
            <a:r>
              <a:rPr lang="en-GB" sz="2400" dirty="0">
                <a:solidFill>
                  <a:schemeClr val="accent2"/>
                </a:solidFill>
                <a:latin typeface="Arial" panose="020B0604020202020204" pitchFamily="34" charset="0"/>
              </a:rPr>
              <a:t>x</a:t>
            </a:r>
            <a:r>
              <a:rPr lang="en-GB" sz="2400" baseline="-25000" dirty="0">
                <a:solidFill>
                  <a:schemeClr val="accent2"/>
                </a:solidFill>
                <a:latin typeface="Arial" panose="020B0604020202020204" pitchFamily="34" charset="0"/>
              </a:rPr>
              <a:t>1</a:t>
            </a:r>
            <a:r>
              <a:rPr lang="en-GB" sz="2400" dirty="0">
                <a:latin typeface="Arial" panose="020B0604020202020204" pitchFamily="34" charset="0"/>
              </a:rPr>
              <a:t>)</a:t>
            </a:r>
          </a:p>
          <a:p>
            <a:endParaRPr lang="en-GB" dirty="0"/>
          </a:p>
        </p:txBody>
      </p:sp>
      <p:sp>
        <p:nvSpPr>
          <p:cNvPr id="3" name="Title 2">
            <a:extLst>
              <a:ext uri="{FF2B5EF4-FFF2-40B4-BE49-F238E27FC236}">
                <a16:creationId xmlns:a16="http://schemas.microsoft.com/office/drawing/2014/main" id="{CF82039E-C983-F8AA-0C31-B941AE654ED3}"/>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DCD0BD47-F792-F92A-0E3C-380669F7F8AD}"/>
              </a:ext>
            </a:extLst>
          </p:cNvPr>
          <p:cNvSpPr>
            <a:spLocks noGrp="1"/>
          </p:cNvSpPr>
          <p:nvPr>
            <p:ph type="sldNum" sz="quarter" idx="10"/>
          </p:nvPr>
        </p:nvSpPr>
        <p:spPr/>
        <p:txBody>
          <a:bodyPr/>
          <a:lstStyle/>
          <a:p>
            <a:pPr>
              <a:defRPr/>
            </a:pPr>
            <a:fld id="{CD3FC0C4-D681-4CE5-B41E-BCE48B80373A}" type="slidenum">
              <a:rPr lang="en-GB" smtClean="0"/>
              <a:pPr>
                <a:defRPr/>
              </a:pPr>
              <a:t>85</a:t>
            </a:fld>
            <a:endParaRPr lang="en-GB"/>
          </a:p>
        </p:txBody>
      </p:sp>
      <p:cxnSp>
        <p:nvCxnSpPr>
          <p:cNvPr id="10" name="Straight Arrow Connector 9">
            <a:extLst>
              <a:ext uri="{FF2B5EF4-FFF2-40B4-BE49-F238E27FC236}">
                <a16:creationId xmlns:a16="http://schemas.microsoft.com/office/drawing/2014/main" id="{E26C05FA-3870-6E15-0CD6-676E8E164520}"/>
              </a:ext>
            </a:extLst>
          </p:cNvPr>
          <p:cNvCxnSpPr>
            <a:cxnSpLocks/>
          </p:cNvCxnSpPr>
          <p:nvPr/>
        </p:nvCxnSpPr>
        <p:spPr>
          <a:xfrm flipV="1">
            <a:off x="6804247" y="3140968"/>
            <a:ext cx="0" cy="50405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5C78957B-178E-8D78-1523-327715AA5664}"/>
              </a:ext>
            </a:extLst>
          </p:cNvPr>
          <p:cNvSpPr txBox="1"/>
          <p:nvPr/>
        </p:nvSpPr>
        <p:spPr>
          <a:xfrm>
            <a:off x="6228184" y="3667868"/>
            <a:ext cx="1152126" cy="646331"/>
          </a:xfrm>
          <a:prstGeom prst="rect">
            <a:avLst/>
          </a:prstGeom>
          <a:noFill/>
        </p:spPr>
        <p:txBody>
          <a:bodyPr wrap="square" rtlCol="0">
            <a:spAutoFit/>
          </a:bodyPr>
          <a:lstStyle/>
          <a:p>
            <a:pPr algn="ctr"/>
            <a:r>
              <a:rPr lang="en-GB" dirty="0">
                <a:solidFill>
                  <a:schemeClr val="accent1"/>
                </a:solidFill>
              </a:rPr>
              <a:t>Baseline hazard</a:t>
            </a:r>
          </a:p>
        </p:txBody>
      </p:sp>
      <p:cxnSp>
        <p:nvCxnSpPr>
          <p:cNvPr id="13" name="Straight Arrow Connector 12">
            <a:extLst>
              <a:ext uri="{FF2B5EF4-FFF2-40B4-BE49-F238E27FC236}">
                <a16:creationId xmlns:a16="http://schemas.microsoft.com/office/drawing/2014/main" id="{A0C0583A-4BD9-CA6C-A360-B340213ECDF8}"/>
              </a:ext>
            </a:extLst>
          </p:cNvPr>
          <p:cNvCxnSpPr>
            <a:cxnSpLocks/>
          </p:cNvCxnSpPr>
          <p:nvPr/>
        </p:nvCxnSpPr>
        <p:spPr>
          <a:xfrm flipV="1">
            <a:off x="8378122" y="3146778"/>
            <a:ext cx="0" cy="504056"/>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71EFA56B-193B-EC2C-E7B8-E75997E2D961}"/>
              </a:ext>
            </a:extLst>
          </p:cNvPr>
          <p:cNvCxnSpPr>
            <a:cxnSpLocks/>
          </p:cNvCxnSpPr>
          <p:nvPr/>
        </p:nvCxnSpPr>
        <p:spPr>
          <a:xfrm flipV="1">
            <a:off x="8082064" y="3146778"/>
            <a:ext cx="0" cy="1180622"/>
          </a:xfrm>
          <a:prstGeom prst="straightConnector1">
            <a:avLst/>
          </a:prstGeom>
          <a:ln w="381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CF907EA8-3646-1479-99BE-6BE0C72B7FE0}"/>
              </a:ext>
            </a:extLst>
          </p:cNvPr>
          <p:cNvSpPr txBox="1"/>
          <p:nvPr/>
        </p:nvSpPr>
        <p:spPr>
          <a:xfrm>
            <a:off x="7369439" y="4305973"/>
            <a:ext cx="1421829" cy="923330"/>
          </a:xfrm>
          <a:prstGeom prst="rect">
            <a:avLst/>
          </a:prstGeom>
          <a:noFill/>
        </p:spPr>
        <p:txBody>
          <a:bodyPr wrap="square" rtlCol="0">
            <a:spAutoFit/>
          </a:bodyPr>
          <a:lstStyle/>
          <a:p>
            <a:pPr algn="ctr"/>
            <a:r>
              <a:rPr lang="en-GB" dirty="0">
                <a:solidFill>
                  <a:schemeClr val="accent5"/>
                </a:solidFill>
              </a:rPr>
              <a:t>Beta coefficient of predictor</a:t>
            </a:r>
          </a:p>
        </p:txBody>
      </p:sp>
      <p:sp>
        <p:nvSpPr>
          <p:cNvPr id="14" name="TextBox 13">
            <a:extLst>
              <a:ext uri="{FF2B5EF4-FFF2-40B4-BE49-F238E27FC236}">
                <a16:creationId xmlns:a16="http://schemas.microsoft.com/office/drawing/2014/main" id="{FD8F60B3-5B58-5E59-B621-3DE4ED27E567}"/>
              </a:ext>
            </a:extLst>
          </p:cNvPr>
          <p:cNvSpPr txBox="1"/>
          <p:nvPr/>
        </p:nvSpPr>
        <p:spPr>
          <a:xfrm>
            <a:off x="7802059" y="3673678"/>
            <a:ext cx="1152126" cy="369332"/>
          </a:xfrm>
          <a:prstGeom prst="rect">
            <a:avLst/>
          </a:prstGeom>
          <a:solidFill>
            <a:srgbClr val="FFFFFF">
              <a:alpha val="80000"/>
            </a:srgbClr>
          </a:solidFill>
        </p:spPr>
        <p:txBody>
          <a:bodyPr wrap="square" rtlCol="0">
            <a:spAutoFit/>
          </a:bodyPr>
          <a:lstStyle/>
          <a:p>
            <a:pPr algn="ctr"/>
            <a:r>
              <a:rPr lang="en-GB" dirty="0">
                <a:solidFill>
                  <a:schemeClr val="accent2"/>
                </a:solidFill>
              </a:rPr>
              <a:t>Predictor</a:t>
            </a:r>
          </a:p>
        </p:txBody>
      </p:sp>
      <p:pic>
        <p:nvPicPr>
          <p:cNvPr id="9" name="Picture 8">
            <a:extLst>
              <a:ext uri="{FF2B5EF4-FFF2-40B4-BE49-F238E27FC236}">
                <a16:creationId xmlns:a16="http://schemas.microsoft.com/office/drawing/2014/main" id="{7C7B1B0F-FEF5-7E06-8159-6DAE89A1A48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4349" y="2536597"/>
            <a:ext cx="4572009" cy="3200407"/>
          </a:xfrm>
          <a:prstGeom prst="rect">
            <a:avLst/>
          </a:prstGeom>
        </p:spPr>
      </p:pic>
    </p:spTree>
    <p:extLst>
      <p:ext uri="{BB962C8B-B14F-4D97-AF65-F5344CB8AC3E}">
        <p14:creationId xmlns:p14="http://schemas.microsoft.com/office/powerpoint/2010/main" val="275387643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13316-045E-16EE-1CC0-EB13F2A4A1C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6869E43-8DF8-4A4C-2AA4-F8D2B9E865DB}"/>
              </a:ext>
            </a:extLst>
          </p:cNvPr>
          <p:cNvSpPr>
            <a:spLocks noGrp="1"/>
          </p:cNvSpPr>
          <p:nvPr>
            <p:ph type="body" sz="quarter" idx="11"/>
          </p:nvPr>
        </p:nvSpPr>
        <p:spPr/>
        <p:txBody>
          <a:bodyPr/>
          <a:lstStyle/>
          <a:p>
            <a:pPr marL="0" indent="0">
              <a:buNone/>
            </a:pPr>
            <a:r>
              <a:rPr lang="en-GB" sz="2400" dirty="0">
                <a:latin typeface="Arial" panose="020B0604020202020204" pitchFamily="34" charset="0"/>
              </a:rPr>
              <a:t>Predictor “multiplies” the baseline hazard</a:t>
            </a:r>
          </a:p>
          <a:p>
            <a:pPr marL="0" indent="0">
              <a:buNone/>
            </a:pPr>
            <a:endParaRPr lang="en-GB" sz="2400" dirty="0">
              <a:latin typeface="Arial" panose="020B0604020202020204" pitchFamily="34" charset="0"/>
            </a:endParaRPr>
          </a:p>
          <a:p>
            <a:pPr marL="0" indent="0" algn="r">
              <a:buNone/>
            </a:pPr>
            <a:r>
              <a:rPr lang="en-GB" sz="2400" dirty="0">
                <a:solidFill>
                  <a:schemeClr val="accent3"/>
                </a:solidFill>
                <a:latin typeface="Arial" panose="020B0604020202020204" pitchFamily="34" charset="0"/>
              </a:rPr>
              <a:t>h(t) </a:t>
            </a:r>
            <a:r>
              <a:rPr lang="en-GB" sz="2400" dirty="0">
                <a:latin typeface="Arial" panose="020B0604020202020204" pitchFamily="34" charset="0"/>
              </a:rPr>
              <a:t>= </a:t>
            </a:r>
            <a:r>
              <a:rPr lang="en-GB" sz="2400" dirty="0">
                <a:solidFill>
                  <a:schemeClr val="accent1"/>
                </a:solidFill>
                <a:latin typeface="Arial" panose="020B0604020202020204" pitchFamily="34" charset="0"/>
              </a:rPr>
              <a:t>h</a:t>
            </a:r>
            <a:r>
              <a:rPr lang="en-GB" sz="2400" baseline="-25000" dirty="0">
                <a:solidFill>
                  <a:schemeClr val="accent1"/>
                </a:solidFill>
                <a:latin typeface="Arial" panose="020B0604020202020204" pitchFamily="34" charset="0"/>
              </a:rPr>
              <a:t>0</a:t>
            </a:r>
            <a:r>
              <a:rPr lang="en-GB" sz="2400" dirty="0">
                <a:solidFill>
                  <a:schemeClr val="accent1"/>
                </a:solidFill>
                <a:latin typeface="Arial" panose="020B0604020202020204" pitchFamily="34" charset="0"/>
              </a:rPr>
              <a:t>(t)</a:t>
            </a:r>
            <a:r>
              <a:rPr lang="en-GB" sz="2400" dirty="0">
                <a:latin typeface="Arial" panose="020B0604020202020204" pitchFamily="34" charset="0"/>
              </a:rPr>
              <a:t> * exp(</a:t>
            </a:r>
            <a:r>
              <a:rPr lang="el-GR" sz="2400" dirty="0">
                <a:solidFill>
                  <a:schemeClr val="accent5"/>
                </a:solidFill>
                <a:latin typeface="Arial" panose="020B0604020202020204" pitchFamily="34" charset="0"/>
              </a:rPr>
              <a:t>β</a:t>
            </a:r>
            <a:r>
              <a:rPr lang="el-GR" sz="2400" baseline="-25000" dirty="0">
                <a:solidFill>
                  <a:schemeClr val="accent5"/>
                </a:solidFill>
                <a:latin typeface="Arial" panose="020B0604020202020204" pitchFamily="34" charset="0"/>
              </a:rPr>
              <a:t>1</a:t>
            </a:r>
            <a:r>
              <a:rPr lang="en-GB" sz="2400" dirty="0">
                <a:solidFill>
                  <a:schemeClr val="accent2"/>
                </a:solidFill>
                <a:latin typeface="Arial" panose="020B0604020202020204" pitchFamily="34" charset="0"/>
              </a:rPr>
              <a:t>x</a:t>
            </a:r>
            <a:r>
              <a:rPr lang="en-GB" sz="2400" baseline="-25000" dirty="0">
                <a:solidFill>
                  <a:schemeClr val="accent2"/>
                </a:solidFill>
                <a:latin typeface="Arial" panose="020B0604020202020204" pitchFamily="34" charset="0"/>
              </a:rPr>
              <a:t>1</a:t>
            </a:r>
            <a:r>
              <a:rPr lang="en-GB" sz="2400" dirty="0">
                <a:latin typeface="Arial" panose="020B0604020202020204" pitchFamily="34" charset="0"/>
              </a:rPr>
              <a:t>)</a:t>
            </a:r>
          </a:p>
          <a:p>
            <a:endParaRPr lang="en-GB" dirty="0"/>
          </a:p>
        </p:txBody>
      </p:sp>
      <p:sp>
        <p:nvSpPr>
          <p:cNvPr id="3" name="Title 2">
            <a:extLst>
              <a:ext uri="{FF2B5EF4-FFF2-40B4-BE49-F238E27FC236}">
                <a16:creationId xmlns:a16="http://schemas.microsoft.com/office/drawing/2014/main" id="{47F70459-4A2E-512C-6DC6-8BB9E17CD42A}"/>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ADF0BB3C-4716-BFAF-697D-0A63CAADE4D2}"/>
              </a:ext>
            </a:extLst>
          </p:cNvPr>
          <p:cNvSpPr>
            <a:spLocks noGrp="1"/>
          </p:cNvSpPr>
          <p:nvPr>
            <p:ph type="sldNum" sz="quarter" idx="10"/>
          </p:nvPr>
        </p:nvSpPr>
        <p:spPr/>
        <p:txBody>
          <a:bodyPr/>
          <a:lstStyle/>
          <a:p>
            <a:pPr>
              <a:defRPr/>
            </a:pPr>
            <a:fld id="{CD3FC0C4-D681-4CE5-B41E-BCE48B80373A}" type="slidenum">
              <a:rPr lang="en-GB" smtClean="0"/>
              <a:pPr>
                <a:defRPr/>
              </a:pPr>
              <a:t>86</a:t>
            </a:fld>
            <a:endParaRPr lang="en-GB"/>
          </a:p>
        </p:txBody>
      </p:sp>
      <p:cxnSp>
        <p:nvCxnSpPr>
          <p:cNvPr id="10" name="Straight Arrow Connector 9">
            <a:extLst>
              <a:ext uri="{FF2B5EF4-FFF2-40B4-BE49-F238E27FC236}">
                <a16:creationId xmlns:a16="http://schemas.microsoft.com/office/drawing/2014/main" id="{ACB33D19-7CA3-1C92-1DF5-0F4C08015913}"/>
              </a:ext>
            </a:extLst>
          </p:cNvPr>
          <p:cNvCxnSpPr>
            <a:cxnSpLocks/>
          </p:cNvCxnSpPr>
          <p:nvPr/>
        </p:nvCxnSpPr>
        <p:spPr>
          <a:xfrm flipV="1">
            <a:off x="6804247" y="3140968"/>
            <a:ext cx="0" cy="50405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CDDC28F8-EF45-812C-6648-BEE421DDF22E}"/>
              </a:ext>
            </a:extLst>
          </p:cNvPr>
          <p:cNvSpPr txBox="1"/>
          <p:nvPr/>
        </p:nvSpPr>
        <p:spPr>
          <a:xfrm>
            <a:off x="6228184" y="3667868"/>
            <a:ext cx="1152126" cy="646331"/>
          </a:xfrm>
          <a:prstGeom prst="rect">
            <a:avLst/>
          </a:prstGeom>
          <a:noFill/>
        </p:spPr>
        <p:txBody>
          <a:bodyPr wrap="square" rtlCol="0">
            <a:spAutoFit/>
          </a:bodyPr>
          <a:lstStyle/>
          <a:p>
            <a:pPr algn="ctr"/>
            <a:r>
              <a:rPr lang="en-GB" dirty="0">
                <a:solidFill>
                  <a:schemeClr val="accent1"/>
                </a:solidFill>
              </a:rPr>
              <a:t>Baseline hazard</a:t>
            </a:r>
          </a:p>
        </p:txBody>
      </p:sp>
      <p:cxnSp>
        <p:nvCxnSpPr>
          <p:cNvPr id="13" name="Straight Arrow Connector 12">
            <a:extLst>
              <a:ext uri="{FF2B5EF4-FFF2-40B4-BE49-F238E27FC236}">
                <a16:creationId xmlns:a16="http://schemas.microsoft.com/office/drawing/2014/main" id="{B4A65052-7E72-88DB-E4F5-71C8854F4A6B}"/>
              </a:ext>
            </a:extLst>
          </p:cNvPr>
          <p:cNvCxnSpPr>
            <a:cxnSpLocks/>
          </p:cNvCxnSpPr>
          <p:nvPr/>
        </p:nvCxnSpPr>
        <p:spPr>
          <a:xfrm flipV="1">
            <a:off x="8378122" y="3146778"/>
            <a:ext cx="0" cy="504056"/>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7E7E085-3C5E-9913-C1E0-F2A91222B263}"/>
              </a:ext>
            </a:extLst>
          </p:cNvPr>
          <p:cNvCxnSpPr>
            <a:cxnSpLocks/>
            <a:stCxn id="16" idx="0"/>
          </p:cNvCxnSpPr>
          <p:nvPr/>
        </p:nvCxnSpPr>
        <p:spPr>
          <a:xfrm flipV="1">
            <a:off x="5968451" y="3146778"/>
            <a:ext cx="0" cy="1465136"/>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E972F7FA-E2DE-03AE-3C63-1B0983DF91FF}"/>
              </a:ext>
            </a:extLst>
          </p:cNvPr>
          <p:cNvSpPr txBox="1"/>
          <p:nvPr/>
        </p:nvSpPr>
        <p:spPr>
          <a:xfrm>
            <a:off x="5262523" y="4611914"/>
            <a:ext cx="1411855" cy="923330"/>
          </a:xfrm>
          <a:prstGeom prst="rect">
            <a:avLst/>
          </a:prstGeom>
          <a:noFill/>
        </p:spPr>
        <p:txBody>
          <a:bodyPr wrap="square" rtlCol="0">
            <a:spAutoFit/>
          </a:bodyPr>
          <a:lstStyle/>
          <a:p>
            <a:pPr algn="ctr"/>
            <a:r>
              <a:rPr lang="en-GB" dirty="0">
                <a:solidFill>
                  <a:schemeClr val="accent3"/>
                </a:solidFill>
              </a:rPr>
              <a:t>“Final” (predicted) hazard</a:t>
            </a:r>
          </a:p>
        </p:txBody>
      </p:sp>
      <p:cxnSp>
        <p:nvCxnSpPr>
          <p:cNvPr id="5" name="Straight Arrow Connector 4">
            <a:extLst>
              <a:ext uri="{FF2B5EF4-FFF2-40B4-BE49-F238E27FC236}">
                <a16:creationId xmlns:a16="http://schemas.microsoft.com/office/drawing/2014/main" id="{DAFFCAEA-2277-F566-8F0C-43A49C7DF08B}"/>
              </a:ext>
            </a:extLst>
          </p:cNvPr>
          <p:cNvCxnSpPr>
            <a:cxnSpLocks/>
          </p:cNvCxnSpPr>
          <p:nvPr/>
        </p:nvCxnSpPr>
        <p:spPr>
          <a:xfrm flipV="1">
            <a:off x="8082064" y="3146778"/>
            <a:ext cx="0" cy="1180622"/>
          </a:xfrm>
          <a:prstGeom prst="straightConnector1">
            <a:avLst/>
          </a:prstGeom>
          <a:ln w="381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F1ED634-67D3-21E6-2C99-CA0DA9ADD44A}"/>
              </a:ext>
            </a:extLst>
          </p:cNvPr>
          <p:cNvSpPr txBox="1"/>
          <p:nvPr/>
        </p:nvSpPr>
        <p:spPr>
          <a:xfrm>
            <a:off x="7369439" y="4305973"/>
            <a:ext cx="1421829" cy="923330"/>
          </a:xfrm>
          <a:prstGeom prst="rect">
            <a:avLst/>
          </a:prstGeom>
          <a:noFill/>
        </p:spPr>
        <p:txBody>
          <a:bodyPr wrap="square" rtlCol="0">
            <a:spAutoFit/>
          </a:bodyPr>
          <a:lstStyle/>
          <a:p>
            <a:pPr algn="ctr"/>
            <a:r>
              <a:rPr lang="en-GB" dirty="0">
                <a:solidFill>
                  <a:schemeClr val="accent5"/>
                </a:solidFill>
              </a:rPr>
              <a:t>Beta coefficient of predictor</a:t>
            </a:r>
          </a:p>
        </p:txBody>
      </p:sp>
      <p:sp>
        <p:nvSpPr>
          <p:cNvPr id="8" name="TextBox 7">
            <a:extLst>
              <a:ext uri="{FF2B5EF4-FFF2-40B4-BE49-F238E27FC236}">
                <a16:creationId xmlns:a16="http://schemas.microsoft.com/office/drawing/2014/main" id="{9D019B3A-D09D-2FE0-9A21-340B647E113D}"/>
              </a:ext>
            </a:extLst>
          </p:cNvPr>
          <p:cNvSpPr txBox="1"/>
          <p:nvPr/>
        </p:nvSpPr>
        <p:spPr>
          <a:xfrm>
            <a:off x="7802059" y="3673678"/>
            <a:ext cx="1152126" cy="369332"/>
          </a:xfrm>
          <a:prstGeom prst="rect">
            <a:avLst/>
          </a:prstGeom>
          <a:solidFill>
            <a:srgbClr val="FFFFFF">
              <a:alpha val="89804"/>
            </a:srgbClr>
          </a:solidFill>
        </p:spPr>
        <p:txBody>
          <a:bodyPr wrap="square" rtlCol="0">
            <a:spAutoFit/>
          </a:bodyPr>
          <a:lstStyle/>
          <a:p>
            <a:pPr algn="ctr"/>
            <a:r>
              <a:rPr lang="en-GB" dirty="0">
                <a:solidFill>
                  <a:schemeClr val="accent2"/>
                </a:solidFill>
              </a:rPr>
              <a:t>Predictor</a:t>
            </a:r>
          </a:p>
        </p:txBody>
      </p:sp>
      <p:pic>
        <p:nvPicPr>
          <p:cNvPr id="11" name="Picture 10">
            <a:extLst>
              <a:ext uri="{FF2B5EF4-FFF2-40B4-BE49-F238E27FC236}">
                <a16:creationId xmlns:a16="http://schemas.microsoft.com/office/drawing/2014/main" id="{F1B5A88C-218A-F5DA-1BC1-A3F0D0A1A29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4349" y="2536597"/>
            <a:ext cx="4572009" cy="3200407"/>
          </a:xfrm>
          <a:prstGeom prst="rect">
            <a:avLst/>
          </a:prstGeom>
        </p:spPr>
      </p:pic>
    </p:spTree>
    <p:extLst>
      <p:ext uri="{BB962C8B-B14F-4D97-AF65-F5344CB8AC3E}">
        <p14:creationId xmlns:p14="http://schemas.microsoft.com/office/powerpoint/2010/main" val="351885485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79F33-E4AE-AFA9-C98F-62884D9F76AA}"/>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33337E7E-D55A-2827-50DE-2C8B753B130D}"/>
              </a:ext>
            </a:extLst>
          </p:cNvPr>
          <p:cNvSpPr>
            <a:spLocks noGrp="1"/>
          </p:cNvSpPr>
          <p:nvPr>
            <p:ph type="body" sz="quarter" idx="12"/>
          </p:nvPr>
        </p:nvSpPr>
        <p:spPr/>
        <p:txBody>
          <a:bodyPr/>
          <a:lstStyle/>
          <a:p>
            <a:r>
              <a:rPr lang="en-GB" noProof="0" dirty="0"/>
              <a:t>More uses for Cox regression</a:t>
            </a:r>
          </a:p>
        </p:txBody>
      </p:sp>
      <p:sp>
        <p:nvSpPr>
          <p:cNvPr id="5" name="Text Placeholder 4">
            <a:extLst>
              <a:ext uri="{FF2B5EF4-FFF2-40B4-BE49-F238E27FC236}">
                <a16:creationId xmlns:a16="http://schemas.microsoft.com/office/drawing/2014/main" id="{9AC4DE74-DDA0-F515-B69E-A63E8787024F}"/>
              </a:ext>
            </a:extLst>
          </p:cNvPr>
          <p:cNvSpPr>
            <a:spLocks noGrp="1"/>
          </p:cNvSpPr>
          <p:nvPr>
            <p:ph type="body" sz="quarter" idx="11"/>
          </p:nvPr>
        </p:nvSpPr>
        <p:spPr/>
        <p:txBody>
          <a:bodyPr/>
          <a:lstStyle/>
          <a:p>
            <a:r>
              <a:rPr lang="en-GB" noProof="0" dirty="0"/>
              <a:t>5. Multiple predictors</a:t>
            </a:r>
          </a:p>
        </p:txBody>
      </p:sp>
      <p:sp>
        <p:nvSpPr>
          <p:cNvPr id="4" name="Slide Number Placeholder 3">
            <a:extLst>
              <a:ext uri="{FF2B5EF4-FFF2-40B4-BE49-F238E27FC236}">
                <a16:creationId xmlns:a16="http://schemas.microsoft.com/office/drawing/2014/main" id="{E365A85C-8263-E219-7F55-25C7C6B0BA04}"/>
              </a:ext>
            </a:extLst>
          </p:cNvPr>
          <p:cNvSpPr>
            <a:spLocks noGrp="1"/>
          </p:cNvSpPr>
          <p:nvPr>
            <p:ph type="sldNum" sz="quarter" idx="10"/>
          </p:nvPr>
        </p:nvSpPr>
        <p:spPr/>
        <p:txBody>
          <a:bodyPr/>
          <a:lstStyle/>
          <a:p>
            <a:pPr>
              <a:defRPr/>
            </a:pPr>
            <a:fld id="{CD3FC0C4-D681-4CE5-B41E-BCE48B80373A}" type="slidenum">
              <a:rPr lang="en-GB" noProof="0" smtClean="0"/>
              <a:pPr>
                <a:defRPr/>
              </a:pPr>
              <a:t>87</a:t>
            </a:fld>
            <a:endParaRPr lang="en-GB" noProof="0" dirty="0"/>
          </a:p>
        </p:txBody>
      </p:sp>
    </p:spTree>
    <p:extLst>
      <p:ext uri="{BB962C8B-B14F-4D97-AF65-F5344CB8AC3E}">
        <p14:creationId xmlns:p14="http://schemas.microsoft.com/office/powerpoint/2010/main" val="174145468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36063-367B-F91F-AF09-B2D615B998D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BBC54054-B052-0E88-69DD-8E7E2EEDD09D}"/>
              </a:ext>
            </a:extLst>
          </p:cNvPr>
          <p:cNvSpPr>
            <a:spLocks noGrp="1"/>
          </p:cNvSpPr>
          <p:nvPr>
            <p:ph type="body" sz="quarter" idx="11"/>
          </p:nvPr>
        </p:nvSpPr>
        <p:spPr/>
        <p:txBody>
          <a:bodyPr/>
          <a:lstStyle/>
          <a:p>
            <a:pPr marL="0" indent="0" algn="ctr">
              <a:buNone/>
            </a:pPr>
            <a:r>
              <a:rPr lang="en-GB" sz="3200" b="0" i="0" u="none" strike="noStrike" dirty="0">
                <a:effectLst/>
                <a:latin typeface="Arial" panose="020B0604020202020204" pitchFamily="34" charset="0"/>
              </a:rPr>
              <a:t>h(t) = h</a:t>
            </a:r>
            <a:r>
              <a:rPr lang="en-GB" sz="3200" b="0" i="0" u="none" strike="noStrike" baseline="-25000" dirty="0">
                <a:effectLst/>
                <a:latin typeface="Arial" panose="020B0604020202020204" pitchFamily="34" charset="0"/>
              </a:rPr>
              <a:t>0</a:t>
            </a:r>
            <a:r>
              <a:rPr lang="en-GB" sz="3200" b="0" i="0" u="none" strike="noStrike" dirty="0">
                <a:effectLst/>
                <a:latin typeface="Arial" panose="020B0604020202020204" pitchFamily="34" charset="0"/>
              </a:rPr>
              <a:t>(t) </a:t>
            </a:r>
            <a:r>
              <a:rPr lang="en-GB" sz="3200" dirty="0">
                <a:latin typeface="Arial" panose="020B0604020202020204" pitchFamily="34" charset="0"/>
              </a:rPr>
              <a:t>*</a:t>
            </a:r>
            <a:r>
              <a:rPr lang="en-GB" sz="3200" b="0" i="0" u="none" strike="noStrike" dirty="0">
                <a:effectLst/>
                <a:latin typeface="Arial" panose="020B0604020202020204" pitchFamily="34" charset="0"/>
              </a:rPr>
              <a:t> exp(</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 + </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 … + </a:t>
            </a:r>
            <a:r>
              <a:rPr lang="el-GR" sz="3200" b="0" i="0" u="none" strike="noStrike" dirty="0">
                <a:effectLst/>
                <a:latin typeface="Arial" panose="020B0604020202020204" pitchFamily="34" charset="0"/>
              </a:rPr>
              <a:t>β</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a:t>
            </a: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p:txBody>
      </p:sp>
      <p:sp>
        <p:nvSpPr>
          <p:cNvPr id="5" name="Title 4">
            <a:extLst>
              <a:ext uri="{FF2B5EF4-FFF2-40B4-BE49-F238E27FC236}">
                <a16:creationId xmlns:a16="http://schemas.microsoft.com/office/drawing/2014/main" id="{BB66C9BA-62DE-4196-066B-7FC2067C1D1D}"/>
              </a:ext>
            </a:extLst>
          </p:cNvPr>
          <p:cNvSpPr>
            <a:spLocks noGrp="1"/>
          </p:cNvSpPr>
          <p:nvPr>
            <p:ph type="title"/>
          </p:nvPr>
        </p:nvSpPr>
        <p:spPr/>
        <p:txBody>
          <a:bodyPr/>
          <a:lstStyle/>
          <a:p>
            <a:r>
              <a:rPr lang="en-GB" dirty="0"/>
              <a:t>Cox proportional hazards</a:t>
            </a:r>
          </a:p>
        </p:txBody>
      </p:sp>
      <p:sp>
        <p:nvSpPr>
          <p:cNvPr id="4" name="Slide Number Placeholder 3">
            <a:extLst>
              <a:ext uri="{FF2B5EF4-FFF2-40B4-BE49-F238E27FC236}">
                <a16:creationId xmlns:a16="http://schemas.microsoft.com/office/drawing/2014/main" id="{3690B85B-143B-4CBF-4FAE-D2E0AF4AC13E}"/>
              </a:ext>
            </a:extLst>
          </p:cNvPr>
          <p:cNvSpPr>
            <a:spLocks noGrp="1"/>
          </p:cNvSpPr>
          <p:nvPr>
            <p:ph type="sldNum" sz="quarter" idx="10"/>
          </p:nvPr>
        </p:nvSpPr>
        <p:spPr/>
        <p:txBody>
          <a:bodyPr/>
          <a:lstStyle/>
          <a:p>
            <a:pPr>
              <a:defRPr/>
            </a:pPr>
            <a:fld id="{E5717E7F-5007-4559-A9EA-6621C16865F0}" type="slidenum">
              <a:rPr lang="en-GB" smtClean="0"/>
              <a:pPr>
                <a:defRPr/>
              </a:pPr>
              <a:t>88</a:t>
            </a:fld>
            <a:endParaRPr lang="en-GB"/>
          </a:p>
        </p:txBody>
      </p:sp>
    </p:spTree>
    <p:extLst>
      <p:ext uri="{BB962C8B-B14F-4D97-AF65-F5344CB8AC3E}">
        <p14:creationId xmlns:p14="http://schemas.microsoft.com/office/powerpoint/2010/main" val="221541618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C8FE3-280B-6D0E-BC81-CF5027359A6F}"/>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11B737A3-3FB3-A697-5A6D-5F696618DC24}"/>
              </a:ext>
            </a:extLst>
          </p:cNvPr>
          <p:cNvSpPr>
            <a:spLocks noGrp="1"/>
          </p:cNvSpPr>
          <p:nvPr>
            <p:ph type="body" sz="quarter" idx="11"/>
          </p:nvPr>
        </p:nvSpPr>
        <p:spPr/>
        <p:txBody>
          <a:bodyPr/>
          <a:lstStyle/>
          <a:p>
            <a:pPr marL="0" indent="0" algn="ctr">
              <a:buNone/>
            </a:pPr>
            <a:r>
              <a:rPr lang="en-GB" sz="3200" b="0" i="0" u="none" strike="noStrike" dirty="0">
                <a:solidFill>
                  <a:schemeClr val="accent3"/>
                </a:solidFill>
                <a:effectLst/>
                <a:latin typeface="Arial" panose="020B0604020202020204" pitchFamily="34" charset="0"/>
              </a:rPr>
              <a:t>h(t) </a:t>
            </a:r>
            <a:r>
              <a:rPr lang="en-GB" sz="3200" b="0" i="0" u="none" strike="noStrike" dirty="0">
                <a:effectLst/>
                <a:latin typeface="Arial" panose="020B0604020202020204" pitchFamily="34" charset="0"/>
              </a:rPr>
              <a:t>= h</a:t>
            </a:r>
            <a:r>
              <a:rPr lang="en-GB" sz="3200" b="0" i="0" u="none" strike="noStrike" baseline="-25000" dirty="0">
                <a:effectLst/>
                <a:latin typeface="Arial" panose="020B0604020202020204" pitchFamily="34" charset="0"/>
              </a:rPr>
              <a:t>0</a:t>
            </a:r>
            <a:r>
              <a:rPr lang="en-GB" sz="3200" b="0" i="0" u="none" strike="noStrike" dirty="0">
                <a:effectLst/>
                <a:latin typeface="Arial" panose="020B0604020202020204" pitchFamily="34" charset="0"/>
              </a:rPr>
              <a:t>(t) * exp(</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 + </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 … + </a:t>
            </a:r>
            <a:r>
              <a:rPr lang="el-GR" sz="3200" b="0" i="0" u="none" strike="noStrike" dirty="0">
                <a:effectLst/>
                <a:latin typeface="Arial" panose="020B0604020202020204" pitchFamily="34" charset="0"/>
              </a:rPr>
              <a:t>β</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a:t>
            </a: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r>
              <a:rPr lang="en-US" sz="2400" dirty="0"/>
              <a:t>Output is the </a:t>
            </a:r>
            <a:r>
              <a:rPr lang="en-US" sz="2400" b="1" dirty="0">
                <a:solidFill>
                  <a:schemeClr val="accent3"/>
                </a:solidFill>
                <a:latin typeface="+mn-lt"/>
              </a:rPr>
              <a:t>hazard function</a:t>
            </a:r>
          </a:p>
          <a:p>
            <a:pPr marL="0" indent="0">
              <a:buNone/>
            </a:pPr>
            <a:endParaRPr lang="en-US" sz="2400" dirty="0">
              <a:latin typeface="+mn-lt"/>
            </a:endParaRPr>
          </a:p>
          <a:p>
            <a:pPr marL="0" indent="0">
              <a:buNone/>
            </a:pPr>
            <a:r>
              <a:rPr lang="en-US" sz="2400" dirty="0">
                <a:latin typeface="+mn-lt"/>
              </a:rPr>
              <a:t>= the likelihood of experiencing an event </a:t>
            </a:r>
            <a:r>
              <a:rPr lang="en-US" sz="2400" i="1" dirty="0">
                <a:latin typeface="+mn-lt"/>
              </a:rPr>
              <a:t>right now</a:t>
            </a:r>
            <a:r>
              <a:rPr lang="en-US" sz="2400" dirty="0">
                <a:latin typeface="+mn-lt"/>
              </a:rPr>
              <a:t> (instantaneous likelihood), given survival to time </a:t>
            </a:r>
            <a:r>
              <a:rPr lang="en-US" sz="2400" i="1" dirty="0">
                <a:latin typeface="+mn-lt"/>
              </a:rPr>
              <a:t>t</a:t>
            </a:r>
            <a:endParaRPr lang="en-US" sz="2400" dirty="0">
              <a:latin typeface="+mn-lt"/>
            </a:endParaRPr>
          </a:p>
          <a:p>
            <a:endParaRPr lang="en-GB" sz="2400" dirty="0"/>
          </a:p>
        </p:txBody>
      </p:sp>
      <p:sp>
        <p:nvSpPr>
          <p:cNvPr id="5" name="Title 4">
            <a:extLst>
              <a:ext uri="{FF2B5EF4-FFF2-40B4-BE49-F238E27FC236}">
                <a16:creationId xmlns:a16="http://schemas.microsoft.com/office/drawing/2014/main" id="{73BB661A-1387-171B-C421-50C96F37F6AA}"/>
              </a:ext>
            </a:extLst>
          </p:cNvPr>
          <p:cNvSpPr>
            <a:spLocks noGrp="1"/>
          </p:cNvSpPr>
          <p:nvPr>
            <p:ph type="title"/>
          </p:nvPr>
        </p:nvSpPr>
        <p:spPr/>
        <p:txBody>
          <a:bodyPr/>
          <a:lstStyle/>
          <a:p>
            <a:r>
              <a:rPr lang="en-GB" dirty="0"/>
              <a:t>Cox proportional hazards</a:t>
            </a:r>
          </a:p>
        </p:txBody>
      </p:sp>
      <p:sp>
        <p:nvSpPr>
          <p:cNvPr id="4" name="Slide Number Placeholder 3">
            <a:extLst>
              <a:ext uri="{FF2B5EF4-FFF2-40B4-BE49-F238E27FC236}">
                <a16:creationId xmlns:a16="http://schemas.microsoft.com/office/drawing/2014/main" id="{89F00899-5ED7-869F-1AB7-C4F3610EF1C8}"/>
              </a:ext>
            </a:extLst>
          </p:cNvPr>
          <p:cNvSpPr>
            <a:spLocks noGrp="1"/>
          </p:cNvSpPr>
          <p:nvPr>
            <p:ph type="sldNum" sz="quarter" idx="10"/>
          </p:nvPr>
        </p:nvSpPr>
        <p:spPr/>
        <p:txBody>
          <a:bodyPr/>
          <a:lstStyle/>
          <a:p>
            <a:pPr>
              <a:defRPr/>
            </a:pPr>
            <a:fld id="{E5717E7F-5007-4559-A9EA-6621C16865F0}" type="slidenum">
              <a:rPr lang="en-GB" smtClean="0"/>
              <a:pPr>
                <a:defRPr/>
              </a:pPr>
              <a:t>89</a:t>
            </a:fld>
            <a:endParaRPr lang="en-GB"/>
          </a:p>
        </p:txBody>
      </p:sp>
    </p:spTree>
    <p:extLst>
      <p:ext uri="{BB962C8B-B14F-4D97-AF65-F5344CB8AC3E}">
        <p14:creationId xmlns:p14="http://schemas.microsoft.com/office/powerpoint/2010/main" val="64901126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D2E45-F413-49AB-9EEE-E92138653385}"/>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4A6CF015-C2EF-BABD-312B-DA53CC85789A}"/>
              </a:ext>
            </a:extLst>
          </p:cNvPr>
          <p:cNvSpPr>
            <a:spLocks noGrp="1"/>
          </p:cNvSpPr>
          <p:nvPr>
            <p:ph type="body" sz="quarter" idx="11"/>
          </p:nvPr>
        </p:nvSpPr>
        <p:spPr/>
        <p:txBody>
          <a:bodyPr/>
          <a:lstStyle/>
          <a:p>
            <a:pPr marL="0" indent="0" algn="ctr">
              <a:buNone/>
            </a:pPr>
            <a:r>
              <a:rPr lang="en-GB" sz="3200" b="0" i="0" u="none" strike="noStrike" dirty="0">
                <a:effectLst/>
                <a:latin typeface="Arial" panose="020B0604020202020204" pitchFamily="34" charset="0"/>
              </a:rPr>
              <a:t>h(t) = </a:t>
            </a:r>
            <a:r>
              <a:rPr lang="en-GB" sz="3200" b="0" i="0" u="none" strike="noStrike" dirty="0">
                <a:solidFill>
                  <a:schemeClr val="accent1"/>
                </a:solidFill>
                <a:effectLst/>
                <a:latin typeface="Arial" panose="020B0604020202020204" pitchFamily="34" charset="0"/>
              </a:rPr>
              <a:t>h</a:t>
            </a:r>
            <a:r>
              <a:rPr lang="en-GB" sz="3200" b="0" i="0" u="none" strike="noStrike" baseline="-25000" dirty="0">
                <a:solidFill>
                  <a:schemeClr val="accent1"/>
                </a:solidFill>
                <a:effectLst/>
                <a:latin typeface="Arial" panose="020B0604020202020204" pitchFamily="34" charset="0"/>
              </a:rPr>
              <a:t>0</a:t>
            </a:r>
            <a:r>
              <a:rPr lang="en-GB" sz="3200" b="0" i="0" u="none" strike="noStrike" dirty="0">
                <a:solidFill>
                  <a:schemeClr val="accent1"/>
                </a:solidFill>
                <a:effectLst/>
                <a:latin typeface="Arial" panose="020B0604020202020204" pitchFamily="34" charset="0"/>
              </a:rPr>
              <a:t>(t) </a:t>
            </a:r>
            <a:r>
              <a:rPr lang="en-GB" sz="3200" b="0" i="0" u="none" strike="noStrike" dirty="0">
                <a:effectLst/>
                <a:latin typeface="Arial" panose="020B0604020202020204" pitchFamily="34" charset="0"/>
              </a:rPr>
              <a:t>* exp(</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 + </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 … + </a:t>
            </a:r>
            <a:r>
              <a:rPr lang="el-GR" sz="3200" b="0" i="0" u="none" strike="noStrike" dirty="0">
                <a:effectLst/>
                <a:latin typeface="Arial" panose="020B0604020202020204" pitchFamily="34" charset="0"/>
              </a:rPr>
              <a:t>β</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a:t>
            </a: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r>
              <a:rPr lang="en-US" sz="2400" dirty="0"/>
              <a:t>It’s a combination of the </a:t>
            </a:r>
            <a:r>
              <a:rPr lang="en-US" sz="2400" b="1" dirty="0">
                <a:solidFill>
                  <a:schemeClr val="accent1"/>
                </a:solidFill>
              </a:rPr>
              <a:t>b</a:t>
            </a:r>
            <a:r>
              <a:rPr lang="en-US" sz="2400" b="1" dirty="0">
                <a:solidFill>
                  <a:schemeClr val="accent1"/>
                </a:solidFill>
                <a:latin typeface="+mn-lt"/>
              </a:rPr>
              <a:t>aseline hazard function</a:t>
            </a:r>
            <a:r>
              <a:rPr lang="en-US" sz="2400" dirty="0">
                <a:latin typeface="+mn-lt"/>
              </a:rPr>
              <a:t>…</a:t>
            </a:r>
          </a:p>
          <a:p>
            <a:pPr marL="0" indent="0">
              <a:buNone/>
            </a:pPr>
            <a:endParaRPr lang="en-US" sz="2400" dirty="0">
              <a:latin typeface="+mn-lt"/>
            </a:endParaRPr>
          </a:p>
          <a:p>
            <a:pPr marL="0" indent="0">
              <a:buNone/>
            </a:pPr>
            <a:r>
              <a:rPr lang="en-US" sz="2400" dirty="0">
                <a:latin typeface="+mn-lt"/>
              </a:rPr>
              <a:t>= the likelihood of the event, when all predictors are set to 0</a:t>
            </a:r>
          </a:p>
          <a:p>
            <a:pPr marL="0" indent="0">
              <a:buNone/>
            </a:pPr>
            <a:r>
              <a:rPr lang="en-US" sz="2400" dirty="0">
                <a:latin typeface="+mn-lt"/>
              </a:rPr>
              <a:t>(Acts a bit like a </a:t>
            </a:r>
            <a:r>
              <a:rPr lang="el-GR" sz="2400" b="0" i="0" u="none" strike="noStrike" dirty="0">
                <a:effectLst/>
                <a:latin typeface="Arial" panose="020B0604020202020204" pitchFamily="34" charset="0"/>
              </a:rPr>
              <a:t>β</a:t>
            </a:r>
            <a:r>
              <a:rPr lang="en-US" sz="2400" b="0" i="0" u="none" strike="noStrike" baseline="-25000" dirty="0">
                <a:effectLst/>
                <a:latin typeface="Arial" panose="020B0604020202020204" pitchFamily="34" charset="0"/>
              </a:rPr>
              <a:t>0</a:t>
            </a:r>
            <a:r>
              <a:rPr lang="en-GB" sz="2400" dirty="0"/>
              <a:t>)</a:t>
            </a:r>
          </a:p>
        </p:txBody>
      </p:sp>
      <p:sp>
        <p:nvSpPr>
          <p:cNvPr id="5" name="Title 4">
            <a:extLst>
              <a:ext uri="{FF2B5EF4-FFF2-40B4-BE49-F238E27FC236}">
                <a16:creationId xmlns:a16="http://schemas.microsoft.com/office/drawing/2014/main" id="{4F793880-446C-9DA5-CEBE-484AD1E356B3}"/>
              </a:ext>
            </a:extLst>
          </p:cNvPr>
          <p:cNvSpPr>
            <a:spLocks noGrp="1"/>
          </p:cNvSpPr>
          <p:nvPr>
            <p:ph type="title"/>
          </p:nvPr>
        </p:nvSpPr>
        <p:spPr/>
        <p:txBody>
          <a:bodyPr/>
          <a:lstStyle/>
          <a:p>
            <a:r>
              <a:rPr lang="en-GB" dirty="0"/>
              <a:t>Cox proportional hazards</a:t>
            </a:r>
          </a:p>
        </p:txBody>
      </p:sp>
      <p:sp>
        <p:nvSpPr>
          <p:cNvPr id="4" name="Slide Number Placeholder 3">
            <a:extLst>
              <a:ext uri="{FF2B5EF4-FFF2-40B4-BE49-F238E27FC236}">
                <a16:creationId xmlns:a16="http://schemas.microsoft.com/office/drawing/2014/main" id="{0E574A63-FB39-F6AF-00CD-0C07E3D67EE7}"/>
              </a:ext>
            </a:extLst>
          </p:cNvPr>
          <p:cNvSpPr>
            <a:spLocks noGrp="1"/>
          </p:cNvSpPr>
          <p:nvPr>
            <p:ph type="sldNum" sz="quarter" idx="10"/>
          </p:nvPr>
        </p:nvSpPr>
        <p:spPr/>
        <p:txBody>
          <a:bodyPr/>
          <a:lstStyle/>
          <a:p>
            <a:pPr>
              <a:defRPr/>
            </a:pPr>
            <a:fld id="{E5717E7F-5007-4559-A9EA-6621C16865F0}" type="slidenum">
              <a:rPr lang="en-GB" smtClean="0"/>
              <a:pPr>
                <a:defRPr/>
              </a:pPr>
              <a:t>90</a:t>
            </a:fld>
            <a:endParaRPr lang="en-GB"/>
          </a:p>
        </p:txBody>
      </p:sp>
    </p:spTree>
    <p:extLst>
      <p:ext uri="{BB962C8B-B14F-4D97-AF65-F5344CB8AC3E}">
        <p14:creationId xmlns:p14="http://schemas.microsoft.com/office/powerpoint/2010/main" val="188469835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BE25-4DED-0376-D234-A34CF65A5BFE}"/>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245EC9DB-17D2-29A3-855A-205A748430D2}"/>
              </a:ext>
            </a:extLst>
          </p:cNvPr>
          <p:cNvSpPr>
            <a:spLocks noGrp="1"/>
          </p:cNvSpPr>
          <p:nvPr>
            <p:ph type="body" sz="quarter" idx="11"/>
          </p:nvPr>
        </p:nvSpPr>
        <p:spPr/>
        <p:txBody>
          <a:bodyPr/>
          <a:lstStyle/>
          <a:p>
            <a:pPr marL="0" indent="0" algn="ctr">
              <a:buNone/>
            </a:pPr>
            <a:r>
              <a:rPr lang="en-GB" sz="3200" b="0" i="0" u="none" strike="noStrike" dirty="0">
                <a:effectLst/>
                <a:latin typeface="Arial" panose="020B0604020202020204" pitchFamily="34" charset="0"/>
              </a:rPr>
              <a:t>h(t) = h</a:t>
            </a:r>
            <a:r>
              <a:rPr lang="en-GB" sz="3200" b="0" i="0" u="none" strike="noStrike" baseline="-25000" dirty="0">
                <a:effectLst/>
                <a:latin typeface="Arial" panose="020B0604020202020204" pitchFamily="34" charset="0"/>
              </a:rPr>
              <a:t>0</a:t>
            </a:r>
            <a:r>
              <a:rPr lang="en-GB" sz="3200" b="0" i="0" u="none" strike="noStrike" dirty="0">
                <a:effectLst/>
                <a:latin typeface="Arial" panose="020B0604020202020204" pitchFamily="34" charset="0"/>
              </a:rPr>
              <a:t>(t) * exp(</a:t>
            </a:r>
            <a:r>
              <a:rPr lang="el-GR" sz="3200" i="0" u="none" strike="noStrike" dirty="0">
                <a:solidFill>
                  <a:schemeClr val="accent5"/>
                </a:solidFill>
                <a:effectLst/>
                <a:latin typeface="Arial" panose="020B0604020202020204" pitchFamily="34" charset="0"/>
              </a:rPr>
              <a:t>β</a:t>
            </a:r>
            <a:r>
              <a:rPr lang="el-GR" sz="3200" i="0" u="none" strike="noStrike" baseline="-25000" dirty="0">
                <a:solidFill>
                  <a:schemeClr val="accent5"/>
                </a:solidFill>
                <a:effectLst/>
                <a:latin typeface="Arial" panose="020B0604020202020204" pitchFamily="34" charset="0"/>
              </a:rPr>
              <a:t>1</a:t>
            </a:r>
            <a:r>
              <a:rPr lang="en-GB" sz="3200" i="0" u="none" strike="noStrike" dirty="0">
                <a:solidFill>
                  <a:schemeClr val="accent2"/>
                </a:solidFill>
                <a:effectLst/>
                <a:latin typeface="Arial" panose="020B0604020202020204" pitchFamily="34" charset="0"/>
              </a:rPr>
              <a:t>x</a:t>
            </a:r>
            <a:r>
              <a:rPr lang="en-GB" sz="3200" i="0" u="none" strike="noStrike" baseline="-25000" dirty="0">
                <a:solidFill>
                  <a:schemeClr val="accent2"/>
                </a:solidFill>
                <a:effectLst/>
                <a:latin typeface="Arial" panose="020B0604020202020204" pitchFamily="34" charset="0"/>
              </a:rPr>
              <a:t>1</a:t>
            </a:r>
            <a:r>
              <a:rPr lang="en-GB" sz="3200" i="0" u="none" strike="noStrike" dirty="0">
                <a:effectLst/>
                <a:latin typeface="Arial" panose="020B0604020202020204" pitchFamily="34" charset="0"/>
              </a:rPr>
              <a:t> + </a:t>
            </a:r>
            <a:r>
              <a:rPr lang="el-GR" sz="3200" i="0" u="none" strike="noStrike" dirty="0">
                <a:solidFill>
                  <a:schemeClr val="accent5"/>
                </a:solidFill>
                <a:effectLst/>
                <a:latin typeface="Arial" panose="020B0604020202020204" pitchFamily="34" charset="0"/>
              </a:rPr>
              <a:t>β</a:t>
            </a:r>
            <a:r>
              <a:rPr lang="el-GR" sz="3200" i="0" u="none" strike="noStrike" baseline="-25000" dirty="0">
                <a:solidFill>
                  <a:schemeClr val="accent5"/>
                </a:solidFill>
                <a:effectLst/>
                <a:latin typeface="Arial" panose="020B0604020202020204" pitchFamily="34" charset="0"/>
              </a:rPr>
              <a:t>2</a:t>
            </a:r>
            <a:r>
              <a:rPr lang="en-GB" sz="3200" i="0" u="none" strike="noStrike" dirty="0">
                <a:solidFill>
                  <a:schemeClr val="accent2"/>
                </a:solidFill>
                <a:effectLst/>
                <a:latin typeface="Arial" panose="020B0604020202020204" pitchFamily="34" charset="0"/>
              </a:rPr>
              <a:t>x</a:t>
            </a:r>
            <a:r>
              <a:rPr lang="en-GB" sz="3200" i="0" u="none" strike="noStrike" baseline="-25000" dirty="0">
                <a:solidFill>
                  <a:schemeClr val="accent2"/>
                </a:solidFill>
                <a:effectLst/>
                <a:latin typeface="Arial" panose="020B0604020202020204" pitchFamily="34" charset="0"/>
              </a:rPr>
              <a:t>2</a:t>
            </a:r>
            <a:r>
              <a:rPr lang="en-GB" sz="3200" i="0" u="none" strike="noStrike" dirty="0">
                <a:solidFill>
                  <a:schemeClr val="accent2"/>
                </a:solidFill>
                <a:effectLst/>
                <a:latin typeface="Arial" panose="020B0604020202020204" pitchFamily="34" charset="0"/>
              </a:rPr>
              <a:t> </a:t>
            </a:r>
            <a:r>
              <a:rPr lang="en-GB" sz="3200" i="0" u="none" strike="noStrike" dirty="0">
                <a:effectLst/>
                <a:latin typeface="Arial" panose="020B0604020202020204" pitchFamily="34" charset="0"/>
              </a:rPr>
              <a:t>… + </a:t>
            </a:r>
            <a:r>
              <a:rPr lang="el-GR" sz="3200" i="0" u="none" strike="noStrike" dirty="0">
                <a:solidFill>
                  <a:schemeClr val="accent5"/>
                </a:solidFill>
                <a:effectLst/>
                <a:latin typeface="Arial" panose="020B0604020202020204" pitchFamily="34" charset="0"/>
              </a:rPr>
              <a:t>β</a:t>
            </a:r>
            <a:r>
              <a:rPr lang="en-GB" sz="3200" i="0" u="none" strike="noStrike" baseline="-25000" dirty="0">
                <a:solidFill>
                  <a:schemeClr val="accent5"/>
                </a:solidFill>
                <a:effectLst/>
                <a:latin typeface="Arial" panose="020B0604020202020204" pitchFamily="34" charset="0"/>
              </a:rPr>
              <a:t>n</a:t>
            </a:r>
            <a:r>
              <a:rPr lang="en-GB" sz="3200" i="0" u="none" strike="noStrike" dirty="0">
                <a:solidFill>
                  <a:schemeClr val="accent2"/>
                </a:solidFill>
                <a:effectLst/>
                <a:latin typeface="Arial" panose="020B0604020202020204" pitchFamily="34" charset="0"/>
              </a:rPr>
              <a:t>x</a:t>
            </a:r>
            <a:r>
              <a:rPr lang="en-GB" sz="3200" i="0" u="none" strike="noStrike" baseline="-25000" dirty="0">
                <a:solidFill>
                  <a:schemeClr val="accent2"/>
                </a:solidFill>
                <a:effectLst/>
                <a:latin typeface="Arial" panose="020B0604020202020204" pitchFamily="34" charset="0"/>
              </a:rPr>
              <a:t>n</a:t>
            </a:r>
            <a:r>
              <a:rPr lang="en-GB" sz="3200" b="0" i="0" u="none" strike="noStrike" dirty="0">
                <a:effectLst/>
                <a:latin typeface="Arial" panose="020B0604020202020204" pitchFamily="34" charset="0"/>
              </a:rPr>
              <a:t>)</a:t>
            </a: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r>
              <a:rPr lang="en-US" sz="2400" dirty="0">
                <a:latin typeface="+mn-lt"/>
              </a:rPr>
              <a:t>… multiplied by a </a:t>
            </a:r>
            <a:r>
              <a:rPr lang="en-US" sz="2400" b="1" dirty="0">
                <a:solidFill>
                  <a:srgbClr val="000000"/>
                </a:solidFill>
                <a:latin typeface="+mn-lt"/>
              </a:rPr>
              <a:t>linear equation</a:t>
            </a:r>
          </a:p>
          <a:p>
            <a:pPr marL="0" indent="0">
              <a:buNone/>
            </a:pPr>
            <a:endParaRPr lang="en-US" sz="2400" dirty="0">
              <a:latin typeface="+mn-lt"/>
            </a:endParaRPr>
          </a:p>
          <a:p>
            <a:pPr marL="0" indent="0">
              <a:buNone/>
            </a:pPr>
            <a:r>
              <a:rPr lang="en-US" sz="2400" dirty="0">
                <a:latin typeface="+mn-lt"/>
              </a:rPr>
              <a:t>= set of </a:t>
            </a:r>
            <a:r>
              <a:rPr lang="en-US" sz="2400" b="1" dirty="0">
                <a:solidFill>
                  <a:schemeClr val="accent2"/>
                </a:solidFill>
                <a:latin typeface="+mn-lt"/>
              </a:rPr>
              <a:t>predictors</a:t>
            </a:r>
            <a:r>
              <a:rPr lang="en-US" sz="2400" dirty="0">
                <a:latin typeface="+mn-lt"/>
              </a:rPr>
              <a:t> and their </a:t>
            </a:r>
            <a:r>
              <a:rPr lang="en-US" sz="2400" b="1" dirty="0">
                <a:solidFill>
                  <a:schemeClr val="accent5"/>
                </a:solidFill>
                <a:latin typeface="+mn-lt"/>
              </a:rPr>
              <a:t>beta coefficients</a:t>
            </a:r>
          </a:p>
          <a:p>
            <a:pPr marL="0" indent="0">
              <a:buNone/>
            </a:pPr>
            <a:endParaRPr lang="en-US" sz="2400" dirty="0">
              <a:latin typeface="+mn-lt"/>
            </a:endParaRPr>
          </a:p>
          <a:p>
            <a:pPr marL="0" indent="0">
              <a:buNone/>
            </a:pPr>
            <a:endParaRPr lang="en-GB" sz="2400" dirty="0">
              <a:latin typeface="+mn-lt"/>
            </a:endParaRPr>
          </a:p>
          <a:p>
            <a:endParaRPr lang="en-GB" sz="2400" dirty="0"/>
          </a:p>
        </p:txBody>
      </p:sp>
      <p:sp>
        <p:nvSpPr>
          <p:cNvPr id="5" name="Title 4">
            <a:extLst>
              <a:ext uri="{FF2B5EF4-FFF2-40B4-BE49-F238E27FC236}">
                <a16:creationId xmlns:a16="http://schemas.microsoft.com/office/drawing/2014/main" id="{D21CF1C2-70EE-C4B4-9387-42FCC094F62B}"/>
              </a:ext>
            </a:extLst>
          </p:cNvPr>
          <p:cNvSpPr>
            <a:spLocks noGrp="1"/>
          </p:cNvSpPr>
          <p:nvPr>
            <p:ph type="title"/>
          </p:nvPr>
        </p:nvSpPr>
        <p:spPr/>
        <p:txBody>
          <a:bodyPr/>
          <a:lstStyle/>
          <a:p>
            <a:r>
              <a:rPr lang="en-GB" dirty="0"/>
              <a:t>Cox proportional hazards</a:t>
            </a:r>
          </a:p>
        </p:txBody>
      </p:sp>
      <p:sp>
        <p:nvSpPr>
          <p:cNvPr id="4" name="Slide Number Placeholder 3">
            <a:extLst>
              <a:ext uri="{FF2B5EF4-FFF2-40B4-BE49-F238E27FC236}">
                <a16:creationId xmlns:a16="http://schemas.microsoft.com/office/drawing/2014/main" id="{D3F801D2-5EF2-5D61-B10A-D3388743F96A}"/>
              </a:ext>
            </a:extLst>
          </p:cNvPr>
          <p:cNvSpPr>
            <a:spLocks noGrp="1"/>
          </p:cNvSpPr>
          <p:nvPr>
            <p:ph type="sldNum" sz="quarter" idx="10"/>
          </p:nvPr>
        </p:nvSpPr>
        <p:spPr/>
        <p:txBody>
          <a:bodyPr/>
          <a:lstStyle/>
          <a:p>
            <a:pPr>
              <a:defRPr/>
            </a:pPr>
            <a:fld id="{E5717E7F-5007-4559-A9EA-6621C16865F0}" type="slidenum">
              <a:rPr lang="en-GB" smtClean="0"/>
              <a:pPr>
                <a:defRPr/>
              </a:pPr>
              <a:t>91</a:t>
            </a:fld>
            <a:endParaRPr lang="en-GB"/>
          </a:p>
        </p:txBody>
      </p:sp>
    </p:spTree>
    <p:extLst>
      <p:ext uri="{BB962C8B-B14F-4D97-AF65-F5344CB8AC3E}">
        <p14:creationId xmlns:p14="http://schemas.microsoft.com/office/powerpoint/2010/main" val="13847355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D50BD-49AC-0368-EE40-EEE47E59385E}"/>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33142DA3-FC68-A8DF-BC2A-1650618797C2}"/>
              </a:ext>
            </a:extLst>
          </p:cNvPr>
          <p:cNvSpPr>
            <a:spLocks noGrp="1"/>
          </p:cNvSpPr>
          <p:nvPr>
            <p:ph type="body" sz="quarter" idx="11"/>
          </p:nvPr>
        </p:nvSpPr>
        <p:spPr/>
        <p:txBody>
          <a:bodyPr/>
          <a:lstStyle/>
          <a:p>
            <a:pPr marL="0" indent="0" algn="ctr">
              <a:buNone/>
            </a:pPr>
            <a:r>
              <a:rPr lang="en-GB" sz="3200" b="0" i="0" u="none" strike="noStrike" dirty="0">
                <a:effectLst/>
                <a:latin typeface="Arial" panose="020B0604020202020204" pitchFamily="34" charset="0"/>
              </a:rPr>
              <a:t>h(t) = h</a:t>
            </a:r>
            <a:r>
              <a:rPr lang="en-GB" sz="3200" b="0" i="0" u="none" strike="noStrike" baseline="-25000" dirty="0">
                <a:effectLst/>
                <a:latin typeface="Arial" panose="020B0604020202020204" pitchFamily="34" charset="0"/>
              </a:rPr>
              <a:t>0</a:t>
            </a:r>
            <a:r>
              <a:rPr lang="en-GB" sz="3200" b="0" i="0" u="none" strike="noStrike" dirty="0">
                <a:effectLst/>
                <a:latin typeface="Arial" panose="020B0604020202020204" pitchFamily="34" charset="0"/>
              </a:rPr>
              <a:t>(t) * exp(</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 + </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 … + </a:t>
            </a:r>
            <a:r>
              <a:rPr lang="el-GR" sz="3200" b="0" i="0" u="none" strike="noStrike" dirty="0">
                <a:effectLst/>
                <a:latin typeface="Arial" panose="020B0604020202020204" pitchFamily="34" charset="0"/>
              </a:rPr>
              <a:t>β</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a:t>
            </a: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r>
              <a:rPr lang="en-US" dirty="0"/>
              <a:t>Allows us to model:</a:t>
            </a:r>
          </a:p>
          <a:p>
            <a:r>
              <a:rPr lang="en-US" dirty="0"/>
              <a:t>how the baseline </a:t>
            </a:r>
            <a:br>
              <a:rPr lang="en-US" dirty="0"/>
            </a:br>
            <a:r>
              <a:rPr lang="en-US" dirty="0"/>
              <a:t>hazard function </a:t>
            </a:r>
            <a:br>
              <a:rPr lang="en-US" dirty="0"/>
            </a:br>
            <a:r>
              <a:rPr lang="en-US" dirty="0"/>
              <a:t>changes </a:t>
            </a:r>
          </a:p>
          <a:p>
            <a:r>
              <a:rPr lang="en-US" dirty="0"/>
              <a:t>as the value(s) of the </a:t>
            </a:r>
            <a:br>
              <a:rPr lang="en-US" dirty="0"/>
            </a:br>
            <a:r>
              <a:rPr lang="en-US" dirty="0"/>
              <a:t>predictor(s) change.</a:t>
            </a: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p:txBody>
      </p:sp>
      <p:sp>
        <p:nvSpPr>
          <p:cNvPr id="5" name="Title 4">
            <a:extLst>
              <a:ext uri="{FF2B5EF4-FFF2-40B4-BE49-F238E27FC236}">
                <a16:creationId xmlns:a16="http://schemas.microsoft.com/office/drawing/2014/main" id="{63F8A2CC-6628-A37E-9BCE-DADC395DC909}"/>
              </a:ext>
            </a:extLst>
          </p:cNvPr>
          <p:cNvSpPr>
            <a:spLocks noGrp="1"/>
          </p:cNvSpPr>
          <p:nvPr>
            <p:ph type="title"/>
          </p:nvPr>
        </p:nvSpPr>
        <p:spPr/>
        <p:txBody>
          <a:bodyPr/>
          <a:lstStyle/>
          <a:p>
            <a:r>
              <a:rPr lang="en-GB" dirty="0"/>
              <a:t>Cox proportional hazards</a:t>
            </a:r>
          </a:p>
        </p:txBody>
      </p:sp>
      <p:sp>
        <p:nvSpPr>
          <p:cNvPr id="4" name="Slide Number Placeholder 3">
            <a:extLst>
              <a:ext uri="{FF2B5EF4-FFF2-40B4-BE49-F238E27FC236}">
                <a16:creationId xmlns:a16="http://schemas.microsoft.com/office/drawing/2014/main" id="{19BDFBD7-A907-E9AA-9210-77CFF99B8082}"/>
              </a:ext>
            </a:extLst>
          </p:cNvPr>
          <p:cNvSpPr>
            <a:spLocks noGrp="1"/>
          </p:cNvSpPr>
          <p:nvPr>
            <p:ph type="sldNum" sz="quarter" idx="10"/>
          </p:nvPr>
        </p:nvSpPr>
        <p:spPr/>
        <p:txBody>
          <a:bodyPr/>
          <a:lstStyle/>
          <a:p>
            <a:pPr>
              <a:defRPr/>
            </a:pPr>
            <a:fld id="{E5717E7F-5007-4559-A9EA-6621C16865F0}" type="slidenum">
              <a:rPr lang="en-GB" smtClean="0"/>
              <a:pPr>
                <a:defRPr/>
              </a:pPr>
              <a:t>92</a:t>
            </a:fld>
            <a:endParaRPr lang="en-GB"/>
          </a:p>
        </p:txBody>
      </p:sp>
      <p:pic>
        <p:nvPicPr>
          <p:cNvPr id="3" name="Picture 2">
            <a:extLst>
              <a:ext uri="{FF2B5EF4-FFF2-40B4-BE49-F238E27FC236}">
                <a16:creationId xmlns:a16="http://schemas.microsoft.com/office/drawing/2014/main" id="{D2F33CF7-F77E-F842-A635-DC37ABBC4D51}"/>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4056063" y="2913055"/>
            <a:ext cx="4572009" cy="3200407"/>
          </a:xfrm>
          <a:prstGeom prst="rect">
            <a:avLst/>
          </a:prstGeom>
        </p:spPr>
      </p:pic>
    </p:spTree>
    <p:extLst>
      <p:ext uri="{BB962C8B-B14F-4D97-AF65-F5344CB8AC3E}">
        <p14:creationId xmlns:p14="http://schemas.microsoft.com/office/powerpoint/2010/main" val="3872227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FC059A7-1055-DAE7-1695-F40BAA991B0B}"/>
              </a:ext>
            </a:extLst>
          </p:cNvPr>
          <p:cNvSpPr>
            <a:spLocks noGrp="1"/>
          </p:cNvSpPr>
          <p:nvPr>
            <p:ph type="body" sz="quarter" idx="11"/>
          </p:nvPr>
        </p:nvSpPr>
        <p:spPr/>
        <p:txBody>
          <a:bodyPr/>
          <a:lstStyle/>
          <a:p>
            <a:pPr marL="0" indent="0">
              <a:buNone/>
            </a:pPr>
            <a:r>
              <a:rPr lang="en-US" dirty="0"/>
              <a:t>From a Cox model, we can estimate/calculate:</a:t>
            </a:r>
          </a:p>
          <a:p>
            <a:endParaRPr lang="en-US" dirty="0"/>
          </a:p>
          <a:p>
            <a:r>
              <a:rPr lang="en-GB" b="1" dirty="0"/>
              <a:t>P-values</a:t>
            </a:r>
            <a:r>
              <a:rPr lang="en-GB" dirty="0"/>
              <a:t> and confidence intervals</a:t>
            </a:r>
          </a:p>
          <a:p>
            <a:r>
              <a:rPr lang="en-GB" b="1" dirty="0"/>
              <a:t>Coefficients</a:t>
            </a:r>
            <a:r>
              <a:rPr lang="en-GB" dirty="0"/>
              <a:t> for predictors</a:t>
            </a:r>
          </a:p>
          <a:p>
            <a:endParaRPr lang="en-GB" dirty="0"/>
          </a:p>
          <a:p>
            <a:r>
              <a:rPr lang="en-US" b="1" dirty="0"/>
              <a:t>Survival probability </a:t>
            </a:r>
            <a:r>
              <a:rPr lang="en-US" dirty="0"/>
              <a:t>at any specific time</a:t>
            </a:r>
          </a:p>
          <a:p>
            <a:r>
              <a:rPr lang="en-US" b="1" dirty="0"/>
              <a:t>Hazard ratios</a:t>
            </a:r>
          </a:p>
          <a:p>
            <a:pPr lvl="1"/>
            <a:r>
              <a:rPr lang="en-US" sz="2000" dirty="0"/>
              <a:t>For an individual </a:t>
            </a:r>
          </a:p>
          <a:p>
            <a:pPr lvl="1"/>
            <a:r>
              <a:rPr lang="en-US" sz="2000" dirty="0"/>
              <a:t>Or between groups</a:t>
            </a:r>
          </a:p>
          <a:p>
            <a:endParaRPr lang="en-GB" b="1" dirty="0"/>
          </a:p>
        </p:txBody>
      </p:sp>
      <p:sp>
        <p:nvSpPr>
          <p:cNvPr id="3" name="Title 2">
            <a:extLst>
              <a:ext uri="{FF2B5EF4-FFF2-40B4-BE49-F238E27FC236}">
                <a16:creationId xmlns:a16="http://schemas.microsoft.com/office/drawing/2014/main" id="{5EF7287F-A207-7243-6A8C-977767F0924F}"/>
              </a:ext>
            </a:extLst>
          </p:cNvPr>
          <p:cNvSpPr>
            <a:spLocks noGrp="1"/>
          </p:cNvSpPr>
          <p:nvPr>
            <p:ph type="title"/>
          </p:nvPr>
        </p:nvSpPr>
        <p:spPr/>
        <p:txBody>
          <a:bodyPr/>
          <a:lstStyle/>
          <a:p>
            <a:r>
              <a:rPr lang="en-GB" dirty="0"/>
              <a:t>Interpretation of a Cox regression model</a:t>
            </a:r>
          </a:p>
        </p:txBody>
      </p:sp>
      <p:sp>
        <p:nvSpPr>
          <p:cNvPr id="4" name="Slide Number Placeholder 3">
            <a:extLst>
              <a:ext uri="{FF2B5EF4-FFF2-40B4-BE49-F238E27FC236}">
                <a16:creationId xmlns:a16="http://schemas.microsoft.com/office/drawing/2014/main" id="{6B8B8B97-44A9-AD7A-1742-D7DCCA8613DA}"/>
              </a:ext>
            </a:extLst>
          </p:cNvPr>
          <p:cNvSpPr>
            <a:spLocks noGrp="1"/>
          </p:cNvSpPr>
          <p:nvPr>
            <p:ph type="sldNum" sz="quarter" idx="10"/>
          </p:nvPr>
        </p:nvSpPr>
        <p:spPr/>
        <p:txBody>
          <a:bodyPr/>
          <a:lstStyle/>
          <a:p>
            <a:pPr>
              <a:defRPr/>
            </a:pPr>
            <a:fld id="{CD3FC0C4-D681-4CE5-B41E-BCE48B80373A}" type="slidenum">
              <a:rPr lang="en-GB" smtClean="0"/>
              <a:pPr>
                <a:defRPr/>
              </a:pPr>
              <a:t>93</a:t>
            </a:fld>
            <a:endParaRPr lang="en-GB"/>
          </a:p>
        </p:txBody>
      </p:sp>
    </p:spTree>
    <p:extLst>
      <p:ext uri="{BB962C8B-B14F-4D97-AF65-F5344CB8AC3E}">
        <p14:creationId xmlns:p14="http://schemas.microsoft.com/office/powerpoint/2010/main" val="16157940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2D4D1D-3036-1A2B-9DEC-813D09B8E1D7}"/>
              </a:ext>
            </a:extLst>
          </p:cNvPr>
          <p:cNvSpPr>
            <a:spLocks noGrp="1"/>
          </p:cNvSpPr>
          <p:nvPr>
            <p:ph type="title"/>
          </p:nvPr>
        </p:nvSpPr>
        <p:spPr/>
        <p:txBody>
          <a:bodyPr/>
          <a:lstStyle/>
          <a:p>
            <a:r>
              <a:rPr lang="en-GB" dirty="0"/>
              <a:t>Assumptions of Cox regression</a:t>
            </a:r>
          </a:p>
        </p:txBody>
      </p:sp>
      <p:sp>
        <p:nvSpPr>
          <p:cNvPr id="4" name="Slide Number Placeholder 3">
            <a:extLst>
              <a:ext uri="{FF2B5EF4-FFF2-40B4-BE49-F238E27FC236}">
                <a16:creationId xmlns:a16="http://schemas.microsoft.com/office/drawing/2014/main" id="{9118F15B-8F9A-926D-C75F-C5A3FFDADC1D}"/>
              </a:ext>
            </a:extLst>
          </p:cNvPr>
          <p:cNvSpPr>
            <a:spLocks noGrp="1"/>
          </p:cNvSpPr>
          <p:nvPr>
            <p:ph type="sldNum" sz="quarter" idx="10"/>
          </p:nvPr>
        </p:nvSpPr>
        <p:spPr/>
        <p:txBody>
          <a:bodyPr/>
          <a:lstStyle/>
          <a:p>
            <a:pPr>
              <a:defRPr/>
            </a:pPr>
            <a:fld id="{CD3FC0C4-D681-4CE5-B41E-BCE48B80373A}" type="slidenum">
              <a:rPr lang="en-GB" smtClean="0"/>
              <a:pPr>
                <a:defRPr/>
              </a:pPr>
              <a:t>94</a:t>
            </a:fld>
            <a:endParaRPr lang="en-GB"/>
          </a:p>
        </p:txBody>
      </p:sp>
      <p:sp>
        <p:nvSpPr>
          <p:cNvPr id="5" name="Text Placeholder 1">
            <a:extLst>
              <a:ext uri="{FF2B5EF4-FFF2-40B4-BE49-F238E27FC236}">
                <a16:creationId xmlns:a16="http://schemas.microsoft.com/office/drawing/2014/main" id="{FBCED9BE-CEEC-0833-782F-4614216352BD}"/>
              </a:ext>
            </a:extLst>
          </p:cNvPr>
          <p:cNvSpPr>
            <a:spLocks noGrp="1"/>
          </p:cNvSpPr>
          <p:nvPr>
            <p:ph type="body" sz="quarter" idx="11"/>
          </p:nvPr>
        </p:nvSpPr>
        <p:spPr>
          <a:xfrm>
            <a:off x="515938" y="1773238"/>
            <a:ext cx="8112125" cy="4002087"/>
          </a:xfrm>
        </p:spPr>
        <p:txBody>
          <a:bodyPr/>
          <a:lstStyle/>
          <a:p>
            <a:pPr marL="0" indent="0">
              <a:buNone/>
            </a:pPr>
            <a:r>
              <a:rPr lang="en-GB" dirty="0"/>
              <a:t>The </a:t>
            </a:r>
            <a:r>
              <a:rPr lang="en-GB" b="1" dirty="0"/>
              <a:t>assumptions </a:t>
            </a:r>
            <a:r>
              <a:rPr lang="en-GB" dirty="0"/>
              <a:t>are the same as the long-rank test</a:t>
            </a:r>
            <a:endParaRPr lang="en-GB" b="1" dirty="0"/>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p:txBody>
      </p:sp>
    </p:spTree>
    <p:extLst>
      <p:ext uri="{BB962C8B-B14F-4D97-AF65-F5344CB8AC3E}">
        <p14:creationId xmlns:p14="http://schemas.microsoft.com/office/powerpoint/2010/main" val="139324045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B5AE46-352B-2A8D-4FF4-C7E41A85890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3CF76A3-E487-EC5D-39F2-6A68840F204C}"/>
              </a:ext>
            </a:extLst>
          </p:cNvPr>
          <p:cNvSpPr>
            <a:spLocks noGrp="1"/>
          </p:cNvSpPr>
          <p:nvPr>
            <p:ph type="title"/>
          </p:nvPr>
        </p:nvSpPr>
        <p:spPr/>
        <p:txBody>
          <a:bodyPr/>
          <a:lstStyle/>
          <a:p>
            <a:r>
              <a:rPr lang="en-GB" dirty="0"/>
              <a:t>Assumptions of Cox regression</a:t>
            </a:r>
          </a:p>
        </p:txBody>
      </p:sp>
      <p:sp>
        <p:nvSpPr>
          <p:cNvPr id="4" name="Slide Number Placeholder 3">
            <a:extLst>
              <a:ext uri="{FF2B5EF4-FFF2-40B4-BE49-F238E27FC236}">
                <a16:creationId xmlns:a16="http://schemas.microsoft.com/office/drawing/2014/main" id="{C7AAD188-7E34-3345-A254-6166AE41C980}"/>
              </a:ext>
            </a:extLst>
          </p:cNvPr>
          <p:cNvSpPr>
            <a:spLocks noGrp="1"/>
          </p:cNvSpPr>
          <p:nvPr>
            <p:ph type="sldNum" sz="quarter" idx="10"/>
          </p:nvPr>
        </p:nvSpPr>
        <p:spPr/>
        <p:txBody>
          <a:bodyPr/>
          <a:lstStyle/>
          <a:p>
            <a:pPr>
              <a:defRPr/>
            </a:pPr>
            <a:fld id="{CD3FC0C4-D681-4CE5-B41E-BCE48B80373A}" type="slidenum">
              <a:rPr lang="en-GB" smtClean="0"/>
              <a:pPr>
                <a:defRPr/>
              </a:pPr>
              <a:t>95</a:t>
            </a:fld>
            <a:endParaRPr lang="en-GB"/>
          </a:p>
        </p:txBody>
      </p:sp>
      <p:sp>
        <p:nvSpPr>
          <p:cNvPr id="5" name="Text Placeholder 1">
            <a:extLst>
              <a:ext uri="{FF2B5EF4-FFF2-40B4-BE49-F238E27FC236}">
                <a16:creationId xmlns:a16="http://schemas.microsoft.com/office/drawing/2014/main" id="{20D10778-97A8-70AA-66DC-5B863D1E72FC}"/>
              </a:ext>
            </a:extLst>
          </p:cNvPr>
          <p:cNvSpPr>
            <a:spLocks noGrp="1"/>
          </p:cNvSpPr>
          <p:nvPr>
            <p:ph type="body" sz="quarter" idx="11"/>
          </p:nvPr>
        </p:nvSpPr>
        <p:spPr>
          <a:xfrm>
            <a:off x="515938" y="1773238"/>
            <a:ext cx="8112125" cy="4002087"/>
          </a:xfrm>
        </p:spPr>
        <p:txBody>
          <a:bodyPr/>
          <a:lstStyle/>
          <a:p>
            <a:pPr marL="0" indent="0">
              <a:buNone/>
            </a:pPr>
            <a:r>
              <a:rPr lang="en-GB" dirty="0"/>
              <a:t>The </a:t>
            </a:r>
            <a:r>
              <a:rPr lang="en-GB" b="1" dirty="0"/>
              <a:t>assumptions </a:t>
            </a:r>
            <a:r>
              <a:rPr lang="en-GB" dirty="0"/>
              <a:t>are the same as the long-rank test</a:t>
            </a:r>
            <a:r>
              <a:rPr lang="en-GB" dirty="0">
                <a:solidFill>
                  <a:schemeClr val="accent2"/>
                </a:solidFill>
              </a:rPr>
              <a:t>*</a:t>
            </a:r>
            <a:endParaRPr lang="en-GB" b="1" dirty="0">
              <a:solidFill>
                <a:schemeClr val="accent2"/>
              </a:solidFill>
            </a:endParaRPr>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a:p>
            <a:pPr marL="457200" indent="-457200">
              <a:buFont typeface="+mj-lt"/>
              <a:buAutoNum type="arabicPeriod"/>
            </a:pPr>
            <a:endParaRPr lang="en-GB" dirty="0"/>
          </a:p>
          <a:p>
            <a:pPr marL="0" indent="0">
              <a:buNone/>
            </a:pPr>
            <a:r>
              <a:rPr lang="en-GB" dirty="0">
                <a:solidFill>
                  <a:schemeClr val="accent2"/>
                </a:solidFill>
              </a:rPr>
              <a:t>*Plus, two extra things:</a:t>
            </a:r>
          </a:p>
          <a:p>
            <a:pPr marL="457200" indent="-457200">
              <a:buFont typeface="+mj-lt"/>
              <a:buAutoNum type="arabicPeriod" startAt="4"/>
            </a:pPr>
            <a:r>
              <a:rPr lang="en-GB" dirty="0">
                <a:solidFill>
                  <a:schemeClr val="accent2"/>
                </a:solidFill>
              </a:rPr>
              <a:t>Linearity</a:t>
            </a:r>
          </a:p>
          <a:p>
            <a:pPr marL="457200" indent="-457200">
              <a:buFont typeface="+mj-lt"/>
              <a:buAutoNum type="arabicPeriod" startAt="4"/>
            </a:pPr>
            <a:r>
              <a:rPr lang="en-GB" dirty="0">
                <a:solidFill>
                  <a:schemeClr val="accent2"/>
                </a:solidFill>
              </a:rPr>
              <a:t>Time-independent predictors </a:t>
            </a:r>
          </a:p>
        </p:txBody>
      </p:sp>
    </p:spTree>
    <p:extLst>
      <p:ext uri="{BB962C8B-B14F-4D97-AF65-F5344CB8AC3E}">
        <p14:creationId xmlns:p14="http://schemas.microsoft.com/office/powerpoint/2010/main" val="248520028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5821CAD-0EE1-DF38-2B33-3F44599684BD}"/>
              </a:ext>
            </a:extLst>
          </p:cNvPr>
          <p:cNvSpPr>
            <a:spLocks noGrp="1"/>
          </p:cNvSpPr>
          <p:nvPr>
            <p:ph type="title"/>
          </p:nvPr>
        </p:nvSpPr>
        <p:spPr/>
        <p:txBody>
          <a:bodyPr/>
          <a:lstStyle/>
          <a:p>
            <a:r>
              <a:rPr lang="en-GB" dirty="0"/>
              <a:t>Linearity in Cox regression</a:t>
            </a:r>
          </a:p>
        </p:txBody>
      </p:sp>
      <p:sp>
        <p:nvSpPr>
          <p:cNvPr id="4" name="Slide Number Placeholder 3">
            <a:extLst>
              <a:ext uri="{FF2B5EF4-FFF2-40B4-BE49-F238E27FC236}">
                <a16:creationId xmlns:a16="http://schemas.microsoft.com/office/drawing/2014/main" id="{A37077A6-D1B0-7DA9-2923-71009E570D07}"/>
              </a:ext>
            </a:extLst>
          </p:cNvPr>
          <p:cNvSpPr>
            <a:spLocks noGrp="1"/>
          </p:cNvSpPr>
          <p:nvPr>
            <p:ph type="sldNum" sz="quarter" idx="10"/>
          </p:nvPr>
        </p:nvSpPr>
        <p:spPr/>
        <p:txBody>
          <a:bodyPr/>
          <a:lstStyle/>
          <a:p>
            <a:pPr>
              <a:defRPr/>
            </a:pPr>
            <a:fld id="{CD3FC0C4-D681-4CE5-B41E-BCE48B80373A}" type="slidenum">
              <a:rPr lang="en-GB" smtClean="0"/>
              <a:pPr>
                <a:defRPr/>
              </a:pPr>
              <a:t>96</a:t>
            </a:fld>
            <a:endParaRPr lang="en-GB"/>
          </a:p>
        </p:txBody>
      </p:sp>
      <p:sp>
        <p:nvSpPr>
          <p:cNvPr id="5" name="Text Placeholder 5">
            <a:extLst>
              <a:ext uri="{FF2B5EF4-FFF2-40B4-BE49-F238E27FC236}">
                <a16:creationId xmlns:a16="http://schemas.microsoft.com/office/drawing/2014/main" id="{1745D6A2-6F76-5A14-F1B4-6A07C0C0C850}"/>
              </a:ext>
            </a:extLst>
          </p:cNvPr>
          <p:cNvSpPr>
            <a:spLocks noGrp="1"/>
          </p:cNvSpPr>
          <p:nvPr>
            <p:ph type="body" sz="quarter" idx="11"/>
          </p:nvPr>
        </p:nvSpPr>
        <p:spPr>
          <a:xfrm>
            <a:off x="515938" y="1773238"/>
            <a:ext cx="8112125" cy="4002087"/>
          </a:xfrm>
        </p:spPr>
        <p:txBody>
          <a:bodyPr/>
          <a:lstStyle/>
          <a:p>
            <a:pPr marL="0" indent="0" algn="ctr">
              <a:buNone/>
            </a:pPr>
            <a:r>
              <a:rPr lang="en-GB" sz="3200" b="0" i="0" u="none" strike="noStrike" dirty="0">
                <a:effectLst/>
                <a:latin typeface="Arial" panose="020B0604020202020204" pitchFamily="34" charset="0"/>
              </a:rPr>
              <a:t>h(t) = h</a:t>
            </a:r>
            <a:r>
              <a:rPr lang="en-GB" sz="3200" b="0" i="0" u="none" strike="noStrike" baseline="-25000" dirty="0">
                <a:effectLst/>
                <a:latin typeface="Arial" panose="020B0604020202020204" pitchFamily="34" charset="0"/>
              </a:rPr>
              <a:t>0</a:t>
            </a:r>
            <a:r>
              <a:rPr lang="en-GB" sz="3200" b="0" i="0" u="none" strike="noStrike" dirty="0">
                <a:effectLst/>
                <a:latin typeface="Arial" panose="020B0604020202020204" pitchFamily="34" charset="0"/>
              </a:rPr>
              <a:t>(t) </a:t>
            </a:r>
            <a:r>
              <a:rPr lang="en-GB" sz="3200" dirty="0">
                <a:latin typeface="Arial" panose="020B0604020202020204" pitchFamily="34" charset="0"/>
              </a:rPr>
              <a:t>*</a:t>
            </a:r>
            <a:r>
              <a:rPr lang="en-GB" sz="3200" b="0" i="0" u="none" strike="noStrike" dirty="0">
                <a:effectLst/>
                <a:latin typeface="Arial" panose="020B0604020202020204" pitchFamily="34" charset="0"/>
              </a:rPr>
              <a:t> exp(</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 + </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 … + </a:t>
            </a:r>
            <a:r>
              <a:rPr lang="el-GR" sz="3200" b="0" i="0" u="none" strike="noStrike" dirty="0">
                <a:effectLst/>
                <a:latin typeface="Arial" panose="020B0604020202020204" pitchFamily="34" charset="0"/>
              </a:rPr>
              <a:t>β</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a:t>
            </a:r>
          </a:p>
          <a:p>
            <a:pPr marL="0" indent="0" algn="ctr">
              <a:buNone/>
            </a:pPr>
            <a:endParaRPr lang="en-GB" sz="3200" dirty="0">
              <a:latin typeface="Arial" panose="020B0604020202020204" pitchFamily="34" charset="0"/>
            </a:endParaRPr>
          </a:p>
          <a:p>
            <a:pPr marL="0" indent="0" algn="ctr">
              <a:buNone/>
            </a:pPr>
            <a:endParaRPr lang="en-GB" sz="3200" dirty="0">
              <a:latin typeface="Arial" panose="020B0604020202020204" pitchFamily="34" charset="0"/>
            </a:endParaRPr>
          </a:p>
          <a:p>
            <a:r>
              <a:rPr lang="en-GB" dirty="0">
                <a:latin typeface="Arial" panose="020B0604020202020204" pitchFamily="34" charset="0"/>
              </a:rPr>
              <a:t>Relates to t</a:t>
            </a:r>
            <a:r>
              <a:rPr lang="en-GB" b="0" i="0" u="none" strike="noStrike" dirty="0">
                <a:effectLst/>
                <a:latin typeface="Arial" panose="020B0604020202020204" pitchFamily="34" charset="0"/>
              </a:rPr>
              <a:t>he linear predictor portion</a:t>
            </a:r>
          </a:p>
          <a:p>
            <a:r>
              <a:rPr lang="en-GB" dirty="0">
                <a:latin typeface="Arial" panose="020B0604020202020204" pitchFamily="34" charset="0"/>
              </a:rPr>
              <a:t>Each unit change for a predictor, must multiply the hazard by a constant amount</a:t>
            </a:r>
          </a:p>
          <a:p>
            <a:r>
              <a:rPr lang="en-GB" b="0" i="0" u="none" strike="noStrike" dirty="0">
                <a:effectLst/>
                <a:latin typeface="Arial" panose="020B0604020202020204" pitchFamily="34" charset="0"/>
              </a:rPr>
              <a:t>Can be ch</a:t>
            </a:r>
            <a:r>
              <a:rPr lang="en-GB" dirty="0">
                <a:latin typeface="Arial" panose="020B0604020202020204" pitchFamily="34" charset="0"/>
              </a:rPr>
              <a:t>ecked using Martingale residuals</a:t>
            </a:r>
            <a:endParaRPr lang="en-GB" b="0" i="0" u="none" strike="noStrike" dirty="0">
              <a:effectLst/>
              <a:latin typeface="Arial" panose="020B0604020202020204" pitchFamily="34" charset="0"/>
            </a:endParaRP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p:txBody>
      </p:sp>
      <p:sp>
        <p:nvSpPr>
          <p:cNvPr id="6" name="Left Bracket 5">
            <a:extLst>
              <a:ext uri="{FF2B5EF4-FFF2-40B4-BE49-F238E27FC236}">
                <a16:creationId xmlns:a16="http://schemas.microsoft.com/office/drawing/2014/main" id="{423D87CC-E3B7-23C0-603D-3C4F4B1C44B5}"/>
              </a:ext>
            </a:extLst>
          </p:cNvPr>
          <p:cNvSpPr/>
          <p:nvPr/>
        </p:nvSpPr>
        <p:spPr>
          <a:xfrm rot="16200000">
            <a:off x="1367644" y="2096852"/>
            <a:ext cx="144016" cy="648072"/>
          </a:xfrm>
          <a:prstGeom prst="leftBracket">
            <a:avLst/>
          </a:prstGeom>
          <a:ln w="285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Left Bracket 7">
            <a:extLst>
              <a:ext uri="{FF2B5EF4-FFF2-40B4-BE49-F238E27FC236}">
                <a16:creationId xmlns:a16="http://schemas.microsoft.com/office/drawing/2014/main" id="{151855BA-D9DC-0E84-8B5D-5412CC84DC79}"/>
              </a:ext>
            </a:extLst>
          </p:cNvPr>
          <p:cNvSpPr/>
          <p:nvPr/>
        </p:nvSpPr>
        <p:spPr>
          <a:xfrm rot="16200000">
            <a:off x="5620308" y="156828"/>
            <a:ext cx="135632" cy="4536504"/>
          </a:xfrm>
          <a:prstGeom prst="leftBracket">
            <a:avLst/>
          </a:prstGeom>
          <a:ln w="285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489212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DBB1FE-FE0B-A0ED-04CC-D2AB835479FD}"/>
              </a:ext>
            </a:extLst>
          </p:cNvPr>
          <p:cNvSpPr>
            <a:spLocks noGrp="1"/>
          </p:cNvSpPr>
          <p:nvPr>
            <p:ph type="body" sz="quarter" idx="11"/>
          </p:nvPr>
        </p:nvSpPr>
        <p:spPr/>
        <p:txBody>
          <a:bodyPr/>
          <a:lstStyle/>
          <a:p>
            <a:r>
              <a:rPr lang="en-GB" dirty="0"/>
              <a:t>Values of predictors remain constant</a:t>
            </a:r>
          </a:p>
          <a:p>
            <a:r>
              <a:rPr lang="en-GB" dirty="0"/>
              <a:t>Only need to be measured once at the start of the study</a:t>
            </a:r>
          </a:p>
          <a:p>
            <a:endParaRPr lang="en-GB" dirty="0"/>
          </a:p>
          <a:p>
            <a:pPr marL="0" indent="0">
              <a:buNone/>
            </a:pPr>
            <a:r>
              <a:rPr lang="en-GB" dirty="0"/>
              <a:t>Examples:</a:t>
            </a:r>
          </a:p>
          <a:p>
            <a:r>
              <a:rPr lang="en-GB" dirty="0"/>
              <a:t>Baseline age</a:t>
            </a:r>
          </a:p>
          <a:p>
            <a:r>
              <a:rPr lang="en-GB" dirty="0"/>
              <a:t>Dragon egg weight</a:t>
            </a:r>
          </a:p>
          <a:p>
            <a:r>
              <a:rPr lang="en-GB" dirty="0"/>
              <a:t>Degree subject</a:t>
            </a:r>
          </a:p>
          <a:p>
            <a:endParaRPr lang="en-GB" dirty="0"/>
          </a:p>
        </p:txBody>
      </p:sp>
      <p:sp>
        <p:nvSpPr>
          <p:cNvPr id="3" name="Title 2">
            <a:extLst>
              <a:ext uri="{FF2B5EF4-FFF2-40B4-BE49-F238E27FC236}">
                <a16:creationId xmlns:a16="http://schemas.microsoft.com/office/drawing/2014/main" id="{E6C8DAB9-C263-7BEE-8CB1-F2DBA4479BA8}"/>
              </a:ext>
            </a:extLst>
          </p:cNvPr>
          <p:cNvSpPr>
            <a:spLocks noGrp="1"/>
          </p:cNvSpPr>
          <p:nvPr>
            <p:ph type="title"/>
          </p:nvPr>
        </p:nvSpPr>
        <p:spPr/>
        <p:txBody>
          <a:bodyPr/>
          <a:lstStyle/>
          <a:p>
            <a:r>
              <a:rPr lang="en-GB" dirty="0"/>
              <a:t>Time-independent predictors</a:t>
            </a:r>
          </a:p>
        </p:txBody>
      </p:sp>
      <p:sp>
        <p:nvSpPr>
          <p:cNvPr id="4" name="Slide Number Placeholder 3">
            <a:extLst>
              <a:ext uri="{FF2B5EF4-FFF2-40B4-BE49-F238E27FC236}">
                <a16:creationId xmlns:a16="http://schemas.microsoft.com/office/drawing/2014/main" id="{1FEBC962-402E-CC8F-C32C-C6EFAF1982F4}"/>
              </a:ext>
            </a:extLst>
          </p:cNvPr>
          <p:cNvSpPr>
            <a:spLocks noGrp="1"/>
          </p:cNvSpPr>
          <p:nvPr>
            <p:ph type="sldNum" sz="quarter" idx="10"/>
          </p:nvPr>
        </p:nvSpPr>
        <p:spPr/>
        <p:txBody>
          <a:bodyPr/>
          <a:lstStyle/>
          <a:p>
            <a:pPr>
              <a:defRPr/>
            </a:pPr>
            <a:fld id="{CD3FC0C4-D681-4CE5-B41E-BCE48B80373A}" type="slidenum">
              <a:rPr lang="en-GB" smtClean="0"/>
              <a:pPr>
                <a:defRPr/>
              </a:pPr>
              <a:t>97</a:t>
            </a:fld>
            <a:endParaRPr lang="en-GB"/>
          </a:p>
        </p:txBody>
      </p:sp>
      <p:pic>
        <p:nvPicPr>
          <p:cNvPr id="6" name="Graphic 5" descr="Graduation cap with solid fill">
            <a:extLst>
              <a:ext uri="{FF2B5EF4-FFF2-40B4-BE49-F238E27FC236}">
                <a16:creationId xmlns:a16="http://schemas.microsoft.com/office/drawing/2014/main" id="{BC05D4FF-0123-155E-D0F0-A2E6B183FC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98544" y="3882752"/>
            <a:ext cx="914400" cy="914400"/>
          </a:xfrm>
          <a:prstGeom prst="rect">
            <a:avLst/>
          </a:prstGeom>
        </p:spPr>
      </p:pic>
      <p:pic>
        <p:nvPicPr>
          <p:cNvPr id="8" name="Graphic 7" descr="Dinosaur Egg with solid fill">
            <a:extLst>
              <a:ext uri="{FF2B5EF4-FFF2-40B4-BE49-F238E27FC236}">
                <a16:creationId xmlns:a16="http://schemas.microsoft.com/office/drawing/2014/main" id="{5C6CB63A-CB35-8EE2-3DE0-EDCCD911B41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79122" y="3425552"/>
            <a:ext cx="914400" cy="914400"/>
          </a:xfrm>
          <a:prstGeom prst="rect">
            <a:avLst/>
          </a:prstGeom>
        </p:spPr>
      </p:pic>
      <p:pic>
        <p:nvPicPr>
          <p:cNvPr id="10" name="Graphic 9" descr="Inpatient with solid fill">
            <a:extLst>
              <a:ext uri="{FF2B5EF4-FFF2-40B4-BE49-F238E27FC236}">
                <a16:creationId xmlns:a16="http://schemas.microsoft.com/office/drawing/2014/main" id="{99193C50-59D8-4F82-76D5-81AAA5A1197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64722" y="2968352"/>
            <a:ext cx="914400" cy="914400"/>
          </a:xfrm>
          <a:prstGeom prst="rect">
            <a:avLst/>
          </a:prstGeom>
        </p:spPr>
      </p:pic>
    </p:spTree>
    <p:extLst>
      <p:ext uri="{BB962C8B-B14F-4D97-AF65-F5344CB8AC3E}">
        <p14:creationId xmlns:p14="http://schemas.microsoft.com/office/powerpoint/2010/main" val="331505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BF36B6E-9D60-92DD-56CF-5B1768818B51}"/>
              </a:ext>
            </a:extLst>
          </p:cNvPr>
          <p:cNvSpPr>
            <a:spLocks noGrp="1"/>
          </p:cNvSpPr>
          <p:nvPr>
            <p:ph type="body" sz="quarter" idx="11"/>
          </p:nvPr>
        </p:nvSpPr>
        <p:spPr/>
        <p:txBody>
          <a:bodyPr/>
          <a:lstStyle/>
          <a:p>
            <a:r>
              <a:rPr lang="en-GB" dirty="0"/>
              <a:t>If values of predictors </a:t>
            </a:r>
            <a:r>
              <a:rPr lang="en-GB" b="1" dirty="0"/>
              <a:t>vary</a:t>
            </a:r>
            <a:r>
              <a:rPr lang="en-GB" dirty="0"/>
              <a:t> across the study</a:t>
            </a:r>
          </a:p>
          <a:p>
            <a:r>
              <a:rPr lang="en-GB" dirty="0"/>
              <a:t>Standard Cox regression model </a:t>
            </a:r>
            <a:r>
              <a:rPr lang="en-GB" b="1" dirty="0"/>
              <a:t>cannot be used</a:t>
            </a:r>
          </a:p>
          <a:p>
            <a:endParaRPr lang="en-GB" b="1" dirty="0"/>
          </a:p>
          <a:p>
            <a:pPr marL="0" indent="0">
              <a:buNone/>
            </a:pPr>
            <a:r>
              <a:rPr lang="en-GB" dirty="0"/>
              <a:t>Examples:</a:t>
            </a:r>
          </a:p>
          <a:p>
            <a:r>
              <a:rPr lang="en-GB" dirty="0"/>
              <a:t>Disease stage progressing</a:t>
            </a:r>
          </a:p>
          <a:p>
            <a:r>
              <a:rPr lang="en-GB" dirty="0"/>
              <a:t>Subscription cost increasing</a:t>
            </a:r>
          </a:p>
          <a:p>
            <a:r>
              <a:rPr lang="en-GB" dirty="0"/>
              <a:t>Weather/seasonal changes</a:t>
            </a:r>
          </a:p>
        </p:txBody>
      </p:sp>
      <p:sp>
        <p:nvSpPr>
          <p:cNvPr id="3" name="Title 2">
            <a:extLst>
              <a:ext uri="{FF2B5EF4-FFF2-40B4-BE49-F238E27FC236}">
                <a16:creationId xmlns:a16="http://schemas.microsoft.com/office/drawing/2014/main" id="{5C5E8CE0-972E-1239-ECD3-FA1A75FF7442}"/>
              </a:ext>
            </a:extLst>
          </p:cNvPr>
          <p:cNvSpPr>
            <a:spLocks noGrp="1"/>
          </p:cNvSpPr>
          <p:nvPr>
            <p:ph type="title"/>
          </p:nvPr>
        </p:nvSpPr>
        <p:spPr/>
        <p:txBody>
          <a:bodyPr/>
          <a:lstStyle/>
          <a:p>
            <a:r>
              <a:rPr lang="en-GB" dirty="0"/>
              <a:t>Time-independent predictors</a:t>
            </a:r>
          </a:p>
        </p:txBody>
      </p:sp>
      <p:sp>
        <p:nvSpPr>
          <p:cNvPr id="4" name="Slide Number Placeholder 3">
            <a:extLst>
              <a:ext uri="{FF2B5EF4-FFF2-40B4-BE49-F238E27FC236}">
                <a16:creationId xmlns:a16="http://schemas.microsoft.com/office/drawing/2014/main" id="{ADBAD268-3659-B968-1D8C-BEDBF54E64EE}"/>
              </a:ext>
            </a:extLst>
          </p:cNvPr>
          <p:cNvSpPr>
            <a:spLocks noGrp="1"/>
          </p:cNvSpPr>
          <p:nvPr>
            <p:ph type="sldNum" sz="quarter" idx="10"/>
          </p:nvPr>
        </p:nvSpPr>
        <p:spPr/>
        <p:txBody>
          <a:bodyPr/>
          <a:lstStyle/>
          <a:p>
            <a:pPr>
              <a:defRPr/>
            </a:pPr>
            <a:fld id="{CD3FC0C4-D681-4CE5-B41E-BCE48B80373A}" type="slidenum">
              <a:rPr lang="en-GB" smtClean="0"/>
              <a:pPr>
                <a:defRPr/>
              </a:pPr>
              <a:t>98</a:t>
            </a:fld>
            <a:endParaRPr lang="en-GB"/>
          </a:p>
        </p:txBody>
      </p:sp>
      <p:pic>
        <p:nvPicPr>
          <p:cNvPr id="5" name="Graphic 4" descr="Sparrow with solid fill">
            <a:extLst>
              <a:ext uri="{FF2B5EF4-FFF2-40B4-BE49-F238E27FC236}">
                <a16:creationId xmlns:a16="http://schemas.microsoft.com/office/drawing/2014/main" id="{EA2400BC-3A15-1B07-644C-27AC1C914AC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398544" y="3882752"/>
            <a:ext cx="914400" cy="914400"/>
          </a:xfrm>
          <a:prstGeom prst="rect">
            <a:avLst/>
          </a:prstGeom>
        </p:spPr>
      </p:pic>
      <p:pic>
        <p:nvPicPr>
          <p:cNvPr id="6" name="Graphic 5" descr="Credit card with solid fill">
            <a:extLst>
              <a:ext uri="{FF2B5EF4-FFF2-40B4-BE49-F238E27FC236}">
                <a16:creationId xmlns:a16="http://schemas.microsoft.com/office/drawing/2014/main" id="{C1B47F1B-CD6D-1009-1186-7C5F1E258D56}"/>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6479122" y="3425552"/>
            <a:ext cx="914400" cy="914400"/>
          </a:xfrm>
          <a:prstGeom prst="rect">
            <a:avLst/>
          </a:prstGeom>
        </p:spPr>
      </p:pic>
      <p:pic>
        <p:nvPicPr>
          <p:cNvPr id="7" name="Graphic 6" descr="Arrow Right with solid fill">
            <a:extLst>
              <a:ext uri="{FF2B5EF4-FFF2-40B4-BE49-F238E27FC236}">
                <a16:creationId xmlns:a16="http://schemas.microsoft.com/office/drawing/2014/main" id="{0D7DC892-EE50-799D-BE1D-781E9492C0E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rot="-2700000">
            <a:off x="5564722" y="2968352"/>
            <a:ext cx="914400" cy="914400"/>
          </a:xfrm>
          <a:prstGeom prst="rect">
            <a:avLst/>
          </a:prstGeom>
        </p:spPr>
      </p:pic>
    </p:spTree>
    <p:extLst>
      <p:ext uri="{BB962C8B-B14F-4D97-AF65-F5344CB8AC3E}">
        <p14:creationId xmlns:p14="http://schemas.microsoft.com/office/powerpoint/2010/main" val="3378358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7C384-C233-C10C-4C1B-8F20E1A88F72}"/>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4965A3CB-D8BE-9310-F4C8-320576569691}"/>
              </a:ext>
            </a:extLst>
          </p:cNvPr>
          <p:cNvSpPr>
            <a:spLocks noGrp="1"/>
          </p:cNvSpPr>
          <p:nvPr>
            <p:ph type="body" sz="quarter" idx="11"/>
          </p:nvPr>
        </p:nvSpPr>
        <p:spPr/>
        <p:txBody>
          <a:bodyPr/>
          <a:lstStyle/>
          <a:p>
            <a:pPr>
              <a:buClr>
                <a:schemeClr val="tx1"/>
              </a:buClr>
            </a:pPr>
            <a:r>
              <a:rPr lang="en-GB" noProof="0" dirty="0">
                <a:latin typeface="+mj-lt"/>
              </a:rPr>
              <a:t>Allows us to incorporate </a:t>
            </a:r>
            <a:r>
              <a:rPr lang="en-GB" b="1" noProof="0" dirty="0">
                <a:latin typeface="+mj-lt"/>
              </a:rPr>
              <a:t>continuous and multiple predictors</a:t>
            </a:r>
          </a:p>
          <a:p>
            <a:endParaRPr lang="en-GB" noProof="0" dirty="0"/>
          </a:p>
          <a:p>
            <a:r>
              <a:rPr lang="en-GB" dirty="0"/>
              <a:t>Predict </a:t>
            </a:r>
            <a:r>
              <a:rPr lang="en-GB" b="1" dirty="0"/>
              <a:t>survival probability</a:t>
            </a:r>
          </a:p>
          <a:p>
            <a:r>
              <a:rPr lang="en-GB" noProof="0" dirty="0"/>
              <a:t>Estimate </a:t>
            </a:r>
            <a:r>
              <a:rPr lang="en-GB" b="1" noProof="0" dirty="0"/>
              <a:t>hazard ratios</a:t>
            </a:r>
          </a:p>
          <a:p>
            <a:r>
              <a:rPr lang="en-GB" dirty="0"/>
              <a:t>Test significance/confidence</a:t>
            </a:r>
          </a:p>
          <a:p>
            <a:endParaRPr lang="en-GB" dirty="0"/>
          </a:p>
          <a:p>
            <a:r>
              <a:rPr lang="en-GB" dirty="0"/>
              <a:t>Shares </a:t>
            </a:r>
            <a:r>
              <a:rPr lang="en-GB" b="1" dirty="0"/>
              <a:t>assumptions</a:t>
            </a:r>
            <a:r>
              <a:rPr lang="en-GB" dirty="0"/>
              <a:t> with the log-rank test, plus:</a:t>
            </a:r>
          </a:p>
          <a:p>
            <a:pPr lvl="1"/>
            <a:r>
              <a:rPr lang="en-GB" sz="2000" dirty="0"/>
              <a:t>Linearity</a:t>
            </a:r>
          </a:p>
          <a:p>
            <a:pPr lvl="1"/>
            <a:r>
              <a:rPr lang="en-GB" sz="2000" dirty="0"/>
              <a:t>Time-independent predictors</a:t>
            </a:r>
          </a:p>
        </p:txBody>
      </p:sp>
      <p:sp>
        <p:nvSpPr>
          <p:cNvPr id="5" name="Title 4">
            <a:extLst>
              <a:ext uri="{FF2B5EF4-FFF2-40B4-BE49-F238E27FC236}">
                <a16:creationId xmlns:a16="http://schemas.microsoft.com/office/drawing/2014/main" id="{37BC11B1-F8D2-B73A-A6F1-0DAF165431D4}"/>
              </a:ext>
            </a:extLst>
          </p:cNvPr>
          <p:cNvSpPr>
            <a:spLocks noGrp="1"/>
          </p:cNvSpPr>
          <p:nvPr>
            <p:ph type="title"/>
          </p:nvPr>
        </p:nvSpPr>
        <p:spPr/>
        <p:txBody>
          <a:bodyPr/>
          <a:lstStyle/>
          <a:p>
            <a:r>
              <a:rPr lang="en-GB" noProof="0" dirty="0"/>
              <a:t>Summary: Cox regression</a:t>
            </a:r>
          </a:p>
        </p:txBody>
      </p:sp>
      <p:sp>
        <p:nvSpPr>
          <p:cNvPr id="2" name="Slide Number Placeholder 1">
            <a:extLst>
              <a:ext uri="{FF2B5EF4-FFF2-40B4-BE49-F238E27FC236}">
                <a16:creationId xmlns:a16="http://schemas.microsoft.com/office/drawing/2014/main" id="{E7EF63C9-5A2C-DA2B-9EC6-D78500F4DD1A}"/>
              </a:ext>
            </a:extLst>
          </p:cNvPr>
          <p:cNvSpPr>
            <a:spLocks noGrp="1"/>
          </p:cNvSpPr>
          <p:nvPr>
            <p:ph type="sldNum" sz="quarter" idx="10"/>
          </p:nvPr>
        </p:nvSpPr>
        <p:spPr/>
        <p:txBody>
          <a:bodyPr/>
          <a:lstStyle/>
          <a:p>
            <a:pPr>
              <a:defRPr/>
            </a:pPr>
            <a:fld id="{CD3FC0C4-D681-4CE5-B41E-BCE48B80373A}" type="slidenum">
              <a:rPr lang="en-GB" noProof="0" smtClean="0"/>
              <a:pPr>
                <a:defRPr/>
              </a:pPr>
              <a:t>99</a:t>
            </a:fld>
            <a:endParaRPr lang="en-GB" noProof="0" dirty="0"/>
          </a:p>
        </p:txBody>
      </p:sp>
    </p:spTree>
    <p:extLst>
      <p:ext uri="{BB962C8B-B14F-4D97-AF65-F5344CB8AC3E}">
        <p14:creationId xmlns:p14="http://schemas.microsoft.com/office/powerpoint/2010/main" val="2684345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bg>
      <p:bgPr>
        <a:blipFill dpi="0" rotWithShape="0">
          <a:blip r:embed="rId3">
            <a:lum/>
          </a:blip>
          <a:srcRect/>
          <a:stretch>
            <a:fillRect/>
          </a:stretch>
        </a:blipFill>
        <a:effectLst/>
      </p:bgPr>
    </p:bg>
    <p:spTree>
      <p:nvGrpSpPr>
        <p:cNvPr id="1" name="">
          <a:extLst>
            <a:ext uri="{FF2B5EF4-FFF2-40B4-BE49-F238E27FC236}">
              <a16:creationId xmlns:a16="http://schemas.microsoft.com/office/drawing/2014/main" id="{578202AB-7E71-9C3C-CB37-D89FA2CB1CED}"/>
            </a:ext>
          </a:extLst>
        </p:cNvPr>
        <p:cNvGrpSpPr/>
        <p:nvPr/>
      </p:nvGrpSpPr>
      <p:grpSpPr>
        <a:xfrm>
          <a:off x="0" y="0"/>
          <a:ext cx="0" cy="0"/>
          <a:chOff x="0" y="0"/>
          <a:chExt cx="0" cy="0"/>
        </a:xfrm>
      </p:grpSpPr>
      <p:sp>
        <p:nvSpPr>
          <p:cNvPr id="6" name="Rectangle 2">
            <a:extLst>
              <a:ext uri="{FF2B5EF4-FFF2-40B4-BE49-F238E27FC236}">
                <a16:creationId xmlns:a16="http://schemas.microsoft.com/office/drawing/2014/main" id="{9363FCEB-6ED0-5778-5D69-50C302986B34}"/>
              </a:ext>
            </a:extLst>
          </p:cNvPr>
          <p:cNvSpPr txBox="1">
            <a:spLocks noChangeArrowheads="1"/>
          </p:cNvSpPr>
          <p:nvPr/>
        </p:nvSpPr>
        <p:spPr bwMode="auto">
          <a:xfrm>
            <a:off x="683569" y="2060645"/>
            <a:ext cx="7560840" cy="57626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0" fontAlgn="base" hangingPunct="0">
              <a:spcBef>
                <a:spcPct val="0"/>
              </a:spcBef>
              <a:spcAft>
                <a:spcPct val="0"/>
              </a:spcAft>
              <a:defRPr sz="3600" b="1">
                <a:solidFill>
                  <a:schemeClr val="tx2"/>
                </a:solidFill>
                <a:latin typeface="+mj-lt"/>
                <a:ea typeface="+mj-ea"/>
                <a:cs typeface="+mj-cs"/>
              </a:defRPr>
            </a:lvl1pPr>
            <a:lvl2pPr algn="l" rtl="0" eaLnBrk="0" fontAlgn="base" hangingPunct="0">
              <a:spcBef>
                <a:spcPct val="0"/>
              </a:spcBef>
              <a:spcAft>
                <a:spcPct val="0"/>
              </a:spcAft>
              <a:defRPr sz="2600" b="1">
                <a:solidFill>
                  <a:schemeClr val="tx2"/>
                </a:solidFill>
                <a:latin typeface="Arial" charset="0"/>
              </a:defRPr>
            </a:lvl2pPr>
            <a:lvl3pPr algn="l" rtl="0" eaLnBrk="0" fontAlgn="base" hangingPunct="0">
              <a:spcBef>
                <a:spcPct val="0"/>
              </a:spcBef>
              <a:spcAft>
                <a:spcPct val="0"/>
              </a:spcAft>
              <a:defRPr sz="2600" b="1">
                <a:solidFill>
                  <a:schemeClr val="tx2"/>
                </a:solidFill>
                <a:latin typeface="Arial" charset="0"/>
              </a:defRPr>
            </a:lvl3pPr>
            <a:lvl4pPr algn="l" rtl="0" eaLnBrk="0" fontAlgn="base" hangingPunct="0">
              <a:spcBef>
                <a:spcPct val="0"/>
              </a:spcBef>
              <a:spcAft>
                <a:spcPct val="0"/>
              </a:spcAft>
              <a:defRPr sz="2600" b="1">
                <a:solidFill>
                  <a:schemeClr val="tx2"/>
                </a:solidFill>
                <a:latin typeface="Arial" charset="0"/>
              </a:defRPr>
            </a:lvl4pPr>
            <a:lvl5pPr algn="l" rtl="0" eaLnBrk="0" fontAlgn="base" hangingPunct="0">
              <a:spcBef>
                <a:spcPct val="0"/>
              </a:spcBef>
              <a:spcAft>
                <a:spcPct val="0"/>
              </a:spcAft>
              <a:defRPr sz="2600" b="1">
                <a:solidFill>
                  <a:schemeClr val="tx2"/>
                </a:solidFill>
                <a:latin typeface="Arial" charset="0"/>
              </a:defRPr>
            </a:lvl5pPr>
            <a:lvl6pPr marL="457200" algn="l" rtl="0" fontAlgn="base">
              <a:spcBef>
                <a:spcPct val="0"/>
              </a:spcBef>
              <a:spcAft>
                <a:spcPct val="0"/>
              </a:spcAft>
              <a:defRPr sz="2600" b="1">
                <a:solidFill>
                  <a:schemeClr val="tx2"/>
                </a:solidFill>
                <a:latin typeface="Arial" charset="0"/>
              </a:defRPr>
            </a:lvl6pPr>
            <a:lvl7pPr marL="914400" algn="l" rtl="0" fontAlgn="base">
              <a:spcBef>
                <a:spcPct val="0"/>
              </a:spcBef>
              <a:spcAft>
                <a:spcPct val="0"/>
              </a:spcAft>
              <a:defRPr sz="2600" b="1">
                <a:solidFill>
                  <a:schemeClr val="tx2"/>
                </a:solidFill>
                <a:latin typeface="Arial" charset="0"/>
              </a:defRPr>
            </a:lvl7pPr>
            <a:lvl8pPr marL="1371600" algn="l" rtl="0" fontAlgn="base">
              <a:spcBef>
                <a:spcPct val="0"/>
              </a:spcBef>
              <a:spcAft>
                <a:spcPct val="0"/>
              </a:spcAft>
              <a:defRPr sz="2600" b="1">
                <a:solidFill>
                  <a:schemeClr val="tx2"/>
                </a:solidFill>
                <a:latin typeface="Arial" charset="0"/>
              </a:defRPr>
            </a:lvl8pPr>
            <a:lvl9pPr marL="1828800" algn="l" rtl="0" fontAlgn="base">
              <a:spcBef>
                <a:spcPct val="0"/>
              </a:spcBef>
              <a:spcAft>
                <a:spcPct val="0"/>
              </a:spcAft>
              <a:defRPr sz="2600" b="1">
                <a:solidFill>
                  <a:schemeClr val="tx2"/>
                </a:solidFill>
                <a:latin typeface="Arial" charset="0"/>
              </a:defRPr>
            </a:lvl9pPr>
          </a:lstStyle>
          <a:p>
            <a:pPr eaLnBrk="1" hangingPunct="1"/>
            <a:r>
              <a:rPr lang="en-GB" sz="3500" kern="0" noProof="0" dirty="0"/>
              <a:t>Survival (time-to-event) analysis</a:t>
            </a:r>
          </a:p>
        </p:txBody>
      </p:sp>
      <p:sp>
        <p:nvSpPr>
          <p:cNvPr id="7" name="Rectangle 3">
            <a:extLst>
              <a:ext uri="{FF2B5EF4-FFF2-40B4-BE49-F238E27FC236}">
                <a16:creationId xmlns:a16="http://schemas.microsoft.com/office/drawing/2014/main" id="{C0C74C91-0FFA-862A-2CB0-F801808C3124}"/>
              </a:ext>
            </a:extLst>
          </p:cNvPr>
          <p:cNvSpPr txBox="1">
            <a:spLocks noChangeArrowheads="1"/>
          </p:cNvSpPr>
          <p:nvPr/>
        </p:nvSpPr>
        <p:spPr bwMode="auto">
          <a:xfrm>
            <a:off x="683567" y="2780928"/>
            <a:ext cx="7179321" cy="223224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0" indent="0" algn="l" rtl="0" eaLnBrk="0" fontAlgn="base" hangingPunct="0">
              <a:spcBef>
                <a:spcPct val="0"/>
              </a:spcBef>
              <a:spcAft>
                <a:spcPct val="75000"/>
              </a:spcAft>
              <a:buFontTx/>
              <a:buNone/>
              <a:defRPr sz="1800" b="1">
                <a:solidFill>
                  <a:schemeClr val="tx2"/>
                </a:solidFill>
                <a:latin typeface="+mn-lt"/>
                <a:ea typeface="+mn-ea"/>
                <a:cs typeface="+mn-cs"/>
              </a:defRPr>
            </a:lvl1pPr>
            <a:lvl2pPr marL="538163" indent="-266700" algn="l" rtl="0" eaLnBrk="0" fontAlgn="base" hangingPunct="0">
              <a:spcBef>
                <a:spcPct val="0"/>
              </a:spcBef>
              <a:spcAft>
                <a:spcPct val="75000"/>
              </a:spcAft>
              <a:buChar char="•"/>
              <a:defRPr sz="2000">
                <a:solidFill>
                  <a:schemeClr val="tx1"/>
                </a:solidFill>
                <a:latin typeface="+mn-lt"/>
              </a:defRPr>
            </a:lvl2pPr>
            <a:lvl3pPr marL="809625" indent="-269875" algn="l" rtl="0" eaLnBrk="0" fontAlgn="base" hangingPunct="0">
              <a:spcBef>
                <a:spcPct val="0"/>
              </a:spcBef>
              <a:spcAft>
                <a:spcPct val="75000"/>
              </a:spcAft>
              <a:buChar char="•"/>
              <a:defRPr sz="2000">
                <a:solidFill>
                  <a:schemeClr val="tx1"/>
                </a:solidFill>
                <a:latin typeface="+mn-lt"/>
              </a:defRPr>
            </a:lvl3pPr>
            <a:lvl4pPr marL="1079500" indent="-268288" algn="l" rtl="0" eaLnBrk="0" fontAlgn="base" hangingPunct="0">
              <a:spcBef>
                <a:spcPct val="0"/>
              </a:spcBef>
              <a:spcAft>
                <a:spcPct val="75000"/>
              </a:spcAft>
              <a:buChar char="•"/>
              <a:defRPr sz="2000">
                <a:solidFill>
                  <a:schemeClr val="tx1"/>
                </a:solidFill>
                <a:latin typeface="+mn-lt"/>
              </a:defRPr>
            </a:lvl4pPr>
            <a:lvl5pPr marL="1350963" indent="-269875" algn="l" rtl="0" eaLnBrk="0" fontAlgn="base" hangingPunct="0">
              <a:spcBef>
                <a:spcPct val="0"/>
              </a:spcBef>
              <a:spcAft>
                <a:spcPct val="75000"/>
              </a:spcAft>
              <a:buChar char="•"/>
              <a:defRPr sz="20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eaLnBrk="1" hangingPunct="1"/>
            <a:r>
              <a:rPr lang="en-GB" kern="0" noProof="0" dirty="0"/>
              <a:t> </a:t>
            </a:r>
          </a:p>
          <a:p>
            <a:pPr eaLnBrk="1" hangingPunct="1"/>
            <a:endParaRPr lang="en-GB" kern="0" noProof="0" dirty="0"/>
          </a:p>
          <a:p>
            <a:pPr eaLnBrk="1" hangingPunct="1"/>
            <a:endParaRPr lang="en-GB" kern="0" noProof="0" dirty="0"/>
          </a:p>
          <a:p>
            <a:pPr eaLnBrk="1" hangingPunct="1"/>
            <a:endParaRPr lang="en-GB" kern="0" noProof="0" dirty="0"/>
          </a:p>
          <a:p>
            <a:pPr eaLnBrk="1" hangingPunct="1"/>
            <a:r>
              <a:rPr lang="en-GB" kern="0" noProof="0" dirty="0"/>
              <a:t>Cambridge Centre for Research Informatics Training</a:t>
            </a:r>
          </a:p>
        </p:txBody>
      </p:sp>
      <p:sp>
        <p:nvSpPr>
          <p:cNvPr id="2" name="Slide Number Placeholder 1">
            <a:extLst>
              <a:ext uri="{FF2B5EF4-FFF2-40B4-BE49-F238E27FC236}">
                <a16:creationId xmlns:a16="http://schemas.microsoft.com/office/drawing/2014/main" id="{0B1B6C1C-B441-0DF1-2D50-010A1FB09732}"/>
              </a:ext>
            </a:extLst>
          </p:cNvPr>
          <p:cNvSpPr>
            <a:spLocks noGrp="1"/>
          </p:cNvSpPr>
          <p:nvPr>
            <p:ph type="sldNum" sz="quarter" idx="10"/>
          </p:nvPr>
        </p:nvSpPr>
        <p:spPr/>
        <p:txBody>
          <a:bodyPr/>
          <a:lstStyle/>
          <a:p>
            <a:pPr>
              <a:defRPr/>
            </a:pPr>
            <a:fld id="{E08F0ED0-70FD-4BCE-966F-358F104CE5BB}" type="slidenum">
              <a:rPr lang="en-GB" noProof="0" smtClean="0"/>
              <a:pPr>
                <a:defRPr/>
              </a:pPr>
              <a:t>100</a:t>
            </a:fld>
            <a:endParaRPr lang="en-GB" noProof="0" dirty="0"/>
          </a:p>
        </p:txBody>
      </p:sp>
    </p:spTree>
    <p:extLst>
      <p:ext uri="{BB962C8B-B14F-4D97-AF65-F5344CB8AC3E}">
        <p14:creationId xmlns:p14="http://schemas.microsoft.com/office/powerpoint/2010/main" val="3570503140"/>
      </p:ext>
    </p:extLst>
  </p:cSld>
  <p:clrMapOvr>
    <a:masterClrMapping/>
  </p:clrMapOvr>
</p:sld>
</file>

<file path=ppt/theme/theme1.xml><?xml version="1.0" encoding="utf-8"?>
<a:theme xmlns:a="http://schemas.openxmlformats.org/drawingml/2006/main" name="blank">
  <a:themeElements>
    <a:clrScheme name="Custom 6">
      <a:dk1>
        <a:srgbClr val="003E72"/>
      </a:dk1>
      <a:lt1>
        <a:srgbClr val="FFFFFF"/>
      </a:lt1>
      <a:dk2>
        <a:srgbClr val="FFFFFF"/>
      </a:dk2>
      <a:lt2>
        <a:srgbClr val="68ACE5"/>
      </a:lt2>
      <a:accent1>
        <a:srgbClr val="0072CF"/>
      </a:accent1>
      <a:accent2>
        <a:srgbClr val="EA7125"/>
      </a:accent2>
      <a:accent3>
        <a:srgbClr val="D6083B"/>
      </a:accent3>
      <a:accent4>
        <a:srgbClr val="55A51C"/>
      </a:accent4>
      <a:accent5>
        <a:srgbClr val="8F2BBC"/>
      </a:accent5>
      <a:accent6>
        <a:srgbClr val="00B1C1"/>
      </a:accent6>
      <a:hlink>
        <a:srgbClr val="55A51C"/>
      </a:hlink>
      <a:folHlink>
        <a:srgbClr val="55A51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blank 1">
        <a:dk1>
          <a:srgbClr val="003E72"/>
        </a:dk1>
        <a:lt1>
          <a:srgbClr val="FFFFFF"/>
        </a:lt1>
        <a:dk2>
          <a:srgbClr val="FFFFFF"/>
        </a:dk2>
        <a:lt2>
          <a:srgbClr val="00B3BE"/>
        </a:lt2>
        <a:accent1>
          <a:srgbClr val="0073CF"/>
        </a:accent1>
        <a:accent2>
          <a:srgbClr val="E37222"/>
        </a:accent2>
        <a:accent3>
          <a:srgbClr val="FFFFFF"/>
        </a:accent3>
        <a:accent4>
          <a:srgbClr val="003460"/>
        </a:accent4>
        <a:accent5>
          <a:srgbClr val="AABCE4"/>
        </a:accent5>
        <a:accent6>
          <a:srgbClr val="CE671E"/>
        </a:accent6>
        <a:hlink>
          <a:srgbClr val="58A618"/>
        </a:hlink>
        <a:folHlink>
          <a:srgbClr val="8E258D"/>
        </a:folHlink>
      </a:clrScheme>
      <a:clrMap bg1="lt1" tx1="dk1" bg2="lt2" tx2="dk2" accent1="accent1" accent2="accent2" accent3="accent3" accent4="accent4" accent5="accent5" accent6="accent6" hlink="hlink" folHlink="folHlink"/>
    </a:extraClrScheme>
    <a:extraClrScheme>
      <a:clrScheme name="blank 2">
        <a:dk1>
          <a:srgbClr val="003E72"/>
        </a:dk1>
        <a:lt1>
          <a:srgbClr val="FFFFFF"/>
        </a:lt1>
        <a:dk2>
          <a:srgbClr val="FFFFFF"/>
        </a:dk2>
        <a:lt2>
          <a:srgbClr val="83AFB4"/>
        </a:lt2>
        <a:accent1>
          <a:srgbClr val="6AADE4"/>
        </a:accent1>
        <a:accent2>
          <a:srgbClr val="EFBD47"/>
        </a:accent2>
        <a:accent3>
          <a:srgbClr val="FFFFFF"/>
        </a:accent3>
        <a:accent4>
          <a:srgbClr val="003460"/>
        </a:accent4>
        <a:accent5>
          <a:srgbClr val="B9D3EF"/>
        </a:accent5>
        <a:accent6>
          <a:srgbClr val="D9AB3F"/>
        </a:accent6>
        <a:hlink>
          <a:srgbClr val="A8B400"/>
        </a:hlink>
        <a:folHlink>
          <a:srgbClr val="6A4061"/>
        </a:folHlink>
      </a:clrScheme>
      <a:clrMap bg1="lt1" tx1="dk1" bg2="lt2" tx2="dk2" accent1="accent1" accent2="accent2" accent3="accent3" accent4="accent4" accent5="accent5" accent6="accent6" hlink="hlink" folHlink="folHlink"/>
    </a:extraClrScheme>
    <a:extraClrScheme>
      <a:clrScheme name="blank 3">
        <a:dk1>
          <a:srgbClr val="003E72"/>
        </a:dk1>
        <a:lt1>
          <a:srgbClr val="FFFFFF"/>
        </a:lt1>
        <a:dk2>
          <a:srgbClr val="FFFFFF"/>
        </a:dk2>
        <a:lt2>
          <a:srgbClr val="156570"/>
        </a:lt2>
        <a:accent1>
          <a:srgbClr val="003E72"/>
        </a:accent1>
        <a:accent2>
          <a:srgbClr val="C84E00"/>
        </a:accent2>
        <a:accent3>
          <a:srgbClr val="FFFFFF"/>
        </a:accent3>
        <a:accent4>
          <a:srgbClr val="003460"/>
        </a:accent4>
        <a:accent5>
          <a:srgbClr val="AAAFBC"/>
        </a:accent5>
        <a:accent6>
          <a:srgbClr val="B54600"/>
        </a:accent6>
        <a:hlink>
          <a:srgbClr val="435125"/>
        </a:hlink>
        <a:folHlink>
          <a:srgbClr val="412D5D"/>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4987</Words>
  <Application>Microsoft Office PowerPoint</Application>
  <PresentationFormat>On-screen Show (4:3)</PresentationFormat>
  <Paragraphs>1158</Paragraphs>
  <Slides>100</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100</vt:i4>
      </vt:variant>
    </vt:vector>
  </HeadingPairs>
  <TitlesOfParts>
    <vt:vector size="103" baseType="lpstr">
      <vt:lpstr>Arial</vt:lpstr>
      <vt:lpstr>Wingdings</vt:lpstr>
      <vt:lpstr>blank</vt:lpstr>
      <vt:lpstr>PowerPoint Presentation</vt:lpstr>
      <vt:lpstr>Course aims</vt:lpstr>
      <vt:lpstr>Session 1</vt:lpstr>
      <vt:lpstr>Session 2</vt:lpstr>
      <vt:lpstr>PowerPoint Presentation</vt:lpstr>
      <vt:lpstr>Survival data</vt:lpstr>
      <vt:lpstr>“Time to event” </vt:lpstr>
      <vt:lpstr>Properties of survival data</vt:lpstr>
      <vt:lpstr>Censoring</vt:lpstr>
      <vt:lpstr>More censoring (&amp; truncation)</vt:lpstr>
      <vt:lpstr>A survival dataset</vt:lpstr>
      <vt:lpstr>A survival dataset</vt:lpstr>
      <vt:lpstr>A survival dataset</vt:lpstr>
      <vt:lpstr>A survival dataset</vt:lpstr>
      <vt:lpstr>A survival dataset</vt:lpstr>
      <vt:lpstr>Example 1</vt:lpstr>
      <vt:lpstr>Example 2</vt:lpstr>
      <vt:lpstr>Example 3</vt:lpstr>
      <vt:lpstr>Example 4</vt:lpstr>
      <vt:lpstr>Summary: Survival data is unique</vt:lpstr>
      <vt:lpstr>PowerPoint Presentation</vt:lpstr>
      <vt:lpstr>What is a survival curve?</vt:lpstr>
      <vt:lpstr>What is a survival curve?</vt:lpstr>
      <vt:lpstr>The goal: estimating the survival curve</vt:lpstr>
      <vt:lpstr>An example</vt:lpstr>
      <vt:lpstr>An example</vt:lpstr>
      <vt:lpstr>An example</vt:lpstr>
      <vt:lpstr>Kaplan-Meier survival curve</vt:lpstr>
      <vt:lpstr>Kaplan-Meier survival curve</vt:lpstr>
      <vt:lpstr>Kaplan-Meier survival curve</vt:lpstr>
      <vt:lpstr>Kaplan-Meier survival curve</vt:lpstr>
      <vt:lpstr>How is the curve constructed?</vt:lpstr>
      <vt:lpstr>Dragon egg dataset</vt:lpstr>
      <vt:lpstr>Dragon egg dataset</vt:lpstr>
      <vt:lpstr>Dragon egg dataset</vt:lpstr>
      <vt:lpstr>Dragon egg dataset</vt:lpstr>
      <vt:lpstr>Summary: Survival curves</vt:lpstr>
      <vt:lpstr>PowerPoint Presentation</vt:lpstr>
      <vt:lpstr>Two dragon populations</vt:lpstr>
      <vt:lpstr>Two dragon populations</vt:lpstr>
      <vt:lpstr>Log-rank test</vt:lpstr>
      <vt:lpstr>Log-rank test</vt:lpstr>
      <vt:lpstr>Assumptions of log-rank test</vt:lpstr>
      <vt:lpstr>Assumptions of log-rank test</vt:lpstr>
      <vt:lpstr>Independence</vt:lpstr>
      <vt:lpstr>Independence</vt:lpstr>
      <vt:lpstr>Independence</vt:lpstr>
      <vt:lpstr>Independence</vt:lpstr>
      <vt:lpstr>Independence</vt:lpstr>
      <vt:lpstr>Assumptions of log-rank test</vt:lpstr>
      <vt:lpstr>Non-informative censoring</vt:lpstr>
      <vt:lpstr>Non-informative censoring</vt:lpstr>
      <vt:lpstr>Assumptions of log-rank test</vt:lpstr>
      <vt:lpstr>Proportional hazards</vt:lpstr>
      <vt:lpstr>Proportional hazards</vt:lpstr>
      <vt:lpstr>Proportional hazards</vt:lpstr>
      <vt:lpstr>Proportional hazards</vt:lpstr>
      <vt:lpstr>Proportional hazards</vt:lpstr>
      <vt:lpstr>Proportional hazards</vt:lpstr>
      <vt:lpstr>Proportional hazards</vt:lpstr>
      <vt:lpstr>Dragon egg example: are assumptions met?</vt:lpstr>
      <vt:lpstr>Dragon egg example: are assumptions met?</vt:lpstr>
      <vt:lpstr>Dragon egg example: are assumptions met?</vt:lpstr>
      <vt:lpstr>Dragon egg example: are assumptions met?</vt:lpstr>
      <vt:lpstr>Two dragon populations</vt:lpstr>
      <vt:lpstr>Multiple dragon populations</vt:lpstr>
      <vt:lpstr>Summary: Log-rank test</vt:lpstr>
      <vt:lpstr>PowerPoint Presentation</vt:lpstr>
      <vt:lpstr>Session 1</vt:lpstr>
      <vt:lpstr>Session 2</vt:lpstr>
      <vt:lpstr>PowerPoint Presentation</vt:lpstr>
      <vt:lpstr>How does the predictor “affect” the hazard?</vt:lpstr>
      <vt:lpstr>How does the predictor “affect” the hazard?</vt:lpstr>
      <vt:lpstr>How does the predictor “affect” the hazard?</vt:lpstr>
      <vt:lpstr>How does the predictor “affect” the hazard?</vt:lpstr>
      <vt:lpstr>Baseline hazard</vt:lpstr>
      <vt:lpstr>Baseline hazard</vt:lpstr>
      <vt:lpstr>Baseline hazard</vt:lpstr>
      <vt:lpstr>Baseline hazard</vt:lpstr>
      <vt:lpstr>Adding a predictor</vt:lpstr>
      <vt:lpstr>How does the predictor “affect” the hazard?</vt:lpstr>
      <vt:lpstr>How does the predictor “affect” the hazard?</vt:lpstr>
      <vt:lpstr>How does the predictor “affect” the hazard?</vt:lpstr>
      <vt:lpstr>How does the predictor “affect” the hazard?</vt:lpstr>
      <vt:lpstr>How does the predictor “affect” the hazard?</vt:lpstr>
      <vt:lpstr>How does the predictor “affect” the hazard?</vt:lpstr>
      <vt:lpstr>PowerPoint Presentation</vt:lpstr>
      <vt:lpstr>Cox proportional hazards</vt:lpstr>
      <vt:lpstr>Cox proportional hazards</vt:lpstr>
      <vt:lpstr>Cox proportional hazards</vt:lpstr>
      <vt:lpstr>Cox proportional hazards</vt:lpstr>
      <vt:lpstr>Cox proportional hazards</vt:lpstr>
      <vt:lpstr>Interpretation of a Cox regression model</vt:lpstr>
      <vt:lpstr>Assumptions of Cox regression</vt:lpstr>
      <vt:lpstr>Assumptions of Cox regression</vt:lpstr>
      <vt:lpstr>Linearity in Cox regression</vt:lpstr>
      <vt:lpstr>Time-independent predictors</vt:lpstr>
      <vt:lpstr>Time-independent predictors</vt:lpstr>
      <vt:lpstr>Summary: Cox regression</vt:lpstr>
      <vt:lpstr>PowerPoint Presentation</vt:lpstr>
    </vt:vector>
  </TitlesOfParts>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c:creator>
  <cp:lastModifiedBy>Vicki Hodgson</cp:lastModifiedBy>
  <cp:revision>472</cp:revision>
  <cp:lastPrinted>1601-01-01T00:00:00Z</cp:lastPrinted>
  <dcterms:created xsi:type="dcterms:W3CDTF">2008-03-27T10:29:55Z</dcterms:created>
  <dcterms:modified xsi:type="dcterms:W3CDTF">2026-08-18T16:16:02Z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